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image" Target="../media/image-3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91563" y="532209"/>
            <a:ext cx="3560802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Simple, Transparent Pricing</a:t>
            </a:r>
            <a:endParaRPr lang="en-US" sz="2025" dirty="0"/>
          </a:p>
        </p:txBody>
      </p:sp>
      <p:sp>
        <p:nvSpPr>
          <p:cNvPr id="3" name="Text 1"/>
          <p:cNvSpPr/>
          <p:nvPr/>
        </p:nvSpPr>
        <p:spPr>
          <a:xfrm>
            <a:off x="3123819" y="903684"/>
            <a:ext cx="2896362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the plan that fits your team. No hidden fees.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1400175" y="1275159"/>
            <a:ext cx="2000250" cy="3336131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42875" dist="28575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85913" y="1489472"/>
            <a:ext cx="1628775" cy="66436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1585913" y="2146697"/>
            <a:ext cx="1628775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7" name="Text 5"/>
          <p:cNvSpPr/>
          <p:nvPr/>
        </p:nvSpPr>
        <p:spPr>
          <a:xfrm>
            <a:off x="1543050" y="1489472"/>
            <a:ext cx="1714500" cy="1500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13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Starter</a:t>
            </a:r>
            <a:endParaRPr lang="en-US" sz="1013" dirty="0"/>
          </a:p>
        </p:txBody>
      </p:sp>
      <p:sp>
        <p:nvSpPr>
          <p:cNvPr id="8" name="Text 6"/>
          <p:cNvSpPr/>
          <p:nvPr/>
        </p:nvSpPr>
        <p:spPr>
          <a:xfrm>
            <a:off x="1543050" y="1668066"/>
            <a:ext cx="1714500" cy="3643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63" b="1" u="none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</a:t>
            </a:r>
            <a:pPr algn="ctr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/mo</a:t>
            </a:r>
            <a:endParaRPr lang="en-US" sz="2363" dirty="0"/>
          </a:p>
        </p:txBody>
      </p:sp>
      <p:sp>
        <p:nvSpPr>
          <p:cNvPr id="9" name="Shape 7"/>
          <p:cNvSpPr/>
          <p:nvPr/>
        </p:nvSpPr>
        <p:spPr>
          <a:xfrm>
            <a:off x="1585913" y="2611041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0" name="Text 8"/>
          <p:cNvSpPr/>
          <p:nvPr/>
        </p:nvSpPr>
        <p:spPr>
          <a:xfrm>
            <a:off x="1585913" y="2353866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5 team members</a:t>
            </a:r>
            <a:endParaRPr lang="en-US" sz="788" dirty="0"/>
          </a:p>
        </p:txBody>
      </p:sp>
      <p:sp>
        <p:nvSpPr>
          <p:cNvPr id="11" name="Shape 9"/>
          <p:cNvSpPr/>
          <p:nvPr/>
        </p:nvSpPr>
        <p:spPr>
          <a:xfrm>
            <a:off x="1585913" y="2618184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5913" y="2875359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3" name="Text 11"/>
          <p:cNvSpPr/>
          <p:nvPr/>
        </p:nvSpPr>
        <p:spPr>
          <a:xfrm>
            <a:off x="1585913" y="2618184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10 GB storage</a:t>
            </a:r>
            <a:endParaRPr lang="en-US" sz="788" dirty="0"/>
          </a:p>
        </p:txBody>
      </p:sp>
      <p:sp>
        <p:nvSpPr>
          <p:cNvPr id="14" name="Shape 12"/>
          <p:cNvSpPr/>
          <p:nvPr/>
        </p:nvSpPr>
        <p:spPr>
          <a:xfrm>
            <a:off x="1585913" y="2882503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5913" y="3139678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6" name="Text 14"/>
          <p:cNvSpPr/>
          <p:nvPr/>
        </p:nvSpPr>
        <p:spPr>
          <a:xfrm>
            <a:off x="1585913" y="2882503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Basic analytics</a:t>
            </a:r>
            <a:endParaRPr lang="en-US" sz="788" dirty="0"/>
          </a:p>
        </p:txBody>
      </p:sp>
      <p:sp>
        <p:nvSpPr>
          <p:cNvPr id="17" name="Shape 15"/>
          <p:cNvSpPr/>
          <p:nvPr/>
        </p:nvSpPr>
        <p:spPr>
          <a:xfrm>
            <a:off x="1585913" y="3146822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5913" y="3403997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9" name="Text 17"/>
          <p:cNvSpPr/>
          <p:nvPr/>
        </p:nvSpPr>
        <p:spPr>
          <a:xfrm>
            <a:off x="1585913" y="3146822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 domains</a:t>
            </a:r>
            <a:endParaRPr lang="en-US" sz="788" dirty="0"/>
          </a:p>
        </p:txBody>
      </p:sp>
      <p:sp>
        <p:nvSpPr>
          <p:cNvPr id="20" name="Shape 18"/>
          <p:cNvSpPr/>
          <p:nvPr/>
        </p:nvSpPr>
        <p:spPr>
          <a:xfrm>
            <a:off x="1585913" y="3411141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5913" y="3668316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22" name="Text 20"/>
          <p:cNvSpPr/>
          <p:nvPr/>
        </p:nvSpPr>
        <p:spPr>
          <a:xfrm>
            <a:off x="1585913" y="3411141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Priority support</a:t>
            </a:r>
            <a:endParaRPr lang="en-US" sz="788" dirty="0"/>
          </a:p>
        </p:txBody>
      </p:sp>
      <p:sp>
        <p:nvSpPr>
          <p:cNvPr id="23" name="Shape 21"/>
          <p:cNvSpPr/>
          <p:nvPr/>
        </p:nvSpPr>
        <p:spPr>
          <a:xfrm>
            <a:off x="1585913" y="3675459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85913" y="3675459"/>
            <a:ext cx="16287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API access</a:t>
            </a:r>
            <a:endParaRPr lang="en-US" sz="788" dirty="0"/>
          </a:p>
        </p:txBody>
      </p:sp>
      <p:sp>
        <p:nvSpPr>
          <p:cNvPr id="25" name="Shape 23"/>
          <p:cNvSpPr/>
          <p:nvPr/>
        </p:nvSpPr>
        <p:spPr>
          <a:xfrm>
            <a:off x="1585913" y="4075509"/>
            <a:ext cx="1628775" cy="321469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4288" algn="in">
            <a:solidFill>
              <a:srgbClr val="636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85913" y="4075509"/>
            <a:ext cx="1628775" cy="3214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</a:t>
            </a:r>
            <a:endParaRPr lang="en-US" sz="844" dirty="0"/>
          </a:p>
        </p:txBody>
      </p:sp>
      <p:sp>
        <p:nvSpPr>
          <p:cNvPr id="27" name="Shape 25"/>
          <p:cNvSpPr/>
          <p:nvPr/>
        </p:nvSpPr>
        <p:spPr>
          <a:xfrm>
            <a:off x="3531870" y="1208437"/>
            <a:ext cx="2080260" cy="3469577"/>
          </a:xfrm>
          <a:prstGeom prst="roundRect">
            <a:avLst>
              <a:gd name="adj" fmla="val 4121"/>
            </a:avLst>
          </a:prstGeom>
          <a:solidFill>
            <a:srgbClr val="FFFFFF"/>
          </a:solidFill>
          <a:ln w="14288" algn="in">
            <a:solidFill>
              <a:srgbClr val="6366F1"/>
            </a:solidFill>
            <a:prstDash val="solid"/>
          </a:ln>
          <a:effectLst>
            <a:outerShdw sx="100000" sy="100000" kx="0" ky="0" algn="bl" rotWithShape="0" blurRad="228600" dist="57150" dir="5400000">
              <a:srgbClr val="6366F1">
                <a:alpha val="18000"/>
              </a:srgbClr>
            </a:outerShdw>
          </a:effectLst>
        </p:spPr>
      </p:sp>
      <p:sp>
        <p:nvSpPr>
          <p:cNvPr id="28" name="GRAD_0"/>
          <p:cNvSpPr/>
          <p:nvPr/>
        </p:nvSpPr>
        <p:spPr>
          <a:xfrm>
            <a:off x="3725037" y="1223296"/>
            <a:ext cx="1693926" cy="898970"/>
          </a:xfrm>
          <a:prstGeom prst="round2SameRect">
            <a:avLst>
              <a:gd name="adj" fmla="val 7947"/>
            </a:avLst>
          </a:prstGeom>
          <a:gradFill rotWithShape="1">
            <a:gsLst>
              <a:gs pos="0">
                <a:srgbClr val="EEF2FF"/>
              </a:gs>
              <a:gs pos="100000">
                <a:srgbClr val="E0E7FF"/>
              </a:gs>
            </a:gsLst>
            <a:lin ang="2700000" scaled="0"/>
          </a:gradFill>
          <a:ln>
            <a:noFill/>
          </a:ln>
        </p:spPr>
      </p:sp>
      <p:sp>
        <p:nvSpPr>
          <p:cNvPr id="29" name="Shape 27"/>
          <p:cNvSpPr/>
          <p:nvPr/>
        </p:nvSpPr>
        <p:spPr>
          <a:xfrm>
            <a:off x="3725037" y="2115122"/>
            <a:ext cx="1693926" cy="7144"/>
          </a:xfrm>
          <a:prstGeom prst="rect">
            <a:avLst/>
          </a:prstGeom>
          <a:solidFill>
            <a:srgbClr val="C7D2FE"/>
          </a:solidFill>
          <a:ln>
            <a:noFill/>
          </a:ln>
        </p:spPr>
      </p:sp>
      <p:sp>
        <p:nvSpPr>
          <p:cNvPr id="30" name="Text 28"/>
          <p:cNvSpPr/>
          <p:nvPr/>
        </p:nvSpPr>
        <p:spPr>
          <a:xfrm>
            <a:off x="3860483" y="1431322"/>
            <a:ext cx="1423035" cy="15602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13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</a:t>
            </a:r>
            <a:endParaRPr lang="en-US" sz="1013" dirty="0"/>
          </a:p>
        </p:txBody>
      </p:sp>
      <p:sp>
        <p:nvSpPr>
          <p:cNvPr id="31" name="Text 29"/>
          <p:cNvSpPr/>
          <p:nvPr/>
        </p:nvSpPr>
        <p:spPr>
          <a:xfrm>
            <a:off x="3860483" y="1617059"/>
            <a:ext cx="1423035" cy="3789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63" b="1" u="none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$49</a:t>
            </a:r>
            <a:pPr algn="ctr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/mo</a:t>
            </a:r>
            <a:endParaRPr lang="en-US" sz="2363" dirty="0"/>
          </a:p>
        </p:txBody>
      </p:sp>
      <p:sp>
        <p:nvSpPr>
          <p:cNvPr id="32" name="Shape 30"/>
          <p:cNvSpPr/>
          <p:nvPr/>
        </p:nvSpPr>
        <p:spPr>
          <a:xfrm>
            <a:off x="3725037" y="2598039"/>
            <a:ext cx="1693926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33" name="Text 31"/>
          <p:cNvSpPr/>
          <p:nvPr/>
        </p:nvSpPr>
        <p:spPr>
          <a:xfrm>
            <a:off x="3725037" y="2330291"/>
            <a:ext cx="1693926" cy="274892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25 team members</a:t>
            </a:r>
            <a:endParaRPr lang="en-US" sz="788" dirty="0"/>
          </a:p>
        </p:txBody>
      </p:sp>
      <p:sp>
        <p:nvSpPr>
          <p:cNvPr id="34" name="Shape 32"/>
          <p:cNvSpPr/>
          <p:nvPr/>
        </p:nvSpPr>
        <p:spPr>
          <a:xfrm>
            <a:off x="3725037" y="2605183"/>
            <a:ext cx="1693926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25037" y="2872931"/>
            <a:ext cx="1693926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36" name="Text 34"/>
          <p:cNvSpPr/>
          <p:nvPr/>
        </p:nvSpPr>
        <p:spPr>
          <a:xfrm>
            <a:off x="3725037" y="2605183"/>
            <a:ext cx="1693926" cy="274892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100 GB storage</a:t>
            </a:r>
            <a:endParaRPr lang="en-US" sz="788" dirty="0"/>
          </a:p>
        </p:txBody>
      </p:sp>
      <p:sp>
        <p:nvSpPr>
          <p:cNvPr id="37" name="Shape 35"/>
          <p:cNvSpPr/>
          <p:nvPr/>
        </p:nvSpPr>
        <p:spPr>
          <a:xfrm>
            <a:off x="3725037" y="2880074"/>
            <a:ext cx="1693926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25037" y="3147822"/>
            <a:ext cx="1693926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39" name="Text 37"/>
          <p:cNvSpPr/>
          <p:nvPr/>
        </p:nvSpPr>
        <p:spPr>
          <a:xfrm>
            <a:off x="3725037" y="2880074"/>
            <a:ext cx="1693926" cy="274892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Advanced analytics</a:t>
            </a:r>
            <a:endParaRPr lang="en-US" sz="788" dirty="0"/>
          </a:p>
        </p:txBody>
      </p:sp>
      <p:sp>
        <p:nvSpPr>
          <p:cNvPr id="40" name="Shape 38"/>
          <p:cNvSpPr/>
          <p:nvPr/>
        </p:nvSpPr>
        <p:spPr>
          <a:xfrm>
            <a:off x="3725037" y="3154966"/>
            <a:ext cx="1693926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25037" y="3422714"/>
            <a:ext cx="1693926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42" name="Text 40"/>
          <p:cNvSpPr/>
          <p:nvPr/>
        </p:nvSpPr>
        <p:spPr>
          <a:xfrm>
            <a:off x="3725037" y="3154966"/>
            <a:ext cx="1693926" cy="274892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 domains</a:t>
            </a:r>
            <a:endParaRPr lang="en-US" sz="788" dirty="0"/>
          </a:p>
        </p:txBody>
      </p:sp>
      <p:sp>
        <p:nvSpPr>
          <p:cNvPr id="43" name="Shape 41"/>
          <p:cNvSpPr/>
          <p:nvPr/>
        </p:nvSpPr>
        <p:spPr>
          <a:xfrm>
            <a:off x="3725037" y="3429857"/>
            <a:ext cx="1693926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725037" y="3697605"/>
            <a:ext cx="1693926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45" name="Text 43"/>
          <p:cNvSpPr/>
          <p:nvPr/>
        </p:nvSpPr>
        <p:spPr>
          <a:xfrm>
            <a:off x="3725037" y="3429857"/>
            <a:ext cx="1693926" cy="274892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Priority support</a:t>
            </a:r>
            <a:endParaRPr lang="en-US" sz="788" dirty="0"/>
          </a:p>
        </p:txBody>
      </p:sp>
      <p:sp>
        <p:nvSpPr>
          <p:cNvPr id="46" name="Shape 44"/>
          <p:cNvSpPr/>
          <p:nvPr/>
        </p:nvSpPr>
        <p:spPr>
          <a:xfrm>
            <a:off x="3725037" y="3704749"/>
            <a:ext cx="1693926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725037" y="3704749"/>
            <a:ext cx="1693926" cy="267462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API access</a:t>
            </a:r>
            <a:endParaRPr lang="en-US" sz="788" dirty="0"/>
          </a:p>
        </p:txBody>
      </p:sp>
      <p:sp>
        <p:nvSpPr>
          <p:cNvPr id="48" name="GRAD_1"/>
          <p:cNvSpPr/>
          <p:nvPr/>
        </p:nvSpPr>
        <p:spPr>
          <a:xfrm>
            <a:off x="3725037" y="4150519"/>
            <a:ext cx="1693926" cy="304610"/>
          </a:xfrm>
          <a:prstGeom prst="roundRect">
            <a:avLst>
              <a:gd name="adj" fmla="val 18762"/>
            </a:avLst>
          </a:prstGeom>
          <a:gradFill rotWithShape="1">
            <a:gsLst>
              <a:gs pos="0">
                <a:srgbClr val="6366F1"/>
              </a:gs>
              <a:gs pos="100000">
                <a:srgbClr val="8B5CF6"/>
              </a:gs>
            </a:gsLst>
            <a:lin ang="2700000" scaled="0"/>
          </a:gradFill>
          <a:ln>
            <a:noFill/>
          </a:ln>
        </p:spPr>
      </p:sp>
      <p:sp>
        <p:nvSpPr>
          <p:cNvPr id="49" name="Text 47"/>
          <p:cNvSpPr/>
          <p:nvPr/>
        </p:nvSpPr>
        <p:spPr>
          <a:xfrm>
            <a:off x="3725037" y="4150519"/>
            <a:ext cx="1693926" cy="30461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</a:t>
            </a:r>
            <a:endParaRPr lang="en-US" sz="844" dirty="0"/>
          </a:p>
        </p:txBody>
      </p:sp>
      <p:sp>
        <p:nvSpPr>
          <p:cNvPr id="50" name="GRAD_2"/>
          <p:cNvSpPr/>
          <p:nvPr/>
        </p:nvSpPr>
        <p:spPr>
          <a:xfrm>
            <a:off x="4074795" y="1119283"/>
            <a:ext cx="994410" cy="170879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6366F1"/>
              </a:gs>
              <a:gs pos="100000">
                <a:srgbClr val="8B5CF6"/>
              </a:gs>
            </a:gsLst>
            <a:lin ang="2700000" scaled="0"/>
          </a:gradFill>
          <a:ln>
            <a:noFill/>
          </a:ln>
        </p:spPr>
      </p:sp>
      <p:sp>
        <p:nvSpPr>
          <p:cNvPr id="51" name="Text 49"/>
          <p:cNvSpPr/>
          <p:nvPr/>
        </p:nvSpPr>
        <p:spPr>
          <a:xfrm>
            <a:off x="3874770" y="1119283"/>
            <a:ext cx="1394460" cy="17087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POPULAR</a:t>
            </a:r>
            <a:endParaRPr lang="en-US" sz="675" dirty="0"/>
          </a:p>
        </p:txBody>
      </p:sp>
      <p:sp>
        <p:nvSpPr>
          <p:cNvPr id="52" name="Shape 50"/>
          <p:cNvSpPr/>
          <p:nvPr/>
        </p:nvSpPr>
        <p:spPr>
          <a:xfrm>
            <a:off x="5743575" y="1275159"/>
            <a:ext cx="2000250" cy="3336131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42875" dist="28575" dir="5400000">
              <a:srgbClr val="000000">
                <a:alpha val="8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5929313" y="1489472"/>
            <a:ext cx="1628775" cy="66436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54" name="Shape 52"/>
          <p:cNvSpPr/>
          <p:nvPr/>
        </p:nvSpPr>
        <p:spPr>
          <a:xfrm>
            <a:off x="5929313" y="2146697"/>
            <a:ext cx="1628775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5" name="Text 53"/>
          <p:cNvSpPr/>
          <p:nvPr/>
        </p:nvSpPr>
        <p:spPr>
          <a:xfrm>
            <a:off x="5886450" y="1489472"/>
            <a:ext cx="1714500" cy="1500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13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</a:t>
            </a:r>
            <a:endParaRPr lang="en-US" sz="1013" dirty="0"/>
          </a:p>
        </p:txBody>
      </p:sp>
      <p:sp>
        <p:nvSpPr>
          <p:cNvPr id="56" name="Text 54"/>
          <p:cNvSpPr/>
          <p:nvPr/>
        </p:nvSpPr>
        <p:spPr>
          <a:xfrm>
            <a:off x="5886450" y="1668066"/>
            <a:ext cx="1714500" cy="3643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363" b="1" u="none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$99</a:t>
            </a:r>
            <a:pPr algn="ctr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9CA3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/mo</a:t>
            </a:r>
            <a:endParaRPr lang="en-US" sz="2363" dirty="0"/>
          </a:p>
        </p:txBody>
      </p:sp>
      <p:sp>
        <p:nvSpPr>
          <p:cNvPr id="57" name="Shape 55"/>
          <p:cNvSpPr/>
          <p:nvPr/>
        </p:nvSpPr>
        <p:spPr>
          <a:xfrm>
            <a:off x="5929313" y="2611041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58" name="Text 56"/>
          <p:cNvSpPr/>
          <p:nvPr/>
        </p:nvSpPr>
        <p:spPr>
          <a:xfrm>
            <a:off x="5929313" y="2353866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Unlimited members</a:t>
            </a:r>
            <a:endParaRPr lang="en-US" sz="788" dirty="0"/>
          </a:p>
        </p:txBody>
      </p:sp>
      <p:sp>
        <p:nvSpPr>
          <p:cNvPr id="59" name="Shape 57"/>
          <p:cNvSpPr/>
          <p:nvPr/>
        </p:nvSpPr>
        <p:spPr>
          <a:xfrm>
            <a:off x="5929313" y="2618184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929313" y="2875359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61" name="Text 59"/>
          <p:cNvSpPr/>
          <p:nvPr/>
        </p:nvSpPr>
        <p:spPr>
          <a:xfrm>
            <a:off x="5929313" y="2618184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 TB storage</a:t>
            </a:r>
            <a:endParaRPr lang="en-US" sz="788" dirty="0"/>
          </a:p>
        </p:txBody>
      </p:sp>
      <p:sp>
        <p:nvSpPr>
          <p:cNvPr id="62" name="Shape 60"/>
          <p:cNvSpPr/>
          <p:nvPr/>
        </p:nvSpPr>
        <p:spPr>
          <a:xfrm>
            <a:off x="5929313" y="2882503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929313" y="3139678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64" name="Text 62"/>
          <p:cNvSpPr/>
          <p:nvPr/>
        </p:nvSpPr>
        <p:spPr>
          <a:xfrm>
            <a:off x="5929313" y="2882503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 analytics</a:t>
            </a:r>
            <a:endParaRPr lang="en-US" sz="788" dirty="0"/>
          </a:p>
        </p:txBody>
      </p:sp>
      <p:sp>
        <p:nvSpPr>
          <p:cNvPr id="65" name="Shape 63"/>
          <p:cNvSpPr/>
          <p:nvPr/>
        </p:nvSpPr>
        <p:spPr>
          <a:xfrm>
            <a:off x="5929313" y="3146822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929313" y="3403997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67" name="Text 65"/>
          <p:cNvSpPr/>
          <p:nvPr/>
        </p:nvSpPr>
        <p:spPr>
          <a:xfrm>
            <a:off x="5929313" y="3146822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Custom domains</a:t>
            </a:r>
            <a:endParaRPr lang="en-US" sz="788" dirty="0"/>
          </a:p>
        </p:txBody>
      </p:sp>
      <p:sp>
        <p:nvSpPr>
          <p:cNvPr id="68" name="Shape 66"/>
          <p:cNvSpPr/>
          <p:nvPr/>
        </p:nvSpPr>
        <p:spPr>
          <a:xfrm>
            <a:off x="5929313" y="3411141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929313" y="3668316"/>
            <a:ext cx="1628775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70" name="Text 68"/>
          <p:cNvSpPr/>
          <p:nvPr/>
        </p:nvSpPr>
        <p:spPr>
          <a:xfrm>
            <a:off x="5929313" y="3411141"/>
            <a:ext cx="1628775" cy="2643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Dedicated support</a:t>
            </a:r>
            <a:endParaRPr lang="en-US" sz="788" dirty="0"/>
          </a:p>
        </p:txBody>
      </p:sp>
      <p:sp>
        <p:nvSpPr>
          <p:cNvPr id="71" name="Shape 69"/>
          <p:cNvSpPr/>
          <p:nvPr/>
        </p:nvSpPr>
        <p:spPr>
          <a:xfrm>
            <a:off x="5929313" y="3675459"/>
            <a:ext cx="1628775" cy="0"/>
          </a:xfrm>
          <a:prstGeom prst="line">
            <a:avLst/>
          </a:prstGeom>
          <a:noFill/>
          <a:ln w="6350" algn="in">
            <a:solidFill>
              <a:srgbClr val="F3F4F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929313" y="3675459"/>
            <a:ext cx="16287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pPr algn="l" indent="0" marL="0">
              <a:buNone/>
            </a:pPr>
            <a:r>
              <a:rPr lang="en-US" sz="788" dirty="0">
                <a:solidFill>
                  <a:srgbClr val="4B556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Full API access</a:t>
            </a:r>
            <a:endParaRPr lang="en-US" sz="788" dirty="0"/>
          </a:p>
        </p:txBody>
      </p:sp>
      <p:sp>
        <p:nvSpPr>
          <p:cNvPr id="73" name="Shape 71"/>
          <p:cNvSpPr/>
          <p:nvPr/>
        </p:nvSpPr>
        <p:spPr>
          <a:xfrm>
            <a:off x="5929313" y="4075509"/>
            <a:ext cx="1628775" cy="321469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4288" algn="in">
            <a:solidFill>
              <a:srgbClr val="6366F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929313" y="4075509"/>
            <a:ext cx="1628775" cy="3214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Sales</a:t>
            </a:r>
            <a:endParaRPr lang="en-US" sz="84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12594" y="228600"/>
            <a:ext cx="2004465" cy="2786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Leadership Team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4564856" y="1707356"/>
            <a:ext cx="14288" cy="428625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1857375" y="1907381"/>
            <a:ext cx="5429250" cy="14288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>
            <a:off x="1857375" y="1914525"/>
            <a:ext cx="5429250" cy="0"/>
          </a:xfrm>
          <a:prstGeom prst="line">
            <a:avLst/>
          </a:prstGeom>
          <a:noFill/>
          <a:ln w="14288" algn="in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57375" y="1907381"/>
            <a:ext cx="14288" cy="2286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4564856" y="1907381"/>
            <a:ext cx="14288" cy="2286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7286625" y="1907381"/>
            <a:ext cx="14288" cy="22860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9" name="Shape 7"/>
          <p:cNvSpPr/>
          <p:nvPr/>
        </p:nvSpPr>
        <p:spPr>
          <a:xfrm>
            <a:off x="1857375" y="3136106"/>
            <a:ext cx="14288" cy="257175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0" name="Shape 8"/>
          <p:cNvSpPr/>
          <p:nvPr/>
        </p:nvSpPr>
        <p:spPr>
          <a:xfrm>
            <a:off x="4564856" y="3136106"/>
            <a:ext cx="14288" cy="257175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1" name="Shape 9"/>
          <p:cNvSpPr/>
          <p:nvPr/>
        </p:nvSpPr>
        <p:spPr>
          <a:xfrm>
            <a:off x="7286625" y="3136106"/>
            <a:ext cx="14288" cy="257175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2" name="Shape 10"/>
          <p:cNvSpPr/>
          <p:nvPr/>
        </p:nvSpPr>
        <p:spPr>
          <a:xfrm>
            <a:off x="1214438" y="3393281"/>
            <a:ext cx="1285875" cy="14288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3" name="Shape 11"/>
          <p:cNvSpPr/>
          <p:nvPr/>
        </p:nvSpPr>
        <p:spPr>
          <a:xfrm>
            <a:off x="1214438" y="3400425"/>
            <a:ext cx="1285875" cy="0"/>
          </a:xfrm>
          <a:prstGeom prst="line">
            <a:avLst/>
          </a:prstGeom>
          <a:noFill/>
          <a:ln w="14288" algn="in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29063" y="3393281"/>
            <a:ext cx="1285875" cy="14288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5" name="Shape 13"/>
          <p:cNvSpPr/>
          <p:nvPr/>
        </p:nvSpPr>
        <p:spPr>
          <a:xfrm>
            <a:off x="3929063" y="3400425"/>
            <a:ext cx="1285875" cy="0"/>
          </a:xfrm>
          <a:prstGeom prst="line">
            <a:avLst/>
          </a:prstGeom>
          <a:noFill/>
          <a:ln w="14288" algn="in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43688" y="3393281"/>
            <a:ext cx="1285875" cy="14288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7" name="Shape 15"/>
          <p:cNvSpPr/>
          <p:nvPr/>
        </p:nvSpPr>
        <p:spPr>
          <a:xfrm>
            <a:off x="6643688" y="3400425"/>
            <a:ext cx="1285875" cy="0"/>
          </a:xfrm>
          <a:prstGeom prst="line">
            <a:avLst/>
          </a:prstGeom>
          <a:noFill/>
          <a:ln w="14288" algn="in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14438" y="3393281"/>
            <a:ext cx="14288" cy="17145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9" name="Shape 17"/>
          <p:cNvSpPr/>
          <p:nvPr/>
        </p:nvSpPr>
        <p:spPr>
          <a:xfrm>
            <a:off x="2500313" y="3393281"/>
            <a:ext cx="14288" cy="17145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0" name="Shape 18"/>
          <p:cNvSpPr/>
          <p:nvPr/>
        </p:nvSpPr>
        <p:spPr>
          <a:xfrm>
            <a:off x="3929063" y="3393281"/>
            <a:ext cx="14288" cy="17145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1" name="Shape 19"/>
          <p:cNvSpPr/>
          <p:nvPr/>
        </p:nvSpPr>
        <p:spPr>
          <a:xfrm>
            <a:off x="5214938" y="3393281"/>
            <a:ext cx="14288" cy="17145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2" name="Shape 20"/>
          <p:cNvSpPr/>
          <p:nvPr/>
        </p:nvSpPr>
        <p:spPr>
          <a:xfrm>
            <a:off x="6643688" y="3393281"/>
            <a:ext cx="14288" cy="17145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3" name="Shape 21"/>
          <p:cNvSpPr/>
          <p:nvPr/>
        </p:nvSpPr>
        <p:spPr>
          <a:xfrm>
            <a:off x="7929563" y="3393281"/>
            <a:ext cx="14288" cy="171450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4" name="Shape 22"/>
          <p:cNvSpPr/>
          <p:nvPr/>
        </p:nvSpPr>
        <p:spPr>
          <a:xfrm>
            <a:off x="3786188" y="707231"/>
            <a:ext cx="1571625" cy="1377172"/>
          </a:xfrm>
          <a:prstGeom prst="roundRect">
            <a:avLst>
              <a:gd name="adj" fmla="val 4150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85725" dist="14288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86188" y="707231"/>
            <a:ext cx="1571625" cy="1377172"/>
          </a:xfrm>
          <a:prstGeom prst="roundRect">
            <a:avLst>
              <a:gd name="adj" fmla="val 415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26" name="Shape 24"/>
          <p:cNvSpPr/>
          <p:nvPr/>
        </p:nvSpPr>
        <p:spPr>
          <a:xfrm>
            <a:off x="3786188" y="735806"/>
            <a:ext cx="1571625" cy="1348597"/>
          </a:xfrm>
          <a:prstGeom prst="roundRect">
            <a:avLst>
              <a:gd name="adj" fmla="val 423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7" name="GRAD_3"/>
          <p:cNvSpPr/>
          <p:nvPr/>
        </p:nvSpPr>
        <p:spPr>
          <a:xfrm>
            <a:off x="4314825" y="850106"/>
            <a:ext cx="514350" cy="514350"/>
          </a:xfrm>
          <a:prstGeom prst="ellipse">
            <a:avLst/>
          </a:prstGeom>
          <a:gradFill rotWithShape="1">
            <a:gsLst>
              <a:gs pos="0">
                <a:srgbClr val="DBEAFE"/>
              </a:gs>
              <a:gs pos="100000">
                <a:srgbClr val="93C5FD"/>
              </a:gs>
            </a:gsLst>
            <a:lin ang="2700000" scaled="0"/>
          </a:gradFill>
          <a:ln w="21431" algn="in">
            <a:solidFill>
              <a:srgbClr val="FFFFFF"/>
            </a:solidFill>
            <a:prstDash val="solid"/>
          </a:ln>
          <a:effectLst>
            <a:outerShdw sx="100000" sy="100000" kx="0" ky="0" algn="bl" rotWithShape="0" blurRad="57150" dist="14288" dir="5400000">
              <a:srgbClr val="6366F1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314825" y="850106"/>
            <a:ext cx="514350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857625" y="1435894"/>
            <a:ext cx="1428750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Sarah Chen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57625" y="1593056"/>
            <a:ext cx="142875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Chief Executive Officer</a:t>
            </a:r>
            <a:endParaRPr lang="en-US" sz="731" dirty="0"/>
          </a:p>
        </p:txBody>
      </p:sp>
      <p:sp>
        <p:nvSpPr>
          <p:cNvPr id="31" name="Text 29"/>
          <p:cNvSpPr/>
          <p:nvPr/>
        </p:nvSpPr>
        <p:spPr>
          <a:xfrm>
            <a:off x="3900488" y="1750219"/>
            <a:ext cx="1343025" cy="21988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667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15+ years in tech leadership. Previously CTO at ScaleUp Inc.</a:t>
            </a:r>
            <a:endParaRPr lang="en-US" sz="619" dirty="0"/>
          </a:p>
        </p:txBody>
      </p:sp>
      <p:sp>
        <p:nvSpPr>
          <p:cNvPr id="32" name="Shape 30"/>
          <p:cNvSpPr/>
          <p:nvPr/>
        </p:nvSpPr>
        <p:spPr>
          <a:xfrm>
            <a:off x="1071563" y="2135981"/>
            <a:ext cx="1571625" cy="1320022"/>
          </a:xfrm>
          <a:prstGeom prst="roundRect">
            <a:avLst>
              <a:gd name="adj" fmla="val 4329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85725" dist="14288" dir="54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071563" y="2135981"/>
            <a:ext cx="1571625" cy="1320022"/>
          </a:xfrm>
          <a:prstGeom prst="roundRect">
            <a:avLst>
              <a:gd name="adj" fmla="val 4329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34" name="Shape 32"/>
          <p:cNvSpPr/>
          <p:nvPr/>
        </p:nvSpPr>
        <p:spPr>
          <a:xfrm>
            <a:off x="1071563" y="2164556"/>
            <a:ext cx="1571625" cy="1291447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5" name="GRAD_4"/>
          <p:cNvSpPr/>
          <p:nvPr/>
        </p:nvSpPr>
        <p:spPr>
          <a:xfrm>
            <a:off x="1628775" y="2278856"/>
            <a:ext cx="457200" cy="457200"/>
          </a:xfrm>
          <a:prstGeom prst="ellipse">
            <a:avLst/>
          </a:prstGeom>
          <a:gradFill rotWithShape="1">
            <a:gsLst>
              <a:gs pos="0">
                <a:srgbClr val="E0E7FF"/>
              </a:gs>
              <a:gs pos="100000">
                <a:srgbClr val="C7D2FE"/>
              </a:gs>
            </a:gsLst>
            <a:lin ang="2700000" scaled="0"/>
          </a:gradFill>
          <a:ln w="21431" algn="in">
            <a:solidFill>
              <a:srgbClr val="FFFFFF"/>
            </a:solidFill>
            <a:prstDash val="solid"/>
          </a:ln>
          <a:effectLst>
            <a:outerShdw sx="100000" sy="100000" kx="0" ky="0" algn="bl" rotWithShape="0" blurRad="57150" dist="14288" dir="5400000">
              <a:srgbClr val="6366F1">
                <a:alpha val="2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628775" y="2278856"/>
            <a:ext cx="457200" cy="4572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75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</a:t>
            </a:r>
            <a:endParaRPr lang="en-US" sz="1575" dirty="0"/>
          </a:p>
        </p:txBody>
      </p:sp>
      <p:sp>
        <p:nvSpPr>
          <p:cNvPr id="37" name="Text 35"/>
          <p:cNvSpPr/>
          <p:nvPr/>
        </p:nvSpPr>
        <p:spPr>
          <a:xfrm>
            <a:off x="1143000" y="2807494"/>
            <a:ext cx="1428750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Marcus Rivera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3000" y="2964656"/>
            <a:ext cx="142875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VP of Engineering</a:t>
            </a:r>
            <a:endParaRPr lang="en-US" sz="731" dirty="0"/>
          </a:p>
        </p:txBody>
      </p:sp>
      <p:sp>
        <p:nvSpPr>
          <p:cNvPr id="39" name="Text 37"/>
          <p:cNvSpPr/>
          <p:nvPr/>
        </p:nvSpPr>
        <p:spPr>
          <a:xfrm>
            <a:off x="1185863" y="3121819"/>
            <a:ext cx="1343025" cy="21988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667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Leads a team of 45 engineers across platform and infra.</a:t>
            </a:r>
            <a:endParaRPr lang="en-US" sz="619" dirty="0"/>
          </a:p>
        </p:txBody>
      </p:sp>
      <p:sp>
        <p:nvSpPr>
          <p:cNvPr id="40" name="Shape 38"/>
          <p:cNvSpPr/>
          <p:nvPr/>
        </p:nvSpPr>
        <p:spPr>
          <a:xfrm>
            <a:off x="3786188" y="2135981"/>
            <a:ext cx="1571625" cy="1320022"/>
          </a:xfrm>
          <a:prstGeom prst="roundRect">
            <a:avLst>
              <a:gd name="adj" fmla="val 4329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85725" dist="14288" dir="54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786188" y="2135981"/>
            <a:ext cx="1571625" cy="1320022"/>
          </a:xfrm>
          <a:prstGeom prst="roundRect">
            <a:avLst>
              <a:gd name="adj" fmla="val 4329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42" name="Shape 40"/>
          <p:cNvSpPr/>
          <p:nvPr/>
        </p:nvSpPr>
        <p:spPr>
          <a:xfrm>
            <a:off x="3786188" y="2164556"/>
            <a:ext cx="1571625" cy="1291447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3" name="GRAD_5"/>
          <p:cNvSpPr/>
          <p:nvPr/>
        </p:nvSpPr>
        <p:spPr>
          <a:xfrm>
            <a:off x="4343400" y="2278856"/>
            <a:ext cx="457200" cy="457200"/>
          </a:xfrm>
          <a:prstGeom prst="ellipse">
            <a:avLst/>
          </a:prstGeom>
          <a:gradFill rotWithShape="1">
            <a:gsLst>
              <a:gs pos="0">
                <a:srgbClr val="E0E7FF"/>
              </a:gs>
              <a:gs pos="100000">
                <a:srgbClr val="C7D2FE"/>
              </a:gs>
            </a:gsLst>
            <a:lin ang="2700000" scaled="0"/>
          </a:gradFill>
          <a:ln w="21431" algn="in">
            <a:solidFill>
              <a:srgbClr val="FFFFFF"/>
            </a:solidFill>
            <a:prstDash val="solid"/>
          </a:ln>
          <a:effectLst>
            <a:outerShdw sx="100000" sy="100000" kx="0" ky="0" algn="bl" rotWithShape="0" blurRad="57150" dist="14288" dir="5400000">
              <a:srgbClr val="6366F1">
                <a:alpha val="2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343400" y="2278856"/>
            <a:ext cx="457200" cy="4572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75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JP</a:t>
            </a:r>
            <a:endParaRPr lang="en-US" sz="1575" dirty="0"/>
          </a:p>
        </p:txBody>
      </p:sp>
      <p:sp>
        <p:nvSpPr>
          <p:cNvPr id="45" name="Text 43"/>
          <p:cNvSpPr/>
          <p:nvPr/>
        </p:nvSpPr>
        <p:spPr>
          <a:xfrm>
            <a:off x="3857625" y="2807494"/>
            <a:ext cx="1428750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Jessica Park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857625" y="2964656"/>
            <a:ext cx="142875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VP of Product</a:t>
            </a:r>
            <a:endParaRPr lang="en-US" sz="731" dirty="0"/>
          </a:p>
        </p:txBody>
      </p:sp>
      <p:sp>
        <p:nvSpPr>
          <p:cNvPr id="47" name="Text 45"/>
          <p:cNvSpPr/>
          <p:nvPr/>
        </p:nvSpPr>
        <p:spPr>
          <a:xfrm>
            <a:off x="3900488" y="3121819"/>
            <a:ext cx="1343025" cy="21988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667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visionary driving roadmap and go-to-market strategy.</a:t>
            </a:r>
            <a:endParaRPr lang="en-US" sz="619" dirty="0"/>
          </a:p>
        </p:txBody>
      </p:sp>
      <p:sp>
        <p:nvSpPr>
          <p:cNvPr id="48" name="Shape 46"/>
          <p:cNvSpPr/>
          <p:nvPr/>
        </p:nvSpPr>
        <p:spPr>
          <a:xfrm>
            <a:off x="6500813" y="2135981"/>
            <a:ext cx="1571625" cy="1320022"/>
          </a:xfrm>
          <a:prstGeom prst="roundRect">
            <a:avLst>
              <a:gd name="adj" fmla="val 4329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85725" dist="14288" dir="54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500813" y="2135981"/>
            <a:ext cx="1571625" cy="1320022"/>
          </a:xfrm>
          <a:prstGeom prst="roundRect">
            <a:avLst>
              <a:gd name="adj" fmla="val 4329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50" name="Shape 48"/>
          <p:cNvSpPr/>
          <p:nvPr/>
        </p:nvSpPr>
        <p:spPr>
          <a:xfrm>
            <a:off x="6500813" y="2164556"/>
            <a:ext cx="1571625" cy="1291447"/>
          </a:xfrm>
          <a:prstGeom prst="roundRect">
            <a:avLst>
              <a:gd name="adj" fmla="val 4425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1" name="GRAD_6"/>
          <p:cNvSpPr/>
          <p:nvPr/>
        </p:nvSpPr>
        <p:spPr>
          <a:xfrm>
            <a:off x="7058025" y="2278856"/>
            <a:ext cx="457200" cy="457200"/>
          </a:xfrm>
          <a:prstGeom prst="ellipse">
            <a:avLst/>
          </a:prstGeom>
          <a:gradFill rotWithShape="1">
            <a:gsLst>
              <a:gs pos="0">
                <a:srgbClr val="E0E7FF"/>
              </a:gs>
              <a:gs pos="100000">
                <a:srgbClr val="C7D2FE"/>
              </a:gs>
            </a:gsLst>
            <a:lin ang="2700000" scaled="0"/>
          </a:gradFill>
          <a:ln w="21431" algn="in">
            <a:solidFill>
              <a:srgbClr val="FFFFFF"/>
            </a:solidFill>
            <a:prstDash val="solid"/>
          </a:ln>
          <a:effectLst>
            <a:outerShdw sx="100000" sy="100000" kx="0" ky="0" algn="bl" rotWithShape="0" blurRad="57150" dist="14288" dir="5400000">
              <a:srgbClr val="6366F1">
                <a:alpha val="2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058025" y="2278856"/>
            <a:ext cx="457200" cy="4572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75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DK</a:t>
            </a:r>
            <a:endParaRPr lang="en-US" sz="1575" dirty="0"/>
          </a:p>
        </p:txBody>
      </p:sp>
      <p:sp>
        <p:nvSpPr>
          <p:cNvPr id="53" name="Text 51"/>
          <p:cNvSpPr/>
          <p:nvPr/>
        </p:nvSpPr>
        <p:spPr>
          <a:xfrm>
            <a:off x="6572250" y="2807494"/>
            <a:ext cx="1428750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David Kim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572250" y="2964656"/>
            <a:ext cx="142875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VP of Sales</a:t>
            </a:r>
            <a:endParaRPr lang="en-US" sz="731" dirty="0"/>
          </a:p>
        </p:txBody>
      </p:sp>
      <p:sp>
        <p:nvSpPr>
          <p:cNvPr id="55" name="Text 53"/>
          <p:cNvSpPr/>
          <p:nvPr/>
        </p:nvSpPr>
        <p:spPr>
          <a:xfrm>
            <a:off x="6615113" y="3121819"/>
            <a:ext cx="1343025" cy="21988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6667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Scaled revenue 3x in 18 months. Enterprise sales expert.</a:t>
            </a:r>
            <a:endParaRPr lang="en-US" sz="619" dirty="0"/>
          </a:p>
        </p:txBody>
      </p:sp>
      <p:sp>
        <p:nvSpPr>
          <p:cNvPr id="56" name="Shape 54"/>
          <p:cNvSpPr/>
          <p:nvPr/>
        </p:nvSpPr>
        <p:spPr>
          <a:xfrm>
            <a:off x="642938" y="3564731"/>
            <a:ext cx="1143000" cy="41433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42863" dist="7144" dir="5400000">
              <a:srgbClr val="000000">
                <a:alpha val="6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42938" y="3564731"/>
            <a:ext cx="1143000" cy="414338"/>
          </a:xfrm>
          <a:prstGeom prst="roundRect">
            <a:avLst>
              <a:gd name="adj" fmla="val 13793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58" name="Shape 56"/>
          <p:cNvSpPr/>
          <p:nvPr/>
        </p:nvSpPr>
        <p:spPr>
          <a:xfrm>
            <a:off x="664369" y="3564731"/>
            <a:ext cx="1121569" cy="41433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9" name="Text 57"/>
          <p:cNvSpPr/>
          <p:nvPr/>
        </p:nvSpPr>
        <p:spPr>
          <a:xfrm>
            <a:off x="721519" y="3636169"/>
            <a:ext cx="1007269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Alex T.</a:t>
            </a:r>
            <a:endParaRPr lang="en-US" sz="731" dirty="0"/>
          </a:p>
        </p:txBody>
      </p:sp>
      <p:sp>
        <p:nvSpPr>
          <p:cNvPr id="60" name="Text 58"/>
          <p:cNvSpPr/>
          <p:nvPr/>
        </p:nvSpPr>
        <p:spPr>
          <a:xfrm>
            <a:off x="721519" y="3764756"/>
            <a:ext cx="100726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 Manager</a:t>
            </a:r>
            <a:endParaRPr lang="en-US" sz="619" dirty="0"/>
          </a:p>
        </p:txBody>
      </p:sp>
      <p:sp>
        <p:nvSpPr>
          <p:cNvPr id="61" name="Shape 59"/>
          <p:cNvSpPr/>
          <p:nvPr/>
        </p:nvSpPr>
        <p:spPr>
          <a:xfrm>
            <a:off x="1928813" y="3564731"/>
            <a:ext cx="1143000" cy="41433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42863" dist="7144" dir="5400000">
              <a:srgbClr val="000000">
                <a:alpha val="6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1928813" y="3564731"/>
            <a:ext cx="1143000" cy="414338"/>
          </a:xfrm>
          <a:prstGeom prst="roundRect">
            <a:avLst>
              <a:gd name="adj" fmla="val 13793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63" name="Shape 61"/>
          <p:cNvSpPr/>
          <p:nvPr/>
        </p:nvSpPr>
        <p:spPr>
          <a:xfrm>
            <a:off x="1950244" y="3564731"/>
            <a:ext cx="1121569" cy="41433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4" name="Text 62"/>
          <p:cNvSpPr/>
          <p:nvPr/>
        </p:nvSpPr>
        <p:spPr>
          <a:xfrm>
            <a:off x="2007394" y="3636169"/>
            <a:ext cx="1007269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Priya S.</a:t>
            </a:r>
            <a:endParaRPr lang="en-US" sz="731" dirty="0"/>
          </a:p>
        </p:txBody>
      </p:sp>
      <p:sp>
        <p:nvSpPr>
          <p:cNvPr id="65" name="Text 63"/>
          <p:cNvSpPr/>
          <p:nvPr/>
        </p:nvSpPr>
        <p:spPr>
          <a:xfrm>
            <a:off x="2007394" y="3764756"/>
            <a:ext cx="100726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Engineer</a:t>
            </a:r>
            <a:endParaRPr lang="en-US" sz="619" dirty="0"/>
          </a:p>
        </p:txBody>
      </p:sp>
      <p:sp>
        <p:nvSpPr>
          <p:cNvPr id="66" name="Shape 64"/>
          <p:cNvSpPr/>
          <p:nvPr/>
        </p:nvSpPr>
        <p:spPr>
          <a:xfrm>
            <a:off x="3357563" y="3564731"/>
            <a:ext cx="1143000" cy="41433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42863" dist="7144" dir="5400000">
              <a:srgbClr val="000000">
                <a:alpha val="6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3357563" y="3564731"/>
            <a:ext cx="1143000" cy="414338"/>
          </a:xfrm>
          <a:prstGeom prst="roundRect">
            <a:avLst>
              <a:gd name="adj" fmla="val 13793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68" name="Shape 66"/>
          <p:cNvSpPr/>
          <p:nvPr/>
        </p:nvSpPr>
        <p:spPr>
          <a:xfrm>
            <a:off x="3378994" y="3564731"/>
            <a:ext cx="1121569" cy="41433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69" name="Text 67"/>
          <p:cNvSpPr/>
          <p:nvPr/>
        </p:nvSpPr>
        <p:spPr>
          <a:xfrm>
            <a:off x="3436144" y="3636169"/>
            <a:ext cx="1007269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Tom W.</a:t>
            </a:r>
            <a:endParaRPr lang="en-US" sz="731" dirty="0"/>
          </a:p>
        </p:txBody>
      </p:sp>
      <p:sp>
        <p:nvSpPr>
          <p:cNvPr id="70" name="Text 68"/>
          <p:cNvSpPr/>
          <p:nvPr/>
        </p:nvSpPr>
        <p:spPr>
          <a:xfrm>
            <a:off x="3436144" y="3764756"/>
            <a:ext cx="100726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Lead</a:t>
            </a:r>
            <a:endParaRPr lang="en-US" sz="619" dirty="0"/>
          </a:p>
        </p:txBody>
      </p:sp>
      <p:sp>
        <p:nvSpPr>
          <p:cNvPr id="71" name="Shape 69"/>
          <p:cNvSpPr/>
          <p:nvPr/>
        </p:nvSpPr>
        <p:spPr>
          <a:xfrm>
            <a:off x="4643438" y="3564731"/>
            <a:ext cx="1143000" cy="41433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42863" dist="7144" dir="5400000">
              <a:srgbClr val="000000">
                <a:alpha val="6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4643438" y="3564731"/>
            <a:ext cx="1143000" cy="414338"/>
          </a:xfrm>
          <a:prstGeom prst="roundRect">
            <a:avLst>
              <a:gd name="adj" fmla="val 13793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73" name="Shape 71"/>
          <p:cNvSpPr/>
          <p:nvPr/>
        </p:nvSpPr>
        <p:spPr>
          <a:xfrm>
            <a:off x="4664869" y="3564731"/>
            <a:ext cx="1121569" cy="41433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4" name="Text 72"/>
          <p:cNvSpPr/>
          <p:nvPr/>
        </p:nvSpPr>
        <p:spPr>
          <a:xfrm>
            <a:off x="4722019" y="3636169"/>
            <a:ext cx="1007269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Lisa M.</a:t>
            </a:r>
            <a:endParaRPr lang="en-US" sz="731" dirty="0"/>
          </a:p>
        </p:txBody>
      </p:sp>
      <p:sp>
        <p:nvSpPr>
          <p:cNvPr id="75" name="Text 73"/>
          <p:cNvSpPr/>
          <p:nvPr/>
        </p:nvSpPr>
        <p:spPr>
          <a:xfrm>
            <a:off x="4722019" y="3764756"/>
            <a:ext cx="100726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UX Director</a:t>
            </a:r>
            <a:endParaRPr lang="en-US" sz="619" dirty="0"/>
          </a:p>
        </p:txBody>
      </p:sp>
      <p:sp>
        <p:nvSpPr>
          <p:cNvPr id="76" name="Shape 74"/>
          <p:cNvSpPr/>
          <p:nvPr/>
        </p:nvSpPr>
        <p:spPr>
          <a:xfrm>
            <a:off x="6072188" y="3564731"/>
            <a:ext cx="1143000" cy="41433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42863" dist="7144" dir="5400000">
              <a:srgbClr val="000000">
                <a:alpha val="6000"/>
              </a:srgbClr>
            </a:outerShdw>
          </a:effectLst>
        </p:spPr>
      </p:sp>
      <p:sp>
        <p:nvSpPr>
          <p:cNvPr id="77" name="Shape 75"/>
          <p:cNvSpPr/>
          <p:nvPr/>
        </p:nvSpPr>
        <p:spPr>
          <a:xfrm>
            <a:off x="6072188" y="3564731"/>
            <a:ext cx="1143000" cy="414338"/>
          </a:xfrm>
          <a:prstGeom prst="roundRect">
            <a:avLst>
              <a:gd name="adj" fmla="val 13793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78" name="Shape 76"/>
          <p:cNvSpPr/>
          <p:nvPr/>
        </p:nvSpPr>
        <p:spPr>
          <a:xfrm>
            <a:off x="6093619" y="3564731"/>
            <a:ext cx="1121569" cy="41433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79" name="Text 77"/>
          <p:cNvSpPr/>
          <p:nvPr/>
        </p:nvSpPr>
        <p:spPr>
          <a:xfrm>
            <a:off x="6150769" y="3636169"/>
            <a:ext cx="1007269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Ryan B.</a:t>
            </a:r>
            <a:endParaRPr lang="en-US" sz="731" dirty="0"/>
          </a:p>
        </p:txBody>
      </p:sp>
      <p:sp>
        <p:nvSpPr>
          <p:cNvPr id="80" name="Text 78"/>
          <p:cNvSpPr/>
          <p:nvPr/>
        </p:nvSpPr>
        <p:spPr>
          <a:xfrm>
            <a:off x="6150769" y="3764756"/>
            <a:ext cx="100726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Director</a:t>
            </a:r>
            <a:endParaRPr lang="en-US" sz="619" dirty="0"/>
          </a:p>
        </p:txBody>
      </p:sp>
      <p:sp>
        <p:nvSpPr>
          <p:cNvPr id="81" name="Shape 79"/>
          <p:cNvSpPr/>
          <p:nvPr/>
        </p:nvSpPr>
        <p:spPr>
          <a:xfrm>
            <a:off x="7358063" y="3564731"/>
            <a:ext cx="1143000" cy="41433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42863" dist="7144" dir="5400000">
              <a:srgbClr val="000000">
                <a:alpha val="6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7358063" y="3564731"/>
            <a:ext cx="1143000" cy="414338"/>
          </a:xfrm>
          <a:prstGeom prst="roundRect">
            <a:avLst>
              <a:gd name="adj" fmla="val 13793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83" name="Shape 81"/>
          <p:cNvSpPr/>
          <p:nvPr/>
        </p:nvSpPr>
        <p:spPr>
          <a:xfrm>
            <a:off x="7379494" y="3564731"/>
            <a:ext cx="1121569" cy="414338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4" name="Text 82"/>
          <p:cNvSpPr/>
          <p:nvPr/>
        </p:nvSpPr>
        <p:spPr>
          <a:xfrm>
            <a:off x="7436644" y="3636169"/>
            <a:ext cx="1007269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Nina K.</a:t>
            </a:r>
            <a:endParaRPr lang="en-US" sz="731" dirty="0"/>
          </a:p>
        </p:txBody>
      </p:sp>
      <p:sp>
        <p:nvSpPr>
          <p:cNvPr id="85" name="Text 83"/>
          <p:cNvSpPr/>
          <p:nvPr/>
        </p:nvSpPr>
        <p:spPr>
          <a:xfrm>
            <a:off x="7436644" y="3764756"/>
            <a:ext cx="100726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Account Exec</a:t>
            </a:r>
            <a:endParaRPr lang="en-US" sz="61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85750"/>
            <a:ext cx="2134624" cy="2428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Overview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7600950" y="357188"/>
            <a:ext cx="1285875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2026-04-13 09:42 UTC</a:t>
            </a:r>
            <a:endParaRPr lang="en-US" sz="788" dirty="0"/>
          </a:p>
        </p:txBody>
      </p:sp>
      <p:sp>
        <p:nvSpPr>
          <p:cNvPr id="4" name="Shape 2"/>
          <p:cNvSpPr/>
          <p:nvPr/>
        </p:nvSpPr>
        <p:spPr>
          <a:xfrm>
            <a:off x="342900" y="757238"/>
            <a:ext cx="2007394" cy="1343025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>
            <a:off x="342900" y="757238"/>
            <a:ext cx="2007394" cy="1343025"/>
          </a:xfrm>
          <a:prstGeom prst="roundRect">
            <a:avLst>
              <a:gd name="adj" fmla="val 6383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371475" y="757238"/>
            <a:ext cx="1978819" cy="1343025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7" name="Text 5"/>
          <p:cNvSpPr/>
          <p:nvPr/>
        </p:nvSpPr>
        <p:spPr>
          <a:xfrm>
            <a:off x="542925" y="900113"/>
            <a:ext cx="1721644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REVENUE</a:t>
            </a:r>
            <a:endParaRPr lang="en-US" sz="731" dirty="0"/>
          </a:p>
        </p:txBody>
      </p:sp>
      <p:sp>
        <p:nvSpPr>
          <p:cNvPr id="8" name="Text 6"/>
          <p:cNvSpPr/>
          <p:nvPr/>
        </p:nvSpPr>
        <p:spPr>
          <a:xfrm>
            <a:off x="542925" y="1071563"/>
            <a:ext cx="1721644" cy="3214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dirty="0">
                <a:solidFill>
                  <a:srgbClr val="F1F5F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$284K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542925" y="1435894"/>
            <a:ext cx="535781" cy="150019"/>
          </a:xfrm>
          <a:prstGeom prst="roundRect">
            <a:avLst>
              <a:gd name="adj" fmla="val 19048"/>
            </a:avLst>
          </a:prstGeom>
          <a:solidFill>
            <a:srgbClr val="10B981">
              <a:alpha val="10000"/>
            </a:srgbClr>
          </a:solidFill>
          <a:ln>
            <a:noFill/>
          </a:ln>
        </p:spPr>
      </p:sp>
      <p:sp>
        <p:nvSpPr>
          <p:cNvPr id="10" name="Text 8"/>
          <p:cNvSpPr/>
          <p:nvPr/>
        </p:nvSpPr>
        <p:spPr>
          <a:xfrm>
            <a:off x="435769" y="1435894"/>
            <a:ext cx="750094" cy="1500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8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12.5%</a:t>
            </a:r>
            <a:endParaRPr lang="en-US" sz="788" dirty="0"/>
          </a:p>
        </p:txBody>
      </p:sp>
      <p:sp>
        <p:nvSpPr>
          <p:cNvPr id="11" name="Shape 9"/>
          <p:cNvSpPr/>
          <p:nvPr/>
        </p:nvSpPr>
        <p:spPr>
          <a:xfrm>
            <a:off x="542925" y="1828800"/>
            <a:ext cx="57150" cy="128588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2" name="Shape 10"/>
          <p:cNvSpPr/>
          <p:nvPr/>
        </p:nvSpPr>
        <p:spPr>
          <a:xfrm>
            <a:off x="621506" y="1808798"/>
            <a:ext cx="57150" cy="14859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3" name="Shape 11"/>
          <p:cNvSpPr/>
          <p:nvPr/>
        </p:nvSpPr>
        <p:spPr>
          <a:xfrm>
            <a:off x="700088" y="1820299"/>
            <a:ext cx="57150" cy="137089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4" name="Shape 12"/>
          <p:cNvSpPr/>
          <p:nvPr/>
        </p:nvSpPr>
        <p:spPr>
          <a:xfrm>
            <a:off x="778669" y="1785938"/>
            <a:ext cx="57150" cy="17145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5" name="Shape 13"/>
          <p:cNvSpPr/>
          <p:nvPr/>
        </p:nvSpPr>
        <p:spPr>
          <a:xfrm>
            <a:off x="857250" y="1800225"/>
            <a:ext cx="57150" cy="157163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6" name="Shape 14"/>
          <p:cNvSpPr/>
          <p:nvPr/>
        </p:nvSpPr>
        <p:spPr>
          <a:xfrm>
            <a:off x="935831" y="1757363"/>
            <a:ext cx="57150" cy="20002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7" name="Shape 15"/>
          <p:cNvSpPr/>
          <p:nvPr/>
        </p:nvSpPr>
        <p:spPr>
          <a:xfrm>
            <a:off x="1014413" y="1771650"/>
            <a:ext cx="57150" cy="185738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8" name="Shape 16"/>
          <p:cNvSpPr/>
          <p:nvPr/>
        </p:nvSpPr>
        <p:spPr>
          <a:xfrm>
            <a:off x="1092994" y="1734574"/>
            <a:ext cx="57150" cy="222814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9" name="Shape 17"/>
          <p:cNvSpPr/>
          <p:nvPr/>
        </p:nvSpPr>
        <p:spPr>
          <a:xfrm>
            <a:off x="1171575" y="1723073"/>
            <a:ext cx="57150" cy="23431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20" name="Shape 18"/>
          <p:cNvSpPr/>
          <p:nvPr/>
        </p:nvSpPr>
        <p:spPr>
          <a:xfrm>
            <a:off x="1250156" y="1700213"/>
            <a:ext cx="57150" cy="257175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21" name="Shape 19"/>
          <p:cNvSpPr/>
          <p:nvPr/>
        </p:nvSpPr>
        <p:spPr>
          <a:xfrm>
            <a:off x="1328738" y="1705999"/>
            <a:ext cx="57150" cy="251389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22" name="Shape 20"/>
          <p:cNvSpPr/>
          <p:nvPr/>
        </p:nvSpPr>
        <p:spPr>
          <a:xfrm>
            <a:off x="1407319" y="1671638"/>
            <a:ext cx="57150" cy="285750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23" name="Shape 21"/>
          <p:cNvSpPr/>
          <p:nvPr/>
        </p:nvSpPr>
        <p:spPr>
          <a:xfrm>
            <a:off x="2493169" y="757238"/>
            <a:ext cx="2007394" cy="1343025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24" name="Shape 22"/>
          <p:cNvSpPr/>
          <p:nvPr/>
        </p:nvSpPr>
        <p:spPr>
          <a:xfrm>
            <a:off x="2493169" y="757238"/>
            <a:ext cx="2007394" cy="1343025"/>
          </a:xfrm>
          <a:prstGeom prst="roundRect">
            <a:avLst>
              <a:gd name="adj" fmla="val 6383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25" name="Shape 23"/>
          <p:cNvSpPr/>
          <p:nvPr/>
        </p:nvSpPr>
        <p:spPr>
          <a:xfrm>
            <a:off x="2521744" y="757238"/>
            <a:ext cx="1978819" cy="1343025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26" name="Text 24"/>
          <p:cNvSpPr/>
          <p:nvPr/>
        </p:nvSpPr>
        <p:spPr>
          <a:xfrm>
            <a:off x="2693194" y="900113"/>
            <a:ext cx="1721644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USERS</a:t>
            </a:r>
            <a:endParaRPr lang="en-US" sz="731" dirty="0"/>
          </a:p>
        </p:txBody>
      </p:sp>
      <p:sp>
        <p:nvSpPr>
          <p:cNvPr id="27" name="Text 25"/>
          <p:cNvSpPr/>
          <p:nvPr/>
        </p:nvSpPr>
        <p:spPr>
          <a:xfrm>
            <a:off x="2693194" y="1071563"/>
            <a:ext cx="1721644" cy="3214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dirty="0">
                <a:solidFill>
                  <a:srgbClr val="F1F5F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18.2K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2693194" y="1435894"/>
            <a:ext cx="493919" cy="150019"/>
          </a:xfrm>
          <a:prstGeom prst="roundRect">
            <a:avLst>
              <a:gd name="adj" fmla="val 19048"/>
            </a:avLst>
          </a:prstGeom>
          <a:solidFill>
            <a:srgbClr val="10B981">
              <a:alpha val="10000"/>
            </a:srgbClr>
          </a:solidFill>
          <a:ln>
            <a:noFill/>
          </a:ln>
        </p:spPr>
      </p:sp>
      <p:sp>
        <p:nvSpPr>
          <p:cNvPr id="29" name="Text 27"/>
          <p:cNvSpPr/>
          <p:nvPr/>
        </p:nvSpPr>
        <p:spPr>
          <a:xfrm>
            <a:off x="2593181" y="1435894"/>
            <a:ext cx="693944" cy="1500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8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8.3%</a:t>
            </a:r>
            <a:endParaRPr lang="en-US" sz="788" dirty="0"/>
          </a:p>
        </p:txBody>
      </p:sp>
      <p:sp>
        <p:nvSpPr>
          <p:cNvPr id="30" name="Shape 28"/>
          <p:cNvSpPr/>
          <p:nvPr/>
        </p:nvSpPr>
        <p:spPr>
          <a:xfrm>
            <a:off x="2693194" y="1785938"/>
            <a:ext cx="57150" cy="17145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1" name="Shape 29"/>
          <p:cNvSpPr/>
          <p:nvPr/>
        </p:nvSpPr>
        <p:spPr>
          <a:xfrm>
            <a:off x="2771775" y="1800225"/>
            <a:ext cx="57150" cy="157163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2" name="Shape 30"/>
          <p:cNvSpPr/>
          <p:nvPr/>
        </p:nvSpPr>
        <p:spPr>
          <a:xfrm>
            <a:off x="2850356" y="1771650"/>
            <a:ext cx="57150" cy="185738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3" name="Shape 31"/>
          <p:cNvSpPr/>
          <p:nvPr/>
        </p:nvSpPr>
        <p:spPr>
          <a:xfrm>
            <a:off x="2928938" y="1791724"/>
            <a:ext cx="57150" cy="165664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4" name="Shape 32"/>
          <p:cNvSpPr/>
          <p:nvPr/>
        </p:nvSpPr>
        <p:spPr>
          <a:xfrm>
            <a:off x="3007519" y="1757363"/>
            <a:ext cx="57150" cy="200025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5" name="Shape 33"/>
          <p:cNvSpPr/>
          <p:nvPr/>
        </p:nvSpPr>
        <p:spPr>
          <a:xfrm>
            <a:off x="3086100" y="1751648"/>
            <a:ext cx="57150" cy="20574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6" name="Shape 34"/>
          <p:cNvSpPr/>
          <p:nvPr/>
        </p:nvSpPr>
        <p:spPr>
          <a:xfrm>
            <a:off x="3164681" y="1763149"/>
            <a:ext cx="57150" cy="194239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7" name="Shape 35"/>
          <p:cNvSpPr/>
          <p:nvPr/>
        </p:nvSpPr>
        <p:spPr>
          <a:xfrm>
            <a:off x="3243263" y="1728788"/>
            <a:ext cx="57150" cy="22860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8" name="Shape 36"/>
          <p:cNvSpPr/>
          <p:nvPr/>
        </p:nvSpPr>
        <p:spPr>
          <a:xfrm>
            <a:off x="3321844" y="1743075"/>
            <a:ext cx="57150" cy="214313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9" name="Shape 37"/>
          <p:cNvSpPr/>
          <p:nvPr/>
        </p:nvSpPr>
        <p:spPr>
          <a:xfrm>
            <a:off x="3400425" y="1714500"/>
            <a:ext cx="57150" cy="242888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0" name="Shape 38"/>
          <p:cNvSpPr/>
          <p:nvPr/>
        </p:nvSpPr>
        <p:spPr>
          <a:xfrm>
            <a:off x="3479006" y="1700213"/>
            <a:ext cx="57150" cy="257175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1" name="Shape 39"/>
          <p:cNvSpPr/>
          <p:nvPr/>
        </p:nvSpPr>
        <p:spPr>
          <a:xfrm>
            <a:off x="3557588" y="1685925"/>
            <a:ext cx="57150" cy="271463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2" name="Shape 40"/>
          <p:cNvSpPr/>
          <p:nvPr/>
        </p:nvSpPr>
        <p:spPr>
          <a:xfrm>
            <a:off x="4643438" y="757238"/>
            <a:ext cx="2007394" cy="1343025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43" name="Shape 41"/>
          <p:cNvSpPr/>
          <p:nvPr/>
        </p:nvSpPr>
        <p:spPr>
          <a:xfrm>
            <a:off x="4643438" y="757238"/>
            <a:ext cx="2007394" cy="1343025"/>
          </a:xfrm>
          <a:prstGeom prst="roundRect">
            <a:avLst>
              <a:gd name="adj" fmla="val 6383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44" name="Shape 42"/>
          <p:cNvSpPr/>
          <p:nvPr/>
        </p:nvSpPr>
        <p:spPr>
          <a:xfrm>
            <a:off x="4672013" y="757238"/>
            <a:ext cx="1978819" cy="1343025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45" name="Text 43"/>
          <p:cNvSpPr/>
          <p:nvPr/>
        </p:nvSpPr>
        <p:spPr>
          <a:xfrm>
            <a:off x="4843463" y="900113"/>
            <a:ext cx="1721644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 RATE</a:t>
            </a:r>
            <a:endParaRPr lang="en-US" sz="731" dirty="0"/>
          </a:p>
        </p:txBody>
      </p:sp>
      <p:sp>
        <p:nvSpPr>
          <p:cNvPr id="46" name="Text 44"/>
          <p:cNvSpPr/>
          <p:nvPr/>
        </p:nvSpPr>
        <p:spPr>
          <a:xfrm>
            <a:off x="4843463" y="1071563"/>
            <a:ext cx="1721644" cy="3214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dirty="0">
                <a:solidFill>
                  <a:srgbClr val="F1F5F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3.8%</a:t>
            </a:r>
            <a:endParaRPr lang="en-US" sz="2025" dirty="0"/>
          </a:p>
        </p:txBody>
      </p:sp>
      <p:sp>
        <p:nvSpPr>
          <p:cNvPr id="47" name="Shape 45"/>
          <p:cNvSpPr/>
          <p:nvPr/>
        </p:nvSpPr>
        <p:spPr>
          <a:xfrm>
            <a:off x="4843463" y="1435894"/>
            <a:ext cx="525066" cy="150019"/>
          </a:xfrm>
          <a:prstGeom prst="roundRect">
            <a:avLst>
              <a:gd name="adj" fmla="val 19048"/>
            </a:avLst>
          </a:prstGeom>
          <a:solidFill>
            <a:srgbClr val="10B981">
              <a:alpha val="10000"/>
            </a:srgbClr>
          </a:solidFill>
          <a:ln>
            <a:noFill/>
          </a:ln>
        </p:spPr>
      </p:sp>
      <p:sp>
        <p:nvSpPr>
          <p:cNvPr id="48" name="Text 46"/>
          <p:cNvSpPr/>
          <p:nvPr/>
        </p:nvSpPr>
        <p:spPr>
          <a:xfrm>
            <a:off x="4736306" y="1435894"/>
            <a:ext cx="739378" cy="1500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8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0.4pp</a:t>
            </a:r>
            <a:endParaRPr lang="en-US" sz="788" dirty="0"/>
          </a:p>
        </p:txBody>
      </p:sp>
      <p:sp>
        <p:nvSpPr>
          <p:cNvPr id="49" name="Shape 47"/>
          <p:cNvSpPr/>
          <p:nvPr/>
        </p:nvSpPr>
        <p:spPr>
          <a:xfrm>
            <a:off x="4843463" y="1757363"/>
            <a:ext cx="57150" cy="200025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0" name="Shape 48"/>
          <p:cNvSpPr/>
          <p:nvPr/>
        </p:nvSpPr>
        <p:spPr>
          <a:xfrm>
            <a:off x="4922044" y="1763149"/>
            <a:ext cx="57150" cy="194239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1" name="Shape 49"/>
          <p:cNvSpPr/>
          <p:nvPr/>
        </p:nvSpPr>
        <p:spPr>
          <a:xfrm>
            <a:off x="5000625" y="1751648"/>
            <a:ext cx="57150" cy="20574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2" name="Shape 50"/>
          <p:cNvSpPr/>
          <p:nvPr/>
        </p:nvSpPr>
        <p:spPr>
          <a:xfrm>
            <a:off x="5079206" y="1743075"/>
            <a:ext cx="57150" cy="214313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3" name="Shape 51"/>
          <p:cNvSpPr/>
          <p:nvPr/>
        </p:nvSpPr>
        <p:spPr>
          <a:xfrm>
            <a:off x="5157788" y="1746004"/>
            <a:ext cx="57150" cy="211384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4" name="Shape 52"/>
          <p:cNvSpPr/>
          <p:nvPr/>
        </p:nvSpPr>
        <p:spPr>
          <a:xfrm>
            <a:off x="5236369" y="1734574"/>
            <a:ext cx="57150" cy="222814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5" name="Shape 53"/>
          <p:cNvSpPr/>
          <p:nvPr/>
        </p:nvSpPr>
        <p:spPr>
          <a:xfrm>
            <a:off x="5314950" y="1728788"/>
            <a:ext cx="5715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6" name="Shape 54"/>
          <p:cNvSpPr/>
          <p:nvPr/>
        </p:nvSpPr>
        <p:spPr>
          <a:xfrm>
            <a:off x="5393531" y="1723073"/>
            <a:ext cx="57150" cy="234315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7" name="Shape 55"/>
          <p:cNvSpPr/>
          <p:nvPr/>
        </p:nvSpPr>
        <p:spPr>
          <a:xfrm>
            <a:off x="5472113" y="1714500"/>
            <a:ext cx="57150" cy="242888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8" name="Shape 56"/>
          <p:cNvSpPr/>
          <p:nvPr/>
        </p:nvSpPr>
        <p:spPr>
          <a:xfrm>
            <a:off x="5550694" y="1720286"/>
            <a:ext cx="57150" cy="237101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9" name="Shape 57"/>
          <p:cNvSpPr/>
          <p:nvPr/>
        </p:nvSpPr>
        <p:spPr>
          <a:xfrm>
            <a:off x="5629275" y="1705999"/>
            <a:ext cx="57150" cy="251389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60" name="Shape 58"/>
          <p:cNvSpPr/>
          <p:nvPr/>
        </p:nvSpPr>
        <p:spPr>
          <a:xfrm>
            <a:off x="5707856" y="1694498"/>
            <a:ext cx="57150" cy="26289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61" name="Shape 59"/>
          <p:cNvSpPr/>
          <p:nvPr/>
        </p:nvSpPr>
        <p:spPr>
          <a:xfrm>
            <a:off x="6793706" y="757238"/>
            <a:ext cx="2007394" cy="1343025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62" name="Shape 60"/>
          <p:cNvSpPr/>
          <p:nvPr/>
        </p:nvSpPr>
        <p:spPr>
          <a:xfrm>
            <a:off x="6793706" y="757238"/>
            <a:ext cx="2007394" cy="1343025"/>
          </a:xfrm>
          <a:prstGeom prst="roundRect">
            <a:avLst>
              <a:gd name="adj" fmla="val 6383"/>
            </a:avLst>
          </a:prstGeom>
          <a:solidFill>
            <a:srgbClr val="EF4444"/>
          </a:solidFill>
          <a:ln>
            <a:noFill/>
          </a:ln>
        </p:spPr>
      </p:sp>
      <p:sp>
        <p:nvSpPr>
          <p:cNvPr id="63" name="Shape 61"/>
          <p:cNvSpPr/>
          <p:nvPr/>
        </p:nvSpPr>
        <p:spPr>
          <a:xfrm>
            <a:off x="6822281" y="757238"/>
            <a:ext cx="1978819" cy="1343025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64" name="Text 62"/>
          <p:cNvSpPr/>
          <p:nvPr/>
        </p:nvSpPr>
        <p:spPr>
          <a:xfrm>
            <a:off x="6993731" y="900113"/>
            <a:ext cx="1721644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CHURN</a:t>
            </a:r>
            <a:endParaRPr lang="en-US" sz="731" dirty="0"/>
          </a:p>
        </p:txBody>
      </p:sp>
      <p:sp>
        <p:nvSpPr>
          <p:cNvPr id="65" name="Text 63"/>
          <p:cNvSpPr/>
          <p:nvPr/>
        </p:nvSpPr>
        <p:spPr>
          <a:xfrm>
            <a:off x="6993731" y="1071563"/>
            <a:ext cx="1721644" cy="3214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dirty="0">
                <a:solidFill>
                  <a:srgbClr val="F1F5F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2.1%</a:t>
            </a:r>
            <a:endParaRPr lang="en-US" sz="2025" dirty="0"/>
          </a:p>
        </p:txBody>
      </p:sp>
      <p:sp>
        <p:nvSpPr>
          <p:cNvPr id="66" name="Shape 64"/>
          <p:cNvSpPr/>
          <p:nvPr/>
        </p:nvSpPr>
        <p:spPr>
          <a:xfrm>
            <a:off x="6993731" y="1435894"/>
            <a:ext cx="519565" cy="150019"/>
          </a:xfrm>
          <a:prstGeom prst="roundRect">
            <a:avLst>
              <a:gd name="adj" fmla="val 19048"/>
            </a:avLst>
          </a:prstGeom>
          <a:solidFill>
            <a:srgbClr val="EF4444">
              <a:alpha val="10000"/>
            </a:srgbClr>
          </a:solidFill>
          <a:ln>
            <a:noFill/>
          </a:ln>
        </p:spPr>
      </p:sp>
      <p:sp>
        <p:nvSpPr>
          <p:cNvPr id="67" name="Text 65"/>
          <p:cNvSpPr/>
          <p:nvPr/>
        </p:nvSpPr>
        <p:spPr>
          <a:xfrm>
            <a:off x="6886575" y="1435894"/>
            <a:ext cx="733877" cy="1500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8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 0.3pp</a:t>
            </a:r>
            <a:endParaRPr lang="en-US" sz="788" dirty="0"/>
          </a:p>
        </p:txBody>
      </p:sp>
      <p:sp>
        <p:nvSpPr>
          <p:cNvPr id="68" name="Shape 66"/>
          <p:cNvSpPr/>
          <p:nvPr/>
        </p:nvSpPr>
        <p:spPr>
          <a:xfrm>
            <a:off x="6993731" y="1700213"/>
            <a:ext cx="57150" cy="25717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69" name="Shape 67"/>
          <p:cNvSpPr/>
          <p:nvPr/>
        </p:nvSpPr>
        <p:spPr>
          <a:xfrm>
            <a:off x="7072313" y="1714500"/>
            <a:ext cx="57150" cy="242888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0" name="Shape 68"/>
          <p:cNvSpPr/>
          <p:nvPr/>
        </p:nvSpPr>
        <p:spPr>
          <a:xfrm>
            <a:off x="7150894" y="1723073"/>
            <a:ext cx="57150" cy="23431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1" name="Shape 69"/>
          <p:cNvSpPr/>
          <p:nvPr/>
        </p:nvSpPr>
        <p:spPr>
          <a:xfrm>
            <a:off x="7229475" y="1734574"/>
            <a:ext cx="57150" cy="222814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2" name="Shape 70"/>
          <p:cNvSpPr/>
          <p:nvPr/>
        </p:nvSpPr>
        <p:spPr>
          <a:xfrm>
            <a:off x="7308056" y="1728788"/>
            <a:ext cx="57150" cy="22860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3" name="Shape 71"/>
          <p:cNvSpPr/>
          <p:nvPr/>
        </p:nvSpPr>
        <p:spPr>
          <a:xfrm>
            <a:off x="7386638" y="1743075"/>
            <a:ext cx="57150" cy="214313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4" name="Shape 72"/>
          <p:cNvSpPr/>
          <p:nvPr/>
        </p:nvSpPr>
        <p:spPr>
          <a:xfrm>
            <a:off x="7465219" y="1757363"/>
            <a:ext cx="57150" cy="20002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5" name="Shape 73"/>
          <p:cNvSpPr/>
          <p:nvPr/>
        </p:nvSpPr>
        <p:spPr>
          <a:xfrm>
            <a:off x="7543800" y="1763149"/>
            <a:ext cx="57150" cy="194239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6" name="Shape 74"/>
          <p:cNvSpPr/>
          <p:nvPr/>
        </p:nvSpPr>
        <p:spPr>
          <a:xfrm>
            <a:off x="7622381" y="1771650"/>
            <a:ext cx="57150" cy="185738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7" name="Shape 75"/>
          <p:cNvSpPr/>
          <p:nvPr/>
        </p:nvSpPr>
        <p:spPr>
          <a:xfrm>
            <a:off x="7700963" y="1785938"/>
            <a:ext cx="57150" cy="17145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8" name="Shape 76"/>
          <p:cNvSpPr/>
          <p:nvPr/>
        </p:nvSpPr>
        <p:spPr>
          <a:xfrm>
            <a:off x="7779544" y="1800225"/>
            <a:ext cx="57150" cy="157163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79" name="Shape 77"/>
          <p:cNvSpPr/>
          <p:nvPr/>
        </p:nvSpPr>
        <p:spPr>
          <a:xfrm>
            <a:off x="7858125" y="1814513"/>
            <a:ext cx="57150" cy="142875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80" name="Shape 78"/>
          <p:cNvSpPr/>
          <p:nvPr/>
        </p:nvSpPr>
        <p:spPr>
          <a:xfrm>
            <a:off x="342900" y="2300288"/>
            <a:ext cx="5448324" cy="2557463"/>
          </a:xfrm>
          <a:prstGeom prst="roundRect">
            <a:avLst>
              <a:gd name="adj" fmla="val 3352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81" name="Text 79"/>
          <p:cNvSpPr/>
          <p:nvPr/>
        </p:nvSpPr>
        <p:spPr>
          <a:xfrm>
            <a:off x="485775" y="2443163"/>
            <a:ext cx="5248299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vs Expenses (Quarterly)</a:t>
            </a:r>
            <a:endParaRPr lang="en-US" sz="844" dirty="0"/>
          </a:p>
        </p:txBody>
      </p:sp>
      <p:sp>
        <p:nvSpPr>
          <p:cNvPr id="82" name="GRAD_7"/>
          <p:cNvSpPr/>
          <p:nvPr/>
        </p:nvSpPr>
        <p:spPr>
          <a:xfrm>
            <a:off x="870537" y="3193256"/>
            <a:ext cx="128588" cy="642938"/>
          </a:xfrm>
          <a:prstGeom prst="round2SameRect">
            <a:avLst>
              <a:gd name="adj" fmla="val 16667"/>
            </a:avLst>
          </a:prstGeom>
          <a:gradFill rotWithShape="1">
            <a:gsLst>
              <a:gs pos="0">
                <a:srgbClr val="3B82F6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</p:spPr>
      </p:sp>
      <p:sp>
        <p:nvSpPr>
          <p:cNvPr id="83" name="GRAD_8"/>
          <p:cNvSpPr/>
          <p:nvPr/>
        </p:nvSpPr>
        <p:spPr>
          <a:xfrm>
            <a:off x="1027700" y="3300413"/>
            <a:ext cx="128588" cy="535781"/>
          </a:xfrm>
          <a:prstGeom prst="round2SameRect">
            <a:avLst>
              <a:gd name="adj" fmla="val 16667"/>
            </a:avLst>
          </a:prstGeom>
          <a:gradFill rotWithShape="1">
            <a:gsLst>
              <a:gs pos="0">
                <a:srgbClr val="8B5CF6"/>
              </a:gs>
              <a:gs pos="100000">
                <a:srgbClr val="7C3AED"/>
              </a:gs>
            </a:gsLst>
            <a:lin ang="5400000" scaled="0"/>
          </a:gradFill>
          <a:ln>
            <a:noFill/>
          </a:ln>
        </p:spPr>
      </p:sp>
      <p:sp>
        <p:nvSpPr>
          <p:cNvPr id="84" name="Text 82"/>
          <p:cNvSpPr/>
          <p:nvPr/>
        </p:nvSpPr>
        <p:spPr>
          <a:xfrm>
            <a:off x="897326" y="3879056"/>
            <a:ext cx="31804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'25</a:t>
            </a:r>
            <a:endParaRPr lang="en-US" sz="619" dirty="0"/>
          </a:p>
        </p:txBody>
      </p:sp>
      <p:sp>
        <p:nvSpPr>
          <p:cNvPr id="85" name="GRAD_9"/>
          <p:cNvSpPr/>
          <p:nvPr/>
        </p:nvSpPr>
        <p:spPr>
          <a:xfrm>
            <a:off x="1897309" y="3107531"/>
            <a:ext cx="128588" cy="728663"/>
          </a:xfrm>
          <a:prstGeom prst="round2SameRect">
            <a:avLst>
              <a:gd name="adj" fmla="val 16667"/>
            </a:avLst>
          </a:prstGeom>
          <a:gradFill rotWithShape="1">
            <a:gsLst>
              <a:gs pos="0">
                <a:srgbClr val="3B82F6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</p:spPr>
      </p:sp>
      <p:sp>
        <p:nvSpPr>
          <p:cNvPr id="86" name="GRAD_10"/>
          <p:cNvSpPr/>
          <p:nvPr/>
        </p:nvSpPr>
        <p:spPr>
          <a:xfrm>
            <a:off x="2054471" y="3278981"/>
            <a:ext cx="128588" cy="557213"/>
          </a:xfrm>
          <a:prstGeom prst="round2SameRect">
            <a:avLst>
              <a:gd name="adj" fmla="val 16667"/>
            </a:avLst>
          </a:prstGeom>
          <a:gradFill rotWithShape="1">
            <a:gsLst>
              <a:gs pos="0">
                <a:srgbClr val="8B5CF6"/>
              </a:gs>
              <a:gs pos="100000">
                <a:srgbClr val="7C3AED"/>
              </a:gs>
            </a:gsLst>
            <a:lin ang="5400000" scaled="0"/>
          </a:gradFill>
          <a:ln>
            <a:noFill/>
          </a:ln>
        </p:spPr>
      </p:sp>
      <p:sp>
        <p:nvSpPr>
          <p:cNvPr id="87" name="Text 85"/>
          <p:cNvSpPr/>
          <p:nvPr/>
        </p:nvSpPr>
        <p:spPr>
          <a:xfrm>
            <a:off x="1916097" y="3879056"/>
            <a:ext cx="33397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 '25</a:t>
            </a:r>
            <a:endParaRPr lang="en-US" sz="619" dirty="0"/>
          </a:p>
        </p:txBody>
      </p:sp>
      <p:sp>
        <p:nvSpPr>
          <p:cNvPr id="88" name="GRAD_11"/>
          <p:cNvSpPr/>
          <p:nvPr/>
        </p:nvSpPr>
        <p:spPr>
          <a:xfrm>
            <a:off x="2924151" y="3032522"/>
            <a:ext cx="128588" cy="803672"/>
          </a:xfrm>
          <a:prstGeom prst="round2SameRect">
            <a:avLst>
              <a:gd name="adj" fmla="val 16667"/>
            </a:avLst>
          </a:prstGeom>
          <a:gradFill rotWithShape="1">
            <a:gsLst>
              <a:gs pos="0">
                <a:srgbClr val="3B82F6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</p:spPr>
      </p:sp>
      <p:sp>
        <p:nvSpPr>
          <p:cNvPr id="89" name="GRAD_12"/>
          <p:cNvSpPr/>
          <p:nvPr/>
        </p:nvSpPr>
        <p:spPr>
          <a:xfrm>
            <a:off x="3081314" y="3246834"/>
            <a:ext cx="128588" cy="589359"/>
          </a:xfrm>
          <a:prstGeom prst="round2SameRect">
            <a:avLst>
              <a:gd name="adj" fmla="val 16667"/>
            </a:avLst>
          </a:prstGeom>
          <a:gradFill rotWithShape="1">
            <a:gsLst>
              <a:gs pos="0">
                <a:srgbClr val="8B5CF6"/>
              </a:gs>
              <a:gs pos="100000">
                <a:srgbClr val="7C3AED"/>
              </a:gs>
            </a:gsLst>
            <a:lin ang="5400000" scaled="0"/>
          </a:gradFill>
          <a:ln>
            <a:noFill/>
          </a:ln>
        </p:spPr>
      </p:sp>
      <p:sp>
        <p:nvSpPr>
          <p:cNvPr id="90" name="Text 88"/>
          <p:cNvSpPr/>
          <p:nvPr/>
        </p:nvSpPr>
        <p:spPr>
          <a:xfrm>
            <a:off x="2942582" y="3879056"/>
            <a:ext cx="33461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'25</a:t>
            </a:r>
            <a:endParaRPr lang="en-US" sz="619" dirty="0"/>
          </a:p>
        </p:txBody>
      </p:sp>
      <p:sp>
        <p:nvSpPr>
          <p:cNvPr id="91" name="GRAD_13"/>
          <p:cNvSpPr/>
          <p:nvPr/>
        </p:nvSpPr>
        <p:spPr>
          <a:xfrm>
            <a:off x="3950922" y="2925366"/>
            <a:ext cx="128588" cy="910828"/>
          </a:xfrm>
          <a:prstGeom prst="round2SameRect">
            <a:avLst>
              <a:gd name="adj" fmla="val 16667"/>
            </a:avLst>
          </a:prstGeom>
          <a:gradFill rotWithShape="1">
            <a:gsLst>
              <a:gs pos="0">
                <a:srgbClr val="3B82F6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</p:spPr>
      </p:sp>
      <p:sp>
        <p:nvSpPr>
          <p:cNvPr id="92" name="GRAD_14"/>
          <p:cNvSpPr/>
          <p:nvPr/>
        </p:nvSpPr>
        <p:spPr>
          <a:xfrm>
            <a:off x="4108085" y="3214688"/>
            <a:ext cx="128588" cy="621506"/>
          </a:xfrm>
          <a:prstGeom prst="round2SameRect">
            <a:avLst>
              <a:gd name="adj" fmla="val 16667"/>
            </a:avLst>
          </a:prstGeom>
          <a:gradFill rotWithShape="1">
            <a:gsLst>
              <a:gs pos="0">
                <a:srgbClr val="8B5CF6"/>
              </a:gs>
              <a:gs pos="100000">
                <a:srgbClr val="7C3AED"/>
              </a:gs>
            </a:gsLst>
            <a:lin ang="5400000" scaled="0"/>
          </a:gradFill>
          <a:ln>
            <a:noFill/>
          </a:ln>
        </p:spPr>
      </p:sp>
      <p:sp>
        <p:nvSpPr>
          <p:cNvPr id="93" name="Text 91"/>
          <p:cNvSpPr/>
          <p:nvPr/>
        </p:nvSpPr>
        <p:spPr>
          <a:xfrm>
            <a:off x="3968210" y="3879056"/>
            <a:ext cx="33689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 '25</a:t>
            </a:r>
            <a:endParaRPr lang="en-US" sz="619" dirty="0"/>
          </a:p>
        </p:txBody>
      </p:sp>
      <p:sp>
        <p:nvSpPr>
          <p:cNvPr id="94" name="GRAD_15"/>
          <p:cNvSpPr/>
          <p:nvPr/>
        </p:nvSpPr>
        <p:spPr>
          <a:xfrm>
            <a:off x="4977765" y="2850356"/>
            <a:ext cx="128588" cy="985838"/>
          </a:xfrm>
          <a:prstGeom prst="round2SameRect">
            <a:avLst>
              <a:gd name="adj" fmla="val 16667"/>
            </a:avLst>
          </a:prstGeom>
          <a:gradFill rotWithShape="1">
            <a:gsLst>
              <a:gs pos="0">
                <a:srgbClr val="3B82F6"/>
              </a:gs>
              <a:gs pos="100000">
                <a:srgbClr val="2563EB"/>
              </a:gs>
            </a:gsLst>
            <a:lin ang="5400000" scaled="0"/>
          </a:gradFill>
          <a:ln>
            <a:noFill/>
          </a:ln>
        </p:spPr>
      </p:sp>
      <p:sp>
        <p:nvSpPr>
          <p:cNvPr id="95" name="GRAD_16"/>
          <p:cNvSpPr/>
          <p:nvPr/>
        </p:nvSpPr>
        <p:spPr>
          <a:xfrm>
            <a:off x="5134928" y="3193256"/>
            <a:ext cx="128588" cy="642938"/>
          </a:xfrm>
          <a:prstGeom prst="round2SameRect">
            <a:avLst>
              <a:gd name="adj" fmla="val 16667"/>
            </a:avLst>
          </a:prstGeom>
          <a:gradFill rotWithShape="1">
            <a:gsLst>
              <a:gs pos="0">
                <a:srgbClr val="8B5CF6"/>
              </a:gs>
              <a:gs pos="100000">
                <a:srgbClr val="7C3AED"/>
              </a:gs>
            </a:gsLst>
            <a:lin ang="5400000" scaled="0"/>
          </a:gradFill>
          <a:ln>
            <a:noFill/>
          </a:ln>
        </p:spPr>
      </p:sp>
      <p:sp>
        <p:nvSpPr>
          <p:cNvPr id="96" name="Text 94"/>
          <p:cNvSpPr/>
          <p:nvPr/>
        </p:nvSpPr>
        <p:spPr>
          <a:xfrm>
            <a:off x="5003411" y="3879056"/>
            <a:ext cx="320111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'26</a:t>
            </a:r>
            <a:endParaRPr lang="en-US" sz="619" dirty="0"/>
          </a:p>
        </p:txBody>
      </p:sp>
      <p:sp>
        <p:nvSpPr>
          <p:cNvPr id="97" name="Text 95"/>
          <p:cNvSpPr/>
          <p:nvPr/>
        </p:nvSpPr>
        <p:spPr>
          <a:xfrm>
            <a:off x="600075" y="4064794"/>
            <a:ext cx="435769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u="none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675" dirty="0"/>
          </a:p>
        </p:txBody>
      </p:sp>
      <p:sp>
        <p:nvSpPr>
          <p:cNvPr id="98" name="Shape 96"/>
          <p:cNvSpPr/>
          <p:nvPr/>
        </p:nvSpPr>
        <p:spPr>
          <a:xfrm>
            <a:off x="485775" y="4082653"/>
            <a:ext cx="71438" cy="71438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99" name="Text 97"/>
          <p:cNvSpPr/>
          <p:nvPr/>
        </p:nvSpPr>
        <p:spPr>
          <a:xfrm>
            <a:off x="1178719" y="4064794"/>
            <a:ext cx="477774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u="none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Expenses</a:t>
            </a:r>
            <a:endParaRPr lang="en-US" sz="675" dirty="0"/>
          </a:p>
        </p:txBody>
      </p:sp>
      <p:sp>
        <p:nvSpPr>
          <p:cNvPr id="100" name="Shape 98"/>
          <p:cNvSpPr/>
          <p:nvPr/>
        </p:nvSpPr>
        <p:spPr>
          <a:xfrm>
            <a:off x="1064419" y="4082653"/>
            <a:ext cx="71438" cy="71438"/>
          </a:xfrm>
          <a:prstGeom prst="rect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101" name="Shape 99"/>
          <p:cNvSpPr/>
          <p:nvPr/>
        </p:nvSpPr>
        <p:spPr>
          <a:xfrm>
            <a:off x="5934099" y="2300288"/>
            <a:ext cx="2867001" cy="2557463"/>
          </a:xfrm>
          <a:prstGeom prst="roundRect">
            <a:avLst>
              <a:gd name="adj" fmla="val 3352"/>
            </a:avLst>
          </a:prstGeom>
          <a:solidFill>
            <a:srgbClr val="1E293B"/>
          </a:solidFill>
          <a:ln>
            <a:noFill/>
          </a:ln>
        </p:spPr>
      </p:sp>
      <p:sp>
        <p:nvSpPr>
          <p:cNvPr id="102" name="Text 100"/>
          <p:cNvSpPr/>
          <p:nvPr/>
        </p:nvSpPr>
        <p:spPr>
          <a:xfrm>
            <a:off x="6076974" y="2443163"/>
            <a:ext cx="2666976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Recent Activity</a:t>
            </a:r>
            <a:endParaRPr lang="en-US" sz="844" dirty="0"/>
          </a:p>
        </p:txBody>
      </p:sp>
      <p:sp>
        <p:nvSpPr>
          <p:cNvPr id="103" name="Shape 101"/>
          <p:cNvSpPr/>
          <p:nvPr/>
        </p:nvSpPr>
        <p:spPr>
          <a:xfrm>
            <a:off x="6076974" y="2693194"/>
            <a:ext cx="2581251" cy="394264"/>
          </a:xfrm>
          <a:prstGeom prst="rect">
            <a:avLst/>
          </a:prstGeom>
          <a:solidFill>
            <a:srgbClr val="1E293B">
              <a:alpha val="0"/>
            </a:srgbClr>
          </a:solidFill>
          <a:ln>
            <a:noFill/>
          </a:ln>
        </p:spPr>
      </p:sp>
      <p:sp>
        <p:nvSpPr>
          <p:cNvPr id="104" name="Shape 102"/>
          <p:cNvSpPr/>
          <p:nvPr/>
        </p:nvSpPr>
        <p:spPr>
          <a:xfrm>
            <a:off x="6076974" y="3080314"/>
            <a:ext cx="2581251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105" name="Shape 103"/>
          <p:cNvSpPr/>
          <p:nvPr/>
        </p:nvSpPr>
        <p:spPr>
          <a:xfrm>
            <a:off x="6076974" y="2800350"/>
            <a:ext cx="57150" cy="5715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106" name="Text 104"/>
          <p:cNvSpPr/>
          <p:nvPr/>
        </p:nvSpPr>
        <p:spPr>
          <a:xfrm>
            <a:off x="6219849" y="2764631"/>
            <a:ext cx="2471523" cy="12994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73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enterprise deal closed — Acme Corp ($48K ARR)</a:t>
            </a:r>
            <a:endParaRPr lang="en-US" sz="731" dirty="0"/>
          </a:p>
        </p:txBody>
      </p:sp>
      <p:sp>
        <p:nvSpPr>
          <p:cNvPr id="107" name="Text 105"/>
          <p:cNvSpPr/>
          <p:nvPr/>
        </p:nvSpPr>
        <p:spPr>
          <a:xfrm>
            <a:off x="6219849" y="2908864"/>
            <a:ext cx="247152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hours ago</a:t>
            </a:r>
            <a:endParaRPr lang="en-US" sz="619" dirty="0"/>
          </a:p>
        </p:txBody>
      </p:sp>
      <p:sp>
        <p:nvSpPr>
          <p:cNvPr id="108" name="Shape 106"/>
          <p:cNvSpPr/>
          <p:nvPr/>
        </p:nvSpPr>
        <p:spPr>
          <a:xfrm>
            <a:off x="6076974" y="3087457"/>
            <a:ext cx="2581251" cy="394264"/>
          </a:xfrm>
          <a:prstGeom prst="rect">
            <a:avLst/>
          </a:prstGeom>
          <a:solidFill>
            <a:srgbClr val="1E293B">
              <a:alpha val="0"/>
            </a:srgbClr>
          </a:solidFill>
          <a:ln>
            <a:noFill/>
          </a:ln>
        </p:spPr>
      </p:sp>
      <p:sp>
        <p:nvSpPr>
          <p:cNvPr id="109" name="Shape 107"/>
          <p:cNvSpPr/>
          <p:nvPr/>
        </p:nvSpPr>
        <p:spPr>
          <a:xfrm>
            <a:off x="6076974" y="3474577"/>
            <a:ext cx="2581251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110" name="Shape 108"/>
          <p:cNvSpPr/>
          <p:nvPr/>
        </p:nvSpPr>
        <p:spPr>
          <a:xfrm>
            <a:off x="6076974" y="3194614"/>
            <a:ext cx="57150" cy="5715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11" name="Text 109"/>
          <p:cNvSpPr/>
          <p:nvPr/>
        </p:nvSpPr>
        <p:spPr>
          <a:xfrm>
            <a:off x="6219849" y="3158895"/>
            <a:ext cx="2279213" cy="12994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73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launch: Advanced analytics dashboard v2</a:t>
            </a:r>
            <a:endParaRPr lang="en-US" sz="731" dirty="0"/>
          </a:p>
        </p:txBody>
      </p:sp>
      <p:sp>
        <p:nvSpPr>
          <p:cNvPr id="112" name="Text 110"/>
          <p:cNvSpPr/>
          <p:nvPr/>
        </p:nvSpPr>
        <p:spPr>
          <a:xfrm>
            <a:off x="6219849" y="3303127"/>
            <a:ext cx="227921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hours ago</a:t>
            </a:r>
            <a:endParaRPr lang="en-US" sz="619" dirty="0"/>
          </a:p>
        </p:txBody>
      </p:sp>
      <p:sp>
        <p:nvSpPr>
          <p:cNvPr id="113" name="Shape 111"/>
          <p:cNvSpPr/>
          <p:nvPr/>
        </p:nvSpPr>
        <p:spPr>
          <a:xfrm>
            <a:off x="6076974" y="3481721"/>
            <a:ext cx="2581251" cy="394264"/>
          </a:xfrm>
          <a:prstGeom prst="rect">
            <a:avLst/>
          </a:prstGeom>
          <a:solidFill>
            <a:srgbClr val="1E293B">
              <a:alpha val="0"/>
            </a:srgbClr>
          </a:solidFill>
          <a:ln>
            <a:noFill/>
          </a:ln>
        </p:spPr>
      </p:sp>
      <p:sp>
        <p:nvSpPr>
          <p:cNvPr id="114" name="Shape 112"/>
          <p:cNvSpPr/>
          <p:nvPr/>
        </p:nvSpPr>
        <p:spPr>
          <a:xfrm>
            <a:off x="6076974" y="3868841"/>
            <a:ext cx="2581251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115" name="Shape 113"/>
          <p:cNvSpPr/>
          <p:nvPr/>
        </p:nvSpPr>
        <p:spPr>
          <a:xfrm>
            <a:off x="6076974" y="3588877"/>
            <a:ext cx="57150" cy="5715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116" name="Text 114"/>
          <p:cNvSpPr/>
          <p:nvPr/>
        </p:nvSpPr>
        <p:spPr>
          <a:xfrm>
            <a:off x="6219849" y="3553158"/>
            <a:ext cx="2350651" cy="12994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73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Warning: API latency spike detected (p99 &gt; 800ms)</a:t>
            </a:r>
            <a:endParaRPr lang="en-US" sz="731" dirty="0"/>
          </a:p>
        </p:txBody>
      </p:sp>
      <p:sp>
        <p:nvSpPr>
          <p:cNvPr id="117" name="Text 115"/>
          <p:cNvSpPr/>
          <p:nvPr/>
        </p:nvSpPr>
        <p:spPr>
          <a:xfrm>
            <a:off x="6219849" y="3697319"/>
            <a:ext cx="2350651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hours ago</a:t>
            </a:r>
            <a:endParaRPr lang="en-US" sz="619" dirty="0"/>
          </a:p>
        </p:txBody>
      </p:sp>
      <p:sp>
        <p:nvSpPr>
          <p:cNvPr id="118" name="Shape 116"/>
          <p:cNvSpPr/>
          <p:nvPr/>
        </p:nvSpPr>
        <p:spPr>
          <a:xfrm>
            <a:off x="6076974" y="3875913"/>
            <a:ext cx="2581251" cy="394264"/>
          </a:xfrm>
          <a:prstGeom prst="rect">
            <a:avLst/>
          </a:prstGeom>
          <a:solidFill>
            <a:srgbClr val="1E293B">
              <a:alpha val="0"/>
            </a:srgbClr>
          </a:solidFill>
          <a:ln>
            <a:noFill/>
          </a:ln>
        </p:spPr>
      </p:sp>
      <p:sp>
        <p:nvSpPr>
          <p:cNvPr id="119" name="Shape 117"/>
          <p:cNvSpPr/>
          <p:nvPr/>
        </p:nvSpPr>
        <p:spPr>
          <a:xfrm>
            <a:off x="6076974" y="4263033"/>
            <a:ext cx="2581251" cy="7144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120" name="Shape 118"/>
          <p:cNvSpPr/>
          <p:nvPr/>
        </p:nvSpPr>
        <p:spPr>
          <a:xfrm>
            <a:off x="6076974" y="3983069"/>
            <a:ext cx="57150" cy="5715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121" name="Text 119"/>
          <p:cNvSpPr/>
          <p:nvPr/>
        </p:nvSpPr>
        <p:spPr>
          <a:xfrm>
            <a:off x="6219849" y="3947350"/>
            <a:ext cx="2030968" cy="12994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73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milestone: 500th customer onboarded</a:t>
            </a:r>
            <a:endParaRPr lang="en-US" sz="731" dirty="0"/>
          </a:p>
        </p:txBody>
      </p:sp>
      <p:sp>
        <p:nvSpPr>
          <p:cNvPr id="122" name="Text 120"/>
          <p:cNvSpPr/>
          <p:nvPr/>
        </p:nvSpPr>
        <p:spPr>
          <a:xfrm>
            <a:off x="6219849" y="4091583"/>
            <a:ext cx="2030968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day ago</a:t>
            </a:r>
            <a:endParaRPr lang="en-US" sz="619" dirty="0"/>
          </a:p>
        </p:txBody>
      </p:sp>
      <p:sp>
        <p:nvSpPr>
          <p:cNvPr id="123" name="Shape 121"/>
          <p:cNvSpPr/>
          <p:nvPr/>
        </p:nvSpPr>
        <p:spPr>
          <a:xfrm>
            <a:off x="6076974" y="4377333"/>
            <a:ext cx="57150" cy="5715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124" name="Text 122"/>
          <p:cNvSpPr/>
          <p:nvPr/>
        </p:nvSpPr>
        <p:spPr>
          <a:xfrm>
            <a:off x="6219849" y="4341614"/>
            <a:ext cx="1910310" cy="12994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73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 alert: 3 accounts flagged as at-risk</a:t>
            </a:r>
            <a:endParaRPr lang="en-US" sz="731" dirty="0"/>
          </a:p>
        </p:txBody>
      </p:sp>
      <p:sp>
        <p:nvSpPr>
          <p:cNvPr id="125" name="Text 123"/>
          <p:cNvSpPr/>
          <p:nvPr/>
        </p:nvSpPr>
        <p:spPr>
          <a:xfrm>
            <a:off x="6219849" y="4485846"/>
            <a:ext cx="191031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day ago</a:t>
            </a:r>
            <a:endParaRPr lang="en-US" sz="619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D_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8FAFC"/>
              </a:gs>
              <a:gs pos="100000">
                <a:srgbClr val="E2E8F0"/>
              </a:gs>
            </a:gsLst>
            <a:lin ang="5400000" scaled="0"/>
          </a:gradFill>
          <a:ln>
            <a:noFill/>
          </a:ln>
        </p:spPr>
      </p:sp>
      <p:sp>
        <p:nvSpPr>
          <p:cNvPr id="3" name="GRAD_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8FAFC"/>
              </a:gs>
              <a:gs pos="100000">
                <a:srgbClr val="E2E8F0"/>
              </a:gs>
            </a:gsLst>
            <a:lin ang="5400000" scaled="0"/>
          </a:gradFill>
          <a:ln>
            <a:noFill/>
          </a:ln>
        </p:spPr>
      </p:sp>
      <p:sp>
        <p:nvSpPr>
          <p:cNvPr id="4" name="Text 2"/>
          <p:cNvSpPr/>
          <p:nvPr/>
        </p:nvSpPr>
        <p:spPr>
          <a:xfrm>
            <a:off x="3091815" y="342900"/>
            <a:ext cx="3046024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Roadmap 2026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3589949" y="685800"/>
            <a:ext cx="2049828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milestones and delivery timeline</a:t>
            </a:r>
            <a:endParaRPr lang="en-US" sz="900" dirty="0"/>
          </a:p>
        </p:txBody>
      </p:sp>
      <p:sp>
        <p:nvSpPr>
          <p:cNvPr id="6" name="GRAD_19"/>
          <p:cNvSpPr/>
          <p:nvPr/>
        </p:nvSpPr>
        <p:spPr>
          <a:xfrm>
            <a:off x="928688" y="2457450"/>
            <a:ext cx="7286625" cy="28575"/>
          </a:xfrm>
          <a:prstGeom prst="rect">
            <a:avLst/>
          </a:prstGeom>
          <a:gradFill rotWithShape="1">
            <a:gsLst>
              <a:gs pos="0">
                <a:srgbClr val="3B82F6"/>
              </a:gs>
              <a:gs pos="25000">
                <a:srgbClr val="60A5FA"/>
              </a:gs>
              <a:gs pos="50000">
                <a:srgbClr val="93C5FD"/>
              </a:gs>
              <a:gs pos="75000">
                <a:srgbClr val="CBD5E1"/>
              </a:gs>
              <a:gs pos="100000">
                <a:srgbClr val="E2E8F0"/>
              </a:gs>
            </a:gsLst>
            <a:lin ang="0" scaled="0"/>
          </a:gradFill>
          <a:ln>
            <a:noFill/>
          </a:ln>
        </p:spPr>
      </p:sp>
      <p:sp>
        <p:nvSpPr>
          <p:cNvPr id="7" name="Text 5"/>
          <p:cNvSpPr/>
          <p:nvPr/>
        </p:nvSpPr>
        <p:spPr>
          <a:xfrm>
            <a:off x="1785938" y="2421731"/>
            <a:ext cx="214313" cy="1571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013" dirty="0"/>
          </a:p>
        </p:txBody>
      </p:sp>
      <p:sp>
        <p:nvSpPr>
          <p:cNvPr id="8" name="Text 6"/>
          <p:cNvSpPr/>
          <p:nvPr/>
        </p:nvSpPr>
        <p:spPr>
          <a:xfrm>
            <a:off x="3500438" y="2421731"/>
            <a:ext cx="214313" cy="1571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013" dirty="0"/>
          </a:p>
        </p:txBody>
      </p:sp>
      <p:sp>
        <p:nvSpPr>
          <p:cNvPr id="9" name="Text 7"/>
          <p:cNvSpPr/>
          <p:nvPr/>
        </p:nvSpPr>
        <p:spPr>
          <a:xfrm>
            <a:off x="5214938" y="2421731"/>
            <a:ext cx="214313" cy="1571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6929438" y="2421731"/>
            <a:ext cx="214313" cy="1571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3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828604" y="1507331"/>
            <a:ext cx="485918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</a:t>
            </a:r>
            <a:endParaRPr lang="en-US" sz="731" dirty="0"/>
          </a:p>
        </p:txBody>
      </p:sp>
      <p:sp>
        <p:nvSpPr>
          <p:cNvPr id="12" name="Text 10"/>
          <p:cNvSpPr/>
          <p:nvPr/>
        </p:nvSpPr>
        <p:spPr>
          <a:xfrm>
            <a:off x="828604" y="1635919"/>
            <a:ext cx="485918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 2026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342900" y="2543175"/>
            <a:ext cx="1371600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</a:t>
            </a:r>
            <a:endParaRPr lang="en-US" sz="844" dirty="0"/>
          </a:p>
        </p:txBody>
      </p:sp>
      <p:sp>
        <p:nvSpPr>
          <p:cNvPr id="14" name="Text 12"/>
          <p:cNvSpPr/>
          <p:nvPr/>
        </p:nvSpPr>
        <p:spPr>
          <a:xfrm>
            <a:off x="385763" y="2707481"/>
            <a:ext cx="12858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platform rebuild with new architecture and CI/CD pipeline</a:t>
            </a:r>
            <a:endParaRPr lang="en-US" sz="675" dirty="0"/>
          </a:p>
        </p:txBody>
      </p:sp>
      <p:sp>
        <p:nvSpPr>
          <p:cNvPr id="15" name="Shape 13"/>
          <p:cNvSpPr/>
          <p:nvPr/>
        </p:nvSpPr>
        <p:spPr>
          <a:xfrm>
            <a:off x="748879" y="3021806"/>
            <a:ext cx="559570" cy="1143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</p:sp>
      <p:sp>
        <p:nvSpPr>
          <p:cNvPr id="16" name="Text 14"/>
          <p:cNvSpPr/>
          <p:nvPr/>
        </p:nvSpPr>
        <p:spPr>
          <a:xfrm>
            <a:off x="634579" y="3021806"/>
            <a:ext cx="78817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COMPLETED</a:t>
            </a:r>
            <a:endParaRPr lang="en-US" sz="563" dirty="0"/>
          </a:p>
        </p:txBody>
      </p:sp>
      <p:sp>
        <p:nvSpPr>
          <p:cNvPr id="17" name="Shape 15"/>
          <p:cNvSpPr/>
          <p:nvPr/>
        </p:nvSpPr>
        <p:spPr>
          <a:xfrm>
            <a:off x="928688" y="2171700"/>
            <a:ext cx="200025" cy="200025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sx="100000" sy="100000" kx="0" ky="0" algn="bl" rotWithShape="0" blurRad="57150" dist="14288" dir="5400000">
              <a:srgbClr val="3B82F6">
                <a:alpha val="4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28688" y="2171700"/>
            <a:ext cx="200025" cy="2000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88" b="1" u="none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88" dirty="0"/>
          </a:p>
        </p:txBody>
      </p:sp>
      <p:sp>
        <p:nvSpPr>
          <p:cNvPr id="19" name="Text 17"/>
          <p:cNvSpPr/>
          <p:nvPr/>
        </p:nvSpPr>
        <p:spPr>
          <a:xfrm>
            <a:off x="2533888" y="1507331"/>
            <a:ext cx="50442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</a:t>
            </a:r>
            <a:endParaRPr lang="en-US" sz="731" dirty="0"/>
          </a:p>
        </p:txBody>
      </p:sp>
      <p:sp>
        <p:nvSpPr>
          <p:cNvPr id="20" name="Text 18"/>
          <p:cNvSpPr/>
          <p:nvPr/>
        </p:nvSpPr>
        <p:spPr>
          <a:xfrm>
            <a:off x="2533888" y="1635919"/>
            <a:ext cx="504420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 2026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2057400" y="2543175"/>
            <a:ext cx="1371600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 Launch</a:t>
            </a:r>
            <a:endParaRPr lang="en-US" sz="844" dirty="0"/>
          </a:p>
        </p:txBody>
      </p:sp>
      <p:sp>
        <p:nvSpPr>
          <p:cNvPr id="22" name="Text 20"/>
          <p:cNvSpPr/>
          <p:nvPr/>
        </p:nvSpPr>
        <p:spPr>
          <a:xfrm>
            <a:off x="2100263" y="2707481"/>
            <a:ext cx="1285875" cy="3857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beta with 50 design partners, feedback loops established</a:t>
            </a:r>
            <a:endParaRPr lang="en-US" sz="675" dirty="0"/>
          </a:p>
        </p:txBody>
      </p:sp>
      <p:sp>
        <p:nvSpPr>
          <p:cNvPr id="23" name="Shape 21"/>
          <p:cNvSpPr/>
          <p:nvPr/>
        </p:nvSpPr>
        <p:spPr>
          <a:xfrm>
            <a:off x="2463379" y="3150394"/>
            <a:ext cx="559570" cy="1143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</p:sp>
      <p:sp>
        <p:nvSpPr>
          <p:cNvPr id="24" name="Text 22"/>
          <p:cNvSpPr/>
          <p:nvPr/>
        </p:nvSpPr>
        <p:spPr>
          <a:xfrm>
            <a:off x="2349079" y="3150394"/>
            <a:ext cx="78817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COMPLETED</a:t>
            </a:r>
            <a:endParaRPr lang="en-US" sz="563" dirty="0"/>
          </a:p>
        </p:txBody>
      </p:sp>
      <p:sp>
        <p:nvSpPr>
          <p:cNvPr id="25" name="Shape 23"/>
          <p:cNvSpPr/>
          <p:nvPr/>
        </p:nvSpPr>
        <p:spPr>
          <a:xfrm>
            <a:off x="2643188" y="2171700"/>
            <a:ext cx="200025" cy="200025"/>
          </a:xfrm>
          <a:prstGeom prst="ellipse">
            <a:avLst/>
          </a:prstGeom>
          <a:solidFill>
            <a:srgbClr val="3B82F6"/>
          </a:solidFill>
          <a:ln>
            <a:noFill/>
          </a:ln>
          <a:effectLst>
            <a:outerShdw sx="100000" sy="100000" kx="0" ky="0" algn="bl" rotWithShape="0" blurRad="57150" dist="14288" dir="5400000">
              <a:srgbClr val="3B82F6">
                <a:alpha val="4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643188" y="2171700"/>
            <a:ext cx="200025" cy="2000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88" b="1" u="none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788" dirty="0"/>
          </a:p>
        </p:txBody>
      </p:sp>
      <p:sp>
        <p:nvSpPr>
          <p:cNvPr id="27" name="Text 25"/>
          <p:cNvSpPr/>
          <p:nvPr/>
        </p:nvSpPr>
        <p:spPr>
          <a:xfrm>
            <a:off x="4247745" y="1507331"/>
            <a:ext cx="50563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</a:t>
            </a:r>
            <a:endParaRPr lang="en-US" sz="731" dirty="0"/>
          </a:p>
        </p:txBody>
      </p:sp>
      <p:sp>
        <p:nvSpPr>
          <p:cNvPr id="28" name="Text 26"/>
          <p:cNvSpPr/>
          <p:nvPr/>
        </p:nvSpPr>
        <p:spPr>
          <a:xfrm>
            <a:off x="4247745" y="1635919"/>
            <a:ext cx="505635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 2026</a:t>
            </a:r>
            <a:endParaRPr lang="en-US" sz="675" dirty="0"/>
          </a:p>
        </p:txBody>
      </p:sp>
      <p:sp>
        <p:nvSpPr>
          <p:cNvPr id="29" name="Text 27"/>
          <p:cNvSpPr/>
          <p:nvPr/>
        </p:nvSpPr>
        <p:spPr>
          <a:xfrm>
            <a:off x="3771900" y="2543175"/>
            <a:ext cx="1371600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 Release</a:t>
            </a:r>
            <a:endParaRPr lang="en-US" sz="844" dirty="0"/>
          </a:p>
        </p:txBody>
      </p:sp>
      <p:sp>
        <p:nvSpPr>
          <p:cNvPr id="30" name="Text 28"/>
          <p:cNvSpPr/>
          <p:nvPr/>
        </p:nvSpPr>
        <p:spPr>
          <a:xfrm>
            <a:off x="3814763" y="2707481"/>
            <a:ext cx="12858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launch with self-serve onboarding and documentation</a:t>
            </a:r>
            <a:endParaRPr lang="en-US" sz="675" dirty="0"/>
          </a:p>
        </p:txBody>
      </p:sp>
      <p:sp>
        <p:nvSpPr>
          <p:cNvPr id="31" name="Shape 29"/>
          <p:cNvSpPr/>
          <p:nvPr/>
        </p:nvSpPr>
        <p:spPr>
          <a:xfrm>
            <a:off x="4162592" y="3021806"/>
            <a:ext cx="590288" cy="1143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32" name="Text 30"/>
          <p:cNvSpPr/>
          <p:nvPr/>
        </p:nvSpPr>
        <p:spPr>
          <a:xfrm>
            <a:off x="4041148" y="3021806"/>
            <a:ext cx="833176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PROGRESS</a:t>
            </a:r>
            <a:endParaRPr lang="en-US" sz="563" dirty="0"/>
          </a:p>
        </p:txBody>
      </p:sp>
      <p:sp>
        <p:nvSpPr>
          <p:cNvPr id="33" name="Shape 31"/>
          <p:cNvSpPr/>
          <p:nvPr/>
        </p:nvSpPr>
        <p:spPr>
          <a:xfrm>
            <a:off x="4271963" y="2085975"/>
            <a:ext cx="371475" cy="371475"/>
          </a:xfrm>
          <a:prstGeom prst="ellipse">
            <a:avLst/>
          </a:prstGeom>
          <a:solidFill>
            <a:srgbClr val="3B82F6">
              <a:alpha val="8000"/>
            </a:srgbClr>
          </a:solidFill>
          <a:ln>
            <a:noFill/>
          </a:ln>
        </p:spPr>
      </p:sp>
      <p:sp>
        <p:nvSpPr>
          <p:cNvPr id="34" name="Shape 32"/>
          <p:cNvSpPr/>
          <p:nvPr/>
        </p:nvSpPr>
        <p:spPr>
          <a:xfrm>
            <a:off x="4314825" y="2128838"/>
            <a:ext cx="285750" cy="285750"/>
          </a:xfrm>
          <a:prstGeom prst="ellipse">
            <a:avLst/>
          </a:prstGeom>
          <a:solidFill>
            <a:srgbClr val="3B82F6">
              <a:alpha val="20000"/>
            </a:srgbClr>
          </a:solidFill>
          <a:ln>
            <a:noFill/>
          </a:ln>
        </p:spPr>
      </p:sp>
      <p:sp>
        <p:nvSpPr>
          <p:cNvPr id="35" name="Shape 33"/>
          <p:cNvSpPr/>
          <p:nvPr/>
        </p:nvSpPr>
        <p:spPr>
          <a:xfrm>
            <a:off x="4357688" y="2171700"/>
            <a:ext cx="200025" cy="200025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36" name="Shape 34"/>
          <p:cNvSpPr/>
          <p:nvPr/>
        </p:nvSpPr>
        <p:spPr>
          <a:xfrm>
            <a:off x="4414838" y="2228850"/>
            <a:ext cx="85725" cy="85725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37" name="Shape 35"/>
          <p:cNvSpPr/>
          <p:nvPr/>
        </p:nvSpPr>
        <p:spPr>
          <a:xfrm>
            <a:off x="4386263" y="2200275"/>
            <a:ext cx="142875" cy="14287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8" name="Text 36"/>
          <p:cNvSpPr/>
          <p:nvPr/>
        </p:nvSpPr>
        <p:spPr>
          <a:xfrm>
            <a:off x="5960816" y="1507331"/>
            <a:ext cx="508421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4</a:t>
            </a:r>
            <a:endParaRPr lang="en-US" sz="731" dirty="0"/>
          </a:p>
        </p:txBody>
      </p:sp>
      <p:sp>
        <p:nvSpPr>
          <p:cNvPr id="39" name="Text 37"/>
          <p:cNvSpPr/>
          <p:nvPr/>
        </p:nvSpPr>
        <p:spPr>
          <a:xfrm>
            <a:off x="5960816" y="1635919"/>
            <a:ext cx="508421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 2026</a:t>
            </a:r>
            <a:endParaRPr lang="en-US" sz="675" dirty="0"/>
          </a:p>
        </p:txBody>
      </p:sp>
      <p:sp>
        <p:nvSpPr>
          <p:cNvPr id="40" name="Text 38"/>
          <p:cNvSpPr/>
          <p:nvPr/>
        </p:nvSpPr>
        <p:spPr>
          <a:xfrm>
            <a:off x="5486400" y="2543175"/>
            <a:ext cx="1371600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</a:t>
            </a:r>
            <a:endParaRPr lang="en-US" sz="844" dirty="0"/>
          </a:p>
        </p:txBody>
      </p:sp>
      <p:sp>
        <p:nvSpPr>
          <p:cNvPr id="41" name="Text 39"/>
          <p:cNvSpPr/>
          <p:nvPr/>
        </p:nvSpPr>
        <p:spPr>
          <a:xfrm>
            <a:off x="5529263" y="2707481"/>
            <a:ext cx="12858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SSO, RBAC, audit logs, SOC 2 compliance certification</a:t>
            </a:r>
            <a:endParaRPr lang="en-US" sz="675" dirty="0"/>
          </a:p>
        </p:txBody>
      </p:sp>
      <p:sp>
        <p:nvSpPr>
          <p:cNvPr id="42" name="Shape 40"/>
          <p:cNvSpPr/>
          <p:nvPr/>
        </p:nvSpPr>
        <p:spPr>
          <a:xfrm>
            <a:off x="5944172" y="3021806"/>
            <a:ext cx="456057" cy="1143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43" name="Text 41"/>
          <p:cNvSpPr/>
          <p:nvPr/>
        </p:nvSpPr>
        <p:spPr>
          <a:xfrm>
            <a:off x="5851303" y="3021806"/>
            <a:ext cx="64179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</a:t>
            </a:r>
            <a:endParaRPr lang="en-US" sz="563" dirty="0"/>
          </a:p>
        </p:txBody>
      </p:sp>
      <p:sp>
        <p:nvSpPr>
          <p:cNvPr id="44" name="Shape 42"/>
          <p:cNvSpPr/>
          <p:nvPr/>
        </p:nvSpPr>
        <p:spPr>
          <a:xfrm>
            <a:off x="6072188" y="2171700"/>
            <a:ext cx="200025" cy="200025"/>
          </a:xfrm>
          <a:prstGeom prst="ellipse">
            <a:avLst/>
          </a:prstGeom>
          <a:solidFill>
            <a:srgbClr val="FFFFFF"/>
          </a:solidFill>
          <a:ln w="21431" algn="in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77888" y="1507331"/>
            <a:ext cx="50342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5</a:t>
            </a:r>
            <a:endParaRPr lang="en-US" sz="731" dirty="0"/>
          </a:p>
        </p:txBody>
      </p:sp>
      <p:sp>
        <p:nvSpPr>
          <p:cNvPr id="46" name="Text 44"/>
          <p:cNvSpPr/>
          <p:nvPr/>
        </p:nvSpPr>
        <p:spPr>
          <a:xfrm>
            <a:off x="7677888" y="1635919"/>
            <a:ext cx="503420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Oct 2026</a:t>
            </a:r>
            <a:endParaRPr lang="en-US" sz="675" dirty="0"/>
          </a:p>
        </p:txBody>
      </p:sp>
      <p:sp>
        <p:nvSpPr>
          <p:cNvPr id="47" name="Text 45"/>
          <p:cNvSpPr/>
          <p:nvPr/>
        </p:nvSpPr>
        <p:spPr>
          <a:xfrm>
            <a:off x="7200900" y="2543175"/>
            <a:ext cx="1371600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Features</a:t>
            </a:r>
            <a:endParaRPr lang="en-US" sz="844" dirty="0"/>
          </a:p>
        </p:txBody>
      </p:sp>
      <p:sp>
        <p:nvSpPr>
          <p:cNvPr id="48" name="Text 46"/>
          <p:cNvSpPr/>
          <p:nvPr/>
        </p:nvSpPr>
        <p:spPr>
          <a:xfrm>
            <a:off x="7243763" y="2707481"/>
            <a:ext cx="1285875" cy="3857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ML-powered insights, predictive analytics, smart automation</a:t>
            </a:r>
            <a:endParaRPr lang="en-US" sz="675" dirty="0"/>
          </a:p>
        </p:txBody>
      </p:sp>
      <p:sp>
        <p:nvSpPr>
          <p:cNvPr id="49" name="Shape 47"/>
          <p:cNvSpPr/>
          <p:nvPr/>
        </p:nvSpPr>
        <p:spPr>
          <a:xfrm>
            <a:off x="7658671" y="3150394"/>
            <a:ext cx="456057" cy="1143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50" name="Text 48"/>
          <p:cNvSpPr/>
          <p:nvPr/>
        </p:nvSpPr>
        <p:spPr>
          <a:xfrm>
            <a:off x="7565803" y="3150394"/>
            <a:ext cx="64179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PLANNED</a:t>
            </a:r>
            <a:endParaRPr lang="en-US" sz="563" dirty="0"/>
          </a:p>
        </p:txBody>
      </p:sp>
      <p:sp>
        <p:nvSpPr>
          <p:cNvPr id="51" name="Shape 49"/>
          <p:cNvSpPr/>
          <p:nvPr/>
        </p:nvSpPr>
        <p:spPr>
          <a:xfrm>
            <a:off x="7786688" y="2171700"/>
            <a:ext cx="200025" cy="200025"/>
          </a:xfrm>
          <a:prstGeom prst="ellipse">
            <a:avLst/>
          </a:prstGeom>
          <a:solidFill>
            <a:srgbClr val="FFFFFF"/>
          </a:solidFill>
          <a:ln w="21431" algn="in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1385" y="142875"/>
            <a:ext cx="1927027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63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Comparison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3468076" y="392906"/>
            <a:ext cx="2293501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how our products stack up against each other</a:t>
            </a:r>
            <a:endParaRPr lang="en-US" sz="731" dirty="0"/>
          </a:p>
        </p:txBody>
      </p:sp>
      <p:sp>
        <p:nvSpPr>
          <p:cNvPr id="4" name="Shape 2"/>
          <p:cNvSpPr/>
          <p:nvPr/>
        </p:nvSpPr>
        <p:spPr>
          <a:xfrm>
            <a:off x="457200" y="592931"/>
            <a:ext cx="8229600" cy="2543175"/>
          </a:xfrm>
          <a:prstGeom prst="roundRect">
            <a:avLst>
              <a:gd name="adj" fmla="val 3371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71450" dist="28575" dir="5400000">
              <a:srgbClr val="000000">
                <a:alpha val="8000"/>
              </a:srgbClr>
            </a:outerShdw>
          </a:effectLst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594360"/>
          <a:ext cx="8229600" cy="2542032"/>
        </p:xfrm>
        <a:graphic>
          <a:graphicData uri="http://schemas.openxmlformats.org/drawingml/2006/table">
            <a:tbl>
              <a:tblPr/>
              <a:tblGrid>
                <a:gridCol w="2304288"/>
                <a:gridCol w="1975104"/>
                <a:gridCol w="1975104"/>
                <a:gridCol w="1975104"/>
              </a:tblGrid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88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Feature</a:t>
                      </a:r>
                      <a:endParaRPr lang="en-US" sz="788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8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CloudBase Pro</a:t>
                      </a:r>
                      <a:endParaRPr lang="en-US" sz="788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8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DataSync Plus</a:t>
                      </a:r>
                      <a:endParaRPr lang="en-US" sz="788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88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AIFlow Studio</a:t>
                      </a:r>
                      <a:endParaRPr lang="en-US" sz="788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9E0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Real-time Collaboration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563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Multi-user editing with conflict resolution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9" b="1" dirty="0">
                          <a:solidFill>
                            <a:srgbClr val="B4530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Partial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API Rate Limit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563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Requests per minute per user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1,000 RPM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5,000 RPM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1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10,000 RPM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 Integrations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563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Build and deploy custom plugins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✗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On-Premise Deployment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563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Self-hosted with full data control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✗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9" b="1" dirty="0">
                          <a:solidFill>
                            <a:srgbClr val="B4530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Partial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AI-Powered Analytics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563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Machine learning insights and predictions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9" b="1" dirty="0">
                          <a:solidFill>
                            <a:srgbClr val="B4530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Partial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✗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SSO &amp; SAML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563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Enterprise identity provider support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1" dirty="0">
                          <a:solidFill>
                            <a:srgbClr val="33415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Audit Logging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563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Comprehensive activity trail with export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EF444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✗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25" b="1" dirty="0">
                          <a:solidFill>
                            <a:srgbClr val="10B98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✓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31" b="1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Starting Price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1" b="1" dirty="0">
                          <a:solidFill>
                            <a:srgbClr val="F1F5F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$29</a:t>
                      </a:r>
                      <a:pPr algn="ctr" indent="0" marL="0">
                        <a:buNone/>
                      </a:pPr>
                      <a:r>
                        <a:rPr lang="en-US" sz="619" b="1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/mo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1" b="1" dirty="0">
                          <a:solidFill>
                            <a:srgbClr val="F1F5F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$79</a:t>
                      </a:r>
                      <a:pPr algn="ctr" indent="0" marL="0">
                        <a:buNone/>
                      </a:pPr>
                      <a:r>
                        <a:rPr lang="en-US" sz="619" b="1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/mo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31" b="1" dirty="0">
                          <a:solidFill>
                            <a:srgbClr val="F1F5F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$149</a:t>
                      </a:r>
                      <a:pPr algn="ctr" indent="0" marL="0">
                        <a:buNone/>
                      </a:pPr>
                      <a:r>
                        <a:rPr lang="en-US" sz="619" b="1" dirty="0">
                          <a:solidFill>
                            <a:srgbClr val="94A3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/mo</a:t>
                      </a:r>
                      <a:endParaRPr lang="en-US" sz="731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42875" marR="142875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506724" y="875109"/>
            <a:ext cx="384620" cy="14287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</p:sp>
      <p:sp>
        <p:nvSpPr>
          <p:cNvPr id="7" name="Text 4"/>
          <p:cNvSpPr/>
          <p:nvPr/>
        </p:nvSpPr>
        <p:spPr>
          <a:xfrm>
            <a:off x="7506724" y="875109"/>
            <a:ext cx="384620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Partial</a:t>
            </a:r>
            <a:endParaRPr lang="en-US" sz="619" dirty="0"/>
          </a:p>
        </p:txBody>
      </p:sp>
      <p:sp>
        <p:nvSpPr>
          <p:cNvPr id="8" name="Shape 5"/>
          <p:cNvSpPr/>
          <p:nvPr/>
        </p:nvSpPr>
        <p:spPr>
          <a:xfrm>
            <a:off x="5531620" y="1775222"/>
            <a:ext cx="384620" cy="14287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</p:sp>
      <p:sp>
        <p:nvSpPr>
          <p:cNvPr id="9" name="Text 6"/>
          <p:cNvSpPr/>
          <p:nvPr/>
        </p:nvSpPr>
        <p:spPr>
          <a:xfrm>
            <a:off x="5531620" y="1775222"/>
            <a:ext cx="384620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Partial</a:t>
            </a:r>
            <a:endParaRPr lang="en-US" sz="619" dirty="0"/>
          </a:p>
        </p:txBody>
      </p:sp>
      <p:sp>
        <p:nvSpPr>
          <p:cNvPr id="10" name="Shape 7"/>
          <p:cNvSpPr/>
          <p:nvPr/>
        </p:nvSpPr>
        <p:spPr>
          <a:xfrm>
            <a:off x="3556587" y="2075259"/>
            <a:ext cx="384620" cy="14287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</p:sp>
      <p:sp>
        <p:nvSpPr>
          <p:cNvPr id="11" name="Text 8"/>
          <p:cNvSpPr/>
          <p:nvPr/>
        </p:nvSpPr>
        <p:spPr>
          <a:xfrm>
            <a:off x="3556587" y="2075259"/>
            <a:ext cx="384620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Partial</a:t>
            </a:r>
            <a:endParaRPr lang="en-US" sz="619" dirty="0"/>
          </a:p>
        </p:txBody>
      </p:sp>
      <p:sp>
        <p:nvSpPr>
          <p:cNvPr id="12" name="Text 9"/>
          <p:cNvSpPr/>
          <p:nvPr/>
        </p:nvSpPr>
        <p:spPr>
          <a:xfrm>
            <a:off x="3294269" y="3221831"/>
            <a:ext cx="714018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u="none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supported</a:t>
            </a:r>
            <a:endParaRPr lang="en-US" sz="675" dirty="0"/>
          </a:p>
        </p:txBody>
      </p:sp>
      <p:sp>
        <p:nvSpPr>
          <p:cNvPr id="13" name="Text 10"/>
          <p:cNvSpPr/>
          <p:nvPr/>
        </p:nvSpPr>
        <p:spPr>
          <a:xfrm>
            <a:off x="3079956" y="3239691"/>
            <a:ext cx="200025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5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675" dirty="0"/>
          </a:p>
        </p:txBody>
      </p:sp>
      <p:sp>
        <p:nvSpPr>
          <p:cNvPr id="14" name="Text 11"/>
          <p:cNvSpPr/>
          <p:nvPr/>
        </p:nvSpPr>
        <p:spPr>
          <a:xfrm>
            <a:off x="4279749" y="3221831"/>
            <a:ext cx="609576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u="none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available</a:t>
            </a:r>
            <a:endParaRPr lang="en-US" sz="675" dirty="0"/>
          </a:p>
        </p:txBody>
      </p:sp>
      <p:sp>
        <p:nvSpPr>
          <p:cNvPr id="15" name="Text 12"/>
          <p:cNvSpPr/>
          <p:nvPr/>
        </p:nvSpPr>
        <p:spPr>
          <a:xfrm>
            <a:off x="4065437" y="3239691"/>
            <a:ext cx="200025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5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✗</a:t>
            </a:r>
            <a:endParaRPr lang="en-US" sz="675" dirty="0"/>
          </a:p>
        </p:txBody>
      </p:sp>
      <p:sp>
        <p:nvSpPr>
          <p:cNvPr id="16" name="Text 13"/>
          <p:cNvSpPr/>
          <p:nvPr/>
        </p:nvSpPr>
        <p:spPr>
          <a:xfrm>
            <a:off x="5402532" y="3221831"/>
            <a:ext cx="718661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u="none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support</a:t>
            </a:r>
            <a:endParaRPr lang="en-US" sz="675" dirty="0"/>
          </a:p>
        </p:txBody>
      </p:sp>
      <p:sp>
        <p:nvSpPr>
          <p:cNvPr id="17" name="Shape 14"/>
          <p:cNvSpPr/>
          <p:nvPr/>
        </p:nvSpPr>
        <p:spPr>
          <a:xfrm>
            <a:off x="4975050" y="3221831"/>
            <a:ext cx="384620" cy="142875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</p:spPr>
      </p:sp>
      <p:sp>
        <p:nvSpPr>
          <p:cNvPr id="18" name="Text 15"/>
          <p:cNvSpPr/>
          <p:nvPr/>
        </p:nvSpPr>
        <p:spPr>
          <a:xfrm>
            <a:off x="4946475" y="3221831"/>
            <a:ext cx="441770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B4530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Partial</a:t>
            </a:r>
            <a:endParaRPr lang="en-US" sz="619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1136642"/>
            <a:ext cx="6858000" cy="2870216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285750" dist="57150" dir="5400000">
              <a:srgbClr val="000000">
                <a:alpha val="6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143000" y="1136642"/>
            <a:ext cx="6858000" cy="2870216"/>
          </a:xfrm>
          <a:prstGeom prst="roundRect">
            <a:avLst>
              <a:gd name="adj" fmla="val 3982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1185863" y="1136642"/>
            <a:ext cx="6815138" cy="2870216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" name="Text 3"/>
          <p:cNvSpPr/>
          <p:nvPr/>
        </p:nvSpPr>
        <p:spPr>
          <a:xfrm>
            <a:off x="1643063" y="2628114"/>
            <a:ext cx="5900738" cy="2071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350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350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350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350" u="none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☆</a:t>
            </a:r>
            <a:endParaRPr lang="en-US" sz="1350" dirty="0"/>
          </a:p>
        </p:txBody>
      </p:sp>
      <p:sp>
        <p:nvSpPr>
          <p:cNvPr id="6" name="GRAD_20"/>
          <p:cNvSpPr/>
          <p:nvPr/>
        </p:nvSpPr>
        <p:spPr>
          <a:xfrm>
            <a:off x="1643063" y="3006733"/>
            <a:ext cx="428625" cy="21431"/>
          </a:xfrm>
          <a:prstGeom prst="rect">
            <a:avLst/>
          </a:prstGeom>
          <a:gradFill rotWithShape="1">
            <a:gsLst>
              <a:gs pos="0">
                <a:srgbClr val="6366F1"/>
              </a:gs>
              <a:gs pos="100000">
                <a:srgbClr val="A78BFA"/>
              </a:gs>
            </a:gsLst>
            <a:lin ang="0" scaled="0"/>
          </a:gradFill>
          <a:ln>
            <a:noFill/>
          </a:ln>
        </p:spPr>
      </p:sp>
      <p:sp>
        <p:nvSpPr>
          <p:cNvPr id="7" name="GRAD_21"/>
          <p:cNvSpPr/>
          <p:nvPr/>
        </p:nvSpPr>
        <p:spPr>
          <a:xfrm>
            <a:off x="1643063" y="3203186"/>
            <a:ext cx="400050" cy="400050"/>
          </a:xfrm>
          <a:prstGeom prst="ellipse">
            <a:avLst/>
          </a:prstGeom>
          <a:gradFill rotWithShape="1">
            <a:gsLst>
              <a:gs pos="0">
                <a:srgbClr val="E0E7FF"/>
              </a:gs>
              <a:gs pos="100000">
                <a:srgbClr val="C7D2FE"/>
              </a:gs>
            </a:gsLst>
            <a:lin ang="2700000" scaled="0"/>
          </a:gradFill>
          <a:ln w="21431" algn="in">
            <a:solidFill>
              <a:srgbClr val="FFFFFF"/>
            </a:solidFill>
            <a:prstDash val="solid"/>
          </a:ln>
          <a:effectLst>
            <a:outerShdw sx="100000" sy="100000" kx="0" ky="0" algn="bl" rotWithShape="0" blurRad="57150" dist="14288" dir="5400000">
              <a:srgbClr val="6366F1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3063" y="3203186"/>
            <a:ext cx="400050" cy="4000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38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EW</a:t>
            </a:r>
            <a:endParaRPr lang="en-US" sz="1238" dirty="0"/>
          </a:p>
        </p:txBody>
      </p:sp>
      <p:sp>
        <p:nvSpPr>
          <p:cNvPr id="9" name="Text 7"/>
          <p:cNvSpPr/>
          <p:nvPr/>
        </p:nvSpPr>
        <p:spPr>
          <a:xfrm>
            <a:off x="2157413" y="3199614"/>
            <a:ext cx="1299591" cy="1500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13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Elena Whitfield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2157413" y="3363920"/>
            <a:ext cx="1299591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of Data Engineering</a:t>
            </a:r>
            <a:endParaRPr lang="en-US" sz="788" dirty="0"/>
          </a:p>
        </p:txBody>
      </p:sp>
      <p:sp>
        <p:nvSpPr>
          <p:cNvPr id="11" name="Text 9"/>
          <p:cNvSpPr/>
          <p:nvPr/>
        </p:nvSpPr>
        <p:spPr>
          <a:xfrm>
            <a:off x="2157413" y="3492508"/>
            <a:ext cx="1299591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Meridian Analytics Inc.</a:t>
            </a:r>
            <a:endParaRPr lang="en-US" sz="731" dirty="0"/>
          </a:p>
        </p:txBody>
      </p:sp>
      <p:sp>
        <p:nvSpPr>
          <p:cNvPr id="12" name="Text 10"/>
          <p:cNvSpPr/>
          <p:nvPr/>
        </p:nvSpPr>
        <p:spPr>
          <a:xfrm>
            <a:off x="1528763" y="1308092"/>
            <a:ext cx="616148" cy="1143000"/>
          </a:xfrm>
          <a:prstGeom prst="rect">
            <a:avLst/>
          </a:prstGeom>
          <a:ln>
            <a:noFill/>
          </a:ln>
        </p:spPr>
        <p:txBody>
          <a:bodyPr wrap="square" lIns="0" tIns="112586" rIns="0" bIns="0" rtlCol="0" anchor="t"/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9000" dirty="0">
                <a:solidFill>
                  <a:srgbClr val="F3F3F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“</a:t>
            </a:r>
            <a:endParaRPr lang="en-US" sz="9000" dirty="0"/>
          </a:p>
        </p:txBody>
      </p:sp>
      <p:sp>
        <p:nvSpPr>
          <p:cNvPr id="13" name="Shape 11"/>
          <p:cNvSpPr/>
          <p:nvPr/>
        </p:nvSpPr>
        <p:spPr>
          <a:xfrm>
            <a:off x="6585180" y="1479542"/>
            <a:ext cx="1015770" cy="207169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7144" algn="in">
            <a:solidFill>
              <a:srgbClr val="BBF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5155" y="1479542"/>
            <a:ext cx="1415820" cy="2071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FEATURED REVIEW</a:t>
            </a:r>
            <a:endParaRPr lang="en-US" sz="675" dirty="0"/>
          </a:p>
        </p:txBody>
      </p:sp>
      <p:sp>
        <p:nvSpPr>
          <p:cNvPr id="15" name="Shape 13"/>
          <p:cNvSpPr/>
          <p:nvPr/>
        </p:nvSpPr>
        <p:spPr>
          <a:xfrm>
            <a:off x="7143750" y="3435358"/>
            <a:ext cx="57150" cy="5715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6" name="Shape 14"/>
          <p:cNvSpPr/>
          <p:nvPr/>
        </p:nvSpPr>
        <p:spPr>
          <a:xfrm>
            <a:off x="7258050" y="3435358"/>
            <a:ext cx="57150" cy="5715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7" name="Shape 15"/>
          <p:cNvSpPr/>
          <p:nvPr/>
        </p:nvSpPr>
        <p:spPr>
          <a:xfrm>
            <a:off x="7372350" y="3435358"/>
            <a:ext cx="57150" cy="5715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</p:sp>
      <p:sp>
        <p:nvSpPr>
          <p:cNvPr id="18" name="Shape 16"/>
          <p:cNvSpPr/>
          <p:nvPr/>
        </p:nvSpPr>
        <p:spPr>
          <a:xfrm>
            <a:off x="7486650" y="3435358"/>
            <a:ext cx="57150" cy="5715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9" name="Shape 17"/>
          <p:cNvSpPr/>
          <p:nvPr/>
        </p:nvSpPr>
        <p:spPr>
          <a:xfrm>
            <a:off x="7600950" y="3435358"/>
            <a:ext cx="57150" cy="5715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0" name="Shape 18"/>
          <p:cNvSpPr/>
          <p:nvPr/>
        </p:nvSpPr>
        <p:spPr>
          <a:xfrm>
            <a:off x="7143750" y="3549658"/>
            <a:ext cx="57150" cy="5715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</p:sp>
      <p:sp>
        <p:nvSpPr>
          <p:cNvPr id="21" name="Shape 19"/>
          <p:cNvSpPr/>
          <p:nvPr/>
        </p:nvSpPr>
        <p:spPr>
          <a:xfrm>
            <a:off x="7258050" y="3549658"/>
            <a:ext cx="57150" cy="5715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2" name="Shape 20"/>
          <p:cNvSpPr/>
          <p:nvPr/>
        </p:nvSpPr>
        <p:spPr>
          <a:xfrm>
            <a:off x="7372350" y="3549658"/>
            <a:ext cx="57150" cy="5715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3" name="Shape 21"/>
          <p:cNvSpPr/>
          <p:nvPr/>
        </p:nvSpPr>
        <p:spPr>
          <a:xfrm>
            <a:off x="7486650" y="3549658"/>
            <a:ext cx="57150" cy="5715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</p:sp>
      <p:sp>
        <p:nvSpPr>
          <p:cNvPr id="24" name="Shape 22"/>
          <p:cNvSpPr/>
          <p:nvPr/>
        </p:nvSpPr>
        <p:spPr>
          <a:xfrm>
            <a:off x="7600950" y="3549658"/>
            <a:ext cx="57150" cy="5715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5" name="Shape 23"/>
          <p:cNvSpPr/>
          <p:nvPr/>
        </p:nvSpPr>
        <p:spPr>
          <a:xfrm>
            <a:off x="7143750" y="3663958"/>
            <a:ext cx="57150" cy="5715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6" name="Shape 24"/>
          <p:cNvSpPr/>
          <p:nvPr/>
        </p:nvSpPr>
        <p:spPr>
          <a:xfrm>
            <a:off x="7258050" y="3663958"/>
            <a:ext cx="57150" cy="5715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</p:sp>
      <p:sp>
        <p:nvSpPr>
          <p:cNvPr id="27" name="Shape 25"/>
          <p:cNvSpPr/>
          <p:nvPr/>
        </p:nvSpPr>
        <p:spPr>
          <a:xfrm>
            <a:off x="7372350" y="3663958"/>
            <a:ext cx="57150" cy="5715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8" name="Shape 26"/>
          <p:cNvSpPr/>
          <p:nvPr/>
        </p:nvSpPr>
        <p:spPr>
          <a:xfrm>
            <a:off x="7486650" y="3663958"/>
            <a:ext cx="57150" cy="5715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9" name="Shape 27"/>
          <p:cNvSpPr/>
          <p:nvPr/>
        </p:nvSpPr>
        <p:spPr>
          <a:xfrm>
            <a:off x="7600950" y="3663958"/>
            <a:ext cx="57150" cy="57150"/>
          </a:xfrm>
          <a:prstGeom prst="ellipse">
            <a:avLst/>
          </a:prstGeom>
          <a:solidFill>
            <a:srgbClr val="C7D2FE"/>
          </a:solidFill>
          <a:ln>
            <a:noFill/>
          </a:ln>
        </p:spPr>
      </p:sp>
      <p:sp>
        <p:nvSpPr>
          <p:cNvPr id="30" name="Text 28"/>
          <p:cNvSpPr/>
          <p:nvPr/>
        </p:nvSpPr>
        <p:spPr>
          <a:xfrm>
            <a:off x="1643063" y="1536692"/>
            <a:ext cx="5900738" cy="891397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1463" i="1" dirty="0">
                <a:solidFill>
                  <a:srgbClr val="1E29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This platform completely transformed how our team collaborates on data projects. The real-time sync and AI-powered insights saved us over 200 hours in Q1 alone. I cannot imagine going back to our old workflow.</a:t>
            </a:r>
            <a:endParaRPr lang="en-US" sz="146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91495" y="314325"/>
            <a:ext cx="2446592" cy="2786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Metrics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3731038" y="621506"/>
            <a:ext cx="1767650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health indicators for Q1 2026</a:t>
            </a:r>
            <a:endParaRPr lang="en-US" sz="844" dirty="0"/>
          </a:p>
        </p:txBody>
      </p:sp>
      <p:sp>
        <p:nvSpPr>
          <p:cNvPr id="4" name="Shape 2"/>
          <p:cNvSpPr/>
          <p:nvPr/>
        </p:nvSpPr>
        <p:spPr>
          <a:xfrm>
            <a:off x="1285875" y="1014413"/>
            <a:ext cx="2000250" cy="2157413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7144" algn="in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71995" y="2536031"/>
            <a:ext cx="1313664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Satisfaction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578769" y="2707481"/>
            <a:ext cx="1414463" cy="2286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NPS score based on 2,400 survey responses this quarter</a:t>
            </a:r>
            <a:endParaRPr lang="en-US" sz="731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1250156"/>
            <a:ext cx="1143000" cy="1143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14500" y="1250156"/>
            <a:ext cx="1143000" cy="1143000"/>
          </a:xfrm>
          <a:prstGeom prst="rect">
            <a:avLst/>
          </a:prstGeom>
          <a:ln>
            <a:noFill/>
          </a:ln>
        </p:spPr>
        <p:txBody>
          <a:bodyPr wrap="square" lIns="0" tIns="54864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78%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571875" y="1014413"/>
            <a:ext cx="2000250" cy="2157413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7144" algn="in">
            <a:solidFill>
              <a:srgbClr val="33415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44148" y="2536031"/>
            <a:ext cx="1141357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Penetration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864769" y="2707481"/>
            <a:ext cx="1414463" cy="2286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 of addressable market in North America region</a:t>
            </a:r>
            <a:endParaRPr lang="en-US" sz="731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00" y="1250156"/>
            <a:ext cx="1143000" cy="11430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00500" y="1250156"/>
            <a:ext cx="1143000" cy="1143000"/>
          </a:xfrm>
          <a:prstGeom prst="rect">
            <a:avLst/>
          </a:prstGeom>
          <a:ln>
            <a:noFill/>
          </a:ln>
        </p:spPr>
        <p:txBody>
          <a:bodyPr wrap="square" lIns="0" tIns="54864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45%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5857875" y="1014413"/>
            <a:ext cx="2000250" cy="2157413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7144" algn="in">
            <a:solidFill>
              <a:srgbClr val="33415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38448" y="2536031"/>
            <a:ext cx="924901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Uptime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6150769" y="2707481"/>
            <a:ext cx="1414463" cy="2286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availability across all production services</a:t>
            </a:r>
            <a:endParaRPr lang="en-US" sz="731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250156"/>
            <a:ext cx="1143000" cy="11430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86500" y="1250156"/>
            <a:ext cx="1143000" cy="1143000"/>
          </a:xfrm>
          <a:prstGeom prst="rect">
            <a:avLst/>
          </a:prstGeom>
          <a:ln>
            <a:noFill/>
          </a:ln>
        </p:spPr>
        <p:txBody>
          <a:bodyPr wrap="square" lIns="0" tIns="54864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1F5F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92%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428625" y="3429000"/>
            <a:ext cx="1964531" cy="542925"/>
          </a:xfrm>
          <a:prstGeom prst="roundRect">
            <a:avLst>
              <a:gd name="adj" fmla="val 13158"/>
            </a:avLst>
          </a:prstGeom>
          <a:solidFill>
            <a:srgbClr val="1E293B"/>
          </a:solidFill>
          <a:ln w="7144" algn="in">
            <a:solidFill>
              <a:srgbClr val="33415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78644" y="3550444"/>
            <a:ext cx="300038" cy="300038"/>
          </a:xfrm>
          <a:prstGeom prst="roundRect">
            <a:avLst>
              <a:gd name="adj" fmla="val 23809"/>
            </a:avLst>
          </a:prstGeom>
          <a:solidFill>
            <a:srgbClr val="3B82F6">
              <a:alpha val="15000"/>
            </a:srgbClr>
          </a:solidFill>
          <a:ln>
            <a:noFill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3600450"/>
            <a:ext cx="200025" cy="2000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78694" y="3554016"/>
            <a:ext cx="886468" cy="1785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1F5F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142ms</a:t>
            </a:r>
            <a:endParaRPr lang="en-US" sz="1125" dirty="0"/>
          </a:p>
        </p:txBody>
      </p:sp>
      <p:sp>
        <p:nvSpPr>
          <p:cNvPr id="23" name="Text 17"/>
          <p:cNvSpPr/>
          <p:nvPr/>
        </p:nvSpPr>
        <p:spPr>
          <a:xfrm>
            <a:off x="978694" y="3739753"/>
            <a:ext cx="886468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Response Time</a:t>
            </a:r>
            <a:endParaRPr lang="en-US" sz="675" dirty="0"/>
          </a:p>
        </p:txBody>
      </p:sp>
      <p:sp>
        <p:nvSpPr>
          <p:cNvPr id="24" name="Shape 18"/>
          <p:cNvSpPr/>
          <p:nvPr/>
        </p:nvSpPr>
        <p:spPr>
          <a:xfrm>
            <a:off x="2536031" y="3429000"/>
            <a:ext cx="1964531" cy="542925"/>
          </a:xfrm>
          <a:prstGeom prst="roundRect">
            <a:avLst>
              <a:gd name="adj" fmla="val 13158"/>
            </a:avLst>
          </a:prstGeom>
          <a:solidFill>
            <a:srgbClr val="1E293B"/>
          </a:solidFill>
          <a:ln w="7144" algn="in">
            <a:solidFill>
              <a:srgbClr val="33415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2686050" y="3550444"/>
            <a:ext cx="300038" cy="300038"/>
          </a:xfrm>
          <a:prstGeom prst="roundRect">
            <a:avLst>
              <a:gd name="adj" fmla="val 23809"/>
            </a:avLst>
          </a:prstGeom>
          <a:solidFill>
            <a:srgbClr val="F59E0B">
              <a:alpha val="15000"/>
            </a:srgbClr>
          </a:solidFill>
          <a:ln>
            <a:noFill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6056" y="3600450"/>
            <a:ext cx="200025" cy="2000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086100" y="3554016"/>
            <a:ext cx="697516" cy="1785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1F5F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3</a:t>
            </a:r>
            <a:endParaRPr lang="en-US" sz="1125" dirty="0"/>
          </a:p>
        </p:txBody>
      </p:sp>
      <p:sp>
        <p:nvSpPr>
          <p:cNvPr id="28" name="Text 21"/>
          <p:cNvSpPr/>
          <p:nvPr/>
        </p:nvSpPr>
        <p:spPr>
          <a:xfrm>
            <a:off x="3086100" y="3739753"/>
            <a:ext cx="69751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Incidents</a:t>
            </a:r>
            <a:endParaRPr lang="en-US" sz="675" dirty="0"/>
          </a:p>
        </p:txBody>
      </p:sp>
      <p:sp>
        <p:nvSpPr>
          <p:cNvPr id="29" name="Shape 22"/>
          <p:cNvSpPr/>
          <p:nvPr/>
        </p:nvSpPr>
        <p:spPr>
          <a:xfrm>
            <a:off x="4643438" y="3429000"/>
            <a:ext cx="1964531" cy="542925"/>
          </a:xfrm>
          <a:prstGeom prst="roundRect">
            <a:avLst>
              <a:gd name="adj" fmla="val 13158"/>
            </a:avLst>
          </a:prstGeom>
          <a:solidFill>
            <a:srgbClr val="1E293B"/>
          </a:solidFill>
          <a:ln w="7144" algn="in">
            <a:solidFill>
              <a:srgbClr val="334155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793456" y="3550444"/>
            <a:ext cx="300038" cy="300038"/>
          </a:xfrm>
          <a:prstGeom prst="roundRect">
            <a:avLst>
              <a:gd name="adj" fmla="val 23809"/>
            </a:avLst>
          </a:prstGeom>
          <a:solidFill>
            <a:srgbClr val="10B981">
              <a:alpha val="15000"/>
            </a:srgbClr>
          </a:solidFill>
          <a:ln>
            <a:noFill/>
          </a:ln>
        </p:spPr>
      </p:sp>
      <p:sp>
        <p:nvSpPr>
          <p:cNvPr id="31" name="Text 24"/>
          <p:cNvSpPr/>
          <p:nvPr/>
        </p:nvSpPr>
        <p:spPr>
          <a:xfrm>
            <a:off x="4793456" y="3550444"/>
            <a:ext cx="300038" cy="3000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125" dirty="0"/>
          </a:p>
        </p:txBody>
      </p:sp>
      <p:sp>
        <p:nvSpPr>
          <p:cNvPr id="32" name="Text 25"/>
          <p:cNvSpPr/>
          <p:nvPr/>
        </p:nvSpPr>
        <p:spPr>
          <a:xfrm>
            <a:off x="5193506" y="3554016"/>
            <a:ext cx="892540" cy="1785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1F5F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847</a:t>
            </a:r>
            <a:endParaRPr lang="en-US" sz="1125" dirty="0"/>
          </a:p>
        </p:txBody>
      </p:sp>
      <p:sp>
        <p:nvSpPr>
          <p:cNvPr id="33" name="Text 26"/>
          <p:cNvSpPr/>
          <p:nvPr/>
        </p:nvSpPr>
        <p:spPr>
          <a:xfrm>
            <a:off x="5193506" y="3739753"/>
            <a:ext cx="892540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Deploys This Month</a:t>
            </a:r>
            <a:endParaRPr lang="en-US" sz="675" dirty="0"/>
          </a:p>
        </p:txBody>
      </p:sp>
      <p:sp>
        <p:nvSpPr>
          <p:cNvPr id="34" name="Shape 27"/>
          <p:cNvSpPr/>
          <p:nvPr/>
        </p:nvSpPr>
        <p:spPr>
          <a:xfrm>
            <a:off x="6750844" y="3429000"/>
            <a:ext cx="1964531" cy="542925"/>
          </a:xfrm>
          <a:prstGeom prst="roundRect">
            <a:avLst>
              <a:gd name="adj" fmla="val 13158"/>
            </a:avLst>
          </a:prstGeom>
          <a:solidFill>
            <a:srgbClr val="1E293B"/>
          </a:solidFill>
          <a:ln w="7144" algn="in">
            <a:solidFill>
              <a:srgbClr val="334155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900863" y="3550444"/>
            <a:ext cx="300038" cy="300038"/>
          </a:xfrm>
          <a:prstGeom prst="roundRect">
            <a:avLst>
              <a:gd name="adj" fmla="val 23809"/>
            </a:avLst>
          </a:prstGeom>
          <a:solidFill>
            <a:srgbClr val="8B5CF6">
              <a:alpha val="15000"/>
            </a:srgbClr>
          </a:solidFill>
          <a:ln>
            <a:noFill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50869" y="3600450"/>
            <a:ext cx="200025" cy="200025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300913" y="3554016"/>
            <a:ext cx="704588" cy="1785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1F5F9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99.97%</a:t>
            </a:r>
            <a:endParaRPr lang="en-US" sz="1125" dirty="0"/>
          </a:p>
        </p:txBody>
      </p:sp>
      <p:sp>
        <p:nvSpPr>
          <p:cNvPr id="38" name="Text 30"/>
          <p:cNvSpPr/>
          <p:nvPr/>
        </p:nvSpPr>
        <p:spPr>
          <a:xfrm>
            <a:off x="7300913" y="3739753"/>
            <a:ext cx="704588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Error-Free Rate</a:t>
            </a:r>
            <a:endParaRPr lang="en-US" sz="6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D_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FF6FF"/>
              </a:gs>
              <a:gs pos="100000">
                <a:srgbClr val="F0F9FF"/>
              </a:gs>
            </a:gsLst>
            <a:lin ang="2700000" scaled="0"/>
          </a:gradFill>
          <a:ln>
            <a:noFill/>
          </a:ln>
        </p:spPr>
      </p:sp>
      <p:sp>
        <p:nvSpPr>
          <p:cNvPr id="3" name="GRAD_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EFF6FF"/>
              </a:gs>
              <a:gs pos="100000">
                <a:srgbClr val="F0F9FF"/>
              </a:gs>
            </a:gsLst>
            <a:lin ang="2700000" scaled="0"/>
          </a:gradFill>
          <a:ln>
            <a:noFill/>
          </a:ln>
        </p:spPr>
      </p:sp>
      <p:sp>
        <p:nvSpPr>
          <p:cNvPr id="4" name="Text 2"/>
          <p:cNvSpPr/>
          <p:nvPr/>
        </p:nvSpPr>
        <p:spPr>
          <a:xfrm>
            <a:off x="3845123" y="342900"/>
            <a:ext cx="1539478" cy="2928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13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Process</a:t>
            </a:r>
            <a:endParaRPr lang="en-US" sz="1913" dirty="0"/>
          </a:p>
        </p:txBody>
      </p:sp>
      <p:sp>
        <p:nvSpPr>
          <p:cNvPr id="5" name="Text 3"/>
          <p:cNvSpPr/>
          <p:nvPr/>
        </p:nvSpPr>
        <p:spPr>
          <a:xfrm>
            <a:off x="3621667" y="678656"/>
            <a:ext cx="1986391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simple steps from idea to launch</a:t>
            </a:r>
            <a:endParaRPr lang="en-US" sz="844" dirty="0"/>
          </a:p>
        </p:txBody>
      </p:sp>
      <p:sp>
        <p:nvSpPr>
          <p:cNvPr id="6" name="Shape 4"/>
          <p:cNvSpPr/>
          <p:nvPr/>
        </p:nvSpPr>
        <p:spPr>
          <a:xfrm>
            <a:off x="400050" y="3143107"/>
            <a:ext cx="2085975" cy="42863"/>
          </a:xfrm>
          <a:prstGeom prst="roundRect">
            <a:avLst>
              <a:gd name="adj" fmla="val 49999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2486025" y="3143107"/>
            <a:ext cx="2085975" cy="42863"/>
          </a:xfrm>
          <a:prstGeom prst="roundRect">
            <a:avLst>
              <a:gd name="adj" fmla="val 49999"/>
            </a:avLst>
          </a:prstGeom>
          <a:solidFill>
            <a:srgbClr val="60A5FA"/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4572000" y="3143107"/>
            <a:ext cx="2085975" cy="42863"/>
          </a:xfrm>
          <a:prstGeom prst="roundRect">
            <a:avLst>
              <a:gd name="adj" fmla="val 49999"/>
            </a:avLst>
          </a:prstGeom>
          <a:solidFill>
            <a:srgbClr val="93C5FD"/>
          </a:solidFill>
          <a:ln>
            <a:noFill/>
          </a:ln>
        </p:spPr>
      </p:sp>
      <p:sp>
        <p:nvSpPr>
          <p:cNvPr id="9" name="Shape 7"/>
          <p:cNvSpPr/>
          <p:nvPr/>
        </p:nvSpPr>
        <p:spPr>
          <a:xfrm>
            <a:off x="6657975" y="3143107"/>
            <a:ext cx="2085975" cy="42863"/>
          </a:xfrm>
          <a:prstGeom prst="roundRect">
            <a:avLst>
              <a:gd name="adj" fmla="val 49999"/>
            </a:avLst>
          </a:prstGeom>
          <a:solidFill>
            <a:srgbClr val="BFDBFE"/>
          </a:solidFill>
          <a:ln>
            <a:noFill/>
          </a:ln>
        </p:spPr>
      </p:sp>
      <p:sp>
        <p:nvSpPr>
          <p:cNvPr id="10" name="Text 8"/>
          <p:cNvSpPr/>
          <p:nvPr/>
        </p:nvSpPr>
        <p:spPr>
          <a:xfrm>
            <a:off x="400050" y="3228832"/>
            <a:ext cx="2085975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1-2</a:t>
            </a:r>
            <a:endParaRPr lang="en-US" sz="619" dirty="0"/>
          </a:p>
        </p:txBody>
      </p:sp>
      <p:sp>
        <p:nvSpPr>
          <p:cNvPr id="11" name="Text 9"/>
          <p:cNvSpPr/>
          <p:nvPr/>
        </p:nvSpPr>
        <p:spPr>
          <a:xfrm>
            <a:off x="2486025" y="3228832"/>
            <a:ext cx="2085975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3-5</a:t>
            </a:r>
            <a:endParaRPr lang="en-US" sz="619" dirty="0"/>
          </a:p>
        </p:txBody>
      </p:sp>
      <p:sp>
        <p:nvSpPr>
          <p:cNvPr id="12" name="Text 10"/>
          <p:cNvSpPr/>
          <p:nvPr/>
        </p:nvSpPr>
        <p:spPr>
          <a:xfrm>
            <a:off x="4572000" y="3228832"/>
            <a:ext cx="2085975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Weeks 6-10</a:t>
            </a:r>
            <a:endParaRPr lang="en-US" sz="619" dirty="0"/>
          </a:p>
        </p:txBody>
      </p:sp>
      <p:sp>
        <p:nvSpPr>
          <p:cNvPr id="13" name="Text 11"/>
          <p:cNvSpPr/>
          <p:nvPr/>
        </p:nvSpPr>
        <p:spPr>
          <a:xfrm>
            <a:off x="6657975" y="3228832"/>
            <a:ext cx="2085975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11-12</a:t>
            </a:r>
            <a:endParaRPr lang="en-US" sz="619" dirty="0"/>
          </a:p>
        </p:txBody>
      </p:sp>
      <p:sp>
        <p:nvSpPr>
          <p:cNvPr id="14" name="Shape 12"/>
          <p:cNvSpPr/>
          <p:nvPr/>
        </p:nvSpPr>
        <p:spPr>
          <a:xfrm>
            <a:off x="2528888" y="1746647"/>
            <a:ext cx="171450" cy="21431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5" name="Shape 13"/>
          <p:cNvSpPr/>
          <p:nvPr/>
        </p:nvSpPr>
        <p:spPr>
          <a:xfrm>
            <a:off x="2528888" y="1757363"/>
            <a:ext cx="171450" cy="0"/>
          </a:xfrm>
          <a:prstGeom prst="line">
            <a:avLst/>
          </a:prstGeom>
          <a:noFill/>
          <a:ln w="21431" algn="in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2686050" y="1714500"/>
            <a:ext cx="114300" cy="85725"/>
          </a:xfrm>
          <a:prstGeom prst="triangle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7" name="Shape 15"/>
          <p:cNvSpPr/>
          <p:nvPr/>
        </p:nvSpPr>
        <p:spPr>
          <a:xfrm>
            <a:off x="4443413" y="1746647"/>
            <a:ext cx="171450" cy="21431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8" name="Shape 16"/>
          <p:cNvSpPr/>
          <p:nvPr/>
        </p:nvSpPr>
        <p:spPr>
          <a:xfrm>
            <a:off x="4443413" y="1757363"/>
            <a:ext cx="171450" cy="0"/>
          </a:xfrm>
          <a:prstGeom prst="line">
            <a:avLst/>
          </a:prstGeom>
          <a:noFill/>
          <a:ln w="21431" algn="in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5400000">
            <a:off x="4600575" y="1714500"/>
            <a:ext cx="114300" cy="85725"/>
          </a:xfrm>
          <a:prstGeom prst="triangle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0" name="Shape 18"/>
          <p:cNvSpPr/>
          <p:nvPr/>
        </p:nvSpPr>
        <p:spPr>
          <a:xfrm>
            <a:off x="6357938" y="1746647"/>
            <a:ext cx="171450" cy="21431"/>
          </a:xfrm>
          <a:prstGeom prst="rect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1" name="Shape 19"/>
          <p:cNvSpPr/>
          <p:nvPr/>
        </p:nvSpPr>
        <p:spPr>
          <a:xfrm>
            <a:off x="6357938" y="1757363"/>
            <a:ext cx="171450" cy="0"/>
          </a:xfrm>
          <a:prstGeom prst="line">
            <a:avLst/>
          </a:prstGeom>
          <a:noFill/>
          <a:ln w="21431" algn="in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5400000">
            <a:off x="6515100" y="1714500"/>
            <a:ext cx="114300" cy="85725"/>
          </a:xfrm>
          <a:prstGeom prst="triangle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3" name="Shape 21"/>
          <p:cNvSpPr/>
          <p:nvPr/>
        </p:nvSpPr>
        <p:spPr>
          <a:xfrm>
            <a:off x="914400" y="1128713"/>
            <a:ext cx="1571625" cy="1608701"/>
          </a:xfrm>
          <a:prstGeom prst="roundRect">
            <a:avLst>
              <a:gd name="adj" fmla="val 5455"/>
            </a:avLst>
          </a:prstGeom>
          <a:solidFill>
            <a:srgbClr val="3B82F6"/>
          </a:solidFill>
          <a:ln w="7144" algn="in">
            <a:solidFill>
              <a:srgbClr val="3B82F6"/>
            </a:solidFill>
            <a:prstDash val="solid"/>
          </a:ln>
          <a:effectLst>
            <a:outerShdw sx="100000" sy="100000" kx="0" ky="0" algn="bl" rotWithShape="0" blurRad="114300" dist="28575" dir="54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64419" y="1393031"/>
            <a:ext cx="1357313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</a:t>
            </a:r>
            <a:endParaRPr lang="en-US" sz="956" dirty="0"/>
          </a:p>
        </p:txBody>
      </p:sp>
      <p:sp>
        <p:nvSpPr>
          <p:cNvPr id="25" name="Text 23"/>
          <p:cNvSpPr/>
          <p:nvPr/>
        </p:nvSpPr>
        <p:spPr>
          <a:xfrm>
            <a:off x="1064419" y="1593056"/>
            <a:ext cx="1271588" cy="59428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731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dive into requirements, stakeholder interviews, and competitive analysis to define the problem space.</a:t>
            </a:r>
            <a:endParaRPr lang="en-US" sz="731" dirty="0"/>
          </a:p>
        </p:txBody>
      </p:sp>
      <p:sp>
        <p:nvSpPr>
          <p:cNvPr id="26" name="Shape 24"/>
          <p:cNvSpPr/>
          <p:nvPr/>
        </p:nvSpPr>
        <p:spPr>
          <a:xfrm>
            <a:off x="1064419" y="2273070"/>
            <a:ext cx="433769" cy="128588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27" name="Text 25"/>
          <p:cNvSpPr/>
          <p:nvPr/>
        </p:nvSpPr>
        <p:spPr>
          <a:xfrm>
            <a:off x="1050131" y="2273070"/>
            <a:ext cx="462344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Research</a:t>
            </a:r>
            <a:endParaRPr lang="en-US" sz="563" dirty="0"/>
          </a:p>
        </p:txBody>
      </p:sp>
      <p:sp>
        <p:nvSpPr>
          <p:cNvPr id="28" name="Shape 26"/>
          <p:cNvSpPr/>
          <p:nvPr/>
        </p:nvSpPr>
        <p:spPr>
          <a:xfrm>
            <a:off x="1526762" y="2273070"/>
            <a:ext cx="468701" cy="128588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29" name="Text 27"/>
          <p:cNvSpPr/>
          <p:nvPr/>
        </p:nvSpPr>
        <p:spPr>
          <a:xfrm>
            <a:off x="1512475" y="2273070"/>
            <a:ext cx="497276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Interviews</a:t>
            </a:r>
            <a:endParaRPr lang="en-US" sz="563" dirty="0"/>
          </a:p>
        </p:txBody>
      </p:sp>
      <p:sp>
        <p:nvSpPr>
          <p:cNvPr id="30" name="Shape 28"/>
          <p:cNvSpPr/>
          <p:nvPr/>
        </p:nvSpPr>
        <p:spPr>
          <a:xfrm>
            <a:off x="1064419" y="2430232"/>
            <a:ext cx="403050" cy="128588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31" name="Text 29"/>
          <p:cNvSpPr/>
          <p:nvPr/>
        </p:nvSpPr>
        <p:spPr>
          <a:xfrm>
            <a:off x="978694" y="2430232"/>
            <a:ext cx="574500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</a:t>
            </a:r>
            <a:endParaRPr lang="en-US" sz="563" dirty="0"/>
          </a:p>
        </p:txBody>
      </p:sp>
      <p:sp>
        <p:nvSpPr>
          <p:cNvPr id="32" name="Shape 30"/>
          <p:cNvSpPr/>
          <p:nvPr/>
        </p:nvSpPr>
        <p:spPr>
          <a:xfrm>
            <a:off x="1064419" y="1021556"/>
            <a:ext cx="257175" cy="257175"/>
          </a:xfrm>
          <a:prstGeom prst="ellipse">
            <a:avLst/>
          </a:prstGeom>
          <a:solidFill>
            <a:srgbClr val="1D4ED8"/>
          </a:solidFill>
          <a:ln>
            <a:noFill/>
          </a:ln>
          <a:effectLst>
            <a:outerShdw sx="100000" sy="100000" kx="0" ky="0" algn="bl" rotWithShape="0" blurRad="57150" dist="14288" dir="540000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064419" y="1021556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27432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828925" y="1128713"/>
            <a:ext cx="1571625" cy="1757220"/>
          </a:xfrm>
          <a:prstGeom prst="roundRect">
            <a:avLst>
              <a:gd name="adj" fmla="val 5455"/>
            </a:avLst>
          </a:prstGeom>
          <a:solidFill>
            <a:srgbClr val="3B82F6"/>
          </a:solidFill>
          <a:ln w="7144" algn="in">
            <a:solidFill>
              <a:srgbClr val="3B82F6"/>
            </a:solidFill>
            <a:prstDash val="solid"/>
          </a:ln>
          <a:effectLst>
            <a:outerShdw sx="100000" sy="100000" kx="0" ky="0" algn="bl" rotWithShape="0" blurRad="114300" dist="28575" dir="5400000">
              <a:srgbClr val="000000">
                <a:alpha val="6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2978944" y="1393031"/>
            <a:ext cx="1357313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</a:t>
            </a:r>
            <a:endParaRPr lang="en-US" sz="956" dirty="0"/>
          </a:p>
        </p:txBody>
      </p:sp>
      <p:sp>
        <p:nvSpPr>
          <p:cNvPr id="36" name="Text 34"/>
          <p:cNvSpPr/>
          <p:nvPr/>
        </p:nvSpPr>
        <p:spPr>
          <a:xfrm>
            <a:off x="2978944" y="1593056"/>
            <a:ext cx="1271588" cy="742807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731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wireframes, prototypes, and design specs. Validate with user testing before development begins.</a:t>
            </a:r>
            <a:endParaRPr lang="en-US" sz="731" dirty="0"/>
          </a:p>
        </p:txBody>
      </p:sp>
      <p:sp>
        <p:nvSpPr>
          <p:cNvPr id="37" name="Shape 35"/>
          <p:cNvSpPr/>
          <p:nvPr/>
        </p:nvSpPr>
        <p:spPr>
          <a:xfrm>
            <a:off x="2978944" y="2421588"/>
            <a:ext cx="511135" cy="128588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38" name="Text 36"/>
          <p:cNvSpPr/>
          <p:nvPr/>
        </p:nvSpPr>
        <p:spPr>
          <a:xfrm>
            <a:off x="2964656" y="2421588"/>
            <a:ext cx="539710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Wireframes</a:t>
            </a:r>
            <a:endParaRPr lang="en-US" sz="563" dirty="0"/>
          </a:p>
        </p:txBody>
      </p:sp>
      <p:sp>
        <p:nvSpPr>
          <p:cNvPr id="39" name="Shape 37"/>
          <p:cNvSpPr/>
          <p:nvPr/>
        </p:nvSpPr>
        <p:spPr>
          <a:xfrm>
            <a:off x="3518654" y="2421588"/>
            <a:ext cx="487775" cy="128588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40" name="Text 38"/>
          <p:cNvSpPr/>
          <p:nvPr/>
        </p:nvSpPr>
        <p:spPr>
          <a:xfrm>
            <a:off x="3504367" y="2421588"/>
            <a:ext cx="516350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Prototypes</a:t>
            </a:r>
            <a:endParaRPr lang="en-US" sz="563" dirty="0"/>
          </a:p>
        </p:txBody>
      </p:sp>
      <p:sp>
        <p:nvSpPr>
          <p:cNvPr id="41" name="Shape 39"/>
          <p:cNvSpPr/>
          <p:nvPr/>
        </p:nvSpPr>
        <p:spPr>
          <a:xfrm>
            <a:off x="2978944" y="2578751"/>
            <a:ext cx="365474" cy="128588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42" name="Text 40"/>
          <p:cNvSpPr/>
          <p:nvPr/>
        </p:nvSpPr>
        <p:spPr>
          <a:xfrm>
            <a:off x="2893219" y="2578751"/>
            <a:ext cx="536924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</a:t>
            </a:r>
            <a:endParaRPr lang="en-US" sz="563" dirty="0"/>
          </a:p>
        </p:txBody>
      </p:sp>
      <p:sp>
        <p:nvSpPr>
          <p:cNvPr id="43" name="Shape 41"/>
          <p:cNvSpPr/>
          <p:nvPr/>
        </p:nvSpPr>
        <p:spPr>
          <a:xfrm>
            <a:off x="2978944" y="1021556"/>
            <a:ext cx="257175" cy="257175"/>
          </a:xfrm>
          <a:prstGeom prst="ellipse">
            <a:avLst/>
          </a:prstGeom>
          <a:solidFill>
            <a:srgbClr val="1D4ED8"/>
          </a:solidFill>
          <a:ln>
            <a:noFill/>
          </a:ln>
          <a:effectLst>
            <a:outerShdw sx="100000" sy="100000" kx="0" ky="0" algn="bl" rotWithShape="0" blurRad="57150" dist="14288" dir="5400000">
              <a:srgbClr val="000000">
                <a:alpha val="1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978944" y="1021556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27432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43450" y="1128713"/>
            <a:ext cx="1571625" cy="1600057"/>
          </a:xfrm>
          <a:prstGeom prst="roundRect">
            <a:avLst>
              <a:gd name="adj" fmla="val 5455"/>
            </a:avLst>
          </a:prstGeom>
          <a:solidFill>
            <a:srgbClr val="3B82F6"/>
          </a:solidFill>
          <a:ln w="7144" algn="in">
            <a:solidFill>
              <a:srgbClr val="3B82F6"/>
            </a:solidFill>
            <a:prstDash val="solid"/>
          </a:ln>
          <a:effectLst>
            <a:outerShdw sx="100000" sy="100000" kx="0" ky="0" algn="bl" rotWithShape="0" blurRad="114300" dist="28575" dir="5400000">
              <a:srgbClr val="000000">
                <a:alpha val="6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893469" y="1393031"/>
            <a:ext cx="1357313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</a:t>
            </a:r>
            <a:endParaRPr lang="en-US" sz="956" dirty="0"/>
          </a:p>
        </p:txBody>
      </p:sp>
      <p:sp>
        <p:nvSpPr>
          <p:cNvPr id="47" name="Text 45"/>
          <p:cNvSpPr/>
          <p:nvPr/>
        </p:nvSpPr>
        <p:spPr>
          <a:xfrm>
            <a:off x="4893469" y="1593056"/>
            <a:ext cx="1271588" cy="742807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731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Agile sprints with CI/CD pipeline. Code review, automated testing, and staging deployments every week.</a:t>
            </a:r>
            <a:endParaRPr lang="en-US" sz="731" dirty="0"/>
          </a:p>
        </p:txBody>
      </p:sp>
      <p:sp>
        <p:nvSpPr>
          <p:cNvPr id="48" name="Shape 46"/>
          <p:cNvSpPr/>
          <p:nvPr/>
        </p:nvSpPr>
        <p:spPr>
          <a:xfrm>
            <a:off x="4893469" y="2421588"/>
            <a:ext cx="355973" cy="128588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49" name="Text 47"/>
          <p:cNvSpPr/>
          <p:nvPr/>
        </p:nvSpPr>
        <p:spPr>
          <a:xfrm>
            <a:off x="4879181" y="2421588"/>
            <a:ext cx="384548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Sprints</a:t>
            </a:r>
            <a:endParaRPr lang="en-US" sz="563" dirty="0"/>
          </a:p>
        </p:txBody>
      </p:sp>
      <p:sp>
        <p:nvSpPr>
          <p:cNvPr id="50" name="Shape 48"/>
          <p:cNvSpPr/>
          <p:nvPr/>
        </p:nvSpPr>
        <p:spPr>
          <a:xfrm>
            <a:off x="5278017" y="2421588"/>
            <a:ext cx="316540" cy="128588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51" name="Text 49"/>
          <p:cNvSpPr/>
          <p:nvPr/>
        </p:nvSpPr>
        <p:spPr>
          <a:xfrm>
            <a:off x="5263729" y="2421588"/>
            <a:ext cx="345115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CI/CD</a:t>
            </a:r>
            <a:endParaRPr lang="en-US" sz="563" dirty="0"/>
          </a:p>
        </p:txBody>
      </p:sp>
      <p:sp>
        <p:nvSpPr>
          <p:cNvPr id="52" name="Shape 50"/>
          <p:cNvSpPr/>
          <p:nvPr/>
        </p:nvSpPr>
        <p:spPr>
          <a:xfrm>
            <a:off x="5623131" y="2421588"/>
            <a:ext cx="217313" cy="128588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53" name="Text 51"/>
          <p:cNvSpPr/>
          <p:nvPr/>
        </p:nvSpPr>
        <p:spPr>
          <a:xfrm>
            <a:off x="5608844" y="2421588"/>
            <a:ext cx="245888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</a:t>
            </a:r>
            <a:endParaRPr lang="en-US" sz="563" dirty="0"/>
          </a:p>
        </p:txBody>
      </p:sp>
      <p:sp>
        <p:nvSpPr>
          <p:cNvPr id="54" name="Shape 52"/>
          <p:cNvSpPr/>
          <p:nvPr/>
        </p:nvSpPr>
        <p:spPr>
          <a:xfrm>
            <a:off x="4893469" y="1021556"/>
            <a:ext cx="257175" cy="257175"/>
          </a:xfrm>
          <a:prstGeom prst="ellipse">
            <a:avLst/>
          </a:prstGeom>
          <a:solidFill>
            <a:srgbClr val="1D4ED8"/>
          </a:solidFill>
          <a:ln>
            <a:noFill/>
          </a:ln>
          <a:effectLst>
            <a:outerShdw sx="100000" sy="100000" kx="0" ky="0" algn="bl" rotWithShape="0" blurRad="57150" dist="14288" dir="5400000">
              <a:srgbClr val="000000">
                <a:alpha val="1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893469" y="1021556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27432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657975" y="1128713"/>
            <a:ext cx="1571625" cy="1757220"/>
          </a:xfrm>
          <a:prstGeom prst="roundRect">
            <a:avLst>
              <a:gd name="adj" fmla="val 5455"/>
            </a:avLst>
          </a:prstGeom>
          <a:solidFill>
            <a:srgbClr val="3B82F6"/>
          </a:solidFill>
          <a:ln w="7144" algn="in">
            <a:solidFill>
              <a:srgbClr val="3B82F6"/>
            </a:solidFill>
            <a:prstDash val="solid"/>
          </a:ln>
          <a:effectLst>
            <a:outerShdw sx="100000" sy="100000" kx="0" ky="0" algn="bl" rotWithShape="0" blurRad="114300" dist="28575" dir="5400000">
              <a:srgbClr val="000000">
                <a:alpha val="6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6807994" y="1393031"/>
            <a:ext cx="1357313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</a:t>
            </a:r>
            <a:endParaRPr lang="en-US" sz="956" dirty="0"/>
          </a:p>
        </p:txBody>
      </p:sp>
      <p:sp>
        <p:nvSpPr>
          <p:cNvPr id="58" name="Text 56"/>
          <p:cNvSpPr/>
          <p:nvPr/>
        </p:nvSpPr>
        <p:spPr>
          <a:xfrm>
            <a:off x="6807994" y="1593056"/>
            <a:ext cx="1271588" cy="742807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731" dirty="0">
                <a:solidFill>
                  <a:srgbClr val="BFDB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Phased rollout with feature flags, monitoring dashboards, and rapid incident response playbooks.</a:t>
            </a:r>
            <a:endParaRPr lang="en-US" sz="731" dirty="0"/>
          </a:p>
        </p:txBody>
      </p:sp>
      <p:sp>
        <p:nvSpPr>
          <p:cNvPr id="59" name="Shape 57"/>
          <p:cNvSpPr/>
          <p:nvPr/>
        </p:nvSpPr>
        <p:spPr>
          <a:xfrm>
            <a:off x="6807994" y="2421588"/>
            <a:ext cx="349258" cy="128588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60" name="Text 58"/>
          <p:cNvSpPr/>
          <p:nvPr/>
        </p:nvSpPr>
        <p:spPr>
          <a:xfrm>
            <a:off x="6793706" y="2421588"/>
            <a:ext cx="377833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Rollout</a:t>
            </a:r>
            <a:endParaRPr lang="en-US" sz="563" dirty="0"/>
          </a:p>
        </p:txBody>
      </p:sp>
      <p:sp>
        <p:nvSpPr>
          <p:cNvPr id="61" name="Shape 59"/>
          <p:cNvSpPr/>
          <p:nvPr/>
        </p:nvSpPr>
        <p:spPr>
          <a:xfrm>
            <a:off x="7185827" y="2421588"/>
            <a:ext cx="483846" cy="128588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62" name="Text 60"/>
          <p:cNvSpPr/>
          <p:nvPr/>
        </p:nvSpPr>
        <p:spPr>
          <a:xfrm>
            <a:off x="7171539" y="2421588"/>
            <a:ext cx="512421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Monitoring</a:t>
            </a:r>
            <a:endParaRPr lang="en-US" sz="563" dirty="0"/>
          </a:p>
        </p:txBody>
      </p:sp>
      <p:sp>
        <p:nvSpPr>
          <p:cNvPr id="63" name="Shape 61"/>
          <p:cNvSpPr/>
          <p:nvPr/>
        </p:nvSpPr>
        <p:spPr>
          <a:xfrm>
            <a:off x="6807994" y="2578751"/>
            <a:ext cx="388120" cy="128588"/>
          </a:xfrm>
          <a:prstGeom prst="roundRect">
            <a:avLst>
              <a:gd name="adj" fmla="val 33333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64" name="Text 62"/>
          <p:cNvSpPr/>
          <p:nvPr/>
        </p:nvSpPr>
        <p:spPr>
          <a:xfrm>
            <a:off x="6722269" y="2578751"/>
            <a:ext cx="559570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</a:t>
            </a:r>
            <a:endParaRPr lang="en-US" sz="563" dirty="0"/>
          </a:p>
        </p:txBody>
      </p:sp>
      <p:sp>
        <p:nvSpPr>
          <p:cNvPr id="65" name="Shape 63"/>
          <p:cNvSpPr/>
          <p:nvPr/>
        </p:nvSpPr>
        <p:spPr>
          <a:xfrm>
            <a:off x="6807994" y="1021556"/>
            <a:ext cx="257175" cy="257175"/>
          </a:xfrm>
          <a:prstGeom prst="ellipse">
            <a:avLst/>
          </a:prstGeom>
          <a:solidFill>
            <a:srgbClr val="1D4ED8"/>
          </a:solidFill>
          <a:ln>
            <a:noFill/>
          </a:ln>
          <a:effectLst>
            <a:outerShdw sx="100000" sy="100000" kx="0" ky="0" algn="bl" rotWithShape="0" blurRad="57150" dist="14288" dir="5400000">
              <a:srgbClr val="000000">
                <a:alpha val="15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6807994" y="1021556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27432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0" y="450056"/>
            <a:ext cx="9144000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" name="Text 2"/>
          <p:cNvSpPr/>
          <p:nvPr/>
        </p:nvSpPr>
        <p:spPr>
          <a:xfrm>
            <a:off x="342900" y="117872"/>
            <a:ext cx="1331166" cy="2143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E29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Daily Insight</a:t>
            </a:r>
            <a:endParaRPr lang="en-US" sz="1238" dirty="0"/>
          </a:p>
        </p:txBody>
      </p:sp>
      <p:sp>
        <p:nvSpPr>
          <p:cNvPr id="5" name="Shape 3"/>
          <p:cNvSpPr/>
          <p:nvPr/>
        </p:nvSpPr>
        <p:spPr>
          <a:xfrm>
            <a:off x="3489865" y="150019"/>
            <a:ext cx="282535" cy="1500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3489865" y="285750"/>
            <a:ext cx="282535" cy="14288"/>
          </a:xfrm>
          <a:prstGeom prst="rect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7" name="Text 5"/>
          <p:cNvSpPr/>
          <p:nvPr/>
        </p:nvSpPr>
        <p:spPr>
          <a:xfrm>
            <a:off x="3489865" y="150019"/>
            <a:ext cx="368260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u="sng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Home</a:t>
            </a:r>
            <a:endParaRPr lang="en-US" sz="788" dirty="0"/>
          </a:p>
        </p:txBody>
      </p:sp>
      <p:sp>
        <p:nvSpPr>
          <p:cNvPr id="8" name="Text 6"/>
          <p:cNvSpPr/>
          <p:nvPr/>
        </p:nvSpPr>
        <p:spPr>
          <a:xfrm>
            <a:off x="3943779" y="150019"/>
            <a:ext cx="645652" cy="1500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</a:t>
            </a:r>
            <a:endParaRPr lang="en-US" sz="788" dirty="0"/>
          </a:p>
        </p:txBody>
      </p:sp>
      <p:sp>
        <p:nvSpPr>
          <p:cNvPr id="9" name="Text 7"/>
          <p:cNvSpPr/>
          <p:nvPr/>
        </p:nvSpPr>
        <p:spPr>
          <a:xfrm>
            <a:off x="4675156" y="150019"/>
            <a:ext cx="517350" cy="1500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</a:t>
            </a:r>
            <a:endParaRPr lang="en-US" sz="788" dirty="0"/>
          </a:p>
        </p:txBody>
      </p:sp>
      <p:sp>
        <p:nvSpPr>
          <p:cNvPr id="10" name="Text 8"/>
          <p:cNvSpPr/>
          <p:nvPr/>
        </p:nvSpPr>
        <p:spPr>
          <a:xfrm>
            <a:off x="5278231" y="150019"/>
            <a:ext cx="417909" cy="1500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</a:t>
            </a:r>
            <a:endParaRPr lang="en-US" sz="788" dirty="0"/>
          </a:p>
        </p:txBody>
      </p:sp>
      <p:sp>
        <p:nvSpPr>
          <p:cNvPr id="11" name="Text 9"/>
          <p:cNvSpPr/>
          <p:nvPr/>
        </p:nvSpPr>
        <p:spPr>
          <a:xfrm>
            <a:off x="5781866" y="150019"/>
            <a:ext cx="468701" cy="1500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</a:t>
            </a:r>
            <a:endParaRPr lang="en-US" sz="788" dirty="0"/>
          </a:p>
        </p:txBody>
      </p:sp>
      <p:sp>
        <p:nvSpPr>
          <p:cNvPr id="12" name="Shape 10"/>
          <p:cNvSpPr/>
          <p:nvPr/>
        </p:nvSpPr>
        <p:spPr>
          <a:xfrm>
            <a:off x="8066294" y="114300"/>
            <a:ext cx="734806" cy="221456"/>
          </a:xfrm>
          <a:prstGeom prst="roundRect">
            <a:avLst>
              <a:gd name="adj" fmla="val 25806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13" name="Text 11"/>
          <p:cNvSpPr/>
          <p:nvPr/>
        </p:nvSpPr>
        <p:spPr>
          <a:xfrm>
            <a:off x="7916275" y="114300"/>
            <a:ext cx="1034844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</a:t>
            </a:r>
            <a:endParaRPr lang="en-US" sz="731" dirty="0"/>
          </a:p>
        </p:txBody>
      </p:sp>
      <p:sp>
        <p:nvSpPr>
          <p:cNvPr id="14" name="Text 12"/>
          <p:cNvSpPr/>
          <p:nvPr/>
        </p:nvSpPr>
        <p:spPr>
          <a:xfrm>
            <a:off x="342900" y="2828925"/>
            <a:ext cx="4704945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ARTIFICIAL INTELLIGENCE</a:t>
            </a:r>
            <a:endParaRPr lang="en-US" sz="675" dirty="0"/>
          </a:p>
        </p:txBody>
      </p:sp>
      <p:sp>
        <p:nvSpPr>
          <p:cNvPr id="15" name="Text 13"/>
          <p:cNvSpPr/>
          <p:nvPr/>
        </p:nvSpPr>
        <p:spPr>
          <a:xfrm>
            <a:off x="342900" y="2993231"/>
            <a:ext cx="4619220" cy="519922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1575" b="1" dirty="0">
                <a:solidFill>
                  <a:srgbClr val="1E293B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Next Frontier: How Multimodal AI Is Reshaping Creative Industries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342900" y="3584591"/>
            <a:ext cx="4619220" cy="47984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generative design tools to AI co-pilots for filmmakers, the convergence of vision, language, and audio models is creating entirely new creative workflows that were unimaginable two years ago.</a:t>
            </a:r>
            <a:endParaRPr lang="en-US" sz="788" dirty="0"/>
          </a:p>
        </p:txBody>
      </p:sp>
      <p:sp>
        <p:nvSpPr>
          <p:cNvPr id="17" name="Text 15"/>
          <p:cNvSpPr/>
          <p:nvPr/>
        </p:nvSpPr>
        <p:spPr>
          <a:xfrm>
            <a:off x="342900" y="4164449"/>
            <a:ext cx="774740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Sarah Mitchell</a:t>
            </a:r>
            <a:endParaRPr lang="en-US" sz="675" dirty="0"/>
          </a:p>
        </p:txBody>
      </p:sp>
      <p:sp>
        <p:nvSpPr>
          <p:cNvPr id="18" name="Shape 16"/>
          <p:cNvSpPr/>
          <p:nvPr/>
        </p:nvSpPr>
        <p:spPr>
          <a:xfrm>
            <a:off x="1131927" y="4203740"/>
            <a:ext cx="28575" cy="28575"/>
          </a:xfrm>
          <a:prstGeom prst="ellipse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9" name="Text 17"/>
          <p:cNvSpPr/>
          <p:nvPr/>
        </p:nvSpPr>
        <p:spPr>
          <a:xfrm>
            <a:off x="1246227" y="4164449"/>
            <a:ext cx="629650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 12, 2026</a:t>
            </a:r>
            <a:endParaRPr lang="en-US" sz="675" dirty="0"/>
          </a:p>
        </p:txBody>
      </p:sp>
      <p:sp>
        <p:nvSpPr>
          <p:cNvPr id="20" name="Shape 18"/>
          <p:cNvSpPr/>
          <p:nvPr/>
        </p:nvSpPr>
        <p:spPr>
          <a:xfrm>
            <a:off x="1890165" y="4203740"/>
            <a:ext cx="28575" cy="28575"/>
          </a:xfrm>
          <a:prstGeom prst="ellipse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21" name="Text 19"/>
          <p:cNvSpPr/>
          <p:nvPr/>
        </p:nvSpPr>
        <p:spPr>
          <a:xfrm>
            <a:off x="2004465" y="4164449"/>
            <a:ext cx="515779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min read</a:t>
            </a:r>
            <a:endParaRPr lang="en-US" sz="675" dirty="0"/>
          </a:p>
        </p:txBody>
      </p:sp>
      <p:sp>
        <p:nvSpPr>
          <p:cNvPr id="22" name="GRAD_24"/>
          <p:cNvSpPr/>
          <p:nvPr/>
        </p:nvSpPr>
        <p:spPr>
          <a:xfrm>
            <a:off x="342900" y="685800"/>
            <a:ext cx="4619220" cy="2000250"/>
          </a:xfrm>
          <a:prstGeom prst="roundRect">
            <a:avLst>
              <a:gd name="adj" fmla="val 4286"/>
            </a:avLst>
          </a:prstGeom>
          <a:gradFill rotWithShape="1">
            <a:gsLst>
              <a:gs pos="0">
                <a:srgbClr val="E0E7FF"/>
              </a:gs>
              <a:gs pos="50000">
                <a:srgbClr val="C7D2FE"/>
              </a:gs>
              <a:gs pos="100000">
                <a:srgbClr val="A5B4FC"/>
              </a:gs>
            </a:gsLst>
            <a:lin ang="2700000" scaled="0"/>
          </a:gradFill>
          <a:ln>
            <a:noFill/>
          </a:ln>
        </p:spPr>
      </p:sp>
      <p:sp>
        <p:nvSpPr>
          <p:cNvPr id="23" name="Text 21"/>
          <p:cNvSpPr/>
          <p:nvPr/>
        </p:nvSpPr>
        <p:spPr>
          <a:xfrm>
            <a:off x="2177201" y="1475184"/>
            <a:ext cx="1036272" cy="4214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A7AF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HERO</a:t>
            </a:r>
            <a:endParaRPr lang="en-US" sz="2700" dirty="0"/>
          </a:p>
        </p:txBody>
      </p:sp>
      <p:sp>
        <p:nvSpPr>
          <p:cNvPr id="24" name="Shape 22"/>
          <p:cNvSpPr/>
          <p:nvPr/>
        </p:nvSpPr>
        <p:spPr>
          <a:xfrm>
            <a:off x="457200" y="800100"/>
            <a:ext cx="580858" cy="157163"/>
          </a:xfrm>
          <a:prstGeom prst="roundRect">
            <a:avLst>
              <a:gd name="adj" fmla="val 18182"/>
            </a:avLst>
          </a:prstGeom>
          <a:solidFill>
            <a:srgbClr val="EF4444"/>
          </a:solidFill>
          <a:ln>
            <a:noFill/>
          </a:ln>
        </p:spPr>
      </p:sp>
      <p:sp>
        <p:nvSpPr>
          <p:cNvPr id="25" name="Text 23"/>
          <p:cNvSpPr/>
          <p:nvPr/>
        </p:nvSpPr>
        <p:spPr>
          <a:xfrm>
            <a:off x="342900" y="800100"/>
            <a:ext cx="809458" cy="1571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FEATURED</a:t>
            </a:r>
            <a:endParaRPr lang="en-US" sz="619" dirty="0"/>
          </a:p>
        </p:txBody>
      </p:sp>
      <p:sp>
        <p:nvSpPr>
          <p:cNvPr id="26" name="Text 24"/>
          <p:cNvSpPr/>
          <p:nvPr/>
        </p:nvSpPr>
        <p:spPr>
          <a:xfrm>
            <a:off x="5247870" y="685800"/>
            <a:ext cx="363895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TRENDING NOW</a:t>
            </a:r>
            <a:endParaRPr lang="en-US" sz="731" dirty="0"/>
          </a:p>
        </p:txBody>
      </p:sp>
      <p:sp>
        <p:nvSpPr>
          <p:cNvPr id="27" name="Shape 25"/>
          <p:cNvSpPr/>
          <p:nvPr/>
        </p:nvSpPr>
        <p:spPr>
          <a:xfrm>
            <a:off x="5247870" y="942975"/>
            <a:ext cx="3553230" cy="785813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7144" algn="in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7144" dir="5400000">
              <a:srgbClr val="000000">
                <a:alpha val="4000"/>
              </a:srgbClr>
            </a:outerShdw>
          </a:effectLst>
        </p:spPr>
      </p:sp>
      <p:sp>
        <p:nvSpPr>
          <p:cNvPr id="28" name="GRAD_25"/>
          <p:cNvSpPr/>
          <p:nvPr/>
        </p:nvSpPr>
        <p:spPr>
          <a:xfrm>
            <a:off x="5355026" y="1050131"/>
            <a:ext cx="571500" cy="5715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ECACA"/>
              </a:gs>
              <a:gs pos="100000">
                <a:srgbClr val="FCA5A5"/>
              </a:gs>
            </a:gsLst>
            <a:lin ang="2700000" scaled="0"/>
          </a:gradFill>
          <a:ln>
            <a:noFill/>
          </a:ln>
        </p:spPr>
      </p:sp>
      <p:sp>
        <p:nvSpPr>
          <p:cNvPr id="29" name="Text 27"/>
          <p:cNvSpPr/>
          <p:nvPr/>
        </p:nvSpPr>
        <p:spPr>
          <a:xfrm>
            <a:off x="6026539" y="1137642"/>
            <a:ext cx="2490811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STARTUPS</a:t>
            </a:r>
            <a:endParaRPr lang="en-US" sz="563" dirty="0"/>
          </a:p>
        </p:txBody>
      </p:sp>
      <p:sp>
        <p:nvSpPr>
          <p:cNvPr id="30" name="Text 28"/>
          <p:cNvSpPr/>
          <p:nvPr/>
        </p:nvSpPr>
        <p:spPr>
          <a:xfrm>
            <a:off x="6026539" y="1251942"/>
            <a:ext cx="2490811" cy="13930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84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Series B Funding Hits Record $4.2B in Q1 2026</a:t>
            </a:r>
            <a:endParaRPr lang="en-US" sz="844" dirty="0"/>
          </a:p>
        </p:txBody>
      </p:sp>
      <p:sp>
        <p:nvSpPr>
          <p:cNvPr id="31" name="Text 29"/>
          <p:cNvSpPr/>
          <p:nvPr/>
        </p:nvSpPr>
        <p:spPr>
          <a:xfrm>
            <a:off x="5983676" y="1419820"/>
            <a:ext cx="2490811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1" u="none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731" dirty="0"/>
          </a:p>
        </p:txBody>
      </p:sp>
      <p:sp>
        <p:nvSpPr>
          <p:cNvPr id="32" name="Text 30"/>
          <p:cNvSpPr/>
          <p:nvPr/>
        </p:nvSpPr>
        <p:spPr>
          <a:xfrm>
            <a:off x="6026539" y="1419820"/>
            <a:ext cx="2490811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more</a:t>
            </a:r>
            <a:endParaRPr lang="en-US" sz="731" dirty="0"/>
          </a:p>
        </p:txBody>
      </p:sp>
      <p:sp>
        <p:nvSpPr>
          <p:cNvPr id="33" name="Shape 31"/>
          <p:cNvSpPr/>
          <p:nvPr/>
        </p:nvSpPr>
        <p:spPr>
          <a:xfrm>
            <a:off x="5247870" y="1843088"/>
            <a:ext cx="3553230" cy="785813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7144" algn="in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7144" dir="5400000">
              <a:srgbClr val="000000">
                <a:alpha val="4000"/>
              </a:srgbClr>
            </a:outerShdw>
          </a:effectLst>
        </p:spPr>
      </p:sp>
      <p:sp>
        <p:nvSpPr>
          <p:cNvPr id="34" name="GRAD_26"/>
          <p:cNvSpPr/>
          <p:nvPr/>
        </p:nvSpPr>
        <p:spPr>
          <a:xfrm>
            <a:off x="5355026" y="1950244"/>
            <a:ext cx="571500" cy="5715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BBF7D0"/>
              </a:gs>
              <a:gs pos="100000">
                <a:srgbClr val="86EFAC"/>
              </a:gs>
            </a:gsLst>
            <a:lin ang="2700000" scaled="0"/>
          </a:gradFill>
          <a:ln>
            <a:noFill/>
          </a:ln>
        </p:spPr>
      </p:sp>
      <p:sp>
        <p:nvSpPr>
          <p:cNvPr id="35" name="Text 33"/>
          <p:cNvSpPr/>
          <p:nvPr/>
        </p:nvSpPr>
        <p:spPr>
          <a:xfrm>
            <a:off x="6026539" y="1968103"/>
            <a:ext cx="2753130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SUSTAINABILITY</a:t>
            </a:r>
            <a:endParaRPr lang="en-US" sz="563" dirty="0"/>
          </a:p>
        </p:txBody>
      </p:sp>
      <p:sp>
        <p:nvSpPr>
          <p:cNvPr id="36" name="Text 34"/>
          <p:cNvSpPr/>
          <p:nvPr/>
        </p:nvSpPr>
        <p:spPr>
          <a:xfrm>
            <a:off x="6026539" y="2082403"/>
            <a:ext cx="2667405" cy="2786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84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Carbon-Negative Data Centers: The New Industry Standard</a:t>
            </a:r>
            <a:endParaRPr lang="en-US" sz="844" dirty="0"/>
          </a:p>
        </p:txBody>
      </p:sp>
      <p:sp>
        <p:nvSpPr>
          <p:cNvPr id="37" name="Text 35"/>
          <p:cNvSpPr/>
          <p:nvPr/>
        </p:nvSpPr>
        <p:spPr>
          <a:xfrm>
            <a:off x="5983676" y="2389584"/>
            <a:ext cx="275313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1" u="none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731" dirty="0"/>
          </a:p>
        </p:txBody>
      </p:sp>
      <p:sp>
        <p:nvSpPr>
          <p:cNvPr id="38" name="Text 36"/>
          <p:cNvSpPr/>
          <p:nvPr/>
        </p:nvSpPr>
        <p:spPr>
          <a:xfrm>
            <a:off x="6026539" y="2389584"/>
            <a:ext cx="275313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more</a:t>
            </a:r>
            <a:endParaRPr lang="en-US" sz="731" dirty="0"/>
          </a:p>
        </p:txBody>
      </p:sp>
      <p:sp>
        <p:nvSpPr>
          <p:cNvPr id="39" name="Shape 37"/>
          <p:cNvSpPr/>
          <p:nvPr/>
        </p:nvSpPr>
        <p:spPr>
          <a:xfrm>
            <a:off x="5247870" y="2743200"/>
            <a:ext cx="3553230" cy="785813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7144" algn="in">
            <a:solidFill>
              <a:srgbClr val="E2E8F0"/>
            </a:solidFill>
            <a:prstDash val="solid"/>
          </a:ln>
          <a:effectLst>
            <a:outerShdw sx="100000" sy="100000" kx="0" ky="0" algn="bl" rotWithShape="0" blurRad="28575" dist="7144" dir="5400000">
              <a:srgbClr val="000000">
                <a:alpha val="4000"/>
              </a:srgbClr>
            </a:outerShdw>
          </a:effectLst>
        </p:spPr>
      </p:sp>
      <p:sp>
        <p:nvSpPr>
          <p:cNvPr id="40" name="GRAD_27"/>
          <p:cNvSpPr/>
          <p:nvPr/>
        </p:nvSpPr>
        <p:spPr>
          <a:xfrm>
            <a:off x="5355026" y="2850356"/>
            <a:ext cx="571500" cy="5715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FDE68A"/>
              </a:gs>
              <a:gs pos="100000">
                <a:srgbClr val="FBBF24"/>
              </a:gs>
            </a:gsLst>
            <a:lin ang="2700000" scaled="0"/>
          </a:gradFill>
          <a:ln>
            <a:noFill/>
          </a:ln>
        </p:spPr>
      </p:sp>
      <p:sp>
        <p:nvSpPr>
          <p:cNvPr id="41" name="Text 39"/>
          <p:cNvSpPr/>
          <p:nvPr/>
        </p:nvSpPr>
        <p:spPr>
          <a:xfrm>
            <a:off x="6026539" y="2868216"/>
            <a:ext cx="2753130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DESIGN</a:t>
            </a:r>
            <a:endParaRPr lang="en-US" sz="563" dirty="0"/>
          </a:p>
        </p:txBody>
      </p:sp>
      <p:sp>
        <p:nvSpPr>
          <p:cNvPr id="42" name="Text 40"/>
          <p:cNvSpPr/>
          <p:nvPr/>
        </p:nvSpPr>
        <p:spPr>
          <a:xfrm>
            <a:off x="6026539" y="2982516"/>
            <a:ext cx="2667405" cy="2786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333"/>
              </a:lnSpc>
              <a:buNone/>
            </a:pPr>
            <a:r>
              <a:rPr lang="en-US" sz="84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Spatial Interfaces Are Replacing Flat Dashboards</a:t>
            </a:r>
            <a:endParaRPr lang="en-US" sz="844" dirty="0"/>
          </a:p>
        </p:txBody>
      </p:sp>
      <p:sp>
        <p:nvSpPr>
          <p:cNvPr id="43" name="Text 41"/>
          <p:cNvSpPr/>
          <p:nvPr/>
        </p:nvSpPr>
        <p:spPr>
          <a:xfrm>
            <a:off x="5983676" y="3289697"/>
            <a:ext cx="275313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1" u="none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731" dirty="0"/>
          </a:p>
        </p:txBody>
      </p:sp>
      <p:sp>
        <p:nvSpPr>
          <p:cNvPr id="44" name="Text 42"/>
          <p:cNvSpPr/>
          <p:nvPr/>
        </p:nvSpPr>
        <p:spPr>
          <a:xfrm>
            <a:off x="6026539" y="3289697"/>
            <a:ext cx="275313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more</a:t>
            </a:r>
            <a:endParaRPr lang="en-US" sz="731" dirty="0"/>
          </a:p>
        </p:txBody>
      </p:sp>
      <p:sp>
        <p:nvSpPr>
          <p:cNvPr id="45" name="Shape 43"/>
          <p:cNvSpPr/>
          <p:nvPr/>
        </p:nvSpPr>
        <p:spPr>
          <a:xfrm>
            <a:off x="5247870" y="4050506"/>
            <a:ext cx="3553230" cy="864394"/>
          </a:xfrm>
          <a:prstGeom prst="roundRect">
            <a:avLst>
              <a:gd name="adj" fmla="val 8264"/>
            </a:avLst>
          </a:prstGeom>
          <a:solidFill>
            <a:srgbClr val="F8FAFC"/>
          </a:solidFill>
          <a:ln w="7144" algn="in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83601" y="4186238"/>
            <a:ext cx="3367492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Stay in the loop</a:t>
            </a:r>
            <a:endParaRPr lang="en-US" sz="844" dirty="0"/>
          </a:p>
        </p:txBody>
      </p:sp>
      <p:sp>
        <p:nvSpPr>
          <p:cNvPr id="47" name="Text 45"/>
          <p:cNvSpPr/>
          <p:nvPr/>
        </p:nvSpPr>
        <p:spPr>
          <a:xfrm>
            <a:off x="5383601" y="4364831"/>
            <a:ext cx="3367492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the best stories delivered to your inbox every morning.</a:t>
            </a:r>
            <a:endParaRPr lang="en-US" sz="675" dirty="0"/>
          </a:p>
        </p:txBody>
      </p:sp>
      <p:sp>
        <p:nvSpPr>
          <p:cNvPr id="48" name="Shape 46"/>
          <p:cNvSpPr/>
          <p:nvPr/>
        </p:nvSpPr>
        <p:spPr>
          <a:xfrm>
            <a:off x="5383601" y="4543425"/>
            <a:ext cx="2546961" cy="235744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7144" algn="in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987713" y="4543425"/>
            <a:ext cx="677656" cy="235744"/>
          </a:xfrm>
          <a:prstGeom prst="roundRect">
            <a:avLst>
              <a:gd name="adj" fmla="val 18182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50" name="Text 48"/>
          <p:cNvSpPr/>
          <p:nvPr/>
        </p:nvSpPr>
        <p:spPr>
          <a:xfrm>
            <a:off x="7944850" y="4543425"/>
            <a:ext cx="763381" cy="2357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</a:t>
            </a:r>
            <a:endParaRPr lang="en-US" sz="73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28600"/>
            <a:ext cx="1953958" cy="2428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1E29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Summary</a:t>
            </a:r>
            <a:endParaRPr lang="en-US" sz="1575" dirty="0"/>
          </a:p>
        </p:txBody>
      </p:sp>
      <p:sp>
        <p:nvSpPr>
          <p:cNvPr id="3" name="Shape 1"/>
          <p:cNvSpPr/>
          <p:nvPr/>
        </p:nvSpPr>
        <p:spPr>
          <a:xfrm>
            <a:off x="8029789" y="246459"/>
            <a:ext cx="771311" cy="207169"/>
          </a:xfrm>
          <a:prstGeom prst="roundRect">
            <a:avLst>
              <a:gd name="adj" fmla="val 27586"/>
            </a:avLst>
          </a:prstGeom>
          <a:solidFill>
            <a:srgbClr val="E2E8F0"/>
          </a:solidFill>
          <a:ln>
            <a:noFill/>
          </a:ln>
        </p:spPr>
      </p:sp>
      <p:sp>
        <p:nvSpPr>
          <p:cNvPr id="4" name="Text 2"/>
          <p:cNvSpPr/>
          <p:nvPr/>
        </p:nvSpPr>
        <p:spPr>
          <a:xfrm>
            <a:off x="7872627" y="246459"/>
            <a:ext cx="1085636" cy="2071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8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FY 2025-26</a:t>
            </a:r>
            <a:endParaRPr lang="en-US" sz="788" dirty="0"/>
          </a:p>
        </p:txBody>
      </p:sp>
      <p:sp>
        <p:nvSpPr>
          <p:cNvPr id="5" name="Shape 3"/>
          <p:cNvSpPr/>
          <p:nvPr/>
        </p:nvSpPr>
        <p:spPr>
          <a:xfrm>
            <a:off x="342900" y="4250531"/>
            <a:ext cx="2028825" cy="664369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42863" dist="7144" dir="5400000">
              <a:srgbClr val="000000">
                <a:alpha val="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2900" y="4250531"/>
            <a:ext cx="2028825" cy="664369"/>
          </a:xfrm>
          <a:prstGeom prst="roundRect">
            <a:avLst>
              <a:gd name="adj" fmla="val 10753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342900" y="4271963"/>
            <a:ext cx="2028825" cy="64293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485775" y="445055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485775" y="4450556"/>
            <a:ext cx="285750" cy="285750"/>
          </a:xfrm>
          <a:prstGeom prst="rect">
            <a:avLst/>
          </a:prstGeom>
          <a:ln>
            <a:noFill/>
          </a:ln>
        </p:spPr>
        <p:txBody>
          <a:bodyPr wrap="square" lIns="0" tIns="30861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871538" y="4386263"/>
            <a:ext cx="657368" cy="2000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E293B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$1.84M</a:t>
            </a:r>
            <a:endParaRPr lang="en-US" sz="1238" dirty="0"/>
          </a:p>
        </p:txBody>
      </p:sp>
      <p:sp>
        <p:nvSpPr>
          <p:cNvPr id="11" name="Text 9"/>
          <p:cNvSpPr/>
          <p:nvPr/>
        </p:nvSpPr>
        <p:spPr>
          <a:xfrm>
            <a:off x="871538" y="4586288"/>
            <a:ext cx="657368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Revenue</a:t>
            </a:r>
            <a:endParaRPr lang="en-US" sz="675" dirty="0"/>
          </a:p>
        </p:txBody>
      </p:sp>
      <p:sp>
        <p:nvSpPr>
          <p:cNvPr id="12" name="Text 10"/>
          <p:cNvSpPr/>
          <p:nvPr/>
        </p:nvSpPr>
        <p:spPr>
          <a:xfrm>
            <a:off x="871538" y="4700588"/>
            <a:ext cx="657368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24% YoY</a:t>
            </a:r>
            <a:endParaRPr lang="en-US" sz="619" dirty="0"/>
          </a:p>
        </p:txBody>
      </p:sp>
      <p:sp>
        <p:nvSpPr>
          <p:cNvPr id="13" name="Shape 11"/>
          <p:cNvSpPr/>
          <p:nvPr/>
        </p:nvSpPr>
        <p:spPr>
          <a:xfrm>
            <a:off x="2486025" y="4250531"/>
            <a:ext cx="2028825" cy="664369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42863" dist="7144" dir="5400000">
              <a:srgbClr val="000000">
                <a:alpha val="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86025" y="4250531"/>
            <a:ext cx="2028825" cy="664369"/>
          </a:xfrm>
          <a:prstGeom prst="roundRect">
            <a:avLst>
              <a:gd name="adj" fmla="val 10753"/>
            </a:avLst>
          </a:prstGeom>
          <a:solidFill>
            <a:srgbClr val="F97316"/>
          </a:solidFill>
          <a:ln>
            <a:noFill/>
          </a:ln>
        </p:spPr>
      </p:sp>
      <p:sp>
        <p:nvSpPr>
          <p:cNvPr id="15" name="Shape 13"/>
          <p:cNvSpPr/>
          <p:nvPr/>
        </p:nvSpPr>
        <p:spPr>
          <a:xfrm>
            <a:off x="2486025" y="4271963"/>
            <a:ext cx="2028825" cy="64293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6" name="Shape 14"/>
          <p:cNvSpPr/>
          <p:nvPr/>
        </p:nvSpPr>
        <p:spPr>
          <a:xfrm>
            <a:off x="2628900" y="445055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FF7ED"/>
          </a:solidFill>
          <a:ln>
            <a:noFill/>
          </a:ln>
        </p:spPr>
      </p:sp>
      <p:sp>
        <p:nvSpPr>
          <p:cNvPr id="17" name="Text 15"/>
          <p:cNvSpPr/>
          <p:nvPr/>
        </p:nvSpPr>
        <p:spPr>
          <a:xfrm>
            <a:off x="2628900" y="4450556"/>
            <a:ext cx="285750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dirty="0">
                <a:solidFill>
                  <a:srgbClr val="F973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013" dirty="0"/>
          </a:p>
        </p:txBody>
      </p:sp>
      <p:sp>
        <p:nvSpPr>
          <p:cNvPr id="18" name="Text 16"/>
          <p:cNvSpPr/>
          <p:nvPr/>
        </p:nvSpPr>
        <p:spPr>
          <a:xfrm>
            <a:off x="3014663" y="4386263"/>
            <a:ext cx="699230" cy="2000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E293B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$1.22M</a:t>
            </a:r>
            <a:endParaRPr lang="en-US" sz="1238" dirty="0"/>
          </a:p>
        </p:txBody>
      </p:sp>
      <p:sp>
        <p:nvSpPr>
          <p:cNvPr id="19" name="Text 17"/>
          <p:cNvSpPr/>
          <p:nvPr/>
        </p:nvSpPr>
        <p:spPr>
          <a:xfrm>
            <a:off x="3014663" y="4586288"/>
            <a:ext cx="699230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Expenses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3014663" y="4700588"/>
            <a:ext cx="69923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8% YoY</a:t>
            </a:r>
            <a:endParaRPr lang="en-US" sz="619" dirty="0"/>
          </a:p>
        </p:txBody>
      </p:sp>
      <p:sp>
        <p:nvSpPr>
          <p:cNvPr id="21" name="Shape 19"/>
          <p:cNvSpPr/>
          <p:nvPr/>
        </p:nvSpPr>
        <p:spPr>
          <a:xfrm>
            <a:off x="4629150" y="4250531"/>
            <a:ext cx="2028825" cy="664369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42863" dist="7144" dir="5400000">
              <a:srgbClr val="000000">
                <a:alpha val="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29150" y="4250531"/>
            <a:ext cx="2028825" cy="664369"/>
          </a:xfrm>
          <a:prstGeom prst="roundRect">
            <a:avLst>
              <a:gd name="adj" fmla="val 10753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23" name="Shape 21"/>
          <p:cNvSpPr/>
          <p:nvPr/>
        </p:nvSpPr>
        <p:spPr>
          <a:xfrm>
            <a:off x="4629150" y="4271963"/>
            <a:ext cx="2028825" cy="64293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4" name="Shape 22"/>
          <p:cNvSpPr/>
          <p:nvPr/>
        </p:nvSpPr>
        <p:spPr>
          <a:xfrm>
            <a:off x="4772025" y="445055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>
            <a:noFill/>
          </a:ln>
        </p:spPr>
      </p:sp>
      <p:sp>
        <p:nvSpPr>
          <p:cNvPr id="25" name="Text 23"/>
          <p:cNvSpPr/>
          <p:nvPr/>
        </p:nvSpPr>
        <p:spPr>
          <a:xfrm>
            <a:off x="4772025" y="4450556"/>
            <a:ext cx="285750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↑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5157788" y="4386263"/>
            <a:ext cx="557355" cy="2000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E293B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$620K</a:t>
            </a:r>
            <a:endParaRPr lang="en-US" sz="1238" dirty="0"/>
          </a:p>
        </p:txBody>
      </p:sp>
      <p:sp>
        <p:nvSpPr>
          <p:cNvPr id="27" name="Text 25"/>
          <p:cNvSpPr/>
          <p:nvPr/>
        </p:nvSpPr>
        <p:spPr>
          <a:xfrm>
            <a:off x="5157788" y="4586288"/>
            <a:ext cx="557355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Profit</a:t>
            </a:r>
            <a:endParaRPr lang="en-US" sz="675" dirty="0"/>
          </a:p>
        </p:txBody>
      </p:sp>
      <p:sp>
        <p:nvSpPr>
          <p:cNvPr id="28" name="Text 26"/>
          <p:cNvSpPr/>
          <p:nvPr/>
        </p:nvSpPr>
        <p:spPr>
          <a:xfrm>
            <a:off x="5157788" y="4700588"/>
            <a:ext cx="557355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58% YoY</a:t>
            </a:r>
            <a:endParaRPr lang="en-US" sz="619" dirty="0"/>
          </a:p>
        </p:txBody>
      </p:sp>
      <p:sp>
        <p:nvSpPr>
          <p:cNvPr id="29" name="Shape 27"/>
          <p:cNvSpPr/>
          <p:nvPr/>
        </p:nvSpPr>
        <p:spPr>
          <a:xfrm>
            <a:off x="6772275" y="4250531"/>
            <a:ext cx="2028825" cy="664369"/>
          </a:xfrm>
          <a:prstGeom prst="roundRect">
            <a:avLst>
              <a:gd name="adj" fmla="val 10753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42863" dist="7144" dir="5400000">
              <a:srgbClr val="000000">
                <a:alpha val="4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72275" y="4250531"/>
            <a:ext cx="2028825" cy="664369"/>
          </a:xfrm>
          <a:prstGeom prst="roundRect">
            <a:avLst>
              <a:gd name="adj" fmla="val 10753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31" name="Shape 29"/>
          <p:cNvSpPr/>
          <p:nvPr/>
        </p:nvSpPr>
        <p:spPr>
          <a:xfrm>
            <a:off x="6772275" y="4271963"/>
            <a:ext cx="2028825" cy="64293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2" name="Shape 30"/>
          <p:cNvSpPr/>
          <p:nvPr/>
        </p:nvSpPr>
        <p:spPr>
          <a:xfrm>
            <a:off x="6915150" y="4450556"/>
            <a:ext cx="285750" cy="285750"/>
          </a:xfrm>
          <a:prstGeom prst="roundRect">
            <a:avLst>
              <a:gd name="adj" fmla="val 20000"/>
            </a:avLst>
          </a:prstGeom>
          <a:solidFill>
            <a:srgbClr val="F5F3FF"/>
          </a:solidFill>
          <a:ln>
            <a:noFill/>
          </a:ln>
        </p:spPr>
      </p:sp>
      <p:sp>
        <p:nvSpPr>
          <p:cNvPr id="33" name="Text 31"/>
          <p:cNvSpPr/>
          <p:nvPr/>
        </p:nvSpPr>
        <p:spPr>
          <a:xfrm>
            <a:off x="6915150" y="4450556"/>
            <a:ext cx="285750" cy="285750"/>
          </a:xfrm>
          <a:prstGeom prst="rect">
            <a:avLst/>
          </a:prstGeom>
          <a:ln>
            <a:noFill/>
          </a:ln>
        </p:spPr>
        <p:txBody>
          <a:bodyPr wrap="square" lIns="0" tIns="30861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1013" dirty="0"/>
          </a:p>
        </p:txBody>
      </p:sp>
      <p:sp>
        <p:nvSpPr>
          <p:cNvPr id="34" name="Text 32"/>
          <p:cNvSpPr/>
          <p:nvPr/>
        </p:nvSpPr>
        <p:spPr>
          <a:xfrm>
            <a:off x="7300913" y="4386263"/>
            <a:ext cx="607790" cy="2000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E293B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33.7%</a:t>
            </a:r>
            <a:endParaRPr lang="en-US" sz="1238" dirty="0"/>
          </a:p>
        </p:txBody>
      </p:sp>
      <p:sp>
        <p:nvSpPr>
          <p:cNvPr id="35" name="Text 33"/>
          <p:cNvSpPr/>
          <p:nvPr/>
        </p:nvSpPr>
        <p:spPr>
          <a:xfrm>
            <a:off x="7300913" y="4586288"/>
            <a:ext cx="607790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Profit Margin</a:t>
            </a:r>
            <a:endParaRPr lang="en-US" sz="675" dirty="0"/>
          </a:p>
        </p:txBody>
      </p:sp>
      <p:sp>
        <p:nvSpPr>
          <p:cNvPr id="36" name="Text 34"/>
          <p:cNvSpPr/>
          <p:nvPr/>
        </p:nvSpPr>
        <p:spPr>
          <a:xfrm>
            <a:off x="7300913" y="4700588"/>
            <a:ext cx="60779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7.2pp YoY</a:t>
            </a:r>
            <a:endParaRPr lang="en-US" sz="619" dirty="0"/>
          </a:p>
        </p:txBody>
      </p:sp>
      <p:sp>
        <p:nvSpPr>
          <p:cNvPr id="37" name="Shape 35"/>
          <p:cNvSpPr/>
          <p:nvPr/>
        </p:nvSpPr>
        <p:spPr>
          <a:xfrm>
            <a:off x="342900" y="614363"/>
            <a:ext cx="8458200" cy="3493294"/>
          </a:xfrm>
          <a:prstGeom prst="roundRect">
            <a:avLst>
              <a:gd name="adj" fmla="val 2454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85725" dist="14288" dir="5400000">
              <a:srgbClr val="000000">
                <a:alpha val="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42925" y="785813"/>
            <a:ext cx="1925669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vs Expenses (Quarterly)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60370" y="803672"/>
            <a:ext cx="435769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u="none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675" dirty="0"/>
          </a:p>
        </p:txBody>
      </p:sp>
      <p:sp>
        <p:nvSpPr>
          <p:cNvPr id="40" name="Shape 38"/>
          <p:cNvSpPr/>
          <p:nvPr/>
        </p:nvSpPr>
        <p:spPr>
          <a:xfrm>
            <a:off x="6846070" y="821531"/>
            <a:ext cx="71438" cy="71438"/>
          </a:xfrm>
          <a:prstGeom prst="rect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1" name="Text 39"/>
          <p:cNvSpPr/>
          <p:nvPr/>
        </p:nvSpPr>
        <p:spPr>
          <a:xfrm>
            <a:off x="7567589" y="803672"/>
            <a:ext cx="477774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u="none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Expenses</a:t>
            </a:r>
            <a:endParaRPr lang="en-US" sz="675" dirty="0"/>
          </a:p>
        </p:txBody>
      </p:sp>
      <p:sp>
        <p:nvSpPr>
          <p:cNvPr id="42" name="Shape 40"/>
          <p:cNvSpPr/>
          <p:nvPr/>
        </p:nvSpPr>
        <p:spPr>
          <a:xfrm>
            <a:off x="7453289" y="821531"/>
            <a:ext cx="71438" cy="71438"/>
          </a:xfrm>
          <a:prstGeom prst="rect">
            <a:avLst/>
          </a:prstGeom>
          <a:solidFill>
            <a:srgbClr val="F97316"/>
          </a:solidFill>
          <a:ln>
            <a:noFill/>
          </a:ln>
        </p:spPr>
      </p:sp>
      <p:sp>
        <p:nvSpPr>
          <p:cNvPr id="43" name="Text 41"/>
          <p:cNvSpPr/>
          <p:nvPr/>
        </p:nvSpPr>
        <p:spPr>
          <a:xfrm>
            <a:off x="8216741" y="803672"/>
            <a:ext cx="470059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u="none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 Profit</a:t>
            </a:r>
            <a:endParaRPr lang="en-US" sz="675" dirty="0"/>
          </a:p>
        </p:txBody>
      </p:sp>
      <p:sp>
        <p:nvSpPr>
          <p:cNvPr id="44" name="Shape 42"/>
          <p:cNvSpPr/>
          <p:nvPr/>
        </p:nvSpPr>
        <p:spPr>
          <a:xfrm>
            <a:off x="8102441" y="821531"/>
            <a:ext cx="71438" cy="7143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5" name="Text 43"/>
          <p:cNvSpPr/>
          <p:nvPr/>
        </p:nvSpPr>
        <p:spPr>
          <a:xfrm>
            <a:off x="457200" y="1042988"/>
            <a:ext cx="38576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$500K</a:t>
            </a:r>
            <a:endParaRPr lang="en-US" sz="619" dirty="0"/>
          </a:p>
        </p:txBody>
      </p:sp>
      <p:sp>
        <p:nvSpPr>
          <p:cNvPr id="46" name="Text 44"/>
          <p:cNvSpPr/>
          <p:nvPr/>
        </p:nvSpPr>
        <p:spPr>
          <a:xfrm>
            <a:off x="457200" y="1570196"/>
            <a:ext cx="38576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$400K</a:t>
            </a:r>
            <a:endParaRPr lang="en-US" sz="619" dirty="0"/>
          </a:p>
        </p:txBody>
      </p:sp>
      <p:sp>
        <p:nvSpPr>
          <p:cNvPr id="47" name="Text 45"/>
          <p:cNvSpPr/>
          <p:nvPr/>
        </p:nvSpPr>
        <p:spPr>
          <a:xfrm>
            <a:off x="457200" y="2097334"/>
            <a:ext cx="38576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$300K</a:t>
            </a:r>
            <a:endParaRPr lang="en-US" sz="619" dirty="0"/>
          </a:p>
        </p:txBody>
      </p:sp>
      <p:sp>
        <p:nvSpPr>
          <p:cNvPr id="48" name="Text 46"/>
          <p:cNvSpPr/>
          <p:nvPr/>
        </p:nvSpPr>
        <p:spPr>
          <a:xfrm>
            <a:off x="457200" y="2624685"/>
            <a:ext cx="38576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$200K</a:t>
            </a:r>
            <a:endParaRPr lang="en-US" sz="619" dirty="0"/>
          </a:p>
        </p:txBody>
      </p:sp>
      <p:sp>
        <p:nvSpPr>
          <p:cNvPr id="49" name="Text 47"/>
          <p:cNvSpPr/>
          <p:nvPr/>
        </p:nvSpPr>
        <p:spPr>
          <a:xfrm>
            <a:off x="457200" y="3151823"/>
            <a:ext cx="38576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$100K</a:t>
            </a:r>
            <a:endParaRPr lang="en-US" sz="619" dirty="0"/>
          </a:p>
        </p:txBody>
      </p:sp>
      <p:sp>
        <p:nvSpPr>
          <p:cNvPr id="50" name="Text 48"/>
          <p:cNvSpPr/>
          <p:nvPr/>
        </p:nvSpPr>
        <p:spPr>
          <a:xfrm>
            <a:off x="457200" y="3679031"/>
            <a:ext cx="38576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$0</a:t>
            </a:r>
            <a:endParaRPr lang="en-US" sz="619" dirty="0"/>
          </a:p>
        </p:txBody>
      </p:sp>
      <p:sp>
        <p:nvSpPr>
          <p:cNvPr id="51" name="Shape 49"/>
          <p:cNvSpPr/>
          <p:nvPr/>
        </p:nvSpPr>
        <p:spPr>
          <a:xfrm>
            <a:off x="928688" y="1042988"/>
            <a:ext cx="7672388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52" name="Shape 50"/>
          <p:cNvSpPr/>
          <p:nvPr/>
        </p:nvSpPr>
        <p:spPr>
          <a:xfrm>
            <a:off x="928688" y="1046559"/>
            <a:ext cx="7672388" cy="0"/>
          </a:xfrm>
          <a:prstGeom prst="line">
            <a:avLst/>
          </a:prstGeom>
          <a:noFill/>
          <a:ln w="7144" algn="in">
            <a:solidFill>
              <a:srgbClr val="F1F5F9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28688" y="1590127"/>
            <a:ext cx="7672388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54" name="Shape 52"/>
          <p:cNvSpPr/>
          <p:nvPr/>
        </p:nvSpPr>
        <p:spPr>
          <a:xfrm>
            <a:off x="928688" y="1593699"/>
            <a:ext cx="7672388" cy="0"/>
          </a:xfrm>
          <a:prstGeom prst="line">
            <a:avLst/>
          </a:prstGeom>
          <a:noFill/>
          <a:ln w="7144" algn="in">
            <a:solidFill>
              <a:srgbClr val="F1F5F9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28688" y="2137339"/>
            <a:ext cx="7672388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56" name="Shape 54"/>
          <p:cNvSpPr/>
          <p:nvPr/>
        </p:nvSpPr>
        <p:spPr>
          <a:xfrm>
            <a:off x="928688" y="2140910"/>
            <a:ext cx="7672388" cy="0"/>
          </a:xfrm>
          <a:prstGeom prst="line">
            <a:avLst/>
          </a:prstGeom>
          <a:noFill/>
          <a:ln w="7144" algn="in">
            <a:solidFill>
              <a:srgbClr val="F1F5F9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28688" y="2684621"/>
            <a:ext cx="7672388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58" name="Shape 56"/>
          <p:cNvSpPr/>
          <p:nvPr/>
        </p:nvSpPr>
        <p:spPr>
          <a:xfrm>
            <a:off x="928688" y="2688193"/>
            <a:ext cx="7672388" cy="0"/>
          </a:xfrm>
          <a:prstGeom prst="line">
            <a:avLst/>
          </a:prstGeom>
          <a:noFill/>
          <a:ln w="7144" algn="in">
            <a:solidFill>
              <a:srgbClr val="F1F5F9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28688" y="3231761"/>
            <a:ext cx="7672388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60" name="Shape 58"/>
          <p:cNvSpPr/>
          <p:nvPr/>
        </p:nvSpPr>
        <p:spPr>
          <a:xfrm>
            <a:off x="928688" y="3235333"/>
            <a:ext cx="7672388" cy="0"/>
          </a:xfrm>
          <a:prstGeom prst="line">
            <a:avLst/>
          </a:prstGeom>
          <a:noFill/>
          <a:ln w="7144" algn="in">
            <a:solidFill>
              <a:srgbClr val="F1F5F9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28688" y="3779044"/>
            <a:ext cx="7672388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62" name="Shape 60"/>
          <p:cNvSpPr/>
          <p:nvPr/>
        </p:nvSpPr>
        <p:spPr>
          <a:xfrm>
            <a:off x="928688" y="3782616"/>
            <a:ext cx="7672388" cy="0"/>
          </a:xfrm>
          <a:prstGeom prst="line">
            <a:avLst/>
          </a:prstGeom>
          <a:noFill/>
          <a:ln w="7144" algn="in">
            <a:solidFill>
              <a:srgbClr val="F1F5F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682210" y="3671888"/>
            <a:ext cx="341471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'25</a:t>
            </a:r>
            <a:endParaRPr lang="en-US" sz="675" dirty="0"/>
          </a:p>
        </p:txBody>
      </p:sp>
      <p:sp>
        <p:nvSpPr>
          <p:cNvPr id="64" name="Text 62"/>
          <p:cNvSpPr/>
          <p:nvPr/>
        </p:nvSpPr>
        <p:spPr>
          <a:xfrm>
            <a:off x="3150965" y="3671888"/>
            <a:ext cx="35861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Q2 '25</a:t>
            </a:r>
            <a:endParaRPr lang="en-US" sz="675" dirty="0"/>
          </a:p>
        </p:txBody>
      </p:sp>
      <p:sp>
        <p:nvSpPr>
          <p:cNvPr id="65" name="Text 63"/>
          <p:cNvSpPr/>
          <p:nvPr/>
        </p:nvSpPr>
        <p:spPr>
          <a:xfrm>
            <a:off x="4627793" y="3671888"/>
            <a:ext cx="35961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Q3 '25</a:t>
            </a:r>
            <a:endParaRPr lang="en-US" sz="675" dirty="0"/>
          </a:p>
        </p:txBody>
      </p:sp>
      <p:sp>
        <p:nvSpPr>
          <p:cNvPr id="66" name="Text 64"/>
          <p:cNvSpPr/>
          <p:nvPr/>
        </p:nvSpPr>
        <p:spPr>
          <a:xfrm>
            <a:off x="6103977" y="3671888"/>
            <a:ext cx="362117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Q4 '25</a:t>
            </a:r>
            <a:endParaRPr lang="en-US" sz="675" dirty="0"/>
          </a:p>
        </p:txBody>
      </p:sp>
      <p:sp>
        <p:nvSpPr>
          <p:cNvPr id="67" name="Text 65"/>
          <p:cNvSpPr/>
          <p:nvPr/>
        </p:nvSpPr>
        <p:spPr>
          <a:xfrm>
            <a:off x="7590449" y="3671888"/>
            <a:ext cx="343829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'26</a:t>
            </a:r>
            <a:endParaRPr lang="en-US" sz="675" dirty="0"/>
          </a:p>
        </p:txBody>
      </p:sp>
      <p:sp>
        <p:nvSpPr>
          <p:cNvPr id="68" name="Shape 66"/>
          <p:cNvSpPr/>
          <p:nvPr/>
        </p:nvSpPr>
        <p:spPr>
          <a:xfrm>
            <a:off x="1813655" y="3141321"/>
            <a:ext cx="71438" cy="71438"/>
          </a:xfrm>
          <a:prstGeom prst="ellipse">
            <a:avLst/>
          </a:prstGeom>
          <a:solidFill>
            <a:srgbClr val="10B981"/>
          </a:solidFill>
          <a:ln w="14288" algn="in">
            <a:solidFill>
              <a:srgbClr val="FFFFFF"/>
            </a:solidFill>
            <a:prstDash val="solid"/>
          </a:ln>
          <a:effectLst>
            <a:outerShdw sx="100000" sy="100000" kx="0" ky="0" algn="bl" rotWithShape="0" blurRad="28575" dist="7144" dir="5400000">
              <a:srgbClr val="000000">
                <a:alpha val="15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3271409" y="2867787"/>
            <a:ext cx="71438" cy="71438"/>
          </a:xfrm>
          <a:prstGeom prst="ellipse">
            <a:avLst/>
          </a:prstGeom>
          <a:solidFill>
            <a:srgbClr val="10B981"/>
          </a:solidFill>
          <a:ln w="14288" algn="in">
            <a:solidFill>
              <a:srgbClr val="FFFFFF"/>
            </a:solidFill>
            <a:prstDash val="solid"/>
          </a:ln>
          <a:effectLst>
            <a:outerShdw sx="100000" sy="100000" kx="0" ky="0" algn="bl" rotWithShape="0" blurRad="28575" dist="7144" dir="5400000">
              <a:srgbClr val="000000">
                <a:alpha val="1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4729163" y="2594110"/>
            <a:ext cx="71438" cy="71438"/>
          </a:xfrm>
          <a:prstGeom prst="ellipse">
            <a:avLst/>
          </a:prstGeom>
          <a:solidFill>
            <a:srgbClr val="10B981"/>
          </a:solidFill>
          <a:ln w="14288" algn="in">
            <a:solidFill>
              <a:srgbClr val="FFFFFF"/>
            </a:solidFill>
            <a:prstDash val="solid"/>
          </a:ln>
          <a:effectLst>
            <a:outerShdw sx="100000" sy="100000" kx="0" ky="0" algn="bl" rotWithShape="0" blurRad="28575" dist="7144" dir="5400000">
              <a:srgbClr val="000000">
                <a:alpha val="15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6186845" y="2211134"/>
            <a:ext cx="71438" cy="71438"/>
          </a:xfrm>
          <a:prstGeom prst="ellipse">
            <a:avLst/>
          </a:prstGeom>
          <a:solidFill>
            <a:srgbClr val="10B981"/>
          </a:solidFill>
          <a:ln w="14288" algn="in">
            <a:solidFill>
              <a:srgbClr val="FFFFFF"/>
            </a:solidFill>
            <a:prstDash val="solid"/>
          </a:ln>
          <a:effectLst>
            <a:outerShdw sx="100000" sy="100000" kx="0" ky="0" algn="bl" rotWithShape="0" blurRad="28575" dist="7144" dir="5400000">
              <a:srgbClr val="000000">
                <a:alpha val="15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7644598" y="1882735"/>
            <a:ext cx="71438" cy="71438"/>
          </a:xfrm>
          <a:prstGeom prst="ellipse">
            <a:avLst/>
          </a:prstGeom>
          <a:solidFill>
            <a:srgbClr val="10B981"/>
          </a:solidFill>
          <a:ln w="14288" algn="in">
            <a:solidFill>
              <a:srgbClr val="FFFFFF"/>
            </a:solidFill>
            <a:prstDash val="solid"/>
          </a:ln>
          <a:effectLst>
            <a:outerShdw sx="100000" sy="100000" kx="0" ky="0" algn="bl" rotWithShape="0" blurRad="28575" dist="7144" dir="5400000">
              <a:srgbClr val="000000">
                <a:alpha val="15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 rot="21120000">
            <a:off x="1842445" y="3075670"/>
            <a:ext cx="1457325" cy="14288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74" name="Shape 72"/>
          <p:cNvSpPr/>
          <p:nvPr/>
        </p:nvSpPr>
        <p:spPr>
          <a:xfrm rot="21120000">
            <a:off x="3300198" y="2802065"/>
            <a:ext cx="1457325" cy="14288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75" name="Shape 73"/>
          <p:cNvSpPr/>
          <p:nvPr/>
        </p:nvSpPr>
        <p:spPr>
          <a:xfrm rot="21000001">
            <a:off x="4753987" y="2503241"/>
            <a:ext cx="1457325" cy="14288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76" name="Shape 74"/>
          <p:cNvSpPr/>
          <p:nvPr/>
        </p:nvSpPr>
        <p:spPr>
          <a:xfrm rot="21060001">
            <a:off x="6213741" y="2132838"/>
            <a:ext cx="1457325" cy="14288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2888" y="228600"/>
            <a:ext cx="8658225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SWOT Analysis</a:t>
            </a:r>
            <a:endParaRPr lang="en-US" sz="2025" dirty="0"/>
          </a:p>
        </p:txBody>
      </p:sp>
      <p:sp>
        <p:nvSpPr>
          <p:cNvPr id="3" name="Text 1"/>
          <p:cNvSpPr/>
          <p:nvPr/>
        </p:nvSpPr>
        <p:spPr>
          <a:xfrm>
            <a:off x="242888" y="714375"/>
            <a:ext cx="8658225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 Planning Framework — Q2 2026 Review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285750" y="1050131"/>
            <a:ext cx="4214813" cy="1860947"/>
          </a:xfrm>
          <a:prstGeom prst="roundRect">
            <a:avLst>
              <a:gd name="adj" fmla="val 4607"/>
            </a:avLst>
          </a:prstGeom>
          <a:solidFill>
            <a:srgbClr val="E8F5E9"/>
          </a:solidFill>
          <a:ln w="14288" algn="in">
            <a:solidFill>
              <a:srgbClr val="4CAF5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0038" y="1064419"/>
            <a:ext cx="4186238" cy="1832372"/>
          </a:xfrm>
          <a:prstGeom prst="roundRect">
            <a:avLst>
              <a:gd name="adj" fmla="val 3899"/>
            </a:avLst>
          </a:prstGeom>
          <a:solidFill>
            <a:srgbClr val="4CAF50"/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300038" y="1092994"/>
            <a:ext cx="4186238" cy="1803797"/>
          </a:xfrm>
          <a:prstGeom prst="roundRect">
            <a:avLst>
              <a:gd name="adj" fmla="val 3960"/>
            </a:avLst>
          </a:prstGeom>
          <a:solidFill>
            <a:srgbClr val="E8F5E9"/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500063" y="1235869"/>
            <a:ext cx="257175" cy="257175"/>
          </a:xfrm>
          <a:prstGeom prst="ellipse">
            <a:avLst/>
          </a:prstGeom>
          <a:solidFill>
            <a:srgbClr val="4CAF50"/>
          </a:solidFill>
          <a:ln>
            <a:noFill/>
          </a:ln>
        </p:spPr>
      </p:sp>
      <p:sp>
        <p:nvSpPr>
          <p:cNvPr id="8" name="Text 6"/>
          <p:cNvSpPr/>
          <p:nvPr/>
        </p:nvSpPr>
        <p:spPr>
          <a:xfrm>
            <a:off x="500063" y="1235869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1013" dirty="0"/>
          </a:p>
        </p:txBody>
      </p:sp>
      <p:sp>
        <p:nvSpPr>
          <p:cNvPr id="9" name="Text 7"/>
          <p:cNvSpPr/>
          <p:nvPr/>
        </p:nvSpPr>
        <p:spPr>
          <a:xfrm>
            <a:off x="842963" y="1278731"/>
            <a:ext cx="772311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2E7D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Strengths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500063" y="1593056"/>
            <a:ext cx="3786188" cy="828675"/>
          </a:xfrm>
          <a:prstGeom prst="rect">
            <a:avLst/>
          </a:prstGeom>
          <a:ln>
            <a:noFill/>
          </a:ln>
        </p:spPr>
        <p:txBody>
          <a:bodyPr wrap="square" lIns="0" tIns="53578" rIns="0" bIns="0" rtlCol="0" anchor="t"/>
          <a:lstStyle/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Market-leading product with 98% uptime SLA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Strong brand recognition in enterprise segment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Experienced engineering team (avg 8yr tenure)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Proprietary ML pipeline with 3 patents filed</a:t>
            </a:r>
            <a:endParaRPr lang="en-US" sz="788" dirty="0"/>
          </a:p>
        </p:txBody>
      </p:sp>
      <p:sp>
        <p:nvSpPr>
          <p:cNvPr id="11" name="Shape 9"/>
          <p:cNvSpPr/>
          <p:nvPr/>
        </p:nvSpPr>
        <p:spPr>
          <a:xfrm>
            <a:off x="4643438" y="1050131"/>
            <a:ext cx="4214813" cy="1860947"/>
          </a:xfrm>
          <a:prstGeom prst="roundRect">
            <a:avLst>
              <a:gd name="adj" fmla="val 4607"/>
            </a:avLst>
          </a:prstGeom>
          <a:solidFill>
            <a:srgbClr val="FFEBEE"/>
          </a:solidFill>
          <a:ln w="14288" algn="in">
            <a:solidFill>
              <a:srgbClr val="E539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57725" y="1064419"/>
            <a:ext cx="4186238" cy="1832372"/>
          </a:xfrm>
          <a:prstGeom prst="roundRect">
            <a:avLst>
              <a:gd name="adj" fmla="val 3899"/>
            </a:avLst>
          </a:prstGeom>
          <a:solidFill>
            <a:srgbClr val="E53935"/>
          </a:solidFill>
          <a:ln>
            <a:noFill/>
          </a:ln>
        </p:spPr>
      </p:sp>
      <p:sp>
        <p:nvSpPr>
          <p:cNvPr id="13" name="Shape 11"/>
          <p:cNvSpPr/>
          <p:nvPr/>
        </p:nvSpPr>
        <p:spPr>
          <a:xfrm>
            <a:off x="4657725" y="1092994"/>
            <a:ext cx="4186238" cy="1803797"/>
          </a:xfrm>
          <a:prstGeom prst="roundRect">
            <a:avLst>
              <a:gd name="adj" fmla="val 3960"/>
            </a:avLst>
          </a:prstGeom>
          <a:solidFill>
            <a:srgbClr val="FFEBEE"/>
          </a:solidFill>
          <a:ln>
            <a:noFill/>
          </a:ln>
        </p:spPr>
      </p:sp>
      <p:sp>
        <p:nvSpPr>
          <p:cNvPr id="14" name="Shape 12"/>
          <p:cNvSpPr/>
          <p:nvPr/>
        </p:nvSpPr>
        <p:spPr>
          <a:xfrm>
            <a:off x="4857750" y="1235869"/>
            <a:ext cx="257175" cy="257175"/>
          </a:xfrm>
          <a:prstGeom prst="ellipse">
            <a:avLst/>
          </a:prstGeom>
          <a:solidFill>
            <a:srgbClr val="E53935"/>
          </a:solidFill>
          <a:ln>
            <a:noFill/>
          </a:ln>
        </p:spPr>
      </p:sp>
      <p:sp>
        <p:nvSpPr>
          <p:cNvPr id="15" name="Text 13"/>
          <p:cNvSpPr/>
          <p:nvPr/>
        </p:nvSpPr>
        <p:spPr>
          <a:xfrm>
            <a:off x="4857750" y="1235869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</a:t>
            </a:r>
            <a:endParaRPr lang="en-US" sz="1013" dirty="0"/>
          </a:p>
        </p:txBody>
      </p:sp>
      <p:sp>
        <p:nvSpPr>
          <p:cNvPr id="16" name="Text 14"/>
          <p:cNvSpPr/>
          <p:nvPr/>
        </p:nvSpPr>
        <p:spPr>
          <a:xfrm>
            <a:off x="5200650" y="1278731"/>
            <a:ext cx="978479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C628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Weaknesses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4857750" y="1593056"/>
            <a:ext cx="3786188" cy="828675"/>
          </a:xfrm>
          <a:prstGeom prst="rect">
            <a:avLst/>
          </a:prstGeom>
          <a:ln>
            <a:noFill/>
          </a:ln>
        </p:spPr>
        <p:txBody>
          <a:bodyPr wrap="square" lIns="0" tIns="53578" rIns="0" bIns="0" rtlCol="0" anchor="t"/>
          <a:lstStyle/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customer acquisition cost ($420 CAC)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Limited presence in APAC markets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Legacy codebase slowing feature velocity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Dependency on single cloud provider (AWS)</a:t>
            </a:r>
            <a:endParaRPr lang="en-US" sz="788" dirty="0"/>
          </a:p>
        </p:txBody>
      </p:sp>
      <p:sp>
        <p:nvSpPr>
          <p:cNvPr id="18" name="Shape 16"/>
          <p:cNvSpPr/>
          <p:nvPr/>
        </p:nvSpPr>
        <p:spPr>
          <a:xfrm>
            <a:off x="285750" y="3053953"/>
            <a:ext cx="4214813" cy="1860947"/>
          </a:xfrm>
          <a:prstGeom prst="roundRect">
            <a:avLst>
              <a:gd name="adj" fmla="val 4607"/>
            </a:avLst>
          </a:prstGeom>
          <a:solidFill>
            <a:srgbClr val="E3F2FD"/>
          </a:solidFill>
          <a:ln w="14288" algn="in">
            <a:solidFill>
              <a:srgbClr val="1E88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00038" y="3068241"/>
            <a:ext cx="4186238" cy="1832372"/>
          </a:xfrm>
          <a:prstGeom prst="roundRect">
            <a:avLst>
              <a:gd name="adj" fmla="val 3899"/>
            </a:avLst>
          </a:prstGeom>
          <a:solidFill>
            <a:srgbClr val="1E88E5"/>
          </a:solidFill>
          <a:ln>
            <a:noFill/>
          </a:ln>
        </p:spPr>
      </p:sp>
      <p:sp>
        <p:nvSpPr>
          <p:cNvPr id="20" name="Shape 18"/>
          <p:cNvSpPr/>
          <p:nvPr/>
        </p:nvSpPr>
        <p:spPr>
          <a:xfrm>
            <a:off x="300038" y="3096816"/>
            <a:ext cx="4186238" cy="1803797"/>
          </a:xfrm>
          <a:prstGeom prst="roundRect">
            <a:avLst>
              <a:gd name="adj" fmla="val 3960"/>
            </a:avLst>
          </a:prstGeom>
          <a:solidFill>
            <a:srgbClr val="E3F2FD"/>
          </a:solidFill>
          <a:ln>
            <a:noFill/>
          </a:ln>
        </p:spPr>
      </p:sp>
      <p:sp>
        <p:nvSpPr>
          <p:cNvPr id="21" name="Shape 19"/>
          <p:cNvSpPr/>
          <p:nvPr/>
        </p:nvSpPr>
        <p:spPr>
          <a:xfrm>
            <a:off x="500063" y="3239691"/>
            <a:ext cx="257175" cy="257175"/>
          </a:xfrm>
          <a:prstGeom prst="ellipse">
            <a:avLst/>
          </a:prstGeom>
          <a:solidFill>
            <a:srgbClr val="1E88E5"/>
          </a:solidFill>
          <a:ln>
            <a:noFill/>
          </a:ln>
        </p:spPr>
      </p:sp>
      <p:sp>
        <p:nvSpPr>
          <p:cNvPr id="22" name="Text 20"/>
          <p:cNvSpPr/>
          <p:nvPr/>
        </p:nvSpPr>
        <p:spPr>
          <a:xfrm>
            <a:off x="500063" y="3239691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</a:t>
            </a:r>
            <a:endParaRPr lang="en-US" sz="1013" dirty="0"/>
          </a:p>
        </p:txBody>
      </p:sp>
      <p:sp>
        <p:nvSpPr>
          <p:cNvPr id="23" name="Text 21"/>
          <p:cNvSpPr/>
          <p:nvPr/>
        </p:nvSpPr>
        <p:spPr>
          <a:xfrm>
            <a:off x="842963" y="3282553"/>
            <a:ext cx="1049703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1565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Opportunities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500063" y="3596878"/>
            <a:ext cx="3786188" cy="621506"/>
          </a:xfrm>
          <a:prstGeom prst="rect">
            <a:avLst/>
          </a:prstGeom>
          <a:ln>
            <a:noFill/>
          </a:ln>
        </p:spPr>
        <p:txBody>
          <a:bodyPr wrap="square" lIns="0" tIns="53578" rIns="0" bIns="0" rtlCol="0" anchor="t"/>
          <a:lstStyle/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AI/ML integration demand growing 34% YoY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Competitor exit from mid-market opens gap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 partnership with Salesforce ecosystem</a:t>
            </a:r>
            <a:endParaRPr lang="en-US" sz="788" dirty="0"/>
          </a:p>
        </p:txBody>
      </p:sp>
      <p:sp>
        <p:nvSpPr>
          <p:cNvPr id="25" name="Shape 23"/>
          <p:cNvSpPr/>
          <p:nvPr/>
        </p:nvSpPr>
        <p:spPr>
          <a:xfrm>
            <a:off x="4643438" y="3053953"/>
            <a:ext cx="4214813" cy="1860947"/>
          </a:xfrm>
          <a:prstGeom prst="roundRect">
            <a:avLst>
              <a:gd name="adj" fmla="val 4607"/>
            </a:avLst>
          </a:prstGeom>
          <a:solidFill>
            <a:srgbClr val="FFF3E0"/>
          </a:solidFill>
          <a:ln w="14288" algn="in">
            <a:solidFill>
              <a:srgbClr val="FB8C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57725" y="3068241"/>
            <a:ext cx="4186238" cy="1832372"/>
          </a:xfrm>
          <a:prstGeom prst="roundRect">
            <a:avLst>
              <a:gd name="adj" fmla="val 3899"/>
            </a:avLst>
          </a:prstGeom>
          <a:solidFill>
            <a:srgbClr val="FB8C00"/>
          </a:solidFill>
          <a:ln>
            <a:noFill/>
          </a:ln>
        </p:spPr>
      </p:sp>
      <p:sp>
        <p:nvSpPr>
          <p:cNvPr id="27" name="Shape 25"/>
          <p:cNvSpPr/>
          <p:nvPr/>
        </p:nvSpPr>
        <p:spPr>
          <a:xfrm>
            <a:off x="4657725" y="3096816"/>
            <a:ext cx="4186238" cy="1803797"/>
          </a:xfrm>
          <a:prstGeom prst="roundRect">
            <a:avLst>
              <a:gd name="adj" fmla="val 3960"/>
            </a:avLst>
          </a:prstGeom>
          <a:solidFill>
            <a:srgbClr val="FFF3E0"/>
          </a:solidFill>
          <a:ln>
            <a:noFill/>
          </a:ln>
        </p:spPr>
      </p:sp>
      <p:sp>
        <p:nvSpPr>
          <p:cNvPr id="28" name="Shape 26"/>
          <p:cNvSpPr/>
          <p:nvPr/>
        </p:nvSpPr>
        <p:spPr>
          <a:xfrm>
            <a:off x="4857750" y="3239691"/>
            <a:ext cx="257175" cy="257175"/>
          </a:xfrm>
          <a:prstGeom prst="ellipse">
            <a:avLst/>
          </a:prstGeom>
          <a:solidFill>
            <a:srgbClr val="FB8C00"/>
          </a:solidFill>
          <a:ln>
            <a:noFill/>
          </a:ln>
        </p:spPr>
      </p:sp>
      <p:sp>
        <p:nvSpPr>
          <p:cNvPr id="29" name="Text 27"/>
          <p:cNvSpPr/>
          <p:nvPr/>
        </p:nvSpPr>
        <p:spPr>
          <a:xfrm>
            <a:off x="4857750" y="3239691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5200650" y="3282553"/>
            <a:ext cx="625507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E651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Threats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4857750" y="3596878"/>
            <a:ext cx="3786188" cy="828675"/>
          </a:xfrm>
          <a:prstGeom prst="rect">
            <a:avLst/>
          </a:prstGeom>
          <a:ln>
            <a:noFill/>
          </a:ln>
        </p:spPr>
        <p:txBody>
          <a:bodyPr wrap="square" lIns="0" tIns="53578" rIns="0" bIns="0" rtlCol="0" anchor="t"/>
          <a:lstStyle/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New entrant with $50M Series B funding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Regulatory changes in EU data sovereignty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Economic downturn reducing enterprise budgets</a:t>
            </a:r>
            <a:endParaRPr lang="en-US" sz="788" dirty="0"/>
          </a:p>
          <a:p>
            <a:pPr algn="l" indent="0" marL="0">
              <a:lnSpc>
                <a:spcPct val="125000"/>
              </a:lnSpc>
              <a:spcAft>
                <a:spcPts val="450"/>
              </a:spcAft>
              <a:buNone/>
            </a:pPr>
            <a:r>
              <a:rPr lang="en-US" sz="788" dirty="0">
                <a:solidFill>
                  <a:srgbClr val="33333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alternatives gaining traction</a:t>
            </a:r>
            <a:endParaRPr lang="en-US" sz="788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71938" y="1045916"/>
            <a:ext cx="480060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667EE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FEATURES</a:t>
            </a:r>
            <a:endParaRPr lang="en-US" sz="731" dirty="0"/>
          </a:p>
        </p:txBody>
      </p:sp>
      <p:sp>
        <p:nvSpPr>
          <p:cNvPr id="3" name="Text 1"/>
          <p:cNvSpPr/>
          <p:nvPr/>
        </p:nvSpPr>
        <p:spPr>
          <a:xfrm>
            <a:off x="4071938" y="1245941"/>
            <a:ext cx="4800600" cy="30853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Modern Teams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4071938" y="1611559"/>
            <a:ext cx="4800600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Everything you need to track, analyze, and grow your business in one beautiful dashboard.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071938" y="2040184"/>
            <a:ext cx="471487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4071938" y="2040184"/>
            <a:ext cx="21431" cy="571500"/>
          </a:xfrm>
          <a:prstGeom prst="rect">
            <a:avLst/>
          </a:prstGeom>
          <a:solidFill>
            <a:srgbClr val="667EEA"/>
          </a:solidFill>
          <a:ln>
            <a:noFill/>
          </a:ln>
        </p:spPr>
      </p:sp>
      <p:sp>
        <p:nvSpPr>
          <p:cNvPr id="7" name="GRAD_28"/>
          <p:cNvSpPr/>
          <p:nvPr/>
        </p:nvSpPr>
        <p:spPr>
          <a:xfrm>
            <a:off x="4236244" y="2168771"/>
            <a:ext cx="314325" cy="314325"/>
          </a:xfrm>
          <a:prstGeom prst="ellipse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2700000" scaled="0"/>
          </a:gradFill>
          <a:ln>
            <a:noFill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3395" y="2235922"/>
            <a:ext cx="180023" cy="18002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679156" y="2168771"/>
            <a:ext cx="3549444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Analytics</a:t>
            </a:r>
            <a:endParaRPr lang="en-US" sz="956" dirty="0"/>
          </a:p>
        </p:txBody>
      </p:sp>
      <p:sp>
        <p:nvSpPr>
          <p:cNvPr id="10" name="Text 7"/>
          <p:cNvSpPr/>
          <p:nvPr/>
        </p:nvSpPr>
        <p:spPr>
          <a:xfrm>
            <a:off x="4679156" y="2340221"/>
            <a:ext cx="3549444" cy="13930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3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dashboards update every second with zero-lag streaming from all data sources.</a:t>
            </a:r>
            <a:endParaRPr lang="en-US" sz="731" dirty="0"/>
          </a:p>
        </p:txBody>
      </p:sp>
      <p:sp>
        <p:nvSpPr>
          <p:cNvPr id="11" name="Shape 8"/>
          <p:cNvSpPr/>
          <p:nvPr/>
        </p:nvSpPr>
        <p:spPr>
          <a:xfrm>
            <a:off x="4071938" y="2725984"/>
            <a:ext cx="471487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2" name="Shape 9"/>
          <p:cNvSpPr/>
          <p:nvPr/>
        </p:nvSpPr>
        <p:spPr>
          <a:xfrm>
            <a:off x="4071938" y="2725984"/>
            <a:ext cx="21431" cy="571500"/>
          </a:xfrm>
          <a:prstGeom prst="rect">
            <a:avLst/>
          </a:prstGeom>
          <a:solidFill>
            <a:srgbClr val="667EEA"/>
          </a:solidFill>
          <a:ln>
            <a:noFill/>
          </a:ln>
        </p:spPr>
      </p:sp>
      <p:sp>
        <p:nvSpPr>
          <p:cNvPr id="13" name="GRAD_29"/>
          <p:cNvSpPr/>
          <p:nvPr/>
        </p:nvSpPr>
        <p:spPr>
          <a:xfrm>
            <a:off x="4236244" y="2854571"/>
            <a:ext cx="314325" cy="314325"/>
          </a:xfrm>
          <a:prstGeom prst="ellipse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2700000" scaled="0"/>
          </a:gradFill>
          <a:ln>
            <a:noFill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395" y="2921722"/>
            <a:ext cx="180023" cy="18002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79156" y="2854571"/>
            <a:ext cx="3444931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Security</a:t>
            </a:r>
            <a:endParaRPr lang="en-US" sz="956" dirty="0"/>
          </a:p>
        </p:txBody>
      </p:sp>
      <p:sp>
        <p:nvSpPr>
          <p:cNvPr id="16" name="Text 12"/>
          <p:cNvSpPr/>
          <p:nvPr/>
        </p:nvSpPr>
        <p:spPr>
          <a:xfrm>
            <a:off x="4679156" y="3026021"/>
            <a:ext cx="3444931" cy="13930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3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 2 Type II certified with end-to-end encryption and role-based access controls.</a:t>
            </a:r>
            <a:endParaRPr lang="en-US" sz="731" dirty="0"/>
          </a:p>
        </p:txBody>
      </p:sp>
      <p:sp>
        <p:nvSpPr>
          <p:cNvPr id="17" name="Shape 13"/>
          <p:cNvSpPr/>
          <p:nvPr/>
        </p:nvSpPr>
        <p:spPr>
          <a:xfrm>
            <a:off x="4071938" y="3411784"/>
            <a:ext cx="4714875" cy="5715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8" name="Shape 14"/>
          <p:cNvSpPr/>
          <p:nvPr/>
        </p:nvSpPr>
        <p:spPr>
          <a:xfrm>
            <a:off x="4071938" y="3411784"/>
            <a:ext cx="21431" cy="571500"/>
          </a:xfrm>
          <a:prstGeom prst="rect">
            <a:avLst/>
          </a:prstGeom>
          <a:solidFill>
            <a:srgbClr val="667EEA"/>
          </a:solidFill>
          <a:ln>
            <a:noFill/>
          </a:ln>
        </p:spPr>
      </p:sp>
      <p:sp>
        <p:nvSpPr>
          <p:cNvPr id="19" name="GRAD_30"/>
          <p:cNvSpPr/>
          <p:nvPr/>
        </p:nvSpPr>
        <p:spPr>
          <a:xfrm>
            <a:off x="4236244" y="3540371"/>
            <a:ext cx="314325" cy="314325"/>
          </a:xfrm>
          <a:prstGeom prst="ellipse">
            <a:avLst/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2700000" scaled="0"/>
          </a:gradFill>
          <a:ln>
            <a:noFill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395" y="3607522"/>
            <a:ext cx="180023" cy="18002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79156" y="3540371"/>
            <a:ext cx="3639741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1A1A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Smart Predictions</a:t>
            </a:r>
            <a:endParaRPr lang="en-US" sz="956" dirty="0"/>
          </a:p>
        </p:txBody>
      </p:sp>
      <p:sp>
        <p:nvSpPr>
          <p:cNvPr id="22" name="Text 17"/>
          <p:cNvSpPr/>
          <p:nvPr/>
        </p:nvSpPr>
        <p:spPr>
          <a:xfrm>
            <a:off x="4679156" y="3711821"/>
            <a:ext cx="3639741" cy="13930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31" dirty="0">
                <a:solidFill>
                  <a:srgbClr val="6C757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ML-powered forecasting identifies trends and anomalies before they impact your KPIs.</a:t>
            </a:r>
            <a:endParaRPr lang="en-US" sz="731" dirty="0"/>
          </a:p>
        </p:txBody>
      </p:sp>
      <p:sp>
        <p:nvSpPr>
          <p:cNvPr id="23" name="Shape 18"/>
          <p:cNvSpPr/>
          <p:nvPr/>
        </p:nvSpPr>
        <p:spPr>
          <a:xfrm>
            <a:off x="0" y="0"/>
            <a:ext cx="3714750" cy="5143500"/>
          </a:xfrm>
          <a:prstGeom prst="rect">
            <a:avLst/>
          </a:prstGeom>
          <a:solidFill>
            <a:srgbClr val="F0F4FF"/>
          </a:solidFill>
          <a:ln>
            <a:noFill/>
          </a:ln>
        </p:spPr>
      </p:sp>
      <p:sp>
        <p:nvSpPr>
          <p:cNvPr id="24" name="Shape 19"/>
          <p:cNvSpPr/>
          <p:nvPr/>
        </p:nvSpPr>
        <p:spPr>
          <a:xfrm>
            <a:off x="842963" y="557213"/>
            <a:ext cx="2028825" cy="4029075"/>
          </a:xfrm>
          <a:prstGeom prst="roundRect">
            <a:avLst>
              <a:gd name="adj" fmla="val 11972"/>
            </a:avLst>
          </a:prstGeom>
          <a:solidFill>
            <a:srgbClr val="333333"/>
          </a:solidFill>
          <a:ln>
            <a:noFill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571500"/>
            <a:ext cx="2000250" cy="4000500"/>
          </a:xfrm>
          <a:prstGeom prst="rect">
            <a:avLst/>
          </a:prstGeom>
          <a:effectLst>
            <a:outerShdw sx="100000" sy="100000" kx="0" ky="0" algn="bl" rotWithShape="0" blurRad="381000" dist="142875" dir="5400000">
              <a:srgbClr val="000000">
                <a:alpha val="20000"/>
              </a:srgbClr>
            </a:outerShdw>
          </a:effectLst>
        </p:spPr>
      </p:pic>
      <p:sp>
        <p:nvSpPr>
          <p:cNvPr id="26" name="Shape 20"/>
          <p:cNvSpPr/>
          <p:nvPr/>
        </p:nvSpPr>
        <p:spPr>
          <a:xfrm>
            <a:off x="857250" y="571500"/>
            <a:ext cx="2000250" cy="4000500"/>
          </a:xfrm>
          <a:prstGeom prst="roundRect">
            <a:avLst>
              <a:gd name="adj" fmla="val 11429"/>
            </a:avLst>
          </a:prstGeom>
          <a:noFill/>
          <a:ln w="28575" algn="in">
            <a:solidFill>
              <a:srgbClr val="333333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 flipV="1">
            <a:off x="1428750" y="571500"/>
            <a:ext cx="857250" cy="200025"/>
          </a:xfrm>
          <a:prstGeom prst="round2Same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</p:spPr>
      </p:sp>
      <p:sp>
        <p:nvSpPr>
          <p:cNvPr id="28" name="Shape 22"/>
          <p:cNvSpPr/>
          <p:nvPr/>
        </p:nvSpPr>
        <p:spPr>
          <a:xfrm>
            <a:off x="857250" y="571500"/>
            <a:ext cx="2000250" cy="314325"/>
          </a:xfrm>
          <a:prstGeom prst="round2SameRect">
            <a:avLst>
              <a:gd name="adj" fmla="val 50000"/>
            </a:avLst>
          </a:prstGeom>
          <a:solidFill>
            <a:srgbClr val="1A1A2E"/>
          </a:solidFill>
          <a:ln>
            <a:noFill/>
          </a:ln>
        </p:spPr>
      </p:sp>
      <p:sp>
        <p:nvSpPr>
          <p:cNvPr id="29" name="Text 23"/>
          <p:cNvSpPr/>
          <p:nvPr/>
        </p:nvSpPr>
        <p:spPr>
          <a:xfrm>
            <a:off x="1028700" y="667941"/>
            <a:ext cx="287322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9:41</a:t>
            </a:r>
            <a:endParaRPr lang="en-US" sz="788" dirty="0"/>
          </a:p>
        </p:txBody>
      </p:sp>
      <p:sp>
        <p:nvSpPr>
          <p:cNvPr id="30" name="Shape 24"/>
          <p:cNvSpPr/>
          <p:nvPr/>
        </p:nvSpPr>
        <p:spPr>
          <a:xfrm>
            <a:off x="2428875" y="692944"/>
            <a:ext cx="114300" cy="7143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</p:sp>
      <p:sp>
        <p:nvSpPr>
          <p:cNvPr id="31" name="Shape 25"/>
          <p:cNvSpPr/>
          <p:nvPr/>
        </p:nvSpPr>
        <p:spPr>
          <a:xfrm>
            <a:off x="2586038" y="692944"/>
            <a:ext cx="100013" cy="71438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noFill/>
          </a:ln>
        </p:spPr>
      </p:sp>
      <p:sp>
        <p:nvSpPr>
          <p:cNvPr id="32" name="GRAD_31"/>
          <p:cNvSpPr/>
          <p:nvPr/>
        </p:nvSpPr>
        <p:spPr>
          <a:xfrm flipV="1">
            <a:off x="857250" y="885825"/>
            <a:ext cx="2000250" cy="3686175"/>
          </a:xfrm>
          <a:prstGeom prst="round2SameRect">
            <a:avLst>
              <a:gd name="adj" fmla="val 11429"/>
            </a:avLst>
          </a:prstGeom>
          <a:gradFill rotWithShape="1">
            <a:gsLst>
              <a:gs pos="0">
                <a:srgbClr val="667EEA"/>
              </a:gs>
              <a:gs pos="100000">
                <a:srgbClr val="764BA2"/>
              </a:gs>
            </a:gsLst>
            <a:lin ang="2700000" scaled="0"/>
          </a:gradFill>
          <a:ln>
            <a:noFill/>
          </a:ln>
        </p:spPr>
      </p:sp>
      <p:sp>
        <p:nvSpPr>
          <p:cNvPr id="33" name="Shape 27"/>
          <p:cNvSpPr/>
          <p:nvPr/>
        </p:nvSpPr>
        <p:spPr>
          <a:xfrm>
            <a:off x="1000125" y="1028700"/>
            <a:ext cx="1714500" cy="628650"/>
          </a:xfrm>
          <a:prstGeom prst="roundRect">
            <a:avLst>
              <a:gd name="adj" fmla="val 1363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34" name="Text 28"/>
          <p:cNvSpPr/>
          <p:nvPr/>
        </p:nvSpPr>
        <p:spPr>
          <a:xfrm>
            <a:off x="1100138" y="1128713"/>
            <a:ext cx="160020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Revenue</a:t>
            </a:r>
            <a:endParaRPr lang="en-US" sz="619" dirty="0"/>
          </a:p>
        </p:txBody>
      </p:sp>
      <p:sp>
        <p:nvSpPr>
          <p:cNvPr id="35" name="Text 29"/>
          <p:cNvSpPr/>
          <p:nvPr/>
        </p:nvSpPr>
        <p:spPr>
          <a:xfrm>
            <a:off x="1100138" y="1271588"/>
            <a:ext cx="1600200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$48,290</a:t>
            </a:r>
            <a:endParaRPr lang="en-US" sz="1238" dirty="0"/>
          </a:p>
        </p:txBody>
      </p:sp>
      <p:sp>
        <p:nvSpPr>
          <p:cNvPr id="36" name="Shape 30"/>
          <p:cNvSpPr/>
          <p:nvPr/>
        </p:nvSpPr>
        <p:spPr>
          <a:xfrm>
            <a:off x="1100138" y="1514475"/>
            <a:ext cx="300680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7" name="Shape 31"/>
          <p:cNvSpPr/>
          <p:nvPr/>
        </p:nvSpPr>
        <p:spPr>
          <a:xfrm>
            <a:off x="1429393" y="1514475"/>
            <a:ext cx="526423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8" name="Shape 32"/>
          <p:cNvSpPr/>
          <p:nvPr/>
        </p:nvSpPr>
        <p:spPr>
          <a:xfrm>
            <a:off x="1984391" y="1514475"/>
            <a:ext cx="376047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9" name="Shape 33"/>
          <p:cNvSpPr/>
          <p:nvPr/>
        </p:nvSpPr>
        <p:spPr>
          <a:xfrm>
            <a:off x="2389013" y="1514475"/>
            <a:ext cx="225600" cy="42863"/>
          </a:xfrm>
          <a:prstGeom prst="roundRect">
            <a:avLst>
              <a:gd name="adj" fmla="val 49999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</p:sp>
      <p:sp>
        <p:nvSpPr>
          <p:cNvPr id="40" name="Shape 34"/>
          <p:cNvSpPr/>
          <p:nvPr/>
        </p:nvSpPr>
        <p:spPr>
          <a:xfrm>
            <a:off x="1000125" y="1743075"/>
            <a:ext cx="1714500" cy="628650"/>
          </a:xfrm>
          <a:prstGeom prst="roundRect">
            <a:avLst>
              <a:gd name="adj" fmla="val 1363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41" name="Text 35"/>
          <p:cNvSpPr/>
          <p:nvPr/>
        </p:nvSpPr>
        <p:spPr>
          <a:xfrm>
            <a:off x="1100138" y="1843088"/>
            <a:ext cx="160020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Users</a:t>
            </a:r>
            <a:endParaRPr lang="en-US" sz="619" dirty="0"/>
          </a:p>
        </p:txBody>
      </p:sp>
      <p:sp>
        <p:nvSpPr>
          <p:cNvPr id="42" name="Text 36"/>
          <p:cNvSpPr/>
          <p:nvPr/>
        </p:nvSpPr>
        <p:spPr>
          <a:xfrm>
            <a:off x="1100138" y="1985963"/>
            <a:ext cx="1600200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12,847</a:t>
            </a:r>
            <a:endParaRPr lang="en-US" sz="1238" dirty="0"/>
          </a:p>
        </p:txBody>
      </p:sp>
      <p:sp>
        <p:nvSpPr>
          <p:cNvPr id="43" name="Shape 37"/>
          <p:cNvSpPr/>
          <p:nvPr/>
        </p:nvSpPr>
        <p:spPr>
          <a:xfrm>
            <a:off x="1100138" y="2228850"/>
            <a:ext cx="605790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4" name="Shape 38"/>
          <p:cNvSpPr/>
          <p:nvPr/>
        </p:nvSpPr>
        <p:spPr>
          <a:xfrm>
            <a:off x="1734503" y="2228850"/>
            <a:ext cx="454271" cy="42863"/>
          </a:xfrm>
          <a:prstGeom prst="roundRect">
            <a:avLst>
              <a:gd name="adj" fmla="val 49999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5" name="Shape 39"/>
          <p:cNvSpPr/>
          <p:nvPr/>
        </p:nvSpPr>
        <p:spPr>
          <a:xfrm>
            <a:off x="2217349" y="2228850"/>
            <a:ext cx="302824" cy="42863"/>
          </a:xfrm>
          <a:prstGeom prst="roundRect">
            <a:avLst>
              <a:gd name="adj" fmla="val 49999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</p:sp>
      <p:sp>
        <p:nvSpPr>
          <p:cNvPr id="46" name="Shape 40"/>
          <p:cNvSpPr/>
          <p:nvPr/>
        </p:nvSpPr>
        <p:spPr>
          <a:xfrm>
            <a:off x="1000125" y="2457450"/>
            <a:ext cx="1714500" cy="528638"/>
          </a:xfrm>
          <a:prstGeom prst="roundRect">
            <a:avLst>
              <a:gd name="adj" fmla="val 16216"/>
            </a:avLst>
          </a:prstGeom>
          <a:solidFill>
            <a:srgbClr val="FFFFFF">
              <a:alpha val="15000"/>
            </a:srgbClr>
          </a:solidFill>
          <a:ln>
            <a:noFill/>
          </a:ln>
        </p:spPr>
      </p:sp>
      <p:sp>
        <p:nvSpPr>
          <p:cNvPr id="47" name="Text 41"/>
          <p:cNvSpPr/>
          <p:nvPr/>
        </p:nvSpPr>
        <p:spPr>
          <a:xfrm>
            <a:off x="1100138" y="2557463"/>
            <a:ext cx="160020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Conversion Rate</a:t>
            </a:r>
            <a:endParaRPr lang="en-US" sz="619" dirty="0"/>
          </a:p>
        </p:txBody>
      </p:sp>
      <p:sp>
        <p:nvSpPr>
          <p:cNvPr id="48" name="Text 42"/>
          <p:cNvSpPr/>
          <p:nvPr/>
        </p:nvSpPr>
        <p:spPr>
          <a:xfrm>
            <a:off x="1100138" y="2700338"/>
            <a:ext cx="1600200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4.2%</a:t>
            </a:r>
            <a:endParaRPr lang="en-US" sz="1238" dirty="0"/>
          </a:p>
        </p:txBody>
      </p:sp>
      <p:sp>
        <p:nvSpPr>
          <p:cNvPr id="49" name="Shape 43"/>
          <p:cNvSpPr/>
          <p:nvPr/>
        </p:nvSpPr>
        <p:spPr>
          <a:xfrm>
            <a:off x="1171575" y="4286250"/>
            <a:ext cx="171450" cy="571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0" name="Shape 44"/>
          <p:cNvSpPr/>
          <p:nvPr/>
        </p:nvSpPr>
        <p:spPr>
          <a:xfrm>
            <a:off x="1685925" y="4286250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</p:sp>
      <p:sp>
        <p:nvSpPr>
          <p:cNvPr id="51" name="Shape 45"/>
          <p:cNvSpPr/>
          <p:nvPr/>
        </p:nvSpPr>
        <p:spPr>
          <a:xfrm>
            <a:off x="2085975" y="4286250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</p:sp>
      <p:sp>
        <p:nvSpPr>
          <p:cNvPr id="52" name="Shape 46"/>
          <p:cNvSpPr/>
          <p:nvPr/>
        </p:nvSpPr>
        <p:spPr>
          <a:xfrm>
            <a:off x="2486025" y="4286250"/>
            <a:ext cx="57150" cy="57150"/>
          </a:xfrm>
          <a:prstGeom prst="ellipse">
            <a:avLst/>
          </a:prstGeom>
          <a:solidFill>
            <a:srgbClr val="FFFFFF">
              <a:alpha val="40000"/>
            </a:srgbClr>
          </a:solidFill>
          <a:ln>
            <a:noFill/>
          </a:ln>
        </p:spPr>
      </p:sp>
      <p:sp>
        <p:nvSpPr>
          <p:cNvPr id="53" name="Shape 47"/>
          <p:cNvSpPr/>
          <p:nvPr/>
        </p:nvSpPr>
        <p:spPr>
          <a:xfrm>
            <a:off x="3714750" y="428625"/>
            <a:ext cx="7144" cy="4286250"/>
          </a:xfrm>
          <a:prstGeom prst="rect">
            <a:avLst/>
          </a:prstGeom>
          <a:solidFill>
            <a:srgbClr val="E9ECEF"/>
          </a:solidFill>
          <a:ln>
            <a:noFill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8405" y="257175"/>
            <a:ext cx="3807047" cy="2928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1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 Funnel Performance</a:t>
            </a:r>
            <a:endParaRPr lang="en-US" sz="1913" dirty="0"/>
          </a:p>
        </p:txBody>
      </p:sp>
      <p:sp>
        <p:nvSpPr>
          <p:cNvPr id="3" name="Text 1"/>
          <p:cNvSpPr/>
          <p:nvPr/>
        </p:nvSpPr>
        <p:spPr>
          <a:xfrm>
            <a:off x="3085529" y="592931"/>
            <a:ext cx="2972943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44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Full-funnel conversion analysis for Q1 2026 campaign cohort</a:t>
            </a:r>
            <a:endParaRPr lang="en-US" sz="844" dirty="0"/>
          </a:p>
        </p:txBody>
      </p:sp>
      <p:sp>
        <p:nvSpPr>
          <p:cNvPr id="4" name="Text 2"/>
          <p:cNvSpPr/>
          <p:nvPr/>
        </p:nvSpPr>
        <p:spPr>
          <a:xfrm>
            <a:off x="2312789" y="4529138"/>
            <a:ext cx="1124498" cy="2428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1.6%</a:t>
            </a:r>
            <a:endParaRPr lang="en-US" sz="1575" dirty="0"/>
          </a:p>
        </p:txBody>
      </p:sp>
      <p:sp>
        <p:nvSpPr>
          <p:cNvPr id="5" name="Text 3"/>
          <p:cNvSpPr/>
          <p:nvPr/>
        </p:nvSpPr>
        <p:spPr>
          <a:xfrm>
            <a:off x="2312789" y="4786313"/>
            <a:ext cx="1124498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OVERALL CONVERSION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3637312" y="4529138"/>
            <a:ext cx="1158716" cy="2428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$842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3637312" y="4786313"/>
            <a:ext cx="1158716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COST PER ACQUISITION</a:t>
            </a:r>
            <a:endParaRPr lang="en-US" sz="675" dirty="0"/>
          </a:p>
        </p:txBody>
      </p:sp>
      <p:sp>
        <p:nvSpPr>
          <p:cNvPr id="8" name="Text 6"/>
          <p:cNvSpPr/>
          <p:nvPr/>
        </p:nvSpPr>
        <p:spPr>
          <a:xfrm>
            <a:off x="4996053" y="4529138"/>
            <a:ext cx="918615" cy="2428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$12,400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4996053" y="4786313"/>
            <a:ext cx="918615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 DEAL SIZE</a:t>
            </a:r>
            <a:endParaRPr lang="en-US" sz="675" dirty="0"/>
          </a:p>
        </p:txBody>
      </p:sp>
      <p:sp>
        <p:nvSpPr>
          <p:cNvPr id="10" name="Text 8"/>
          <p:cNvSpPr/>
          <p:nvPr/>
        </p:nvSpPr>
        <p:spPr>
          <a:xfrm>
            <a:off x="6114693" y="4529138"/>
            <a:ext cx="716375" cy="2428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14.7x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6114693" y="4786313"/>
            <a:ext cx="716375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ROI MULTIPLE</a:t>
            </a:r>
            <a:endParaRPr lang="en-US" sz="675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7313" y="950119"/>
            <a:ext cx="6429375" cy="31432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350276" y="950119"/>
            <a:ext cx="1022771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060D1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24,500</a:t>
            </a:r>
            <a:endParaRPr lang="en-US" sz="2025" dirty="0"/>
          </a:p>
        </p:txBody>
      </p:sp>
      <p:sp>
        <p:nvSpPr>
          <p:cNvPr id="14" name="Text 11"/>
          <p:cNvSpPr/>
          <p:nvPr/>
        </p:nvSpPr>
        <p:spPr>
          <a:xfrm>
            <a:off x="4401693" y="960834"/>
            <a:ext cx="1477613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Awareness</a:t>
            </a:r>
            <a:endParaRPr lang="en-US" sz="1125" dirty="0"/>
          </a:p>
        </p:txBody>
      </p:sp>
      <p:sp>
        <p:nvSpPr>
          <p:cNvPr id="15" name="Text 12"/>
          <p:cNvSpPr/>
          <p:nvPr/>
        </p:nvSpPr>
        <p:spPr>
          <a:xfrm>
            <a:off x="4401693" y="1146572"/>
            <a:ext cx="1477613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0C1A3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Website visitors &amp; ad impressions</a:t>
            </a:r>
            <a:endParaRPr lang="en-US" sz="731" dirty="0"/>
          </a:p>
        </p:txBody>
      </p:sp>
      <p:sp>
        <p:nvSpPr>
          <p:cNvPr id="16" name="Shape 13"/>
          <p:cNvSpPr/>
          <p:nvPr/>
        </p:nvSpPr>
        <p:spPr>
          <a:xfrm>
            <a:off x="4564856" y="1321594"/>
            <a:ext cx="14288" cy="142875"/>
          </a:xfrm>
          <a:prstGeom prst="rect">
            <a:avLst/>
          </a:prstGeom>
          <a:solidFill>
            <a:srgbClr val="475569"/>
          </a:solidFill>
          <a:ln>
            <a:noFill/>
          </a:ln>
        </p:spPr>
      </p:sp>
      <p:sp>
        <p:nvSpPr>
          <p:cNvPr id="17" name="Shape 14"/>
          <p:cNvSpPr/>
          <p:nvPr/>
        </p:nvSpPr>
        <p:spPr>
          <a:xfrm>
            <a:off x="2375726" y="1250156"/>
            <a:ext cx="774668" cy="2857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7144" algn="in">
            <a:solidFill>
              <a:srgbClr val="33415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375726" y="1250156"/>
            <a:ext cx="774668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50" b="1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450" dirty="0"/>
          </a:p>
        </p:txBody>
      </p:sp>
      <p:sp>
        <p:nvSpPr>
          <p:cNvPr id="19" name="Text 16"/>
          <p:cNvSpPr/>
          <p:nvPr/>
        </p:nvSpPr>
        <p:spPr>
          <a:xfrm>
            <a:off x="2475738" y="1250156"/>
            <a:ext cx="574643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32% conversion</a:t>
            </a:r>
            <a:endParaRPr lang="en-US" sz="675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8813" y="1521619"/>
            <a:ext cx="5286375" cy="314325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415070" y="1521619"/>
            <a:ext cx="813245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040A1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7,840</a:t>
            </a:r>
            <a:endParaRPr lang="en-US" sz="2025" dirty="0"/>
          </a:p>
        </p:txBody>
      </p:sp>
      <p:sp>
        <p:nvSpPr>
          <p:cNvPr id="22" name="Text 18"/>
          <p:cNvSpPr/>
          <p:nvPr/>
        </p:nvSpPr>
        <p:spPr>
          <a:xfrm>
            <a:off x="4256889" y="1532334"/>
            <a:ext cx="1557766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Interest</a:t>
            </a:r>
            <a:endParaRPr lang="en-US" sz="1125" dirty="0"/>
          </a:p>
        </p:txBody>
      </p:sp>
      <p:sp>
        <p:nvSpPr>
          <p:cNvPr id="23" name="Text 19"/>
          <p:cNvSpPr/>
          <p:nvPr/>
        </p:nvSpPr>
        <p:spPr>
          <a:xfrm>
            <a:off x="4256889" y="1718072"/>
            <a:ext cx="155776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07142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Email signups &amp; content downloads</a:t>
            </a:r>
            <a:endParaRPr lang="en-US" sz="731" dirty="0"/>
          </a:p>
        </p:txBody>
      </p:sp>
      <p:sp>
        <p:nvSpPr>
          <p:cNvPr id="24" name="Shape 20"/>
          <p:cNvSpPr/>
          <p:nvPr/>
        </p:nvSpPr>
        <p:spPr>
          <a:xfrm>
            <a:off x="4564856" y="1893094"/>
            <a:ext cx="14288" cy="142875"/>
          </a:xfrm>
          <a:prstGeom prst="rect">
            <a:avLst/>
          </a:prstGeom>
          <a:solidFill>
            <a:srgbClr val="475569"/>
          </a:solidFill>
          <a:ln>
            <a:noFill/>
          </a:ln>
        </p:spPr>
      </p:sp>
      <p:sp>
        <p:nvSpPr>
          <p:cNvPr id="25" name="Shape 21"/>
          <p:cNvSpPr/>
          <p:nvPr/>
        </p:nvSpPr>
        <p:spPr>
          <a:xfrm>
            <a:off x="2375726" y="1821656"/>
            <a:ext cx="774668" cy="2857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7144" algn="in">
            <a:solidFill>
              <a:srgbClr val="334155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375726" y="1821656"/>
            <a:ext cx="774668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50" b="1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450" dirty="0"/>
          </a:p>
        </p:txBody>
      </p:sp>
      <p:sp>
        <p:nvSpPr>
          <p:cNvPr id="27" name="Text 23"/>
          <p:cNvSpPr/>
          <p:nvPr/>
        </p:nvSpPr>
        <p:spPr>
          <a:xfrm>
            <a:off x="2475738" y="1821656"/>
            <a:ext cx="574643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28% conversion</a:t>
            </a:r>
            <a:endParaRPr lang="en-US" sz="675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1750" y="2093119"/>
            <a:ext cx="4000500" cy="314325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3494222" y="2093119"/>
            <a:ext cx="763524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0308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2,195</a:t>
            </a:r>
            <a:endParaRPr lang="en-US" sz="2025" dirty="0"/>
          </a:p>
        </p:txBody>
      </p:sp>
      <p:sp>
        <p:nvSpPr>
          <p:cNvPr id="30" name="Text 25"/>
          <p:cNvSpPr/>
          <p:nvPr/>
        </p:nvSpPr>
        <p:spPr>
          <a:xfrm>
            <a:off x="4286250" y="2103834"/>
            <a:ext cx="1449181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</a:t>
            </a:r>
            <a:endParaRPr lang="en-US" sz="1125" dirty="0"/>
          </a:p>
        </p:txBody>
      </p:sp>
      <p:sp>
        <p:nvSpPr>
          <p:cNvPr id="31" name="Text 26"/>
          <p:cNvSpPr/>
          <p:nvPr/>
        </p:nvSpPr>
        <p:spPr>
          <a:xfrm>
            <a:off x="4286250" y="2289572"/>
            <a:ext cx="1449181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06102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 requests &amp; trial activations</a:t>
            </a:r>
            <a:endParaRPr lang="en-US" sz="731" dirty="0"/>
          </a:p>
        </p:txBody>
      </p:sp>
      <p:sp>
        <p:nvSpPr>
          <p:cNvPr id="32" name="Shape 27"/>
          <p:cNvSpPr/>
          <p:nvPr/>
        </p:nvSpPr>
        <p:spPr>
          <a:xfrm>
            <a:off x="4564856" y="2464594"/>
            <a:ext cx="14288" cy="142875"/>
          </a:xfrm>
          <a:prstGeom prst="rect">
            <a:avLst/>
          </a:prstGeom>
          <a:solidFill>
            <a:srgbClr val="475569"/>
          </a:solidFill>
          <a:ln>
            <a:noFill/>
          </a:ln>
        </p:spPr>
      </p:sp>
      <p:sp>
        <p:nvSpPr>
          <p:cNvPr id="33" name="Shape 28"/>
          <p:cNvSpPr/>
          <p:nvPr/>
        </p:nvSpPr>
        <p:spPr>
          <a:xfrm>
            <a:off x="2375868" y="2393156"/>
            <a:ext cx="774525" cy="28575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7144" algn="in">
            <a:solidFill>
              <a:srgbClr val="334155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2375868" y="2393156"/>
            <a:ext cx="774525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50" b="1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</a:t>
            </a:r>
            <a:endParaRPr lang="en-US" sz="450" dirty="0"/>
          </a:p>
        </p:txBody>
      </p:sp>
      <p:sp>
        <p:nvSpPr>
          <p:cNvPr id="35" name="Text 30"/>
          <p:cNvSpPr/>
          <p:nvPr/>
        </p:nvSpPr>
        <p:spPr>
          <a:xfrm>
            <a:off x="2475881" y="2393156"/>
            <a:ext cx="574500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18% conversion</a:t>
            </a:r>
            <a:endParaRPr lang="en-US" sz="675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4688" y="2664619"/>
            <a:ext cx="2714625" cy="314325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3598521" y="2664619"/>
            <a:ext cx="587788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03061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395</a:t>
            </a:r>
            <a:endParaRPr lang="en-US" sz="2025" dirty="0"/>
          </a:p>
        </p:txBody>
      </p:sp>
      <p:sp>
        <p:nvSpPr>
          <p:cNvPr id="38" name="Text 32"/>
          <p:cNvSpPr/>
          <p:nvPr/>
        </p:nvSpPr>
        <p:spPr>
          <a:xfrm>
            <a:off x="4214955" y="2675334"/>
            <a:ext cx="1416248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</a:t>
            </a:r>
            <a:endParaRPr lang="en-US" sz="1125" dirty="0"/>
          </a:p>
        </p:txBody>
      </p:sp>
      <p:sp>
        <p:nvSpPr>
          <p:cNvPr id="39" name="Text 33"/>
          <p:cNvSpPr/>
          <p:nvPr/>
        </p:nvSpPr>
        <p:spPr>
          <a:xfrm>
            <a:off x="4214955" y="2861072"/>
            <a:ext cx="1416248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060D2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Paid conversions &amp; closed deals</a:t>
            </a:r>
            <a:endParaRPr lang="en-US" sz="73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76152" y="285750"/>
            <a:ext cx="991624" cy="192881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3876127" y="285750"/>
            <a:ext cx="1391674" cy="1928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SOCIAL PROOF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2682121" y="578644"/>
            <a:ext cx="3779687" cy="3786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11182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Trusted by 500+ Companies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2700909" y="1000125"/>
            <a:ext cx="3742111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44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startups to Fortune 500, teams rely on us to power their workflows</a:t>
            </a:r>
            <a:endParaRPr lang="en-US" sz="844" dirty="0"/>
          </a:p>
        </p:txBody>
      </p:sp>
      <p:sp>
        <p:nvSpPr>
          <p:cNvPr id="6" name="Shape 4"/>
          <p:cNvSpPr/>
          <p:nvPr/>
        </p:nvSpPr>
        <p:spPr>
          <a:xfrm>
            <a:off x="1357313" y="13501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64456" y="135731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4285F4"/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1364456" y="137874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1357313" y="13501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4285F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Acme Corp</a:t>
            </a:r>
            <a:endParaRPr lang="en-US" sz="844" dirty="0"/>
          </a:p>
        </p:txBody>
      </p:sp>
      <p:sp>
        <p:nvSpPr>
          <p:cNvPr id="10" name="Shape 8"/>
          <p:cNvSpPr/>
          <p:nvPr/>
        </p:nvSpPr>
        <p:spPr>
          <a:xfrm>
            <a:off x="2993231" y="13501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00375" y="135731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1DA1F2"/>
          </a:solidFill>
          <a:ln>
            <a:noFill/>
          </a:ln>
        </p:spPr>
      </p:sp>
      <p:sp>
        <p:nvSpPr>
          <p:cNvPr id="12" name="Shape 10"/>
          <p:cNvSpPr/>
          <p:nvPr/>
        </p:nvSpPr>
        <p:spPr>
          <a:xfrm>
            <a:off x="3000375" y="137874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3" name="Text 11"/>
          <p:cNvSpPr/>
          <p:nvPr/>
        </p:nvSpPr>
        <p:spPr>
          <a:xfrm>
            <a:off x="2993231" y="13501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1DA1F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</a:t>
            </a:r>
            <a:endParaRPr lang="en-US" sz="844" dirty="0"/>
          </a:p>
        </p:txBody>
      </p:sp>
      <p:sp>
        <p:nvSpPr>
          <p:cNvPr id="14" name="Shape 12"/>
          <p:cNvSpPr/>
          <p:nvPr/>
        </p:nvSpPr>
        <p:spPr>
          <a:xfrm>
            <a:off x="4629150" y="13501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36294" y="135731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FF6900"/>
          </a:solidFill>
          <a:ln>
            <a:noFill/>
          </a:ln>
        </p:spPr>
      </p:sp>
      <p:sp>
        <p:nvSpPr>
          <p:cNvPr id="16" name="Shape 14"/>
          <p:cNvSpPr/>
          <p:nvPr/>
        </p:nvSpPr>
        <p:spPr>
          <a:xfrm>
            <a:off x="4636294" y="137874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7" name="Text 15"/>
          <p:cNvSpPr/>
          <p:nvPr/>
        </p:nvSpPr>
        <p:spPr>
          <a:xfrm>
            <a:off x="4629150" y="13501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FF69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NovaTech</a:t>
            </a:r>
            <a:endParaRPr lang="en-US" sz="844" dirty="0"/>
          </a:p>
        </p:txBody>
      </p:sp>
      <p:sp>
        <p:nvSpPr>
          <p:cNvPr id="18" name="Shape 16"/>
          <p:cNvSpPr/>
          <p:nvPr/>
        </p:nvSpPr>
        <p:spPr>
          <a:xfrm>
            <a:off x="6265069" y="13501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2213" y="135731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0A66C2"/>
          </a:solidFill>
          <a:ln>
            <a:noFill/>
          </a:ln>
        </p:spPr>
      </p:sp>
      <p:sp>
        <p:nvSpPr>
          <p:cNvPr id="20" name="Shape 18"/>
          <p:cNvSpPr/>
          <p:nvPr/>
        </p:nvSpPr>
        <p:spPr>
          <a:xfrm>
            <a:off x="6272213" y="137874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1" name="Text 19"/>
          <p:cNvSpPr/>
          <p:nvPr/>
        </p:nvSpPr>
        <p:spPr>
          <a:xfrm>
            <a:off x="6265069" y="13501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0A66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BlueShift</a:t>
            </a:r>
            <a:endParaRPr lang="en-US" sz="844" dirty="0"/>
          </a:p>
        </p:txBody>
      </p:sp>
      <p:sp>
        <p:nvSpPr>
          <p:cNvPr id="22" name="Shape 20"/>
          <p:cNvSpPr/>
          <p:nvPr/>
        </p:nvSpPr>
        <p:spPr>
          <a:xfrm>
            <a:off x="1357313" y="197881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64456" y="198596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7B68EE"/>
          </a:solidFill>
          <a:ln>
            <a:noFill/>
          </a:ln>
        </p:spPr>
      </p:sp>
      <p:sp>
        <p:nvSpPr>
          <p:cNvPr id="24" name="Shape 22"/>
          <p:cNvSpPr/>
          <p:nvPr/>
        </p:nvSpPr>
        <p:spPr>
          <a:xfrm>
            <a:off x="1364456" y="200739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5" name="Text 23"/>
          <p:cNvSpPr/>
          <p:nvPr/>
        </p:nvSpPr>
        <p:spPr>
          <a:xfrm>
            <a:off x="1357313" y="197881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7B68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Quantum AI</a:t>
            </a:r>
            <a:endParaRPr lang="en-US" sz="844" dirty="0"/>
          </a:p>
        </p:txBody>
      </p:sp>
      <p:sp>
        <p:nvSpPr>
          <p:cNvPr id="26" name="Shape 24"/>
          <p:cNvSpPr/>
          <p:nvPr/>
        </p:nvSpPr>
        <p:spPr>
          <a:xfrm>
            <a:off x="2993231" y="197881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00375" y="198596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E11D48"/>
          </a:solidFill>
          <a:ln>
            <a:noFill/>
          </a:ln>
        </p:spPr>
      </p:sp>
      <p:sp>
        <p:nvSpPr>
          <p:cNvPr id="28" name="Shape 26"/>
          <p:cNvSpPr/>
          <p:nvPr/>
        </p:nvSpPr>
        <p:spPr>
          <a:xfrm>
            <a:off x="3000375" y="200739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9" name="Text 27"/>
          <p:cNvSpPr/>
          <p:nvPr/>
        </p:nvSpPr>
        <p:spPr>
          <a:xfrm>
            <a:off x="2993231" y="197881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E11D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RedPanda</a:t>
            </a:r>
            <a:endParaRPr lang="en-US" sz="844" dirty="0"/>
          </a:p>
        </p:txBody>
      </p:sp>
      <p:sp>
        <p:nvSpPr>
          <p:cNvPr id="30" name="Shape 28"/>
          <p:cNvSpPr/>
          <p:nvPr/>
        </p:nvSpPr>
        <p:spPr>
          <a:xfrm>
            <a:off x="4629150" y="197881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36294" y="198596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059669"/>
          </a:solidFill>
          <a:ln>
            <a:noFill/>
          </a:ln>
        </p:spPr>
      </p:sp>
      <p:sp>
        <p:nvSpPr>
          <p:cNvPr id="32" name="Shape 30"/>
          <p:cNvSpPr/>
          <p:nvPr/>
        </p:nvSpPr>
        <p:spPr>
          <a:xfrm>
            <a:off x="4636294" y="200739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3" name="Text 31"/>
          <p:cNvSpPr/>
          <p:nvPr/>
        </p:nvSpPr>
        <p:spPr>
          <a:xfrm>
            <a:off x="4629150" y="197881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0596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EverGreen</a:t>
            </a:r>
            <a:endParaRPr lang="en-US" sz="844" dirty="0"/>
          </a:p>
        </p:txBody>
      </p:sp>
      <p:sp>
        <p:nvSpPr>
          <p:cNvPr id="34" name="Shape 32"/>
          <p:cNvSpPr/>
          <p:nvPr/>
        </p:nvSpPr>
        <p:spPr>
          <a:xfrm>
            <a:off x="6265069" y="197881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72213" y="198596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36" name="Shape 34"/>
          <p:cNvSpPr/>
          <p:nvPr/>
        </p:nvSpPr>
        <p:spPr>
          <a:xfrm>
            <a:off x="6272213" y="200739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37" name="Text 35"/>
          <p:cNvSpPr/>
          <p:nvPr/>
        </p:nvSpPr>
        <p:spPr>
          <a:xfrm>
            <a:off x="6265069" y="197881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8B5C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VioletLab</a:t>
            </a:r>
            <a:endParaRPr lang="en-US" sz="844" dirty="0"/>
          </a:p>
        </p:txBody>
      </p:sp>
      <p:sp>
        <p:nvSpPr>
          <p:cNvPr id="38" name="Shape 36"/>
          <p:cNvSpPr/>
          <p:nvPr/>
        </p:nvSpPr>
        <p:spPr>
          <a:xfrm>
            <a:off x="1357313" y="26074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364456" y="261461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40" name="Shape 38"/>
          <p:cNvSpPr/>
          <p:nvPr/>
        </p:nvSpPr>
        <p:spPr>
          <a:xfrm>
            <a:off x="1364456" y="263604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1" name="Text 39"/>
          <p:cNvSpPr/>
          <p:nvPr/>
        </p:nvSpPr>
        <p:spPr>
          <a:xfrm>
            <a:off x="1357313" y="26074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SunForge</a:t>
            </a:r>
            <a:endParaRPr lang="en-US" sz="844" dirty="0"/>
          </a:p>
        </p:txBody>
      </p:sp>
      <p:sp>
        <p:nvSpPr>
          <p:cNvPr id="42" name="Shape 40"/>
          <p:cNvSpPr/>
          <p:nvPr/>
        </p:nvSpPr>
        <p:spPr>
          <a:xfrm>
            <a:off x="2993231" y="26074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000375" y="261461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06B6D4"/>
          </a:solidFill>
          <a:ln>
            <a:noFill/>
          </a:ln>
        </p:spPr>
      </p:sp>
      <p:sp>
        <p:nvSpPr>
          <p:cNvPr id="44" name="Shape 42"/>
          <p:cNvSpPr/>
          <p:nvPr/>
        </p:nvSpPr>
        <p:spPr>
          <a:xfrm>
            <a:off x="3000375" y="263604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5" name="Text 43"/>
          <p:cNvSpPr/>
          <p:nvPr/>
        </p:nvSpPr>
        <p:spPr>
          <a:xfrm>
            <a:off x="2993231" y="26074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06B6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AquaFlow</a:t>
            </a:r>
            <a:endParaRPr lang="en-US" sz="844" dirty="0"/>
          </a:p>
        </p:txBody>
      </p:sp>
      <p:sp>
        <p:nvSpPr>
          <p:cNvPr id="46" name="Shape 44"/>
          <p:cNvSpPr/>
          <p:nvPr/>
        </p:nvSpPr>
        <p:spPr>
          <a:xfrm>
            <a:off x="4629150" y="26074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36294" y="261461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EC4899"/>
          </a:solidFill>
          <a:ln>
            <a:noFill/>
          </a:ln>
        </p:spPr>
      </p:sp>
      <p:sp>
        <p:nvSpPr>
          <p:cNvPr id="48" name="Shape 46"/>
          <p:cNvSpPr/>
          <p:nvPr/>
        </p:nvSpPr>
        <p:spPr>
          <a:xfrm>
            <a:off x="4636294" y="263604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49" name="Text 47"/>
          <p:cNvSpPr/>
          <p:nvPr/>
        </p:nvSpPr>
        <p:spPr>
          <a:xfrm>
            <a:off x="4629150" y="26074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EC48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PinkCloud</a:t>
            </a:r>
            <a:endParaRPr lang="en-US" sz="844" dirty="0"/>
          </a:p>
        </p:txBody>
      </p:sp>
      <p:sp>
        <p:nvSpPr>
          <p:cNvPr id="50" name="Shape 48"/>
          <p:cNvSpPr/>
          <p:nvPr/>
        </p:nvSpPr>
        <p:spPr>
          <a:xfrm>
            <a:off x="6265069" y="2607469"/>
            <a:ext cx="1521619" cy="5143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7144" algn="in">
            <a:solidFill>
              <a:srgbClr val="E5E7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272213" y="2614613"/>
            <a:ext cx="1507331" cy="500063"/>
          </a:xfrm>
          <a:prstGeom prst="roundRect">
            <a:avLst>
              <a:gd name="adj" fmla="val 15714"/>
            </a:avLst>
          </a:prstGeom>
          <a:solidFill>
            <a:srgbClr val="14B8A6"/>
          </a:solidFill>
          <a:ln>
            <a:noFill/>
          </a:ln>
        </p:spPr>
      </p:sp>
      <p:sp>
        <p:nvSpPr>
          <p:cNvPr id="52" name="Shape 50"/>
          <p:cNvSpPr/>
          <p:nvPr/>
        </p:nvSpPr>
        <p:spPr>
          <a:xfrm>
            <a:off x="6272213" y="2636044"/>
            <a:ext cx="1507331" cy="478631"/>
          </a:xfrm>
          <a:prstGeom prst="roundRect">
            <a:avLst>
              <a:gd name="adj" fmla="val 16418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53" name="Text 51"/>
          <p:cNvSpPr/>
          <p:nvPr/>
        </p:nvSpPr>
        <p:spPr>
          <a:xfrm>
            <a:off x="6265069" y="2607469"/>
            <a:ext cx="1521619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44" b="1" dirty="0">
                <a:solidFill>
                  <a:srgbClr val="14B8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TealStack</a:t>
            </a:r>
            <a:endParaRPr lang="en-US" sz="844" dirty="0"/>
          </a:p>
        </p:txBody>
      </p:sp>
      <p:sp>
        <p:nvSpPr>
          <p:cNvPr id="54" name="Text 52"/>
          <p:cNvSpPr/>
          <p:nvPr/>
        </p:nvSpPr>
        <p:spPr>
          <a:xfrm>
            <a:off x="1465612" y="3321844"/>
            <a:ext cx="1200150" cy="2000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63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463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463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463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463" u="none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★</a:t>
            </a:r>
            <a:endParaRPr lang="en-US" sz="1463" dirty="0"/>
          </a:p>
        </p:txBody>
      </p:sp>
      <p:sp>
        <p:nvSpPr>
          <p:cNvPr id="55" name="Text 53"/>
          <p:cNvSpPr/>
          <p:nvPr/>
        </p:nvSpPr>
        <p:spPr>
          <a:xfrm>
            <a:off x="1207151" y="3564731"/>
            <a:ext cx="1716929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4.9 / 5 average rating</a:t>
            </a:r>
            <a:endParaRPr lang="en-US" sz="1238" dirty="0"/>
          </a:p>
        </p:txBody>
      </p:sp>
      <p:sp>
        <p:nvSpPr>
          <p:cNvPr id="56" name="Text 54"/>
          <p:cNvSpPr/>
          <p:nvPr/>
        </p:nvSpPr>
        <p:spPr>
          <a:xfrm>
            <a:off x="1238083" y="3764756"/>
            <a:ext cx="1654993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Based on verified customer reviews</a:t>
            </a:r>
            <a:endParaRPr lang="en-US" sz="731" dirty="0"/>
          </a:p>
        </p:txBody>
      </p:sp>
      <p:sp>
        <p:nvSpPr>
          <p:cNvPr id="57" name="Shape 55"/>
          <p:cNvSpPr/>
          <p:nvPr/>
        </p:nvSpPr>
        <p:spPr>
          <a:xfrm>
            <a:off x="3181326" y="3386138"/>
            <a:ext cx="7144" cy="4286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58" name="Text 56"/>
          <p:cNvSpPr/>
          <p:nvPr/>
        </p:nvSpPr>
        <p:spPr>
          <a:xfrm>
            <a:off x="3488507" y="3396853"/>
            <a:ext cx="1042630" cy="2786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10,000+</a:t>
            </a:r>
            <a:endParaRPr lang="en-US" sz="1800" dirty="0"/>
          </a:p>
        </p:txBody>
      </p:sp>
      <p:sp>
        <p:nvSpPr>
          <p:cNvPr id="59" name="Text 57"/>
          <p:cNvSpPr/>
          <p:nvPr/>
        </p:nvSpPr>
        <p:spPr>
          <a:xfrm>
            <a:off x="3488507" y="3689747"/>
            <a:ext cx="104263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Reviews</a:t>
            </a:r>
            <a:endParaRPr lang="en-US" sz="731" dirty="0"/>
          </a:p>
        </p:txBody>
      </p:sp>
      <p:sp>
        <p:nvSpPr>
          <p:cNvPr id="60" name="Shape 58"/>
          <p:cNvSpPr/>
          <p:nvPr/>
        </p:nvSpPr>
        <p:spPr>
          <a:xfrm>
            <a:off x="4831175" y="3386138"/>
            <a:ext cx="7144" cy="428625"/>
          </a:xfrm>
          <a:prstGeom prst="rect">
            <a:avLst/>
          </a:prstGeom>
          <a:solidFill>
            <a:srgbClr val="E5E7EB"/>
          </a:solidFill>
          <a:ln>
            <a:noFill/>
          </a:ln>
        </p:spPr>
      </p:sp>
      <p:sp>
        <p:nvSpPr>
          <p:cNvPr id="61" name="Shape 59"/>
          <p:cNvSpPr/>
          <p:nvPr/>
        </p:nvSpPr>
        <p:spPr>
          <a:xfrm>
            <a:off x="5181219" y="3493294"/>
            <a:ext cx="918972" cy="214313"/>
          </a:xfrm>
          <a:prstGeom prst="roundRect">
            <a:avLst>
              <a:gd name="adj" fmla="val 26667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62" name="Text 60"/>
          <p:cNvSpPr/>
          <p:nvPr/>
        </p:nvSpPr>
        <p:spPr>
          <a:xfrm>
            <a:off x="5395532" y="3493294"/>
            <a:ext cx="704659" cy="2143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 2 Certified</a:t>
            </a:r>
            <a:endParaRPr lang="en-US" sz="619" dirty="0"/>
          </a:p>
        </p:txBody>
      </p:sp>
      <p:sp>
        <p:nvSpPr>
          <p:cNvPr id="63" name="Shape 61"/>
          <p:cNvSpPr/>
          <p:nvPr/>
        </p:nvSpPr>
        <p:spPr>
          <a:xfrm>
            <a:off x="5295519" y="3571875"/>
            <a:ext cx="57150" cy="5715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</p:sp>
      <p:sp>
        <p:nvSpPr>
          <p:cNvPr id="64" name="Shape 62"/>
          <p:cNvSpPr/>
          <p:nvPr/>
        </p:nvSpPr>
        <p:spPr>
          <a:xfrm>
            <a:off x="6185916" y="3493294"/>
            <a:ext cx="953548" cy="214313"/>
          </a:xfrm>
          <a:prstGeom prst="roundRect">
            <a:avLst>
              <a:gd name="adj" fmla="val 26667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65" name="Text 63"/>
          <p:cNvSpPr/>
          <p:nvPr/>
        </p:nvSpPr>
        <p:spPr>
          <a:xfrm>
            <a:off x="6400229" y="3493294"/>
            <a:ext cx="739235" cy="2143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GDPR Compliant</a:t>
            </a:r>
            <a:endParaRPr lang="en-US" sz="619" dirty="0"/>
          </a:p>
        </p:txBody>
      </p:sp>
      <p:sp>
        <p:nvSpPr>
          <p:cNvPr id="66" name="Shape 64"/>
          <p:cNvSpPr/>
          <p:nvPr/>
        </p:nvSpPr>
        <p:spPr>
          <a:xfrm>
            <a:off x="6300216" y="3571875"/>
            <a:ext cx="57150" cy="571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67" name="Shape 65"/>
          <p:cNvSpPr/>
          <p:nvPr/>
        </p:nvSpPr>
        <p:spPr>
          <a:xfrm>
            <a:off x="7225260" y="3493294"/>
            <a:ext cx="711589" cy="214313"/>
          </a:xfrm>
          <a:prstGeom prst="roundRect">
            <a:avLst>
              <a:gd name="adj" fmla="val 26667"/>
            </a:avLst>
          </a:prstGeom>
          <a:solidFill>
            <a:srgbClr val="F3F4F6"/>
          </a:solidFill>
          <a:ln>
            <a:noFill/>
          </a:ln>
        </p:spPr>
      </p:sp>
      <p:sp>
        <p:nvSpPr>
          <p:cNvPr id="68" name="Text 66"/>
          <p:cNvSpPr/>
          <p:nvPr/>
        </p:nvSpPr>
        <p:spPr>
          <a:xfrm>
            <a:off x="7439573" y="3493294"/>
            <a:ext cx="497276" cy="2143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27001</a:t>
            </a:r>
            <a:endParaRPr lang="en-US" sz="619" dirty="0"/>
          </a:p>
        </p:txBody>
      </p:sp>
      <p:sp>
        <p:nvSpPr>
          <p:cNvPr id="69" name="Shape 67"/>
          <p:cNvSpPr/>
          <p:nvPr/>
        </p:nvSpPr>
        <p:spPr>
          <a:xfrm>
            <a:off x="7339560" y="3571875"/>
            <a:ext cx="57150" cy="5715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29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0" y="335756"/>
            <a:ext cx="9144000" cy="7144"/>
          </a:xfrm>
          <a:prstGeom prst="rect">
            <a:avLst/>
          </a:prstGeom>
          <a:solidFill>
            <a:srgbClr val="30363D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171450" y="125016"/>
            <a:ext cx="85725" cy="85725"/>
          </a:xfrm>
          <a:prstGeom prst="ellipse">
            <a:avLst/>
          </a:prstGeom>
          <a:solidFill>
            <a:srgbClr val="FF5F57"/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>
            <a:off x="371475" y="125016"/>
            <a:ext cx="85725" cy="85725"/>
          </a:xfrm>
          <a:prstGeom prst="ellipse">
            <a:avLst/>
          </a:prstGeom>
          <a:solidFill>
            <a:srgbClr val="FEBC2E"/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571500" y="125016"/>
            <a:ext cx="85725" cy="85725"/>
          </a:xfrm>
          <a:prstGeom prst="ellipse">
            <a:avLst/>
          </a:prstGeom>
          <a:solidFill>
            <a:srgbClr val="28C840"/>
          </a:solidFill>
          <a:ln>
            <a:noFill/>
          </a:ln>
        </p:spPr>
      </p:sp>
      <p:sp>
        <p:nvSpPr>
          <p:cNvPr id="7" name="Text 5"/>
          <p:cNvSpPr/>
          <p:nvPr/>
        </p:nvSpPr>
        <p:spPr>
          <a:xfrm>
            <a:off x="857250" y="103584"/>
            <a:ext cx="977479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api-reference.sh</a:t>
            </a:r>
            <a:endParaRPr lang="en-US" sz="731" dirty="0"/>
          </a:p>
        </p:txBody>
      </p:sp>
      <p:sp>
        <p:nvSpPr>
          <p:cNvPr id="8" name="Shape 6"/>
          <p:cNvSpPr/>
          <p:nvPr/>
        </p:nvSpPr>
        <p:spPr>
          <a:xfrm>
            <a:off x="8507778" y="96441"/>
            <a:ext cx="464772" cy="142875"/>
          </a:xfrm>
          <a:prstGeom prst="roundRect">
            <a:avLst>
              <a:gd name="adj" fmla="val 50000"/>
            </a:avLst>
          </a:prstGeom>
          <a:solidFill>
            <a:srgbClr val="238636"/>
          </a:solidFill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8414909" y="96441"/>
            <a:ext cx="650510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v2.4 API</a:t>
            </a:r>
            <a:endParaRPr lang="en-US" sz="619" dirty="0"/>
          </a:p>
        </p:txBody>
      </p:sp>
      <p:sp>
        <p:nvSpPr>
          <p:cNvPr id="10" name="Shape 8"/>
          <p:cNvSpPr/>
          <p:nvPr/>
        </p:nvSpPr>
        <p:spPr>
          <a:xfrm>
            <a:off x="0" y="342900"/>
            <a:ext cx="6286500" cy="4572000"/>
          </a:xfrm>
          <a:prstGeom prst="rect">
            <a:avLst/>
          </a:prstGeom>
          <a:solidFill>
            <a:srgbClr val="0D1117">
              <a:alpha val="0"/>
            </a:srgbClr>
          </a:solidFill>
          <a:ln>
            <a:noFill/>
          </a:ln>
        </p:spPr>
      </p:sp>
      <p:sp>
        <p:nvSpPr>
          <p:cNvPr id="11" name="Shape 9"/>
          <p:cNvSpPr/>
          <p:nvPr/>
        </p:nvSpPr>
        <p:spPr>
          <a:xfrm>
            <a:off x="6279356" y="342900"/>
            <a:ext cx="7144" cy="4572000"/>
          </a:xfrm>
          <a:prstGeom prst="rect">
            <a:avLst/>
          </a:prstGeom>
          <a:solidFill>
            <a:srgbClr val="30363D"/>
          </a:solidFill>
          <a:ln>
            <a:noFill/>
          </a:ln>
        </p:spPr>
      </p:sp>
      <p:sp>
        <p:nvSpPr>
          <p:cNvPr id="12" name="Shape 10"/>
          <p:cNvSpPr/>
          <p:nvPr/>
        </p:nvSpPr>
        <p:spPr>
          <a:xfrm>
            <a:off x="0" y="342900"/>
            <a:ext cx="6279356" cy="292894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13" name="Shape 11"/>
          <p:cNvSpPr/>
          <p:nvPr/>
        </p:nvSpPr>
        <p:spPr>
          <a:xfrm>
            <a:off x="0" y="628650"/>
            <a:ext cx="6279356" cy="7144"/>
          </a:xfrm>
          <a:prstGeom prst="rect">
            <a:avLst/>
          </a:prstGeom>
          <a:solidFill>
            <a:srgbClr val="30363D"/>
          </a:solidFill>
          <a:ln>
            <a:noFill/>
          </a:ln>
        </p:spPr>
      </p:sp>
      <p:sp>
        <p:nvSpPr>
          <p:cNvPr id="14" name="Shape 12"/>
          <p:cNvSpPr/>
          <p:nvPr/>
        </p:nvSpPr>
        <p:spPr>
          <a:xfrm>
            <a:off x="0" y="342900"/>
            <a:ext cx="508778" cy="285750"/>
          </a:xfrm>
          <a:prstGeom prst="rect">
            <a:avLst/>
          </a:prstGeom>
          <a:solidFill>
            <a:srgbClr val="0D1117"/>
          </a:solidFill>
          <a:ln>
            <a:noFill/>
          </a:ln>
        </p:spPr>
      </p:sp>
      <p:sp>
        <p:nvSpPr>
          <p:cNvPr id="15" name="Shape 13"/>
          <p:cNvSpPr/>
          <p:nvPr/>
        </p:nvSpPr>
        <p:spPr>
          <a:xfrm>
            <a:off x="0" y="614363"/>
            <a:ext cx="508778" cy="14288"/>
          </a:xfrm>
          <a:prstGeom prst="rect">
            <a:avLst/>
          </a:prstGeom>
          <a:solidFill>
            <a:srgbClr val="F78166"/>
          </a:solidFill>
          <a:ln>
            <a:noFill/>
          </a:ln>
        </p:spPr>
      </p:sp>
      <p:sp>
        <p:nvSpPr>
          <p:cNvPr id="16" name="Text 14"/>
          <p:cNvSpPr/>
          <p:nvPr/>
        </p:nvSpPr>
        <p:spPr>
          <a:xfrm>
            <a:off x="0" y="342900"/>
            <a:ext cx="508778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1" dirty="0">
                <a:solidFill>
                  <a:srgbClr val="F0F6FC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cURL</a:t>
            </a:r>
            <a:endParaRPr lang="en-US" sz="731" dirty="0"/>
          </a:p>
        </p:txBody>
      </p:sp>
      <p:sp>
        <p:nvSpPr>
          <p:cNvPr id="17" name="Shape 15"/>
          <p:cNvSpPr/>
          <p:nvPr/>
        </p:nvSpPr>
        <p:spPr>
          <a:xfrm>
            <a:off x="508778" y="342900"/>
            <a:ext cx="620149" cy="285750"/>
          </a:xfrm>
          <a:prstGeom prst="rect">
            <a:avLst/>
          </a:prstGeom>
          <a:solidFill>
            <a:srgbClr val="161B22">
              <a:alpha val="0"/>
            </a:srgbClr>
          </a:solidFill>
          <a:ln>
            <a:noFill/>
          </a:ln>
        </p:spPr>
      </p:sp>
      <p:sp>
        <p:nvSpPr>
          <p:cNvPr id="18" name="Text 16"/>
          <p:cNvSpPr/>
          <p:nvPr/>
        </p:nvSpPr>
        <p:spPr>
          <a:xfrm>
            <a:off x="508778" y="342900"/>
            <a:ext cx="620149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1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Python</a:t>
            </a:r>
            <a:endParaRPr lang="en-US" sz="731" dirty="0"/>
          </a:p>
        </p:txBody>
      </p:sp>
      <p:sp>
        <p:nvSpPr>
          <p:cNvPr id="19" name="Shape 17"/>
          <p:cNvSpPr/>
          <p:nvPr/>
        </p:nvSpPr>
        <p:spPr>
          <a:xfrm>
            <a:off x="1128927" y="342900"/>
            <a:ext cx="843105" cy="285750"/>
          </a:xfrm>
          <a:prstGeom prst="rect">
            <a:avLst/>
          </a:prstGeom>
          <a:solidFill>
            <a:srgbClr val="161B22">
              <a:alpha val="0"/>
            </a:srgbClr>
          </a:solidFill>
          <a:ln>
            <a:noFill/>
          </a:ln>
        </p:spPr>
      </p:sp>
      <p:sp>
        <p:nvSpPr>
          <p:cNvPr id="20" name="Text 18"/>
          <p:cNvSpPr/>
          <p:nvPr/>
        </p:nvSpPr>
        <p:spPr>
          <a:xfrm>
            <a:off x="1128927" y="342900"/>
            <a:ext cx="843105" cy="2857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1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JavaScript</a:t>
            </a:r>
            <a:endParaRPr lang="en-US" sz="731" dirty="0"/>
          </a:p>
        </p:txBody>
      </p:sp>
      <p:sp>
        <p:nvSpPr>
          <p:cNvPr id="21" name="Text 19"/>
          <p:cNvSpPr/>
          <p:nvPr/>
        </p:nvSpPr>
        <p:spPr>
          <a:xfrm>
            <a:off x="171450" y="778669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</a:t>
            </a:r>
            <a:pPr algn="l" indent="0" marL="0">
              <a:lnSpc>
                <a:spcPct val="141667"/>
              </a:lnSpc>
              <a:buNone/>
            </a:pPr>
            <a:r>
              <a:rPr lang="en-US" sz="731" i="1" u="none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# Create a new user with team assignment</a:t>
            </a:r>
            <a:endParaRPr lang="en-US" sz="731" dirty="0"/>
          </a:p>
        </p:txBody>
      </p:sp>
      <p:sp>
        <p:nvSpPr>
          <p:cNvPr id="22" name="Text 20"/>
          <p:cNvSpPr/>
          <p:nvPr/>
        </p:nvSpPr>
        <p:spPr>
          <a:xfrm>
            <a:off x="171450" y="936474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FF7B7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curl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-X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POST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\</a:t>
            </a:r>
            <a:endParaRPr lang="en-US" sz="731" dirty="0"/>
          </a:p>
        </p:txBody>
      </p:sp>
      <p:sp>
        <p:nvSpPr>
          <p:cNvPr id="23" name="Text 21"/>
          <p:cNvSpPr/>
          <p:nvPr/>
        </p:nvSpPr>
        <p:spPr>
          <a:xfrm>
            <a:off x="171450" y="1094351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3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"https://api.example.com/v2/users"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\</a:t>
            </a:r>
            <a:endParaRPr lang="en-US" sz="731" dirty="0"/>
          </a:p>
        </p:txBody>
      </p:sp>
      <p:sp>
        <p:nvSpPr>
          <p:cNvPr id="24" name="Text 22"/>
          <p:cNvSpPr/>
          <p:nvPr/>
        </p:nvSpPr>
        <p:spPr>
          <a:xfrm>
            <a:off x="171450" y="1252157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4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-H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"Authorization: Bearer sk_live_..."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\</a:t>
            </a:r>
            <a:endParaRPr lang="en-US" sz="731" dirty="0"/>
          </a:p>
        </p:txBody>
      </p:sp>
      <p:sp>
        <p:nvSpPr>
          <p:cNvPr id="25" name="Text 23"/>
          <p:cNvSpPr/>
          <p:nvPr/>
        </p:nvSpPr>
        <p:spPr>
          <a:xfrm>
            <a:off x="171450" y="1410033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5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-H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"Content-Type: application/json"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\</a:t>
            </a:r>
            <a:endParaRPr lang="en-US" sz="731" dirty="0"/>
          </a:p>
        </p:txBody>
      </p:sp>
      <p:sp>
        <p:nvSpPr>
          <p:cNvPr id="26" name="Text 24"/>
          <p:cNvSpPr/>
          <p:nvPr/>
        </p:nvSpPr>
        <p:spPr>
          <a:xfrm>
            <a:off x="171450" y="1567839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6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-d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'{'</a:t>
            </a:r>
            <a:endParaRPr lang="en-US" sz="731" dirty="0"/>
          </a:p>
        </p:txBody>
      </p:sp>
      <p:sp>
        <p:nvSpPr>
          <p:cNvPr id="27" name="Text 25"/>
          <p:cNvSpPr/>
          <p:nvPr/>
        </p:nvSpPr>
        <p:spPr>
          <a:xfrm>
            <a:off x="171450" y="1725644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7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"name"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"Jane Cooper"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731" dirty="0"/>
          </a:p>
        </p:txBody>
      </p:sp>
      <p:sp>
        <p:nvSpPr>
          <p:cNvPr id="28" name="Text 26"/>
          <p:cNvSpPr/>
          <p:nvPr/>
        </p:nvSpPr>
        <p:spPr>
          <a:xfrm>
            <a:off x="171450" y="1883521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8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"email"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"jane@acme.co"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731" dirty="0"/>
          </a:p>
        </p:txBody>
      </p:sp>
      <p:sp>
        <p:nvSpPr>
          <p:cNvPr id="29" name="Text 27"/>
          <p:cNvSpPr/>
          <p:nvPr/>
        </p:nvSpPr>
        <p:spPr>
          <a:xfrm>
            <a:off x="171450" y="2041327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9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"role"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"admin"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731" dirty="0"/>
          </a:p>
        </p:txBody>
      </p:sp>
      <p:sp>
        <p:nvSpPr>
          <p:cNvPr id="30" name="Text 28"/>
          <p:cNvSpPr/>
          <p:nvPr/>
        </p:nvSpPr>
        <p:spPr>
          <a:xfrm>
            <a:off x="171450" y="2199132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10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"team_id"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"team_8x92k"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731" dirty="0"/>
          </a:p>
        </p:txBody>
      </p:sp>
      <p:sp>
        <p:nvSpPr>
          <p:cNvPr id="31" name="Text 29"/>
          <p:cNvSpPr/>
          <p:nvPr/>
        </p:nvSpPr>
        <p:spPr>
          <a:xfrm>
            <a:off x="171450" y="2357009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11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"permissions"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[</a:t>
            </a:r>
            <a:endParaRPr lang="en-US" sz="731" dirty="0"/>
          </a:p>
        </p:txBody>
      </p:sp>
      <p:sp>
        <p:nvSpPr>
          <p:cNvPr id="32" name="Text 30"/>
          <p:cNvSpPr/>
          <p:nvPr/>
        </p:nvSpPr>
        <p:spPr>
          <a:xfrm>
            <a:off x="171450" y="2514814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12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  "read"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"write"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"delete"</a:t>
            </a:r>
            <a:endParaRPr lang="en-US" sz="731" dirty="0"/>
          </a:p>
        </p:txBody>
      </p:sp>
      <p:sp>
        <p:nvSpPr>
          <p:cNvPr id="33" name="Text 31"/>
          <p:cNvSpPr/>
          <p:nvPr/>
        </p:nvSpPr>
        <p:spPr>
          <a:xfrm>
            <a:off x="171450" y="2672691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13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],</a:t>
            </a:r>
            <a:endParaRPr lang="en-US" sz="731" dirty="0"/>
          </a:p>
        </p:txBody>
      </p:sp>
      <p:sp>
        <p:nvSpPr>
          <p:cNvPr id="34" name="Text 32"/>
          <p:cNvSpPr/>
          <p:nvPr/>
        </p:nvSpPr>
        <p:spPr>
          <a:xfrm>
            <a:off x="171450" y="2830497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14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"metadata"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{</a:t>
            </a:r>
            <a:endParaRPr lang="en-US" sz="731" dirty="0"/>
          </a:p>
        </p:txBody>
      </p:sp>
      <p:sp>
        <p:nvSpPr>
          <p:cNvPr id="35" name="Text 33"/>
          <p:cNvSpPr/>
          <p:nvPr/>
        </p:nvSpPr>
        <p:spPr>
          <a:xfrm>
            <a:off x="171450" y="2988302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15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  "source"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"onboarding"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731" dirty="0"/>
          </a:p>
        </p:txBody>
      </p:sp>
      <p:sp>
        <p:nvSpPr>
          <p:cNvPr id="36" name="Text 34"/>
          <p:cNvSpPr/>
          <p:nvPr/>
        </p:nvSpPr>
        <p:spPr>
          <a:xfrm>
            <a:off x="171450" y="3146179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16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  "plan"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"enterprise"</a:t>
            </a:r>
            <a:endParaRPr lang="en-US" sz="731" dirty="0"/>
          </a:p>
        </p:txBody>
      </p:sp>
      <p:sp>
        <p:nvSpPr>
          <p:cNvPr id="37" name="Text 35"/>
          <p:cNvSpPr/>
          <p:nvPr/>
        </p:nvSpPr>
        <p:spPr>
          <a:xfrm>
            <a:off x="171450" y="3303984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17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}</a:t>
            </a:r>
            <a:endParaRPr lang="en-US" sz="731" dirty="0"/>
          </a:p>
        </p:txBody>
      </p:sp>
      <p:sp>
        <p:nvSpPr>
          <p:cNvPr id="38" name="Text 36"/>
          <p:cNvSpPr/>
          <p:nvPr/>
        </p:nvSpPr>
        <p:spPr>
          <a:xfrm>
            <a:off x="171450" y="3461790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18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}'</a:t>
            </a:r>
            <a:endParaRPr lang="en-US" sz="731" dirty="0"/>
          </a:p>
        </p:txBody>
      </p:sp>
      <p:sp>
        <p:nvSpPr>
          <p:cNvPr id="39" name="Text 37"/>
          <p:cNvSpPr/>
          <p:nvPr/>
        </p:nvSpPr>
        <p:spPr>
          <a:xfrm>
            <a:off x="171450" y="3619667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19</a:t>
            </a:r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000000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</a:t>
            </a:r>
            <a:endParaRPr lang="en-US" sz="731" dirty="0"/>
          </a:p>
        </p:txBody>
      </p:sp>
      <p:sp>
        <p:nvSpPr>
          <p:cNvPr id="40" name="Text 38"/>
          <p:cNvSpPr/>
          <p:nvPr/>
        </p:nvSpPr>
        <p:spPr>
          <a:xfrm>
            <a:off x="171450" y="3777472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20</a:t>
            </a:r>
            <a:pPr algn="l" indent="0" marL="0">
              <a:lnSpc>
                <a:spcPct val="141667"/>
              </a:lnSpc>
              <a:buNone/>
            </a:pPr>
            <a:r>
              <a:rPr lang="en-US" sz="731" i="1" u="none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# Rate limit: 100 req/min per API key</a:t>
            </a:r>
            <a:endParaRPr lang="en-US" sz="731" dirty="0"/>
          </a:p>
        </p:txBody>
      </p:sp>
      <p:sp>
        <p:nvSpPr>
          <p:cNvPr id="41" name="Text 39"/>
          <p:cNvSpPr/>
          <p:nvPr/>
        </p:nvSpPr>
        <p:spPr>
          <a:xfrm>
            <a:off x="171450" y="3935349"/>
            <a:ext cx="6022181" cy="1578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731" u="none" dirty="0">
                <a:solidFill>
                  <a:srgbClr val="484F58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21</a:t>
            </a:r>
            <a:pPr algn="l" indent="0" marL="0">
              <a:lnSpc>
                <a:spcPct val="141667"/>
              </a:lnSpc>
              <a:buNone/>
            </a:pPr>
            <a:r>
              <a:rPr lang="en-US" sz="731" i="1" u="none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# Supports idempotency via Idempotency-Key header</a:t>
            </a:r>
            <a:endParaRPr lang="en-US" sz="731" dirty="0"/>
          </a:p>
        </p:txBody>
      </p:sp>
      <p:sp>
        <p:nvSpPr>
          <p:cNvPr id="42" name="Shape 40"/>
          <p:cNvSpPr/>
          <p:nvPr/>
        </p:nvSpPr>
        <p:spPr>
          <a:xfrm>
            <a:off x="6286500" y="342900"/>
            <a:ext cx="2857500" cy="321469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43" name="Shape 41"/>
          <p:cNvSpPr/>
          <p:nvPr/>
        </p:nvSpPr>
        <p:spPr>
          <a:xfrm>
            <a:off x="6286500" y="657225"/>
            <a:ext cx="2857500" cy="7144"/>
          </a:xfrm>
          <a:prstGeom prst="rect">
            <a:avLst/>
          </a:prstGeom>
          <a:solidFill>
            <a:srgbClr val="30363D"/>
          </a:solidFill>
          <a:ln>
            <a:noFill/>
          </a:ln>
        </p:spPr>
      </p:sp>
      <p:sp>
        <p:nvSpPr>
          <p:cNvPr id="44" name="Text 42"/>
          <p:cNvSpPr/>
          <p:nvPr/>
        </p:nvSpPr>
        <p:spPr>
          <a:xfrm>
            <a:off x="6429375" y="442913"/>
            <a:ext cx="52828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</a:t>
            </a:r>
            <a:endParaRPr lang="en-US" sz="731" dirty="0"/>
          </a:p>
        </p:txBody>
      </p:sp>
      <p:sp>
        <p:nvSpPr>
          <p:cNvPr id="45" name="Shape 43"/>
          <p:cNvSpPr/>
          <p:nvPr/>
        </p:nvSpPr>
        <p:spPr>
          <a:xfrm>
            <a:off x="8570143" y="428625"/>
            <a:ext cx="430982" cy="142875"/>
          </a:xfrm>
          <a:prstGeom prst="roundRect">
            <a:avLst>
              <a:gd name="adj" fmla="val 20000"/>
            </a:avLst>
          </a:prstGeom>
          <a:solidFill>
            <a:srgbClr val="1A4731"/>
          </a:solidFill>
          <a:ln>
            <a:noFill/>
          </a:ln>
        </p:spPr>
      </p:sp>
      <p:sp>
        <p:nvSpPr>
          <p:cNvPr id="46" name="Text 44"/>
          <p:cNvSpPr/>
          <p:nvPr/>
        </p:nvSpPr>
        <p:spPr>
          <a:xfrm>
            <a:off x="8484418" y="428625"/>
            <a:ext cx="602432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3FB95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 OK</a:t>
            </a:r>
            <a:endParaRPr lang="en-US" sz="619" dirty="0"/>
          </a:p>
        </p:txBody>
      </p:sp>
      <p:sp>
        <p:nvSpPr>
          <p:cNvPr id="47" name="Text 45"/>
          <p:cNvSpPr/>
          <p:nvPr/>
        </p:nvSpPr>
        <p:spPr>
          <a:xfrm>
            <a:off x="6429375" y="807244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{</a:t>
            </a:r>
            <a:endParaRPr lang="en-US" sz="675" dirty="0"/>
          </a:p>
        </p:txBody>
      </p:sp>
      <p:sp>
        <p:nvSpPr>
          <p:cNvPr id="48" name="Text 46"/>
          <p:cNvSpPr/>
          <p:nvPr/>
        </p:nvSpPr>
        <p:spPr>
          <a:xfrm>
            <a:off x="6429375" y="961477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"id"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"usr_a1b2c3d4"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675" dirty="0"/>
          </a:p>
        </p:txBody>
      </p:sp>
      <p:sp>
        <p:nvSpPr>
          <p:cNvPr id="49" name="Text 47"/>
          <p:cNvSpPr/>
          <p:nvPr/>
        </p:nvSpPr>
        <p:spPr>
          <a:xfrm>
            <a:off x="6429375" y="1115782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"object"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"user"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675" dirty="0"/>
          </a:p>
        </p:txBody>
      </p:sp>
      <p:sp>
        <p:nvSpPr>
          <p:cNvPr id="50" name="Text 48"/>
          <p:cNvSpPr/>
          <p:nvPr/>
        </p:nvSpPr>
        <p:spPr>
          <a:xfrm>
            <a:off x="6429375" y="1270016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"name"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"Jane Cooper"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675" dirty="0"/>
          </a:p>
        </p:txBody>
      </p:sp>
      <p:sp>
        <p:nvSpPr>
          <p:cNvPr id="51" name="Text 49"/>
          <p:cNvSpPr/>
          <p:nvPr/>
        </p:nvSpPr>
        <p:spPr>
          <a:xfrm>
            <a:off x="6429375" y="1424321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"email"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"jane@acme.co"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675" dirty="0"/>
          </a:p>
        </p:txBody>
      </p:sp>
      <p:sp>
        <p:nvSpPr>
          <p:cNvPr id="52" name="Text 50"/>
          <p:cNvSpPr/>
          <p:nvPr/>
        </p:nvSpPr>
        <p:spPr>
          <a:xfrm>
            <a:off x="6429375" y="1578554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"role"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"admin"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675" dirty="0"/>
          </a:p>
        </p:txBody>
      </p:sp>
      <p:sp>
        <p:nvSpPr>
          <p:cNvPr id="53" name="Text 51"/>
          <p:cNvSpPr/>
          <p:nvPr/>
        </p:nvSpPr>
        <p:spPr>
          <a:xfrm>
            <a:off x="6429375" y="1732788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"team"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{</a:t>
            </a:r>
            <a:endParaRPr lang="en-US" sz="675" dirty="0"/>
          </a:p>
        </p:txBody>
      </p:sp>
      <p:sp>
        <p:nvSpPr>
          <p:cNvPr id="54" name="Text 52"/>
          <p:cNvSpPr/>
          <p:nvPr/>
        </p:nvSpPr>
        <p:spPr>
          <a:xfrm>
            <a:off x="6429375" y="1887093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"id"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"team_8x92k"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675" dirty="0"/>
          </a:p>
        </p:txBody>
      </p:sp>
      <p:sp>
        <p:nvSpPr>
          <p:cNvPr id="55" name="Text 53"/>
          <p:cNvSpPr/>
          <p:nvPr/>
        </p:nvSpPr>
        <p:spPr>
          <a:xfrm>
            <a:off x="6429375" y="2041327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"name"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"Engineering"</a:t>
            </a:r>
            <a:endParaRPr lang="en-US" sz="675" dirty="0"/>
          </a:p>
        </p:txBody>
      </p:sp>
      <p:sp>
        <p:nvSpPr>
          <p:cNvPr id="56" name="Text 54"/>
          <p:cNvSpPr/>
          <p:nvPr/>
        </p:nvSpPr>
        <p:spPr>
          <a:xfrm>
            <a:off x="6429375" y="2195560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},</a:t>
            </a:r>
            <a:endParaRPr lang="en-US" sz="675" dirty="0"/>
          </a:p>
        </p:txBody>
      </p:sp>
      <p:sp>
        <p:nvSpPr>
          <p:cNvPr id="57" name="Text 55"/>
          <p:cNvSpPr/>
          <p:nvPr/>
        </p:nvSpPr>
        <p:spPr>
          <a:xfrm>
            <a:off x="6429375" y="2349865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"permissions"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[</a:t>
            </a:r>
            <a:endParaRPr lang="en-US" sz="675" dirty="0"/>
          </a:p>
        </p:txBody>
      </p:sp>
      <p:sp>
        <p:nvSpPr>
          <p:cNvPr id="58" name="Text 56"/>
          <p:cNvSpPr/>
          <p:nvPr/>
        </p:nvSpPr>
        <p:spPr>
          <a:xfrm>
            <a:off x="6429375" y="2504099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"read"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"write"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A5D6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"delete"</a:t>
            </a:r>
            <a:endParaRPr lang="en-US" sz="675" dirty="0"/>
          </a:p>
        </p:txBody>
      </p:sp>
      <p:sp>
        <p:nvSpPr>
          <p:cNvPr id="59" name="Text 57"/>
          <p:cNvSpPr/>
          <p:nvPr/>
        </p:nvSpPr>
        <p:spPr>
          <a:xfrm>
            <a:off x="6429375" y="2658404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],</a:t>
            </a:r>
            <a:endParaRPr lang="en-US" sz="675" dirty="0"/>
          </a:p>
        </p:txBody>
      </p:sp>
      <p:sp>
        <p:nvSpPr>
          <p:cNvPr id="60" name="Text 58"/>
          <p:cNvSpPr/>
          <p:nvPr/>
        </p:nvSpPr>
        <p:spPr>
          <a:xfrm>
            <a:off x="6429375" y="2812637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"created_at"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FFA657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1712956800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675" dirty="0"/>
          </a:p>
        </p:txBody>
      </p:sp>
      <p:sp>
        <p:nvSpPr>
          <p:cNvPr id="61" name="Text 59"/>
          <p:cNvSpPr/>
          <p:nvPr/>
        </p:nvSpPr>
        <p:spPr>
          <a:xfrm>
            <a:off x="6429375" y="2966871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"active"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FF7B7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true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,</a:t>
            </a:r>
            <a:endParaRPr lang="en-US" sz="675" dirty="0"/>
          </a:p>
        </p:txBody>
      </p:sp>
      <p:sp>
        <p:nvSpPr>
          <p:cNvPr id="62" name="Text 60"/>
          <p:cNvSpPr/>
          <p:nvPr/>
        </p:nvSpPr>
        <p:spPr>
          <a:xfrm>
            <a:off x="6429375" y="3121176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  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79C0F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"mfa_enabled"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: </a:t>
            </a:r>
            <a:pPr algn="l" indent="0" marL="0">
              <a:lnSpc>
                <a:spcPct val="150000"/>
              </a:lnSpc>
              <a:buNone/>
            </a:pPr>
            <a:r>
              <a:rPr lang="en-US" sz="675" u="none" dirty="0">
                <a:solidFill>
                  <a:srgbClr val="FF7B72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false</a:t>
            </a:r>
            <a:endParaRPr lang="en-US" sz="675" dirty="0"/>
          </a:p>
        </p:txBody>
      </p:sp>
      <p:sp>
        <p:nvSpPr>
          <p:cNvPr id="63" name="Text 61"/>
          <p:cNvSpPr/>
          <p:nvPr/>
        </p:nvSpPr>
        <p:spPr>
          <a:xfrm>
            <a:off x="6429375" y="3275409"/>
            <a:ext cx="2657475" cy="15423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675" dirty="0">
                <a:solidFill>
                  <a:srgbClr val="C9D1D9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}</a:t>
            </a:r>
            <a:endParaRPr lang="en-US" sz="675" dirty="0"/>
          </a:p>
        </p:txBody>
      </p:sp>
      <p:sp>
        <p:nvSpPr>
          <p:cNvPr id="64" name="Shape 6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161B22"/>
          </a:solidFill>
          <a:ln>
            <a:noFill/>
          </a:ln>
        </p:spPr>
      </p:sp>
      <p:sp>
        <p:nvSpPr>
          <p:cNvPr id="65" name="Shape 63"/>
          <p:cNvSpPr/>
          <p:nvPr/>
        </p:nvSpPr>
        <p:spPr>
          <a:xfrm>
            <a:off x="0" y="4914900"/>
            <a:ext cx="9144000" cy="7144"/>
          </a:xfrm>
          <a:prstGeom prst="rect">
            <a:avLst/>
          </a:prstGeom>
          <a:solidFill>
            <a:srgbClr val="30363D"/>
          </a:solidFill>
          <a:ln>
            <a:noFill/>
          </a:ln>
        </p:spPr>
      </p:sp>
      <p:sp>
        <p:nvSpPr>
          <p:cNvPr id="66" name="Text 64"/>
          <p:cNvSpPr/>
          <p:nvPr/>
        </p:nvSpPr>
        <p:spPr>
          <a:xfrm>
            <a:off x="214313" y="4979194"/>
            <a:ext cx="510207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u="none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Connected</a:t>
            </a:r>
            <a:endParaRPr lang="en-US" sz="619" dirty="0"/>
          </a:p>
        </p:txBody>
      </p:sp>
      <p:sp>
        <p:nvSpPr>
          <p:cNvPr id="67" name="Shape 65"/>
          <p:cNvSpPr/>
          <p:nvPr/>
        </p:nvSpPr>
        <p:spPr>
          <a:xfrm>
            <a:off x="114300" y="5004197"/>
            <a:ext cx="57150" cy="5715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</p:sp>
      <p:sp>
        <p:nvSpPr>
          <p:cNvPr id="68" name="Text 66"/>
          <p:cNvSpPr/>
          <p:nvPr/>
        </p:nvSpPr>
        <p:spPr>
          <a:xfrm>
            <a:off x="781669" y="4979194"/>
            <a:ext cx="698873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Latency: 42ms</a:t>
            </a:r>
            <a:endParaRPr lang="en-US" sz="619" dirty="0"/>
          </a:p>
        </p:txBody>
      </p:sp>
      <p:sp>
        <p:nvSpPr>
          <p:cNvPr id="69" name="Text 67"/>
          <p:cNvSpPr/>
          <p:nvPr/>
        </p:nvSpPr>
        <p:spPr>
          <a:xfrm>
            <a:off x="1537692" y="4979194"/>
            <a:ext cx="887397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Region: us-east-1</a:t>
            </a:r>
            <a:endParaRPr lang="en-US" sz="619" dirty="0"/>
          </a:p>
        </p:txBody>
      </p:sp>
      <p:sp>
        <p:nvSpPr>
          <p:cNvPr id="70" name="Text 68"/>
          <p:cNvSpPr/>
          <p:nvPr/>
        </p:nvSpPr>
        <p:spPr>
          <a:xfrm>
            <a:off x="7520726" y="4979194"/>
            <a:ext cx="1594699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dirty="0">
                <a:solidFill>
                  <a:srgbClr val="8B949E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UTF-8   |   JSON   |   REST v2.4</a:t>
            </a:r>
            <a:endParaRPr lang="en-US" sz="619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400050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200025" y="0"/>
            <a:ext cx="4171950" cy="4000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</a:t>
            </a:r>
            <a:pPr algn="l" indent="0" marL="0">
              <a:lnSpc>
                <a:spcPct val="120000"/>
              </a:lnSpc>
              <a:buNone/>
            </a:pPr>
            <a:r>
              <a:rPr lang="en-US" sz="1013" b="1" u="none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Legacy Dashboard v1</a:t>
            </a:r>
            <a:endParaRPr lang="en-US" sz="619" dirty="0"/>
          </a:p>
        </p:txBody>
      </p:sp>
      <p:sp>
        <p:nvSpPr>
          <p:cNvPr id="4" name="Shape 2"/>
          <p:cNvSpPr/>
          <p:nvPr/>
        </p:nvSpPr>
        <p:spPr>
          <a:xfrm>
            <a:off x="0" y="400050"/>
            <a:ext cx="4572000" cy="4743450"/>
          </a:xfrm>
          <a:prstGeom prst="rect">
            <a:avLst/>
          </a:prstGeom>
          <a:solidFill>
            <a:srgbClr val="FEF2F2"/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>
            <a:off x="171450" y="542925"/>
            <a:ext cx="4229100" cy="257175"/>
          </a:xfrm>
          <a:prstGeom prst="roundRect">
            <a:avLst>
              <a:gd name="adj" fmla="val 16667"/>
            </a:avLst>
          </a:prstGeom>
          <a:solidFill>
            <a:srgbClr val="000000">
              <a:alpha val="6000"/>
            </a:srgbClr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257175" y="635794"/>
            <a:ext cx="428625" cy="71438"/>
          </a:xfrm>
          <a:prstGeom prst="roundRect">
            <a:avLst>
              <a:gd name="adj" fmla="val 30000"/>
            </a:avLst>
          </a:prstGeom>
          <a:solidFill>
            <a:srgbClr val="000000">
              <a:alpha val="10000"/>
            </a:srgbClr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742950" y="635794"/>
            <a:ext cx="285750" cy="71438"/>
          </a:xfrm>
          <a:prstGeom prst="roundRect">
            <a:avLst>
              <a:gd name="adj" fmla="val 30000"/>
            </a:avLst>
          </a:prstGeom>
          <a:solidFill>
            <a:srgbClr val="000000">
              <a:alpha val="10000"/>
            </a:srgbClr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1085850" y="635794"/>
            <a:ext cx="571500" cy="71438"/>
          </a:xfrm>
          <a:prstGeom prst="roundRect">
            <a:avLst>
              <a:gd name="adj" fmla="val 30000"/>
            </a:avLst>
          </a:prstGeom>
          <a:solidFill>
            <a:srgbClr val="000000">
              <a:alpha val="10000"/>
            </a:srgbClr>
          </a:solidFill>
          <a:ln>
            <a:noFill/>
          </a:ln>
        </p:spPr>
      </p:sp>
      <p:sp>
        <p:nvSpPr>
          <p:cNvPr id="9" name="Shape 7"/>
          <p:cNvSpPr/>
          <p:nvPr/>
        </p:nvSpPr>
        <p:spPr>
          <a:xfrm>
            <a:off x="171450" y="900113"/>
            <a:ext cx="1352526" cy="97155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144" algn="in">
            <a:solidFill>
              <a:srgbClr val="FECACA"/>
            </a:solidFill>
            <a:prstDash val="solid"/>
          </a:ln>
          <a:effectLst>
            <a:outerShdw sx="100000" sy="100000" kx="0" ky="0" algn="bl" rotWithShape="0" blurRad="21431" dist="7144" dir="5400000">
              <a:srgbClr val="DC2626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8606" y="1007269"/>
            <a:ext cx="122393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TIME</a:t>
            </a:r>
            <a:endParaRPr lang="en-US" sz="563" dirty="0"/>
          </a:p>
        </p:txBody>
      </p:sp>
      <p:sp>
        <p:nvSpPr>
          <p:cNvPr id="11" name="Text 9"/>
          <p:cNvSpPr/>
          <p:nvPr/>
        </p:nvSpPr>
        <p:spPr>
          <a:xfrm>
            <a:off x="278606" y="1135856"/>
            <a:ext cx="1223939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4.2s</a:t>
            </a:r>
            <a:endParaRPr lang="en-US" sz="1238" dirty="0"/>
          </a:p>
        </p:txBody>
      </p:sp>
      <p:sp>
        <p:nvSpPr>
          <p:cNvPr id="12" name="Text 10"/>
          <p:cNvSpPr/>
          <p:nvPr/>
        </p:nvSpPr>
        <p:spPr>
          <a:xfrm>
            <a:off x="278606" y="1350169"/>
            <a:ext cx="122393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180% slower</a:t>
            </a:r>
            <a:endParaRPr lang="en-US" sz="619" dirty="0"/>
          </a:p>
        </p:txBody>
      </p:sp>
      <p:sp>
        <p:nvSpPr>
          <p:cNvPr id="13" name="Shape 11"/>
          <p:cNvSpPr/>
          <p:nvPr/>
        </p:nvSpPr>
        <p:spPr>
          <a:xfrm>
            <a:off x="1609701" y="900113"/>
            <a:ext cx="1352598" cy="97155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144" algn="in">
            <a:solidFill>
              <a:srgbClr val="FECACA"/>
            </a:solidFill>
            <a:prstDash val="solid"/>
          </a:ln>
          <a:effectLst>
            <a:outerShdw sx="100000" sy="100000" kx="0" ky="0" algn="bl" rotWithShape="0" blurRad="21431" dist="7144" dir="5400000">
              <a:srgbClr val="DC2626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716857" y="1007269"/>
            <a:ext cx="1224010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RATE</a:t>
            </a:r>
            <a:endParaRPr lang="en-US" sz="563" dirty="0"/>
          </a:p>
        </p:txBody>
      </p:sp>
      <p:sp>
        <p:nvSpPr>
          <p:cNvPr id="15" name="Text 13"/>
          <p:cNvSpPr/>
          <p:nvPr/>
        </p:nvSpPr>
        <p:spPr>
          <a:xfrm>
            <a:off x="1716857" y="1135856"/>
            <a:ext cx="1224010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12.4%</a:t>
            </a:r>
            <a:endParaRPr lang="en-US" sz="1238" dirty="0"/>
          </a:p>
        </p:txBody>
      </p:sp>
      <p:sp>
        <p:nvSpPr>
          <p:cNvPr id="16" name="Text 14"/>
          <p:cNvSpPr/>
          <p:nvPr/>
        </p:nvSpPr>
        <p:spPr>
          <a:xfrm>
            <a:off x="1716857" y="1350169"/>
            <a:ext cx="122401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Critical</a:t>
            </a:r>
            <a:endParaRPr lang="en-US" sz="619" dirty="0"/>
          </a:p>
        </p:txBody>
      </p:sp>
      <p:sp>
        <p:nvSpPr>
          <p:cNvPr id="17" name="Shape 15"/>
          <p:cNvSpPr/>
          <p:nvPr/>
        </p:nvSpPr>
        <p:spPr>
          <a:xfrm>
            <a:off x="3048024" y="900113"/>
            <a:ext cx="1352526" cy="97155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144" algn="in">
            <a:solidFill>
              <a:srgbClr val="FECACA"/>
            </a:solidFill>
            <a:prstDash val="solid"/>
          </a:ln>
          <a:effectLst>
            <a:outerShdw sx="100000" sy="100000" kx="0" ky="0" algn="bl" rotWithShape="0" blurRad="21431" dist="7144" dir="5400000">
              <a:srgbClr val="DC2626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155180" y="1007269"/>
            <a:ext cx="122393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SATISFACTION</a:t>
            </a:r>
            <a:endParaRPr lang="en-US" sz="563" dirty="0"/>
          </a:p>
        </p:txBody>
      </p:sp>
      <p:sp>
        <p:nvSpPr>
          <p:cNvPr id="19" name="Text 17"/>
          <p:cNvSpPr/>
          <p:nvPr/>
        </p:nvSpPr>
        <p:spPr>
          <a:xfrm>
            <a:off x="3155180" y="1135856"/>
            <a:ext cx="1223939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991B1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2.1/5</a:t>
            </a:r>
            <a:endParaRPr lang="en-US" sz="1238" dirty="0"/>
          </a:p>
        </p:txBody>
      </p:sp>
      <p:sp>
        <p:nvSpPr>
          <p:cNvPr id="20" name="Text 18"/>
          <p:cNvSpPr/>
          <p:nvPr/>
        </p:nvSpPr>
        <p:spPr>
          <a:xfrm>
            <a:off x="3155180" y="1350169"/>
            <a:ext cx="122393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 Declining</a:t>
            </a:r>
            <a:endParaRPr lang="en-US" sz="619" dirty="0"/>
          </a:p>
        </p:txBody>
      </p:sp>
      <p:sp>
        <p:nvSpPr>
          <p:cNvPr id="21" name="Shape 19"/>
          <p:cNvSpPr/>
          <p:nvPr/>
        </p:nvSpPr>
        <p:spPr>
          <a:xfrm>
            <a:off x="3400425" y="1971675"/>
            <a:ext cx="1000125" cy="1943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7144" algn="in">
            <a:solidFill>
              <a:srgbClr val="FECAC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93294" y="2064544"/>
            <a:ext cx="814388" cy="85725"/>
          </a:xfrm>
          <a:prstGeom prst="roundRect">
            <a:avLst>
              <a:gd name="adj" fmla="val 25000"/>
            </a:avLst>
          </a:prstGeom>
          <a:solidFill>
            <a:srgbClr val="FECACA"/>
          </a:solidFill>
          <a:ln>
            <a:noFill/>
          </a:ln>
        </p:spPr>
      </p:sp>
      <p:sp>
        <p:nvSpPr>
          <p:cNvPr id="23" name="Shape 21"/>
          <p:cNvSpPr/>
          <p:nvPr/>
        </p:nvSpPr>
        <p:spPr>
          <a:xfrm>
            <a:off x="3493294" y="2207419"/>
            <a:ext cx="570071" cy="85725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>
            <a:noFill/>
          </a:ln>
        </p:spPr>
      </p:sp>
      <p:sp>
        <p:nvSpPr>
          <p:cNvPr id="24" name="Shape 22"/>
          <p:cNvSpPr/>
          <p:nvPr/>
        </p:nvSpPr>
        <p:spPr>
          <a:xfrm>
            <a:off x="3493294" y="2350294"/>
            <a:ext cx="732877" cy="85725"/>
          </a:xfrm>
          <a:prstGeom prst="roundRect">
            <a:avLst>
              <a:gd name="adj" fmla="val 25000"/>
            </a:avLst>
          </a:prstGeom>
          <a:solidFill>
            <a:srgbClr val="FECACA"/>
          </a:solidFill>
          <a:ln>
            <a:noFill/>
          </a:ln>
        </p:spPr>
      </p:sp>
      <p:sp>
        <p:nvSpPr>
          <p:cNvPr id="25" name="Shape 23"/>
          <p:cNvSpPr/>
          <p:nvPr/>
        </p:nvSpPr>
        <p:spPr>
          <a:xfrm>
            <a:off x="3493294" y="2493169"/>
            <a:ext cx="407194" cy="85725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>
            <a:noFill/>
          </a:ln>
        </p:spPr>
      </p:sp>
      <p:sp>
        <p:nvSpPr>
          <p:cNvPr id="26" name="Shape 24"/>
          <p:cNvSpPr/>
          <p:nvPr/>
        </p:nvSpPr>
        <p:spPr>
          <a:xfrm>
            <a:off x="3493294" y="2636044"/>
            <a:ext cx="651439" cy="85725"/>
          </a:xfrm>
          <a:prstGeom prst="roundRect">
            <a:avLst>
              <a:gd name="adj" fmla="val 25000"/>
            </a:avLst>
          </a:prstGeom>
          <a:solidFill>
            <a:srgbClr val="FECACA"/>
          </a:solidFill>
          <a:ln>
            <a:noFill/>
          </a:ln>
        </p:spPr>
      </p:sp>
      <p:sp>
        <p:nvSpPr>
          <p:cNvPr id="27" name="Shape 25"/>
          <p:cNvSpPr/>
          <p:nvPr/>
        </p:nvSpPr>
        <p:spPr>
          <a:xfrm>
            <a:off x="3493294" y="2778919"/>
            <a:ext cx="488561" cy="85725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>
            <a:noFill/>
          </a:ln>
        </p:spPr>
      </p:sp>
      <p:sp>
        <p:nvSpPr>
          <p:cNvPr id="28" name="Shape 26"/>
          <p:cNvSpPr/>
          <p:nvPr/>
        </p:nvSpPr>
        <p:spPr>
          <a:xfrm>
            <a:off x="3493294" y="2921794"/>
            <a:ext cx="610791" cy="85725"/>
          </a:xfrm>
          <a:prstGeom prst="roundRect">
            <a:avLst>
              <a:gd name="adj" fmla="val 25000"/>
            </a:avLst>
          </a:prstGeom>
          <a:solidFill>
            <a:srgbClr val="FECACA"/>
          </a:solidFill>
          <a:ln>
            <a:noFill/>
          </a:ln>
        </p:spPr>
      </p:sp>
      <p:sp>
        <p:nvSpPr>
          <p:cNvPr id="29" name="Shape 27"/>
          <p:cNvSpPr/>
          <p:nvPr/>
        </p:nvSpPr>
        <p:spPr>
          <a:xfrm>
            <a:off x="3493294" y="3064669"/>
            <a:ext cx="325684" cy="85725"/>
          </a:xfrm>
          <a:prstGeom prst="roundRect">
            <a:avLst>
              <a:gd name="adj" fmla="val 25000"/>
            </a:avLst>
          </a:prstGeom>
          <a:solidFill>
            <a:srgbClr val="FEE2E2"/>
          </a:solidFill>
          <a:ln>
            <a:noFill/>
          </a:ln>
        </p:spPr>
      </p:sp>
      <p:sp>
        <p:nvSpPr>
          <p:cNvPr id="30" name="Shape 28"/>
          <p:cNvSpPr/>
          <p:nvPr/>
        </p:nvSpPr>
        <p:spPr>
          <a:xfrm>
            <a:off x="171450" y="1971675"/>
            <a:ext cx="3143250" cy="194310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7144" algn="in">
            <a:solidFill>
              <a:srgbClr val="FECA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8606" y="2078831"/>
            <a:ext cx="301466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Performance (Inconsistent)</a:t>
            </a:r>
            <a:endParaRPr lang="en-US" sz="619" dirty="0"/>
          </a:p>
        </p:txBody>
      </p:sp>
      <p:sp>
        <p:nvSpPr>
          <p:cNvPr id="32" name="Shape 30"/>
          <p:cNvSpPr/>
          <p:nvPr/>
        </p:nvSpPr>
        <p:spPr>
          <a:xfrm>
            <a:off x="278606" y="2596753"/>
            <a:ext cx="200025" cy="225028"/>
          </a:xfrm>
          <a:prstGeom prst="round2SameRect">
            <a:avLst>
              <a:gd name="adj" fmla="val 10714"/>
            </a:avLst>
          </a:prstGeom>
          <a:solidFill>
            <a:srgbClr val="F87171"/>
          </a:solidFill>
          <a:ln>
            <a:noFill/>
          </a:ln>
        </p:spPr>
      </p:sp>
      <p:sp>
        <p:nvSpPr>
          <p:cNvPr id="33" name="Shape 31"/>
          <p:cNvSpPr/>
          <p:nvPr/>
        </p:nvSpPr>
        <p:spPr>
          <a:xfrm>
            <a:off x="521494" y="2721769"/>
            <a:ext cx="200025" cy="100013"/>
          </a:xfrm>
          <a:prstGeom prst="round2SameRect">
            <a:avLst>
              <a:gd name="adj" fmla="val 21428"/>
            </a:avLst>
          </a:prstGeom>
          <a:solidFill>
            <a:srgbClr val="FCA5A5"/>
          </a:solidFill>
          <a:ln>
            <a:noFill/>
          </a:ln>
        </p:spPr>
      </p:sp>
      <p:sp>
        <p:nvSpPr>
          <p:cNvPr id="34" name="Shape 32"/>
          <p:cNvSpPr/>
          <p:nvPr/>
        </p:nvSpPr>
        <p:spPr>
          <a:xfrm>
            <a:off x="764381" y="2471738"/>
            <a:ext cx="200025" cy="350044"/>
          </a:xfrm>
          <a:prstGeom prst="round2SameRect">
            <a:avLst>
              <a:gd name="adj" fmla="val 10714"/>
            </a:avLst>
          </a:prstGeom>
          <a:solidFill>
            <a:srgbClr val="F87171"/>
          </a:solidFill>
          <a:ln>
            <a:noFill/>
          </a:ln>
        </p:spPr>
      </p:sp>
      <p:sp>
        <p:nvSpPr>
          <p:cNvPr id="35" name="Shape 33"/>
          <p:cNvSpPr/>
          <p:nvPr/>
        </p:nvSpPr>
        <p:spPr>
          <a:xfrm>
            <a:off x="1007269" y="2671763"/>
            <a:ext cx="200025" cy="150019"/>
          </a:xfrm>
          <a:prstGeom prst="round2SameRect">
            <a:avLst>
              <a:gd name="adj" fmla="val 14286"/>
            </a:avLst>
          </a:prstGeom>
          <a:solidFill>
            <a:srgbClr val="FCA5A5"/>
          </a:solidFill>
          <a:ln>
            <a:noFill/>
          </a:ln>
        </p:spPr>
      </p:sp>
      <p:sp>
        <p:nvSpPr>
          <p:cNvPr id="36" name="Shape 34"/>
          <p:cNvSpPr/>
          <p:nvPr/>
        </p:nvSpPr>
        <p:spPr>
          <a:xfrm>
            <a:off x="1250156" y="2546747"/>
            <a:ext cx="200025" cy="275034"/>
          </a:xfrm>
          <a:prstGeom prst="round2SameRect">
            <a:avLst>
              <a:gd name="adj" fmla="val 10714"/>
            </a:avLst>
          </a:prstGeom>
          <a:solidFill>
            <a:srgbClr val="F87171"/>
          </a:solidFill>
          <a:ln>
            <a:noFill/>
          </a:ln>
        </p:spPr>
      </p:sp>
      <p:sp>
        <p:nvSpPr>
          <p:cNvPr id="37" name="Shape 35"/>
          <p:cNvSpPr/>
          <p:nvPr/>
        </p:nvSpPr>
        <p:spPr>
          <a:xfrm>
            <a:off x="1493044" y="2746772"/>
            <a:ext cx="200025" cy="75009"/>
          </a:xfrm>
          <a:prstGeom prst="round2SameRect">
            <a:avLst>
              <a:gd name="adj" fmla="val 28572"/>
            </a:avLst>
          </a:prstGeom>
          <a:solidFill>
            <a:srgbClr val="FCA5A5"/>
          </a:solidFill>
          <a:ln>
            <a:noFill/>
          </a:ln>
        </p:spPr>
      </p:sp>
      <p:sp>
        <p:nvSpPr>
          <p:cNvPr id="38" name="Shape 36"/>
          <p:cNvSpPr/>
          <p:nvPr/>
        </p:nvSpPr>
        <p:spPr>
          <a:xfrm>
            <a:off x="1735931" y="2521744"/>
            <a:ext cx="200025" cy="300038"/>
          </a:xfrm>
          <a:prstGeom prst="round2SameRect">
            <a:avLst>
              <a:gd name="adj" fmla="val 10714"/>
            </a:avLst>
          </a:prstGeom>
          <a:solidFill>
            <a:srgbClr val="F87171"/>
          </a:solidFill>
          <a:ln>
            <a:noFill/>
          </a:ln>
        </p:spPr>
      </p:sp>
      <p:sp>
        <p:nvSpPr>
          <p:cNvPr id="39" name="Shape 37"/>
          <p:cNvSpPr/>
          <p:nvPr/>
        </p:nvSpPr>
        <p:spPr>
          <a:xfrm>
            <a:off x="171450" y="4014788"/>
            <a:ext cx="4229100" cy="985838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7144" algn="in">
            <a:solidFill>
              <a:srgbClr val="FECAC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78594" y="4021931"/>
            <a:ext cx="4214813" cy="200025"/>
          </a:xfrm>
          <a:prstGeom prst="rect">
            <a:avLst/>
          </a:prstGeom>
          <a:solidFill>
            <a:srgbClr val="FEE2E2"/>
          </a:solidFill>
          <a:ln>
            <a:noFill/>
          </a:ln>
        </p:spPr>
      </p:sp>
      <p:sp>
        <p:nvSpPr>
          <p:cNvPr id="41" name="Text 39"/>
          <p:cNvSpPr/>
          <p:nvPr/>
        </p:nvSpPr>
        <p:spPr>
          <a:xfrm>
            <a:off x="264319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</a:t>
            </a:r>
            <a:endParaRPr lang="en-US" sz="506" dirty="0"/>
          </a:p>
        </p:txBody>
      </p:sp>
      <p:sp>
        <p:nvSpPr>
          <p:cNvPr id="42" name="Text 40"/>
          <p:cNvSpPr/>
          <p:nvPr/>
        </p:nvSpPr>
        <p:spPr>
          <a:xfrm>
            <a:off x="1310878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506" dirty="0"/>
          </a:p>
        </p:txBody>
      </p:sp>
      <p:sp>
        <p:nvSpPr>
          <p:cNvPr id="43" name="Text 41"/>
          <p:cNvSpPr/>
          <p:nvPr/>
        </p:nvSpPr>
        <p:spPr>
          <a:xfrm>
            <a:off x="2357438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</a:t>
            </a:r>
            <a:endParaRPr lang="en-US" sz="506" dirty="0"/>
          </a:p>
        </p:txBody>
      </p:sp>
      <p:sp>
        <p:nvSpPr>
          <p:cNvPr id="44" name="Text 42"/>
          <p:cNvSpPr/>
          <p:nvPr/>
        </p:nvSpPr>
        <p:spPr>
          <a:xfrm>
            <a:off x="3403997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ERRORS</a:t>
            </a:r>
            <a:endParaRPr lang="en-US" sz="506" dirty="0"/>
          </a:p>
        </p:txBody>
      </p:sp>
      <p:sp>
        <p:nvSpPr>
          <p:cNvPr id="45" name="Shape 43"/>
          <p:cNvSpPr/>
          <p:nvPr/>
        </p:nvSpPr>
        <p:spPr>
          <a:xfrm>
            <a:off x="178594" y="4221956"/>
            <a:ext cx="4214813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46" name="Shape 44"/>
          <p:cNvSpPr/>
          <p:nvPr/>
        </p:nvSpPr>
        <p:spPr>
          <a:xfrm>
            <a:off x="178594" y="4386263"/>
            <a:ext cx="4214813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47" name="Text 45"/>
          <p:cNvSpPr/>
          <p:nvPr/>
        </p:nvSpPr>
        <p:spPr>
          <a:xfrm>
            <a:off x="264319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/api/users</a:t>
            </a:r>
            <a:endParaRPr lang="en-US" sz="563" dirty="0"/>
          </a:p>
        </p:txBody>
      </p:sp>
      <p:sp>
        <p:nvSpPr>
          <p:cNvPr id="48" name="Text 46"/>
          <p:cNvSpPr/>
          <p:nvPr/>
        </p:nvSpPr>
        <p:spPr>
          <a:xfrm>
            <a:off x="1310878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Degraded</a:t>
            </a:r>
            <a:endParaRPr lang="en-US" sz="563" dirty="0"/>
          </a:p>
        </p:txBody>
      </p:sp>
      <p:sp>
        <p:nvSpPr>
          <p:cNvPr id="49" name="Text 47"/>
          <p:cNvSpPr/>
          <p:nvPr/>
        </p:nvSpPr>
        <p:spPr>
          <a:xfrm>
            <a:off x="2357438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820ms</a:t>
            </a:r>
            <a:endParaRPr lang="en-US" sz="563" dirty="0"/>
          </a:p>
        </p:txBody>
      </p:sp>
      <p:sp>
        <p:nvSpPr>
          <p:cNvPr id="50" name="Text 48"/>
          <p:cNvSpPr/>
          <p:nvPr/>
        </p:nvSpPr>
        <p:spPr>
          <a:xfrm>
            <a:off x="3403997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47</a:t>
            </a:r>
            <a:endParaRPr lang="en-US" sz="563" dirty="0"/>
          </a:p>
        </p:txBody>
      </p:sp>
      <p:sp>
        <p:nvSpPr>
          <p:cNvPr id="51" name="Shape 49"/>
          <p:cNvSpPr/>
          <p:nvPr/>
        </p:nvSpPr>
        <p:spPr>
          <a:xfrm>
            <a:off x="178594" y="4393406"/>
            <a:ext cx="4214813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52" name="Shape 50"/>
          <p:cNvSpPr/>
          <p:nvPr/>
        </p:nvSpPr>
        <p:spPr>
          <a:xfrm>
            <a:off x="178594" y="4557713"/>
            <a:ext cx="4214813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53" name="Text 51"/>
          <p:cNvSpPr/>
          <p:nvPr/>
        </p:nvSpPr>
        <p:spPr>
          <a:xfrm>
            <a:off x="264319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/api/orders</a:t>
            </a:r>
            <a:endParaRPr lang="en-US" sz="563" dirty="0"/>
          </a:p>
        </p:txBody>
      </p:sp>
      <p:sp>
        <p:nvSpPr>
          <p:cNvPr id="54" name="Text 52"/>
          <p:cNvSpPr/>
          <p:nvPr/>
        </p:nvSpPr>
        <p:spPr>
          <a:xfrm>
            <a:off x="1310878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</a:t>
            </a:r>
            <a:endParaRPr lang="en-US" sz="563" dirty="0"/>
          </a:p>
        </p:txBody>
      </p:sp>
      <p:sp>
        <p:nvSpPr>
          <p:cNvPr id="55" name="Text 53"/>
          <p:cNvSpPr/>
          <p:nvPr/>
        </p:nvSpPr>
        <p:spPr>
          <a:xfrm>
            <a:off x="2357438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Timeout</a:t>
            </a:r>
            <a:endParaRPr lang="en-US" sz="563" dirty="0"/>
          </a:p>
        </p:txBody>
      </p:sp>
      <p:sp>
        <p:nvSpPr>
          <p:cNvPr id="56" name="Text 54"/>
          <p:cNvSpPr/>
          <p:nvPr/>
        </p:nvSpPr>
        <p:spPr>
          <a:xfrm>
            <a:off x="3403997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312</a:t>
            </a:r>
            <a:endParaRPr lang="en-US" sz="563" dirty="0"/>
          </a:p>
        </p:txBody>
      </p:sp>
      <p:sp>
        <p:nvSpPr>
          <p:cNvPr id="57" name="Shape 55"/>
          <p:cNvSpPr/>
          <p:nvPr/>
        </p:nvSpPr>
        <p:spPr>
          <a:xfrm>
            <a:off x="178594" y="4564856"/>
            <a:ext cx="4214813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58" name="Shape 56"/>
          <p:cNvSpPr/>
          <p:nvPr/>
        </p:nvSpPr>
        <p:spPr>
          <a:xfrm>
            <a:off x="178594" y="4729163"/>
            <a:ext cx="4214813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59" name="Text 57"/>
          <p:cNvSpPr/>
          <p:nvPr/>
        </p:nvSpPr>
        <p:spPr>
          <a:xfrm>
            <a:off x="264319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/api/analytics</a:t>
            </a:r>
            <a:endParaRPr lang="en-US" sz="563" dirty="0"/>
          </a:p>
        </p:txBody>
      </p:sp>
      <p:sp>
        <p:nvSpPr>
          <p:cNvPr id="60" name="Text 58"/>
          <p:cNvSpPr/>
          <p:nvPr/>
        </p:nvSpPr>
        <p:spPr>
          <a:xfrm>
            <a:off x="1310878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</a:t>
            </a:r>
            <a:endParaRPr lang="en-US" sz="563" dirty="0"/>
          </a:p>
        </p:txBody>
      </p:sp>
      <p:sp>
        <p:nvSpPr>
          <p:cNvPr id="61" name="Text 59"/>
          <p:cNvSpPr/>
          <p:nvPr/>
        </p:nvSpPr>
        <p:spPr>
          <a:xfrm>
            <a:off x="2357438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2.4s</a:t>
            </a:r>
            <a:endParaRPr lang="en-US" sz="563" dirty="0"/>
          </a:p>
        </p:txBody>
      </p:sp>
      <p:sp>
        <p:nvSpPr>
          <p:cNvPr id="62" name="Text 60"/>
          <p:cNvSpPr/>
          <p:nvPr/>
        </p:nvSpPr>
        <p:spPr>
          <a:xfrm>
            <a:off x="3403997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563" dirty="0"/>
          </a:p>
        </p:txBody>
      </p:sp>
      <p:sp>
        <p:nvSpPr>
          <p:cNvPr id="63" name="Shape 61"/>
          <p:cNvSpPr/>
          <p:nvPr/>
        </p:nvSpPr>
        <p:spPr>
          <a:xfrm>
            <a:off x="4572000" y="0"/>
            <a:ext cx="4572000" cy="40005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64" name="Text 62"/>
          <p:cNvSpPr/>
          <p:nvPr/>
        </p:nvSpPr>
        <p:spPr>
          <a:xfrm>
            <a:off x="4772025" y="0"/>
            <a:ext cx="4171950" cy="4000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</a:t>
            </a:r>
            <a:pPr algn="l" indent="0" marL="0">
              <a:lnSpc>
                <a:spcPct val="120000"/>
              </a:lnSpc>
              <a:buNone/>
            </a:pPr>
            <a:r>
              <a:rPr lang="en-US" sz="1013" b="1" u="none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New Dashboard v2</a:t>
            </a:r>
            <a:endParaRPr lang="en-US" sz="619" dirty="0"/>
          </a:p>
        </p:txBody>
      </p:sp>
      <p:sp>
        <p:nvSpPr>
          <p:cNvPr id="65" name="Shape 63"/>
          <p:cNvSpPr/>
          <p:nvPr/>
        </p:nvSpPr>
        <p:spPr>
          <a:xfrm>
            <a:off x="4572000" y="400050"/>
            <a:ext cx="4572000" cy="4743450"/>
          </a:xfrm>
          <a:prstGeom prst="rect">
            <a:avLst/>
          </a:prstGeom>
          <a:solidFill>
            <a:srgbClr val="F0FDF4"/>
          </a:solidFill>
          <a:ln>
            <a:noFill/>
          </a:ln>
        </p:spPr>
      </p:sp>
      <p:sp>
        <p:nvSpPr>
          <p:cNvPr id="66" name="Shape 64"/>
          <p:cNvSpPr/>
          <p:nvPr/>
        </p:nvSpPr>
        <p:spPr>
          <a:xfrm>
            <a:off x="4743450" y="542925"/>
            <a:ext cx="4229100" cy="257175"/>
          </a:xfrm>
          <a:prstGeom prst="roundRect">
            <a:avLst>
              <a:gd name="adj" fmla="val 16667"/>
            </a:avLst>
          </a:prstGeom>
          <a:solidFill>
            <a:srgbClr val="000000">
              <a:alpha val="6000"/>
            </a:srgbClr>
          </a:solidFill>
          <a:ln>
            <a:noFill/>
          </a:ln>
        </p:spPr>
      </p:sp>
      <p:sp>
        <p:nvSpPr>
          <p:cNvPr id="67" name="Shape 65"/>
          <p:cNvSpPr/>
          <p:nvPr/>
        </p:nvSpPr>
        <p:spPr>
          <a:xfrm>
            <a:off x="4829175" y="635794"/>
            <a:ext cx="428625" cy="71438"/>
          </a:xfrm>
          <a:prstGeom prst="roundRect">
            <a:avLst>
              <a:gd name="adj" fmla="val 30000"/>
            </a:avLst>
          </a:prstGeom>
          <a:solidFill>
            <a:srgbClr val="000000">
              <a:alpha val="10000"/>
            </a:srgbClr>
          </a:solidFill>
          <a:ln>
            <a:noFill/>
          </a:ln>
        </p:spPr>
      </p:sp>
      <p:sp>
        <p:nvSpPr>
          <p:cNvPr id="68" name="Shape 66"/>
          <p:cNvSpPr/>
          <p:nvPr/>
        </p:nvSpPr>
        <p:spPr>
          <a:xfrm>
            <a:off x="5314950" y="635794"/>
            <a:ext cx="285750" cy="71438"/>
          </a:xfrm>
          <a:prstGeom prst="roundRect">
            <a:avLst>
              <a:gd name="adj" fmla="val 30000"/>
            </a:avLst>
          </a:prstGeom>
          <a:solidFill>
            <a:srgbClr val="000000">
              <a:alpha val="10000"/>
            </a:srgbClr>
          </a:solidFill>
          <a:ln>
            <a:noFill/>
          </a:ln>
        </p:spPr>
      </p:sp>
      <p:sp>
        <p:nvSpPr>
          <p:cNvPr id="69" name="Shape 67"/>
          <p:cNvSpPr/>
          <p:nvPr/>
        </p:nvSpPr>
        <p:spPr>
          <a:xfrm>
            <a:off x="5657850" y="635794"/>
            <a:ext cx="571500" cy="71438"/>
          </a:xfrm>
          <a:prstGeom prst="roundRect">
            <a:avLst>
              <a:gd name="adj" fmla="val 30000"/>
            </a:avLst>
          </a:prstGeom>
          <a:solidFill>
            <a:srgbClr val="000000">
              <a:alpha val="10000"/>
            </a:srgbClr>
          </a:solidFill>
          <a:ln>
            <a:noFill/>
          </a:ln>
        </p:spPr>
      </p:sp>
      <p:sp>
        <p:nvSpPr>
          <p:cNvPr id="70" name="Shape 68"/>
          <p:cNvSpPr/>
          <p:nvPr/>
        </p:nvSpPr>
        <p:spPr>
          <a:xfrm>
            <a:off x="4743450" y="900113"/>
            <a:ext cx="1352526" cy="97155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144" algn="in">
            <a:solidFill>
              <a:srgbClr val="BBF7D0"/>
            </a:solidFill>
            <a:prstDash val="solid"/>
          </a:ln>
          <a:effectLst>
            <a:outerShdw sx="100000" sy="100000" kx="0" ky="0" algn="bl" rotWithShape="0" blurRad="57150" dist="14288" dir="5400000">
              <a:srgbClr val="16A34A">
                <a:alpha val="8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4850606" y="1007269"/>
            <a:ext cx="122393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TIME</a:t>
            </a:r>
            <a:endParaRPr lang="en-US" sz="563" dirty="0"/>
          </a:p>
        </p:txBody>
      </p:sp>
      <p:sp>
        <p:nvSpPr>
          <p:cNvPr id="72" name="Text 70"/>
          <p:cNvSpPr/>
          <p:nvPr/>
        </p:nvSpPr>
        <p:spPr>
          <a:xfrm>
            <a:off x="4850606" y="1135856"/>
            <a:ext cx="1223939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0.8s</a:t>
            </a:r>
            <a:endParaRPr lang="en-US" sz="1238" dirty="0"/>
          </a:p>
        </p:txBody>
      </p:sp>
      <p:sp>
        <p:nvSpPr>
          <p:cNvPr id="73" name="Text 71"/>
          <p:cNvSpPr/>
          <p:nvPr/>
        </p:nvSpPr>
        <p:spPr>
          <a:xfrm>
            <a:off x="4850606" y="1350169"/>
            <a:ext cx="122393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 5x faster</a:t>
            </a:r>
            <a:endParaRPr lang="en-US" sz="619" dirty="0"/>
          </a:p>
        </p:txBody>
      </p:sp>
      <p:sp>
        <p:nvSpPr>
          <p:cNvPr id="74" name="Shape 72"/>
          <p:cNvSpPr/>
          <p:nvPr/>
        </p:nvSpPr>
        <p:spPr>
          <a:xfrm>
            <a:off x="6181701" y="900113"/>
            <a:ext cx="1352598" cy="97155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144" algn="in">
            <a:solidFill>
              <a:srgbClr val="BBF7D0"/>
            </a:solidFill>
            <a:prstDash val="solid"/>
          </a:ln>
          <a:effectLst>
            <a:outerShdw sx="100000" sy="100000" kx="0" ky="0" algn="bl" rotWithShape="0" blurRad="57150" dist="14288" dir="5400000">
              <a:srgbClr val="16A34A">
                <a:alpha val="8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6288857" y="1007269"/>
            <a:ext cx="1224010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RATE</a:t>
            </a:r>
            <a:endParaRPr lang="en-US" sz="563" dirty="0"/>
          </a:p>
        </p:txBody>
      </p:sp>
      <p:sp>
        <p:nvSpPr>
          <p:cNvPr id="76" name="Text 74"/>
          <p:cNvSpPr/>
          <p:nvPr/>
        </p:nvSpPr>
        <p:spPr>
          <a:xfrm>
            <a:off x="6288857" y="1135856"/>
            <a:ext cx="1224010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0.3%</a:t>
            </a:r>
            <a:endParaRPr lang="en-US" sz="1238" dirty="0"/>
          </a:p>
        </p:txBody>
      </p:sp>
      <p:sp>
        <p:nvSpPr>
          <p:cNvPr id="77" name="Text 75"/>
          <p:cNvSpPr/>
          <p:nvPr/>
        </p:nvSpPr>
        <p:spPr>
          <a:xfrm>
            <a:off x="6288857" y="1350169"/>
            <a:ext cx="122401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▼ 97% reduction</a:t>
            </a:r>
            <a:endParaRPr lang="en-US" sz="619" dirty="0"/>
          </a:p>
        </p:txBody>
      </p:sp>
      <p:sp>
        <p:nvSpPr>
          <p:cNvPr id="78" name="Shape 76"/>
          <p:cNvSpPr/>
          <p:nvPr/>
        </p:nvSpPr>
        <p:spPr>
          <a:xfrm>
            <a:off x="7620024" y="900113"/>
            <a:ext cx="1352526" cy="971550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7144" algn="in">
            <a:solidFill>
              <a:srgbClr val="BBF7D0"/>
            </a:solidFill>
            <a:prstDash val="solid"/>
          </a:ln>
          <a:effectLst>
            <a:outerShdw sx="100000" sy="100000" kx="0" ky="0" algn="bl" rotWithShape="0" blurRad="57150" dist="14288" dir="5400000">
              <a:srgbClr val="16A34A">
                <a:alpha val="8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7727180" y="1007269"/>
            <a:ext cx="122393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SATISFACTION</a:t>
            </a:r>
            <a:endParaRPr lang="en-US" sz="563" dirty="0"/>
          </a:p>
        </p:txBody>
      </p:sp>
      <p:sp>
        <p:nvSpPr>
          <p:cNvPr id="80" name="Text 78"/>
          <p:cNvSpPr/>
          <p:nvPr/>
        </p:nvSpPr>
        <p:spPr>
          <a:xfrm>
            <a:off x="7727180" y="1135856"/>
            <a:ext cx="1223939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6653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4.8/5</a:t>
            </a:r>
            <a:endParaRPr lang="en-US" sz="1238" dirty="0"/>
          </a:p>
        </p:txBody>
      </p:sp>
      <p:sp>
        <p:nvSpPr>
          <p:cNvPr id="81" name="Text 79"/>
          <p:cNvSpPr/>
          <p:nvPr/>
        </p:nvSpPr>
        <p:spPr>
          <a:xfrm>
            <a:off x="7727180" y="1350169"/>
            <a:ext cx="1223939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▲ +129% improvement</a:t>
            </a:r>
            <a:endParaRPr lang="en-US" sz="619" dirty="0"/>
          </a:p>
        </p:txBody>
      </p:sp>
      <p:sp>
        <p:nvSpPr>
          <p:cNvPr id="82" name="Shape 80"/>
          <p:cNvSpPr/>
          <p:nvPr/>
        </p:nvSpPr>
        <p:spPr>
          <a:xfrm>
            <a:off x="7972425" y="1971675"/>
            <a:ext cx="1000125" cy="1943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7144" algn="in">
            <a:solidFill>
              <a:srgbClr val="BBF7D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065294" y="2064544"/>
            <a:ext cx="814388" cy="85725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>
            <a:noFill/>
          </a:ln>
        </p:spPr>
      </p:sp>
      <p:sp>
        <p:nvSpPr>
          <p:cNvPr id="84" name="Shape 82"/>
          <p:cNvSpPr/>
          <p:nvPr/>
        </p:nvSpPr>
        <p:spPr>
          <a:xfrm>
            <a:off x="8065294" y="2207419"/>
            <a:ext cx="773668" cy="85725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</p:spPr>
      </p:sp>
      <p:sp>
        <p:nvSpPr>
          <p:cNvPr id="85" name="Shape 83"/>
          <p:cNvSpPr/>
          <p:nvPr/>
        </p:nvSpPr>
        <p:spPr>
          <a:xfrm>
            <a:off x="8065294" y="2350294"/>
            <a:ext cx="732877" cy="85725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>
            <a:noFill/>
          </a:ln>
        </p:spPr>
      </p:sp>
      <p:sp>
        <p:nvSpPr>
          <p:cNvPr id="86" name="Shape 84"/>
          <p:cNvSpPr/>
          <p:nvPr/>
        </p:nvSpPr>
        <p:spPr>
          <a:xfrm>
            <a:off x="8065294" y="2493169"/>
            <a:ext cx="692158" cy="85725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</p:spPr>
      </p:sp>
      <p:sp>
        <p:nvSpPr>
          <p:cNvPr id="87" name="Shape 85"/>
          <p:cNvSpPr/>
          <p:nvPr/>
        </p:nvSpPr>
        <p:spPr>
          <a:xfrm>
            <a:off x="8065294" y="2636044"/>
            <a:ext cx="651439" cy="85725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>
            <a:noFill/>
          </a:ln>
        </p:spPr>
      </p:sp>
      <p:sp>
        <p:nvSpPr>
          <p:cNvPr id="88" name="Shape 86"/>
          <p:cNvSpPr/>
          <p:nvPr/>
        </p:nvSpPr>
        <p:spPr>
          <a:xfrm>
            <a:off x="8065294" y="2778919"/>
            <a:ext cx="610791" cy="85725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</p:spPr>
      </p:sp>
      <p:sp>
        <p:nvSpPr>
          <p:cNvPr id="89" name="Shape 87"/>
          <p:cNvSpPr/>
          <p:nvPr/>
        </p:nvSpPr>
        <p:spPr>
          <a:xfrm>
            <a:off x="8065294" y="2921794"/>
            <a:ext cx="570071" cy="85725"/>
          </a:xfrm>
          <a:prstGeom prst="roundRect">
            <a:avLst>
              <a:gd name="adj" fmla="val 25000"/>
            </a:avLst>
          </a:prstGeom>
          <a:solidFill>
            <a:srgbClr val="BBF7D0"/>
          </a:solidFill>
          <a:ln>
            <a:noFill/>
          </a:ln>
        </p:spPr>
      </p:sp>
      <p:sp>
        <p:nvSpPr>
          <p:cNvPr id="90" name="Shape 88"/>
          <p:cNvSpPr/>
          <p:nvPr/>
        </p:nvSpPr>
        <p:spPr>
          <a:xfrm>
            <a:off x="8065294" y="3064669"/>
            <a:ext cx="529280" cy="85725"/>
          </a:xfrm>
          <a:prstGeom prst="roundRect">
            <a:avLst>
              <a:gd name="adj" fmla="val 25000"/>
            </a:avLst>
          </a:prstGeom>
          <a:solidFill>
            <a:srgbClr val="DCFCE7"/>
          </a:solidFill>
          <a:ln>
            <a:noFill/>
          </a:ln>
        </p:spPr>
      </p:sp>
      <p:sp>
        <p:nvSpPr>
          <p:cNvPr id="91" name="Shape 89"/>
          <p:cNvSpPr/>
          <p:nvPr/>
        </p:nvSpPr>
        <p:spPr>
          <a:xfrm>
            <a:off x="4743450" y="1971675"/>
            <a:ext cx="3143250" cy="1943100"/>
          </a:xfrm>
          <a:prstGeom prst="roundRect">
            <a:avLst>
              <a:gd name="adj" fmla="val 3676"/>
            </a:avLst>
          </a:prstGeom>
          <a:solidFill>
            <a:srgbClr val="FFFFFF"/>
          </a:solidFill>
          <a:ln w="7144" algn="in">
            <a:solidFill>
              <a:srgbClr val="BBF7D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850606" y="2078831"/>
            <a:ext cx="301466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Weekly Performance (Stable)</a:t>
            </a:r>
            <a:endParaRPr lang="en-US" sz="619" dirty="0"/>
          </a:p>
        </p:txBody>
      </p:sp>
      <p:sp>
        <p:nvSpPr>
          <p:cNvPr id="93" name="Shape 91"/>
          <p:cNvSpPr/>
          <p:nvPr/>
        </p:nvSpPr>
        <p:spPr>
          <a:xfrm>
            <a:off x="4850606" y="2431804"/>
            <a:ext cx="200025" cy="389977"/>
          </a:xfrm>
          <a:prstGeom prst="round2SameRect">
            <a:avLst>
              <a:gd name="adj" fmla="val 10714"/>
            </a:avLst>
          </a:prstGeom>
          <a:solidFill>
            <a:srgbClr val="4ADE80"/>
          </a:solidFill>
          <a:ln>
            <a:noFill/>
          </a:ln>
        </p:spPr>
      </p:sp>
      <p:sp>
        <p:nvSpPr>
          <p:cNvPr id="94" name="Shape 92"/>
          <p:cNvSpPr/>
          <p:nvPr/>
        </p:nvSpPr>
        <p:spPr>
          <a:xfrm>
            <a:off x="5093494" y="2411801"/>
            <a:ext cx="200025" cy="409980"/>
          </a:xfrm>
          <a:prstGeom prst="round2SameRect">
            <a:avLst>
              <a:gd name="adj" fmla="val 10714"/>
            </a:avLst>
          </a:prstGeom>
          <a:solidFill>
            <a:srgbClr val="86EFAC"/>
          </a:solidFill>
          <a:ln>
            <a:noFill/>
          </a:ln>
        </p:spPr>
      </p:sp>
      <p:sp>
        <p:nvSpPr>
          <p:cNvPr id="95" name="Shape 93"/>
          <p:cNvSpPr/>
          <p:nvPr/>
        </p:nvSpPr>
        <p:spPr>
          <a:xfrm>
            <a:off x="5336381" y="2396728"/>
            <a:ext cx="200025" cy="425053"/>
          </a:xfrm>
          <a:prstGeom prst="round2SameRect">
            <a:avLst>
              <a:gd name="adj" fmla="val 10714"/>
            </a:avLst>
          </a:prstGeom>
          <a:solidFill>
            <a:srgbClr val="4ADE80"/>
          </a:solidFill>
          <a:ln>
            <a:noFill/>
          </a:ln>
        </p:spPr>
      </p:sp>
      <p:sp>
        <p:nvSpPr>
          <p:cNvPr id="96" name="Shape 94"/>
          <p:cNvSpPr/>
          <p:nvPr/>
        </p:nvSpPr>
        <p:spPr>
          <a:xfrm>
            <a:off x="5579269" y="2421731"/>
            <a:ext cx="200025" cy="400050"/>
          </a:xfrm>
          <a:prstGeom prst="round2SameRect">
            <a:avLst>
              <a:gd name="adj" fmla="val 10714"/>
            </a:avLst>
          </a:prstGeom>
          <a:solidFill>
            <a:srgbClr val="86EFAC"/>
          </a:solidFill>
          <a:ln>
            <a:noFill/>
          </a:ln>
        </p:spPr>
      </p:sp>
      <p:sp>
        <p:nvSpPr>
          <p:cNvPr id="97" name="Shape 95"/>
          <p:cNvSpPr/>
          <p:nvPr/>
        </p:nvSpPr>
        <p:spPr>
          <a:xfrm>
            <a:off x="5822156" y="2381798"/>
            <a:ext cx="200025" cy="439984"/>
          </a:xfrm>
          <a:prstGeom prst="round2SameRect">
            <a:avLst>
              <a:gd name="adj" fmla="val 10714"/>
            </a:avLst>
          </a:prstGeom>
          <a:solidFill>
            <a:srgbClr val="4ADE80"/>
          </a:solidFill>
          <a:ln>
            <a:noFill/>
          </a:ln>
        </p:spPr>
      </p:sp>
      <p:sp>
        <p:nvSpPr>
          <p:cNvPr id="98" name="Shape 96"/>
          <p:cNvSpPr/>
          <p:nvPr/>
        </p:nvSpPr>
        <p:spPr>
          <a:xfrm>
            <a:off x="6065044" y="2371725"/>
            <a:ext cx="200025" cy="450056"/>
          </a:xfrm>
          <a:prstGeom prst="round2SameRect">
            <a:avLst>
              <a:gd name="adj" fmla="val 10714"/>
            </a:avLst>
          </a:prstGeom>
          <a:solidFill>
            <a:srgbClr val="86EFAC"/>
          </a:solidFill>
          <a:ln>
            <a:noFill/>
          </a:ln>
        </p:spPr>
      </p:sp>
      <p:sp>
        <p:nvSpPr>
          <p:cNvPr id="99" name="Shape 97"/>
          <p:cNvSpPr/>
          <p:nvPr/>
        </p:nvSpPr>
        <p:spPr>
          <a:xfrm>
            <a:off x="6307931" y="2361795"/>
            <a:ext cx="200025" cy="459986"/>
          </a:xfrm>
          <a:prstGeom prst="round2SameRect">
            <a:avLst>
              <a:gd name="adj" fmla="val 10714"/>
            </a:avLst>
          </a:prstGeom>
          <a:solidFill>
            <a:srgbClr val="4ADE80"/>
          </a:solidFill>
          <a:ln>
            <a:noFill/>
          </a:ln>
        </p:spPr>
      </p:sp>
      <p:sp>
        <p:nvSpPr>
          <p:cNvPr id="100" name="Shape 98"/>
          <p:cNvSpPr/>
          <p:nvPr/>
        </p:nvSpPr>
        <p:spPr>
          <a:xfrm>
            <a:off x="4743450" y="4014788"/>
            <a:ext cx="4229100" cy="985838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7144" algn="in">
            <a:solidFill>
              <a:srgbClr val="BBF7D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750594" y="4021931"/>
            <a:ext cx="4214813" cy="200025"/>
          </a:xfrm>
          <a:prstGeom prst="rect">
            <a:avLst/>
          </a:prstGeom>
          <a:solidFill>
            <a:srgbClr val="DCFCE7"/>
          </a:solidFill>
          <a:ln>
            <a:noFill/>
          </a:ln>
        </p:spPr>
      </p:sp>
      <p:sp>
        <p:nvSpPr>
          <p:cNvPr id="102" name="Text 100"/>
          <p:cNvSpPr/>
          <p:nvPr/>
        </p:nvSpPr>
        <p:spPr>
          <a:xfrm>
            <a:off x="4836319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ENDPOINT</a:t>
            </a:r>
            <a:endParaRPr lang="en-US" sz="506" dirty="0"/>
          </a:p>
        </p:txBody>
      </p:sp>
      <p:sp>
        <p:nvSpPr>
          <p:cNvPr id="103" name="Text 101"/>
          <p:cNvSpPr/>
          <p:nvPr/>
        </p:nvSpPr>
        <p:spPr>
          <a:xfrm>
            <a:off x="5882878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506" dirty="0"/>
          </a:p>
        </p:txBody>
      </p:sp>
      <p:sp>
        <p:nvSpPr>
          <p:cNvPr id="104" name="Text 102"/>
          <p:cNvSpPr/>
          <p:nvPr/>
        </p:nvSpPr>
        <p:spPr>
          <a:xfrm>
            <a:off x="6929438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</a:t>
            </a:r>
            <a:endParaRPr lang="en-US" sz="506" dirty="0"/>
          </a:p>
        </p:txBody>
      </p:sp>
      <p:sp>
        <p:nvSpPr>
          <p:cNvPr id="105" name="Text 103"/>
          <p:cNvSpPr/>
          <p:nvPr/>
        </p:nvSpPr>
        <p:spPr>
          <a:xfrm>
            <a:off x="7975997" y="4082653"/>
            <a:ext cx="989409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ERRORS</a:t>
            </a:r>
            <a:endParaRPr lang="en-US" sz="506" dirty="0"/>
          </a:p>
        </p:txBody>
      </p:sp>
      <p:sp>
        <p:nvSpPr>
          <p:cNvPr id="106" name="Shape 104"/>
          <p:cNvSpPr/>
          <p:nvPr/>
        </p:nvSpPr>
        <p:spPr>
          <a:xfrm>
            <a:off x="4750594" y="4221956"/>
            <a:ext cx="4214813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07" name="Shape 105"/>
          <p:cNvSpPr/>
          <p:nvPr/>
        </p:nvSpPr>
        <p:spPr>
          <a:xfrm>
            <a:off x="4750594" y="4386263"/>
            <a:ext cx="4214813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08" name="Text 106"/>
          <p:cNvSpPr/>
          <p:nvPr/>
        </p:nvSpPr>
        <p:spPr>
          <a:xfrm>
            <a:off x="4836319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/api/users</a:t>
            </a:r>
            <a:endParaRPr lang="en-US" sz="563" dirty="0"/>
          </a:p>
        </p:txBody>
      </p:sp>
      <p:sp>
        <p:nvSpPr>
          <p:cNvPr id="109" name="Text 107"/>
          <p:cNvSpPr/>
          <p:nvPr/>
        </p:nvSpPr>
        <p:spPr>
          <a:xfrm>
            <a:off x="5882878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Healthy</a:t>
            </a:r>
            <a:endParaRPr lang="en-US" sz="563" dirty="0"/>
          </a:p>
        </p:txBody>
      </p:sp>
      <p:sp>
        <p:nvSpPr>
          <p:cNvPr id="110" name="Text 108"/>
          <p:cNvSpPr/>
          <p:nvPr/>
        </p:nvSpPr>
        <p:spPr>
          <a:xfrm>
            <a:off x="6929438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45ms</a:t>
            </a:r>
            <a:endParaRPr lang="en-US" sz="563" dirty="0"/>
          </a:p>
        </p:txBody>
      </p:sp>
      <p:sp>
        <p:nvSpPr>
          <p:cNvPr id="111" name="Text 109"/>
          <p:cNvSpPr/>
          <p:nvPr/>
        </p:nvSpPr>
        <p:spPr>
          <a:xfrm>
            <a:off x="7975997" y="42612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563" dirty="0"/>
          </a:p>
        </p:txBody>
      </p:sp>
      <p:sp>
        <p:nvSpPr>
          <p:cNvPr id="112" name="Shape 110"/>
          <p:cNvSpPr/>
          <p:nvPr/>
        </p:nvSpPr>
        <p:spPr>
          <a:xfrm>
            <a:off x="4750594" y="4393406"/>
            <a:ext cx="4214813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13" name="Shape 111"/>
          <p:cNvSpPr/>
          <p:nvPr/>
        </p:nvSpPr>
        <p:spPr>
          <a:xfrm>
            <a:off x="4750594" y="4557713"/>
            <a:ext cx="4214813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14" name="Text 112"/>
          <p:cNvSpPr/>
          <p:nvPr/>
        </p:nvSpPr>
        <p:spPr>
          <a:xfrm>
            <a:off x="4836319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/api/orders</a:t>
            </a:r>
            <a:endParaRPr lang="en-US" sz="563" dirty="0"/>
          </a:p>
        </p:txBody>
      </p:sp>
      <p:sp>
        <p:nvSpPr>
          <p:cNvPr id="115" name="Text 113"/>
          <p:cNvSpPr/>
          <p:nvPr/>
        </p:nvSpPr>
        <p:spPr>
          <a:xfrm>
            <a:off x="5882878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Healthy</a:t>
            </a:r>
            <a:endParaRPr lang="en-US" sz="563" dirty="0"/>
          </a:p>
        </p:txBody>
      </p:sp>
      <p:sp>
        <p:nvSpPr>
          <p:cNvPr id="116" name="Text 114"/>
          <p:cNvSpPr/>
          <p:nvPr/>
        </p:nvSpPr>
        <p:spPr>
          <a:xfrm>
            <a:off x="6929438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62ms</a:t>
            </a:r>
            <a:endParaRPr lang="en-US" sz="563" dirty="0"/>
          </a:p>
        </p:txBody>
      </p:sp>
      <p:sp>
        <p:nvSpPr>
          <p:cNvPr id="117" name="Text 115"/>
          <p:cNvSpPr/>
          <p:nvPr/>
        </p:nvSpPr>
        <p:spPr>
          <a:xfrm>
            <a:off x="7975997" y="443269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563" dirty="0"/>
          </a:p>
        </p:txBody>
      </p:sp>
      <p:sp>
        <p:nvSpPr>
          <p:cNvPr id="118" name="Shape 116"/>
          <p:cNvSpPr/>
          <p:nvPr/>
        </p:nvSpPr>
        <p:spPr>
          <a:xfrm>
            <a:off x="4750594" y="4564856"/>
            <a:ext cx="4214813" cy="17145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19" name="Shape 117"/>
          <p:cNvSpPr/>
          <p:nvPr/>
        </p:nvSpPr>
        <p:spPr>
          <a:xfrm>
            <a:off x="4750594" y="4729163"/>
            <a:ext cx="4214813" cy="7144"/>
          </a:xfrm>
          <a:prstGeom prst="rect">
            <a:avLst/>
          </a:prstGeom>
          <a:solidFill>
            <a:srgbClr val="F3F4F6"/>
          </a:solidFill>
          <a:ln>
            <a:noFill/>
          </a:ln>
        </p:spPr>
      </p:sp>
      <p:sp>
        <p:nvSpPr>
          <p:cNvPr id="120" name="Text 118"/>
          <p:cNvSpPr/>
          <p:nvPr/>
        </p:nvSpPr>
        <p:spPr>
          <a:xfrm>
            <a:off x="4836319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/api/analytics</a:t>
            </a:r>
            <a:endParaRPr lang="en-US" sz="563" dirty="0"/>
          </a:p>
        </p:txBody>
      </p:sp>
      <p:sp>
        <p:nvSpPr>
          <p:cNvPr id="121" name="Text 119"/>
          <p:cNvSpPr/>
          <p:nvPr/>
        </p:nvSpPr>
        <p:spPr>
          <a:xfrm>
            <a:off x="5882878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Healthy</a:t>
            </a:r>
            <a:endParaRPr lang="en-US" sz="563" dirty="0"/>
          </a:p>
        </p:txBody>
      </p:sp>
      <p:sp>
        <p:nvSpPr>
          <p:cNvPr id="122" name="Text 120"/>
          <p:cNvSpPr/>
          <p:nvPr/>
        </p:nvSpPr>
        <p:spPr>
          <a:xfrm>
            <a:off x="6929438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120ms</a:t>
            </a:r>
            <a:endParaRPr lang="en-US" sz="563" dirty="0"/>
          </a:p>
        </p:txBody>
      </p:sp>
      <p:sp>
        <p:nvSpPr>
          <p:cNvPr id="123" name="Text 121"/>
          <p:cNvSpPr/>
          <p:nvPr/>
        </p:nvSpPr>
        <p:spPr>
          <a:xfrm>
            <a:off x="7975997" y="4604147"/>
            <a:ext cx="98940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563" dirty="0"/>
          </a:p>
        </p:txBody>
      </p:sp>
      <p:sp>
        <p:nvSpPr>
          <p:cNvPr id="124" name="Shape 122"/>
          <p:cNvSpPr/>
          <p:nvPr/>
        </p:nvSpPr>
        <p:spPr>
          <a:xfrm>
            <a:off x="4557713" y="0"/>
            <a:ext cx="28575" cy="5143500"/>
          </a:xfrm>
          <a:prstGeom prst="rect">
            <a:avLst/>
          </a:prstGeom>
          <a:solidFill>
            <a:srgbClr val="374151"/>
          </a:solidFill>
          <a:ln>
            <a:noFill/>
          </a:ln>
        </p:spPr>
      </p:sp>
      <p:sp>
        <p:nvSpPr>
          <p:cNvPr id="125" name="Shape 123"/>
          <p:cNvSpPr/>
          <p:nvPr/>
        </p:nvSpPr>
        <p:spPr>
          <a:xfrm>
            <a:off x="4400550" y="2400300"/>
            <a:ext cx="342900" cy="342900"/>
          </a:xfrm>
          <a:prstGeom prst="ellipse">
            <a:avLst/>
          </a:prstGeom>
          <a:solidFill>
            <a:srgbClr val="374151"/>
          </a:solidFill>
          <a:ln>
            <a:noFill/>
          </a:ln>
          <a:effectLst>
            <a:outerShdw sx="100000" sy="100000" kx="0" ky="0" algn="bl" rotWithShape="0" blurRad="85725" dist="28575" dir="5400000">
              <a:srgbClr val="000000">
                <a:alpha val="20000"/>
              </a:srgbClr>
            </a:outerShdw>
          </a:effectLst>
        </p:spPr>
      </p:sp>
      <p:sp>
        <p:nvSpPr>
          <p:cNvPr id="126" name="Text 124"/>
          <p:cNvSpPr/>
          <p:nvPr/>
        </p:nvSpPr>
        <p:spPr>
          <a:xfrm>
            <a:off x="4400550" y="2400300"/>
            <a:ext cx="342900" cy="3429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238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D_3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50000">
                <a:srgbClr val="1E1B4B"/>
              </a:gs>
              <a:gs pos="100000">
                <a:srgbClr val="0F172A"/>
              </a:gs>
            </a:gsLst>
            <a:lin ang="2700000" scaled="0"/>
          </a:gradFill>
          <a:ln>
            <a:noFill/>
          </a:ln>
        </p:spPr>
      </p:sp>
      <p:sp>
        <p:nvSpPr>
          <p:cNvPr id="3" name="GRAD_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F172A"/>
              </a:gs>
              <a:gs pos="50000">
                <a:srgbClr val="1E1B4B"/>
              </a:gs>
              <a:gs pos="100000">
                <a:srgbClr val="0F172A"/>
              </a:gs>
            </a:gsLst>
            <a:lin ang="2700000" scaled="0"/>
          </a:gra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3815977" y="1528763"/>
            <a:ext cx="1511903" cy="207169"/>
          </a:xfrm>
          <a:prstGeom prst="roundRect">
            <a:avLst>
              <a:gd name="adj" fmla="val 50000"/>
            </a:avLst>
          </a:prstGeom>
          <a:solidFill>
            <a:srgbClr val="6366F1">
              <a:alpha val="20000"/>
            </a:srgbClr>
          </a:solidFill>
          <a:ln w="7144" algn="in">
            <a:solidFill>
              <a:srgbClr val="373B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15939" y="1528763"/>
            <a:ext cx="2111978" cy="2071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ACHIEVED</a:t>
            </a:r>
            <a:endParaRPr lang="en-US" sz="675" dirty="0"/>
          </a:p>
        </p:txBody>
      </p:sp>
      <p:sp>
        <p:nvSpPr>
          <p:cNvPr id="6" name="Text 4"/>
          <p:cNvSpPr/>
          <p:nvPr/>
        </p:nvSpPr>
        <p:spPr>
          <a:xfrm>
            <a:off x="3243120" y="1821656"/>
            <a:ext cx="2657689" cy="4572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Series A Funded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3840194" y="2336006"/>
            <a:ext cx="1463612" cy="514350"/>
          </a:xfrm>
          <a:prstGeom prst="rect">
            <a:avLst/>
          </a:prstGeom>
          <a:ln>
            <a:noFill/>
          </a:ln>
        </p:spPr>
        <p:txBody>
          <a:bodyPr wrap="square" lIns="0" tIns="50663" rIns="0" bIns="0" rtlCol="0" anchor="t"/>
          <a:lstStyle/>
          <a:p>
            <a:pPr algn="ctr" indent="0" marL="0">
              <a:lnSpc>
                <a:spcPct val="83333"/>
              </a:lnSpc>
              <a:buNone/>
            </a:pPr>
            <a:r>
              <a:rPr lang="en-US" sz="4050" b="1" dirty="0">
                <a:solidFill>
                  <a:srgbClr val="F2712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$15M</a:t>
            </a:r>
            <a:endParaRPr lang="en-US" sz="4050" dirty="0"/>
          </a:p>
        </p:txBody>
      </p:sp>
      <p:sp>
        <p:nvSpPr>
          <p:cNvPr id="8" name="Text 6"/>
          <p:cNvSpPr/>
          <p:nvPr/>
        </p:nvSpPr>
        <p:spPr>
          <a:xfrm>
            <a:off x="3201043" y="2907506"/>
            <a:ext cx="2741771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raised to accelerate growth and global expansion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34588" y="3278981"/>
            <a:ext cx="960477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INVESTORS</a:t>
            </a:r>
            <a:endParaRPr lang="en-US" sz="619" dirty="0"/>
          </a:p>
        </p:txBody>
      </p:sp>
      <p:sp>
        <p:nvSpPr>
          <p:cNvPr id="10" name="Shape 8"/>
          <p:cNvSpPr/>
          <p:nvPr/>
        </p:nvSpPr>
        <p:spPr>
          <a:xfrm>
            <a:off x="2528888" y="3479006"/>
            <a:ext cx="1285875" cy="457200"/>
          </a:xfrm>
          <a:prstGeom prst="roundRect">
            <a:avLst>
              <a:gd name="adj" fmla="val 18750"/>
            </a:avLst>
          </a:prstGeom>
          <a:solidFill>
            <a:srgbClr val="20243F"/>
          </a:solidFill>
          <a:ln w="7144" algn="in">
            <a:solidFill>
              <a:srgbClr val="363A52"/>
            </a:solidFill>
            <a:prstDash val="solid"/>
          </a:ln>
        </p:spPr>
      </p:sp>
      <p:sp>
        <p:nvSpPr>
          <p:cNvPr id="11" name="GRAD_34"/>
          <p:cNvSpPr/>
          <p:nvPr/>
        </p:nvSpPr>
        <p:spPr>
          <a:xfrm>
            <a:off x="2650331" y="3579019"/>
            <a:ext cx="239744" cy="257175"/>
          </a:xfrm>
          <a:prstGeom prst="roundRect">
            <a:avLst>
              <a:gd name="adj" fmla="val 23838"/>
            </a:avLst>
          </a:prstGeom>
          <a:gradFill rotWithShape="1">
            <a:gsLst>
              <a:gs pos="0">
                <a:srgbClr val="3B82F6"/>
              </a:gs>
              <a:gs pos="100000">
                <a:srgbClr val="1D4ED8"/>
              </a:gs>
            </a:gsLst>
            <a:lin ang="2700000" scaled="0"/>
          </a:gradFill>
          <a:ln>
            <a:noFill/>
          </a:ln>
        </p:spPr>
      </p:sp>
      <p:sp>
        <p:nvSpPr>
          <p:cNvPr id="12" name="Text 10"/>
          <p:cNvSpPr/>
          <p:nvPr/>
        </p:nvSpPr>
        <p:spPr>
          <a:xfrm>
            <a:off x="2650331" y="3579019"/>
            <a:ext cx="239744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SV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975801" y="3543300"/>
            <a:ext cx="717518" cy="2286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Summit Ventures</a:t>
            </a:r>
            <a:endParaRPr lang="en-US" sz="731" dirty="0"/>
          </a:p>
        </p:txBody>
      </p:sp>
      <p:sp>
        <p:nvSpPr>
          <p:cNvPr id="14" name="Text 12"/>
          <p:cNvSpPr/>
          <p:nvPr/>
        </p:nvSpPr>
        <p:spPr>
          <a:xfrm>
            <a:off x="2975801" y="3786188"/>
            <a:ext cx="803243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 Investor</a:t>
            </a:r>
            <a:endParaRPr lang="en-US" sz="563" dirty="0"/>
          </a:p>
        </p:txBody>
      </p:sp>
      <p:sp>
        <p:nvSpPr>
          <p:cNvPr id="15" name="Shape 13"/>
          <p:cNvSpPr/>
          <p:nvPr/>
        </p:nvSpPr>
        <p:spPr>
          <a:xfrm>
            <a:off x="3929063" y="3479006"/>
            <a:ext cx="1285875" cy="457200"/>
          </a:xfrm>
          <a:prstGeom prst="roundRect">
            <a:avLst>
              <a:gd name="adj" fmla="val 18750"/>
            </a:avLst>
          </a:prstGeom>
          <a:solidFill>
            <a:srgbClr val="20243F"/>
          </a:solidFill>
          <a:ln w="7144" algn="in">
            <a:solidFill>
              <a:srgbClr val="363A52"/>
            </a:solidFill>
            <a:prstDash val="solid"/>
          </a:ln>
        </p:spPr>
      </p:sp>
      <p:sp>
        <p:nvSpPr>
          <p:cNvPr id="16" name="GRAD_35"/>
          <p:cNvSpPr/>
          <p:nvPr/>
        </p:nvSpPr>
        <p:spPr>
          <a:xfrm>
            <a:off x="4095798" y="3579019"/>
            <a:ext cx="257175" cy="257175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10B981"/>
              </a:gs>
              <a:gs pos="100000">
                <a:srgbClr val="059669"/>
              </a:gs>
            </a:gsLst>
            <a:lin ang="2700000" scaled="0"/>
          </a:gradFill>
          <a:ln>
            <a:noFill/>
          </a:ln>
        </p:spPr>
      </p:sp>
      <p:sp>
        <p:nvSpPr>
          <p:cNvPr id="17" name="Text 15"/>
          <p:cNvSpPr/>
          <p:nvPr/>
        </p:nvSpPr>
        <p:spPr>
          <a:xfrm>
            <a:off x="4095798" y="3579019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38698" y="3600450"/>
            <a:ext cx="695087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 Capital</a:t>
            </a:r>
            <a:endParaRPr lang="en-US" sz="731" dirty="0"/>
          </a:p>
        </p:txBody>
      </p:sp>
      <p:sp>
        <p:nvSpPr>
          <p:cNvPr id="19" name="Text 17"/>
          <p:cNvSpPr/>
          <p:nvPr/>
        </p:nvSpPr>
        <p:spPr>
          <a:xfrm>
            <a:off x="4438698" y="3729038"/>
            <a:ext cx="695087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Co-Lead</a:t>
            </a:r>
            <a:endParaRPr lang="en-US" sz="563" dirty="0"/>
          </a:p>
        </p:txBody>
      </p:sp>
      <p:sp>
        <p:nvSpPr>
          <p:cNvPr id="20" name="Shape 18"/>
          <p:cNvSpPr/>
          <p:nvPr/>
        </p:nvSpPr>
        <p:spPr>
          <a:xfrm>
            <a:off x="5329238" y="3479006"/>
            <a:ext cx="1285875" cy="457200"/>
          </a:xfrm>
          <a:prstGeom prst="roundRect">
            <a:avLst>
              <a:gd name="adj" fmla="val 18750"/>
            </a:avLst>
          </a:prstGeom>
          <a:solidFill>
            <a:srgbClr val="20243F"/>
          </a:solidFill>
          <a:ln w="7144" algn="in">
            <a:solidFill>
              <a:srgbClr val="363A52"/>
            </a:solidFill>
            <a:prstDash val="solid"/>
          </a:ln>
        </p:spPr>
      </p:sp>
      <p:sp>
        <p:nvSpPr>
          <p:cNvPr id="21" name="GRAD_36"/>
          <p:cNvSpPr/>
          <p:nvPr/>
        </p:nvSpPr>
        <p:spPr>
          <a:xfrm>
            <a:off x="5455182" y="3579019"/>
            <a:ext cx="257175" cy="257175"/>
          </a:xfrm>
          <a:prstGeom prst="roundRect">
            <a:avLst>
              <a:gd name="adj" fmla="val 22222"/>
            </a:avLst>
          </a:prstGeom>
          <a:gradFill rotWithShape="1">
            <a:gsLst>
              <a:gs pos="0">
                <a:srgbClr val="8B5CF6"/>
              </a:gs>
              <a:gs pos="100000">
                <a:srgbClr val="6D28D9"/>
              </a:gs>
            </a:gsLst>
            <a:lin ang="2700000" scaled="0"/>
          </a:gradFill>
          <a:ln>
            <a:noFill/>
          </a:ln>
        </p:spPr>
      </p:sp>
      <p:sp>
        <p:nvSpPr>
          <p:cNvPr id="22" name="Text 20"/>
          <p:cNvSpPr/>
          <p:nvPr/>
        </p:nvSpPr>
        <p:spPr>
          <a:xfrm>
            <a:off x="5455182" y="3579019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NX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798082" y="3600450"/>
            <a:ext cx="776740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Nexus Partners</a:t>
            </a:r>
            <a:endParaRPr lang="en-US" sz="731" dirty="0"/>
          </a:p>
        </p:txBody>
      </p:sp>
      <p:sp>
        <p:nvSpPr>
          <p:cNvPr id="24" name="Text 22"/>
          <p:cNvSpPr/>
          <p:nvPr/>
        </p:nvSpPr>
        <p:spPr>
          <a:xfrm>
            <a:off x="5798082" y="3729038"/>
            <a:ext cx="776740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</a:t>
            </a:r>
            <a:endParaRPr lang="en-US" sz="563" dirty="0"/>
          </a:p>
        </p:txBody>
      </p:sp>
      <p:sp>
        <p:nvSpPr>
          <p:cNvPr id="25" name="Shape 23"/>
          <p:cNvSpPr/>
          <p:nvPr/>
        </p:nvSpPr>
        <p:spPr>
          <a:xfrm>
            <a:off x="3521840" y="4250531"/>
            <a:ext cx="7144" cy="335756"/>
          </a:xfrm>
          <a:prstGeom prst="rect">
            <a:avLst/>
          </a:prstGeom>
          <a:solidFill>
            <a:srgbClr val="2C2F49"/>
          </a:solidFill>
          <a:ln>
            <a:noFill/>
          </a:ln>
        </p:spPr>
      </p:sp>
      <p:sp>
        <p:nvSpPr>
          <p:cNvPr id="26" name="Text 24"/>
          <p:cNvSpPr/>
          <p:nvPr/>
        </p:nvSpPr>
        <p:spPr>
          <a:xfrm>
            <a:off x="2532317" y="4193381"/>
            <a:ext cx="868109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2532317" y="4536281"/>
            <a:ext cx="868109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MEMBERS</a:t>
            </a:r>
            <a:endParaRPr lang="en-US" sz="675" dirty="0"/>
          </a:p>
        </p:txBody>
      </p:sp>
      <p:sp>
        <p:nvSpPr>
          <p:cNvPr id="28" name="Shape 26"/>
          <p:cNvSpPr/>
          <p:nvPr/>
        </p:nvSpPr>
        <p:spPr>
          <a:xfrm>
            <a:off x="4427896" y="4250531"/>
            <a:ext cx="7144" cy="335756"/>
          </a:xfrm>
          <a:prstGeom prst="rect">
            <a:avLst/>
          </a:prstGeom>
          <a:solidFill>
            <a:srgbClr val="2C2F49"/>
          </a:solidFill>
          <a:ln>
            <a:noFill/>
          </a:ln>
        </p:spPr>
      </p:sp>
      <p:sp>
        <p:nvSpPr>
          <p:cNvPr id="29" name="Text 27"/>
          <p:cNvSpPr/>
          <p:nvPr/>
        </p:nvSpPr>
        <p:spPr>
          <a:xfrm>
            <a:off x="3657600" y="4193381"/>
            <a:ext cx="648867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2025" dirty="0"/>
          </a:p>
        </p:txBody>
      </p:sp>
      <p:sp>
        <p:nvSpPr>
          <p:cNvPr id="30" name="Text 28"/>
          <p:cNvSpPr/>
          <p:nvPr/>
        </p:nvSpPr>
        <p:spPr>
          <a:xfrm>
            <a:off x="3657600" y="4536281"/>
            <a:ext cx="648867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COUNTRIES</a:t>
            </a:r>
            <a:endParaRPr lang="en-US" sz="675" dirty="0"/>
          </a:p>
        </p:txBody>
      </p:sp>
      <p:sp>
        <p:nvSpPr>
          <p:cNvPr id="31" name="Shape 29"/>
          <p:cNvSpPr/>
          <p:nvPr/>
        </p:nvSpPr>
        <p:spPr>
          <a:xfrm>
            <a:off x="5601607" y="4250531"/>
            <a:ext cx="7144" cy="335756"/>
          </a:xfrm>
          <a:prstGeom prst="rect">
            <a:avLst/>
          </a:prstGeom>
          <a:solidFill>
            <a:srgbClr val="2C2F49"/>
          </a:solidFill>
          <a:ln>
            <a:noFill/>
          </a:ln>
        </p:spPr>
      </p:sp>
      <p:sp>
        <p:nvSpPr>
          <p:cNvPr id="32" name="Text 30"/>
          <p:cNvSpPr/>
          <p:nvPr/>
        </p:nvSpPr>
        <p:spPr>
          <a:xfrm>
            <a:off x="4563642" y="4193381"/>
            <a:ext cx="916543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$3.2M</a:t>
            </a:r>
            <a:endParaRPr lang="en-US" sz="2025" dirty="0"/>
          </a:p>
        </p:txBody>
      </p:sp>
      <p:sp>
        <p:nvSpPr>
          <p:cNvPr id="33" name="Text 31"/>
          <p:cNvSpPr/>
          <p:nvPr/>
        </p:nvSpPr>
        <p:spPr>
          <a:xfrm>
            <a:off x="4563642" y="4536281"/>
            <a:ext cx="916543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 REVENUE</a:t>
            </a:r>
            <a:endParaRPr lang="en-US" sz="675" dirty="0"/>
          </a:p>
        </p:txBody>
      </p:sp>
      <p:sp>
        <p:nvSpPr>
          <p:cNvPr id="34" name="Text 32"/>
          <p:cNvSpPr/>
          <p:nvPr/>
        </p:nvSpPr>
        <p:spPr>
          <a:xfrm>
            <a:off x="5737360" y="4193381"/>
            <a:ext cx="874324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340%</a:t>
            </a:r>
            <a:endParaRPr lang="en-US" sz="2025" dirty="0"/>
          </a:p>
        </p:txBody>
      </p:sp>
      <p:sp>
        <p:nvSpPr>
          <p:cNvPr id="35" name="Text 33"/>
          <p:cNvSpPr/>
          <p:nvPr/>
        </p:nvSpPr>
        <p:spPr>
          <a:xfrm>
            <a:off x="5737360" y="4536281"/>
            <a:ext cx="874324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YOY GROWTH</a:t>
            </a:r>
            <a:endParaRPr lang="en-US" sz="675" dirty="0"/>
          </a:p>
        </p:txBody>
      </p:sp>
      <p:sp>
        <p:nvSpPr>
          <p:cNvPr id="36" name="GRAD_37"/>
          <p:cNvSpPr/>
          <p:nvPr/>
        </p:nvSpPr>
        <p:spPr>
          <a:xfrm>
            <a:off x="2786063" y="785813"/>
            <a:ext cx="3571875" cy="3571875"/>
          </a:xfrm>
          <a:prstGeom prst="ellipse">
            <a:avLst/>
          </a:prstGeom>
          <a:gradFill rotWithShape="1">
            <a:gsLst>
              <a:gs pos="0">
                <a:srgbClr val="6366F1">
                  <a:alpha val="15000"/>
                </a:srgbClr>
              </a:gs>
              <a:gs pos="70000">
                <a:srgbClr val="6366F1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37" name="Shape 35"/>
          <p:cNvSpPr/>
          <p:nvPr/>
        </p:nvSpPr>
        <p:spPr>
          <a:xfrm rot="1499999">
            <a:off x="857214" y="571464"/>
            <a:ext cx="57150" cy="57150"/>
          </a:xfrm>
          <a:prstGeom prst="rect">
            <a:avLst/>
          </a:prstGeom>
          <a:solidFill>
            <a:srgbClr val="F59E0B">
              <a:alpha val="30000"/>
            </a:srgbClr>
          </a:solidFill>
          <a:ln>
            <a:noFill/>
          </a:ln>
        </p:spPr>
      </p:sp>
      <p:sp>
        <p:nvSpPr>
          <p:cNvPr id="38" name="Shape 36"/>
          <p:cNvSpPr/>
          <p:nvPr/>
        </p:nvSpPr>
        <p:spPr>
          <a:xfrm rot="20700000">
            <a:off x="1428750" y="1000125"/>
            <a:ext cx="42863" cy="85725"/>
          </a:xfrm>
          <a:prstGeom prst="rect">
            <a:avLst/>
          </a:prstGeom>
          <a:solidFill>
            <a:srgbClr val="EF4444">
              <a:alpha val="30000"/>
            </a:srgbClr>
          </a:solidFill>
          <a:ln>
            <a:noFill/>
          </a:ln>
        </p:spPr>
      </p:sp>
      <p:sp>
        <p:nvSpPr>
          <p:cNvPr id="39" name="Shape 37"/>
          <p:cNvSpPr/>
          <p:nvPr/>
        </p:nvSpPr>
        <p:spPr>
          <a:xfrm rot="2700000">
            <a:off x="7800939" y="428589"/>
            <a:ext cx="57150" cy="57150"/>
          </a:xfrm>
          <a:prstGeom prst="rect">
            <a:avLst/>
          </a:prstGeom>
          <a:solidFill>
            <a:srgbClr val="8B5CF6">
              <a:alpha val="30000"/>
            </a:srgbClr>
          </a:solidFill>
          <a:ln>
            <a:noFill/>
          </a:ln>
        </p:spPr>
      </p:sp>
      <p:sp>
        <p:nvSpPr>
          <p:cNvPr id="40" name="Shape 38"/>
          <p:cNvSpPr/>
          <p:nvPr/>
        </p:nvSpPr>
        <p:spPr>
          <a:xfrm rot="19799999">
            <a:off x="7286625" y="857250"/>
            <a:ext cx="71438" cy="42863"/>
          </a:xfrm>
          <a:prstGeom prst="rect">
            <a:avLst/>
          </a:prstGeom>
          <a:solidFill>
            <a:srgbClr val="3B82F6">
              <a:alpha val="30000"/>
            </a:srgbClr>
          </a:solidFill>
          <a:ln>
            <a:noFill/>
          </a:ln>
        </p:spPr>
      </p:sp>
      <p:sp>
        <p:nvSpPr>
          <p:cNvPr id="41" name="Shape 39"/>
          <p:cNvSpPr/>
          <p:nvPr/>
        </p:nvSpPr>
        <p:spPr>
          <a:xfrm rot="3599999">
            <a:off x="1071598" y="4014823"/>
            <a:ext cx="57150" cy="57150"/>
          </a:xfrm>
          <a:prstGeom prst="rect">
            <a:avLst/>
          </a:prstGeom>
          <a:solidFill>
            <a:srgbClr val="10B981">
              <a:alpha val="30000"/>
            </a:srgbClr>
          </a:solidFill>
          <a:ln>
            <a:noFill/>
          </a:ln>
        </p:spPr>
      </p:sp>
      <p:sp>
        <p:nvSpPr>
          <p:cNvPr id="42" name="Shape 40"/>
          <p:cNvSpPr/>
          <p:nvPr/>
        </p:nvSpPr>
        <p:spPr>
          <a:xfrm rot="18900000">
            <a:off x="8229564" y="4371939"/>
            <a:ext cx="57150" cy="57150"/>
          </a:xfrm>
          <a:prstGeom prst="rect">
            <a:avLst/>
          </a:prstGeom>
          <a:solidFill>
            <a:srgbClr val="EC4899">
              <a:alpha val="30000"/>
            </a:srgbClr>
          </a:solidFill>
          <a:ln>
            <a:noFill/>
          </a:ln>
        </p:spPr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3375" y="500063"/>
            <a:ext cx="857250" cy="857250"/>
          </a:xfrm>
          <a:prstGeom prst="rect">
            <a:avLst/>
          </a:prstGeom>
        </p:spPr>
      </p:pic>
      <p:sp>
        <p:nvSpPr>
          <p:cNvPr id="44" name="Shape 41"/>
          <p:cNvSpPr/>
          <p:nvPr/>
        </p:nvSpPr>
        <p:spPr>
          <a:xfrm>
            <a:off x="4171950" y="528638"/>
            <a:ext cx="800100" cy="800100"/>
          </a:xfrm>
          <a:prstGeom prst="ellipse">
            <a:avLst/>
          </a:prstGeom>
          <a:solidFill>
            <a:srgbClr val="1E1B4B"/>
          </a:solidFill>
          <a:ln>
            <a:noFill/>
          </a:ln>
        </p:spPr>
      </p:sp>
      <p:pic>
        <p:nvPicPr>
          <p:cNvPr id="4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1970" y="688658"/>
            <a:ext cx="480060" cy="480060"/>
          </a:xfrm>
          <a:prstGeom prst="rect">
            <a:avLst/>
          </a:prstGeom>
        </p:spPr>
      </p:pic>
      <p:sp>
        <p:nvSpPr>
          <p:cNvPr id="46" name="Shape 42"/>
          <p:cNvSpPr/>
          <p:nvPr/>
        </p:nvSpPr>
        <p:spPr>
          <a:xfrm>
            <a:off x="4829175" y="442913"/>
            <a:ext cx="228600" cy="228600"/>
          </a:xfrm>
          <a:prstGeom prst="ellipse">
            <a:avLst/>
          </a:prstGeom>
          <a:solidFill>
            <a:srgbClr val="F59E0B"/>
          </a:solidFill>
          <a:ln>
            <a:noFill/>
          </a:ln>
          <a:effectLst>
            <a:outerShdw sx="100000" sy="100000" kx="0" ky="0" algn="bl" rotWithShape="0" blurRad="142875" dist="50800" dir="5400000">
              <a:srgbClr val="F59E0B">
                <a:alpha val="50000"/>
              </a:srgbClr>
            </a:outerShdw>
          </a:effectLst>
        </p:spPr>
      </p:sp>
      <p:pic>
        <p:nvPicPr>
          <p:cNvPr id="4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465" y="477203"/>
            <a:ext cx="160020" cy="1600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0025" y="150019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200025" y="150019"/>
            <a:ext cx="228600" cy="2286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8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‹</a:t>
            </a:r>
            <a:endParaRPr lang="en-US" sz="788" dirty="0"/>
          </a:p>
        </p:txBody>
      </p:sp>
      <p:sp>
        <p:nvSpPr>
          <p:cNvPr id="4" name="Text 2"/>
          <p:cNvSpPr/>
          <p:nvPr/>
        </p:nvSpPr>
        <p:spPr>
          <a:xfrm>
            <a:off x="514350" y="142875"/>
            <a:ext cx="1003340" cy="2428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u="none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pPr algn="l" indent="0" marL="0">
              <a:lnSpc>
                <a:spcPct val="10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00000"/>
              </a:lnSpc>
              <a:buNone/>
            </a:pPr>
            <a:r>
              <a:rPr lang="en-US" sz="1575" u="none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</a:t>
            </a:r>
            <a:endParaRPr lang="en-US" sz="1575" dirty="0"/>
          </a:p>
        </p:txBody>
      </p:sp>
      <p:sp>
        <p:nvSpPr>
          <p:cNvPr id="5" name="Shape 3"/>
          <p:cNvSpPr/>
          <p:nvPr/>
        </p:nvSpPr>
        <p:spPr>
          <a:xfrm>
            <a:off x="1603415" y="150019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6" name="Text 4"/>
          <p:cNvSpPr/>
          <p:nvPr/>
        </p:nvSpPr>
        <p:spPr>
          <a:xfrm>
            <a:off x="1603415" y="150019"/>
            <a:ext cx="228600" cy="2286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8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›</a:t>
            </a:r>
            <a:endParaRPr lang="en-US" sz="788" dirty="0"/>
          </a:p>
        </p:txBody>
      </p:sp>
      <p:sp>
        <p:nvSpPr>
          <p:cNvPr id="7" name="Text 5"/>
          <p:cNvSpPr/>
          <p:nvPr/>
        </p:nvSpPr>
        <p:spPr>
          <a:xfrm>
            <a:off x="6285143" y="214313"/>
            <a:ext cx="440126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u="none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Meetings</a:t>
            </a:r>
            <a:endParaRPr lang="en-US" sz="675" dirty="0"/>
          </a:p>
        </p:txBody>
      </p:sp>
      <p:sp>
        <p:nvSpPr>
          <p:cNvPr id="8" name="Shape 6"/>
          <p:cNvSpPr/>
          <p:nvPr/>
        </p:nvSpPr>
        <p:spPr>
          <a:xfrm>
            <a:off x="6170843" y="228600"/>
            <a:ext cx="71438" cy="71438"/>
          </a:xfrm>
          <a:prstGeom prst="roundRect">
            <a:avLst>
              <a:gd name="adj" fmla="val 30000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6868144" y="214313"/>
            <a:ext cx="454985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u="none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Launches</a:t>
            </a:r>
            <a:endParaRPr lang="en-US" sz="675" dirty="0"/>
          </a:p>
        </p:txBody>
      </p:sp>
      <p:sp>
        <p:nvSpPr>
          <p:cNvPr id="10" name="Shape 8"/>
          <p:cNvSpPr/>
          <p:nvPr/>
        </p:nvSpPr>
        <p:spPr>
          <a:xfrm>
            <a:off x="6753844" y="228600"/>
            <a:ext cx="71438" cy="7143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11" name="Text 9"/>
          <p:cNvSpPr/>
          <p:nvPr/>
        </p:nvSpPr>
        <p:spPr>
          <a:xfrm>
            <a:off x="7466005" y="214313"/>
            <a:ext cx="461201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u="none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Deadlines</a:t>
            </a:r>
            <a:endParaRPr lang="en-US" sz="675" dirty="0"/>
          </a:p>
        </p:txBody>
      </p:sp>
      <p:sp>
        <p:nvSpPr>
          <p:cNvPr id="12" name="Shape 10"/>
          <p:cNvSpPr/>
          <p:nvPr/>
        </p:nvSpPr>
        <p:spPr>
          <a:xfrm>
            <a:off x="7351705" y="228600"/>
            <a:ext cx="71438" cy="71438"/>
          </a:xfrm>
          <a:prstGeom prst="roundRect">
            <a:avLst>
              <a:gd name="adj" fmla="val 30000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13" name="Text 11"/>
          <p:cNvSpPr/>
          <p:nvPr/>
        </p:nvSpPr>
        <p:spPr>
          <a:xfrm>
            <a:off x="8070080" y="214313"/>
            <a:ext cx="40005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u="none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Reviews</a:t>
            </a:r>
            <a:endParaRPr lang="en-US" sz="675" dirty="0"/>
          </a:p>
        </p:txBody>
      </p:sp>
      <p:sp>
        <p:nvSpPr>
          <p:cNvPr id="14" name="Shape 12"/>
          <p:cNvSpPr/>
          <p:nvPr/>
        </p:nvSpPr>
        <p:spPr>
          <a:xfrm>
            <a:off x="7955780" y="228600"/>
            <a:ext cx="71438" cy="7143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15" name="Text 13"/>
          <p:cNvSpPr/>
          <p:nvPr/>
        </p:nvSpPr>
        <p:spPr>
          <a:xfrm>
            <a:off x="8613005" y="214313"/>
            <a:ext cx="416695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75" u="none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Holidays</a:t>
            </a:r>
            <a:endParaRPr lang="en-US" sz="675" dirty="0"/>
          </a:p>
        </p:txBody>
      </p:sp>
      <p:sp>
        <p:nvSpPr>
          <p:cNvPr id="16" name="Shape 14"/>
          <p:cNvSpPr/>
          <p:nvPr/>
        </p:nvSpPr>
        <p:spPr>
          <a:xfrm>
            <a:off x="8498705" y="228600"/>
            <a:ext cx="71438" cy="71438"/>
          </a:xfrm>
          <a:prstGeom prst="roundRect">
            <a:avLst>
              <a:gd name="adj" fmla="val 30000"/>
            </a:avLst>
          </a:prstGeom>
          <a:solidFill>
            <a:srgbClr val="EF4444"/>
          </a:solidFill>
          <a:ln>
            <a:noFill/>
          </a:ln>
        </p:spPr>
      </p:sp>
      <p:sp>
        <p:nvSpPr>
          <p:cNvPr id="17" name="Text 15"/>
          <p:cNvSpPr/>
          <p:nvPr/>
        </p:nvSpPr>
        <p:spPr>
          <a:xfrm>
            <a:off x="200025" y="500063"/>
            <a:ext cx="1249013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1449038" y="500063"/>
            <a:ext cx="1249156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</a:t>
            </a:r>
            <a:endParaRPr lang="en-US" sz="675" dirty="0"/>
          </a:p>
        </p:txBody>
      </p:sp>
      <p:sp>
        <p:nvSpPr>
          <p:cNvPr id="19" name="Text 17"/>
          <p:cNvSpPr/>
          <p:nvPr/>
        </p:nvSpPr>
        <p:spPr>
          <a:xfrm>
            <a:off x="2698194" y="500063"/>
            <a:ext cx="1249156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TUE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3947350" y="500063"/>
            <a:ext cx="1249156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WED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5196507" y="500063"/>
            <a:ext cx="1249156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THU</a:t>
            </a:r>
            <a:endParaRPr lang="en-US" sz="675" dirty="0"/>
          </a:p>
        </p:txBody>
      </p:sp>
      <p:sp>
        <p:nvSpPr>
          <p:cNvPr id="22" name="Text 20"/>
          <p:cNvSpPr/>
          <p:nvPr/>
        </p:nvSpPr>
        <p:spPr>
          <a:xfrm>
            <a:off x="6445663" y="500063"/>
            <a:ext cx="1249156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</a:t>
            </a:r>
            <a:endParaRPr lang="en-US" sz="675" dirty="0"/>
          </a:p>
        </p:txBody>
      </p:sp>
      <p:sp>
        <p:nvSpPr>
          <p:cNvPr id="23" name="Text 21"/>
          <p:cNvSpPr/>
          <p:nvPr/>
        </p:nvSpPr>
        <p:spPr>
          <a:xfrm>
            <a:off x="7694819" y="500063"/>
            <a:ext cx="1249156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</a:t>
            </a:r>
            <a:endParaRPr lang="en-US" sz="675" dirty="0"/>
          </a:p>
        </p:txBody>
      </p:sp>
      <p:sp>
        <p:nvSpPr>
          <p:cNvPr id="24" name="Shape 22"/>
          <p:cNvSpPr/>
          <p:nvPr/>
        </p:nvSpPr>
        <p:spPr>
          <a:xfrm>
            <a:off x="200025" y="750094"/>
            <a:ext cx="8743950" cy="4250531"/>
          </a:xfrm>
          <a:prstGeom prst="roundRect">
            <a:avLst>
              <a:gd name="adj" fmla="val 2017"/>
            </a:avLst>
          </a:prstGeom>
          <a:solidFill>
            <a:srgbClr val="FFFFFF">
              <a:alpha val="0"/>
            </a:srgbClr>
          </a:solidFill>
          <a:ln w="7144" algn="in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7169" y="757238"/>
            <a:ext cx="1247013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26" name="Shape 24"/>
          <p:cNvSpPr/>
          <p:nvPr/>
        </p:nvSpPr>
        <p:spPr>
          <a:xfrm>
            <a:off x="207169" y="1597271"/>
            <a:ext cx="1247013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7" name="Shape 25"/>
          <p:cNvSpPr/>
          <p:nvPr/>
        </p:nvSpPr>
        <p:spPr>
          <a:xfrm>
            <a:off x="1447038" y="757238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8" name="Text 26"/>
          <p:cNvSpPr/>
          <p:nvPr/>
        </p:nvSpPr>
        <p:spPr>
          <a:xfrm>
            <a:off x="178594" y="800100"/>
            <a:ext cx="1211294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731" dirty="0"/>
          </a:p>
        </p:txBody>
      </p:sp>
      <p:sp>
        <p:nvSpPr>
          <p:cNvPr id="29" name="Shape 27"/>
          <p:cNvSpPr/>
          <p:nvPr/>
        </p:nvSpPr>
        <p:spPr>
          <a:xfrm>
            <a:off x="1454182" y="757238"/>
            <a:ext cx="1247156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30" name="Shape 28"/>
          <p:cNvSpPr/>
          <p:nvPr/>
        </p:nvSpPr>
        <p:spPr>
          <a:xfrm>
            <a:off x="1454182" y="1597271"/>
            <a:ext cx="1247156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1" name="Shape 29"/>
          <p:cNvSpPr/>
          <p:nvPr/>
        </p:nvSpPr>
        <p:spPr>
          <a:xfrm>
            <a:off x="2694194" y="757238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2" name="Text 30"/>
          <p:cNvSpPr/>
          <p:nvPr/>
        </p:nvSpPr>
        <p:spPr>
          <a:xfrm>
            <a:off x="1468469" y="800100"/>
            <a:ext cx="116857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731" dirty="0"/>
          </a:p>
        </p:txBody>
      </p:sp>
      <p:sp>
        <p:nvSpPr>
          <p:cNvPr id="33" name="Shape 31"/>
          <p:cNvSpPr/>
          <p:nvPr/>
        </p:nvSpPr>
        <p:spPr>
          <a:xfrm>
            <a:off x="2701338" y="757238"/>
            <a:ext cx="1247013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34" name="Shape 32"/>
          <p:cNvSpPr/>
          <p:nvPr/>
        </p:nvSpPr>
        <p:spPr>
          <a:xfrm>
            <a:off x="2701338" y="1597271"/>
            <a:ext cx="1247013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5" name="Shape 33"/>
          <p:cNvSpPr/>
          <p:nvPr/>
        </p:nvSpPr>
        <p:spPr>
          <a:xfrm>
            <a:off x="3941207" y="757238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6" name="Text 34"/>
          <p:cNvSpPr/>
          <p:nvPr/>
        </p:nvSpPr>
        <p:spPr>
          <a:xfrm>
            <a:off x="2715625" y="800100"/>
            <a:ext cx="1168432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731" dirty="0"/>
          </a:p>
        </p:txBody>
      </p:sp>
      <p:sp>
        <p:nvSpPr>
          <p:cNvPr id="37" name="Shape 35"/>
          <p:cNvSpPr/>
          <p:nvPr/>
        </p:nvSpPr>
        <p:spPr>
          <a:xfrm>
            <a:off x="3948351" y="757238"/>
            <a:ext cx="1247156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38" name="Shape 36"/>
          <p:cNvSpPr/>
          <p:nvPr/>
        </p:nvSpPr>
        <p:spPr>
          <a:xfrm>
            <a:off x="3948351" y="1597271"/>
            <a:ext cx="1247156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9" name="Shape 37"/>
          <p:cNvSpPr/>
          <p:nvPr/>
        </p:nvSpPr>
        <p:spPr>
          <a:xfrm>
            <a:off x="5188363" y="757238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0" name="Text 38"/>
          <p:cNvSpPr/>
          <p:nvPr/>
        </p:nvSpPr>
        <p:spPr>
          <a:xfrm>
            <a:off x="3962638" y="800100"/>
            <a:ext cx="116857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31" dirty="0"/>
          </a:p>
        </p:txBody>
      </p:sp>
      <p:sp>
        <p:nvSpPr>
          <p:cNvPr id="41" name="Shape 39"/>
          <p:cNvSpPr/>
          <p:nvPr/>
        </p:nvSpPr>
        <p:spPr>
          <a:xfrm>
            <a:off x="4005501" y="942975"/>
            <a:ext cx="1125712" cy="107156"/>
          </a:xfrm>
          <a:prstGeom prst="roundRect">
            <a:avLst>
              <a:gd name="adj" fmla="val 26667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42" name="Text 40"/>
          <p:cNvSpPr/>
          <p:nvPr/>
        </p:nvSpPr>
        <p:spPr>
          <a:xfrm>
            <a:off x="4048363" y="942975"/>
            <a:ext cx="113285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Planning</a:t>
            </a:r>
            <a:endParaRPr lang="en-US" sz="506" dirty="0"/>
          </a:p>
        </p:txBody>
      </p:sp>
      <p:sp>
        <p:nvSpPr>
          <p:cNvPr id="43" name="Shape 41"/>
          <p:cNvSpPr/>
          <p:nvPr/>
        </p:nvSpPr>
        <p:spPr>
          <a:xfrm>
            <a:off x="5195507" y="757238"/>
            <a:ext cx="1247013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44" name="Shape 42"/>
          <p:cNvSpPr/>
          <p:nvPr/>
        </p:nvSpPr>
        <p:spPr>
          <a:xfrm>
            <a:off x="5195507" y="1597271"/>
            <a:ext cx="1247013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5" name="Shape 43"/>
          <p:cNvSpPr/>
          <p:nvPr/>
        </p:nvSpPr>
        <p:spPr>
          <a:xfrm>
            <a:off x="6435376" y="757238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6" name="Text 44"/>
          <p:cNvSpPr/>
          <p:nvPr/>
        </p:nvSpPr>
        <p:spPr>
          <a:xfrm>
            <a:off x="5209794" y="800100"/>
            <a:ext cx="1168432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31" dirty="0"/>
          </a:p>
        </p:txBody>
      </p:sp>
      <p:sp>
        <p:nvSpPr>
          <p:cNvPr id="47" name="Shape 45"/>
          <p:cNvSpPr/>
          <p:nvPr/>
        </p:nvSpPr>
        <p:spPr>
          <a:xfrm>
            <a:off x="6442520" y="757238"/>
            <a:ext cx="1247156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48" name="Shape 46"/>
          <p:cNvSpPr/>
          <p:nvPr/>
        </p:nvSpPr>
        <p:spPr>
          <a:xfrm>
            <a:off x="6442520" y="1597271"/>
            <a:ext cx="1247156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9" name="Shape 47"/>
          <p:cNvSpPr/>
          <p:nvPr/>
        </p:nvSpPr>
        <p:spPr>
          <a:xfrm>
            <a:off x="7682532" y="757238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0" name="Text 48"/>
          <p:cNvSpPr/>
          <p:nvPr/>
        </p:nvSpPr>
        <p:spPr>
          <a:xfrm>
            <a:off x="6456807" y="800100"/>
            <a:ext cx="116857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731" dirty="0"/>
          </a:p>
        </p:txBody>
      </p:sp>
      <p:sp>
        <p:nvSpPr>
          <p:cNvPr id="51" name="Shape 49"/>
          <p:cNvSpPr/>
          <p:nvPr/>
        </p:nvSpPr>
        <p:spPr>
          <a:xfrm>
            <a:off x="6499670" y="942975"/>
            <a:ext cx="1125712" cy="107156"/>
          </a:xfrm>
          <a:prstGeom prst="roundRect">
            <a:avLst>
              <a:gd name="adj" fmla="val 26667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52" name="Text 50"/>
          <p:cNvSpPr/>
          <p:nvPr/>
        </p:nvSpPr>
        <p:spPr>
          <a:xfrm>
            <a:off x="6542532" y="942975"/>
            <a:ext cx="113285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Report Due</a:t>
            </a:r>
            <a:endParaRPr lang="en-US" sz="506" dirty="0"/>
          </a:p>
        </p:txBody>
      </p:sp>
      <p:sp>
        <p:nvSpPr>
          <p:cNvPr id="53" name="Shape 51"/>
          <p:cNvSpPr/>
          <p:nvPr/>
        </p:nvSpPr>
        <p:spPr>
          <a:xfrm>
            <a:off x="7689675" y="757238"/>
            <a:ext cx="1247013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54" name="Shape 52"/>
          <p:cNvSpPr/>
          <p:nvPr/>
        </p:nvSpPr>
        <p:spPr>
          <a:xfrm>
            <a:off x="7689675" y="1597271"/>
            <a:ext cx="1247013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5" name="Text 53"/>
          <p:cNvSpPr/>
          <p:nvPr/>
        </p:nvSpPr>
        <p:spPr>
          <a:xfrm>
            <a:off x="7703963" y="800100"/>
            <a:ext cx="1175576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731" dirty="0"/>
          </a:p>
        </p:txBody>
      </p:sp>
      <p:sp>
        <p:nvSpPr>
          <p:cNvPr id="56" name="Shape 54"/>
          <p:cNvSpPr/>
          <p:nvPr/>
        </p:nvSpPr>
        <p:spPr>
          <a:xfrm>
            <a:off x="207169" y="1604415"/>
            <a:ext cx="1247013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57" name="Shape 55"/>
          <p:cNvSpPr/>
          <p:nvPr/>
        </p:nvSpPr>
        <p:spPr>
          <a:xfrm>
            <a:off x="207169" y="2444448"/>
            <a:ext cx="1247013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8" name="Shape 56"/>
          <p:cNvSpPr/>
          <p:nvPr/>
        </p:nvSpPr>
        <p:spPr>
          <a:xfrm>
            <a:off x="1447038" y="1604415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9" name="Text 57"/>
          <p:cNvSpPr/>
          <p:nvPr/>
        </p:nvSpPr>
        <p:spPr>
          <a:xfrm>
            <a:off x="178594" y="1647277"/>
            <a:ext cx="1211294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731" dirty="0"/>
          </a:p>
        </p:txBody>
      </p:sp>
      <p:sp>
        <p:nvSpPr>
          <p:cNvPr id="60" name="Shape 58"/>
          <p:cNvSpPr/>
          <p:nvPr/>
        </p:nvSpPr>
        <p:spPr>
          <a:xfrm>
            <a:off x="1454182" y="1604415"/>
            <a:ext cx="1247156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61" name="Shape 59"/>
          <p:cNvSpPr/>
          <p:nvPr/>
        </p:nvSpPr>
        <p:spPr>
          <a:xfrm>
            <a:off x="1454182" y="2444448"/>
            <a:ext cx="1247156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62" name="Shape 60"/>
          <p:cNvSpPr/>
          <p:nvPr/>
        </p:nvSpPr>
        <p:spPr>
          <a:xfrm>
            <a:off x="2694194" y="1604415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63" name="Text 61"/>
          <p:cNvSpPr/>
          <p:nvPr/>
        </p:nvSpPr>
        <p:spPr>
          <a:xfrm>
            <a:off x="1468469" y="1647277"/>
            <a:ext cx="116857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731" dirty="0"/>
          </a:p>
        </p:txBody>
      </p:sp>
      <p:sp>
        <p:nvSpPr>
          <p:cNvPr id="64" name="Shape 62"/>
          <p:cNvSpPr/>
          <p:nvPr/>
        </p:nvSpPr>
        <p:spPr>
          <a:xfrm>
            <a:off x="1511332" y="1790152"/>
            <a:ext cx="1125712" cy="107156"/>
          </a:xfrm>
          <a:prstGeom prst="roundRect">
            <a:avLst>
              <a:gd name="adj" fmla="val 26667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65" name="Text 63"/>
          <p:cNvSpPr/>
          <p:nvPr/>
        </p:nvSpPr>
        <p:spPr>
          <a:xfrm>
            <a:off x="1554194" y="1790152"/>
            <a:ext cx="113285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Board Meeting</a:t>
            </a:r>
            <a:endParaRPr lang="en-US" sz="506" dirty="0"/>
          </a:p>
        </p:txBody>
      </p:sp>
      <p:sp>
        <p:nvSpPr>
          <p:cNvPr id="66" name="Shape 64"/>
          <p:cNvSpPr/>
          <p:nvPr/>
        </p:nvSpPr>
        <p:spPr>
          <a:xfrm>
            <a:off x="1511332" y="1911596"/>
            <a:ext cx="1125712" cy="107156"/>
          </a:xfrm>
          <a:prstGeom prst="roundRect">
            <a:avLst>
              <a:gd name="adj" fmla="val 26667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67" name="Text 65"/>
          <p:cNvSpPr/>
          <p:nvPr/>
        </p:nvSpPr>
        <p:spPr>
          <a:xfrm>
            <a:off x="1554194" y="1911596"/>
            <a:ext cx="113285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 Launch</a:t>
            </a:r>
            <a:endParaRPr lang="en-US" sz="506" dirty="0"/>
          </a:p>
        </p:txBody>
      </p:sp>
      <p:sp>
        <p:nvSpPr>
          <p:cNvPr id="68" name="Shape 66"/>
          <p:cNvSpPr/>
          <p:nvPr/>
        </p:nvSpPr>
        <p:spPr>
          <a:xfrm>
            <a:off x="2701338" y="1604415"/>
            <a:ext cx="1247013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69" name="Shape 67"/>
          <p:cNvSpPr/>
          <p:nvPr/>
        </p:nvSpPr>
        <p:spPr>
          <a:xfrm>
            <a:off x="2701338" y="2444448"/>
            <a:ext cx="1247013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70" name="Shape 68"/>
          <p:cNvSpPr/>
          <p:nvPr/>
        </p:nvSpPr>
        <p:spPr>
          <a:xfrm>
            <a:off x="3941207" y="1604415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71" name="Text 69"/>
          <p:cNvSpPr/>
          <p:nvPr/>
        </p:nvSpPr>
        <p:spPr>
          <a:xfrm>
            <a:off x="2715625" y="1647277"/>
            <a:ext cx="1168432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731" dirty="0"/>
          </a:p>
        </p:txBody>
      </p:sp>
      <p:sp>
        <p:nvSpPr>
          <p:cNvPr id="72" name="Shape 70"/>
          <p:cNvSpPr/>
          <p:nvPr/>
        </p:nvSpPr>
        <p:spPr>
          <a:xfrm>
            <a:off x="2758488" y="1790152"/>
            <a:ext cx="1125569" cy="107156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73" name="Text 71"/>
          <p:cNvSpPr/>
          <p:nvPr/>
        </p:nvSpPr>
        <p:spPr>
          <a:xfrm>
            <a:off x="2801350" y="1790152"/>
            <a:ext cx="1132713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Review</a:t>
            </a:r>
            <a:endParaRPr lang="en-US" sz="506" dirty="0"/>
          </a:p>
        </p:txBody>
      </p:sp>
      <p:sp>
        <p:nvSpPr>
          <p:cNvPr id="74" name="Shape 72"/>
          <p:cNvSpPr/>
          <p:nvPr/>
        </p:nvSpPr>
        <p:spPr>
          <a:xfrm>
            <a:off x="3948351" y="1604415"/>
            <a:ext cx="1247156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75" name="Shape 73"/>
          <p:cNvSpPr/>
          <p:nvPr/>
        </p:nvSpPr>
        <p:spPr>
          <a:xfrm>
            <a:off x="3948351" y="2444448"/>
            <a:ext cx="1247156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76" name="Shape 74"/>
          <p:cNvSpPr/>
          <p:nvPr/>
        </p:nvSpPr>
        <p:spPr>
          <a:xfrm>
            <a:off x="5188363" y="1604415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77" name="Text 75"/>
          <p:cNvSpPr/>
          <p:nvPr/>
        </p:nvSpPr>
        <p:spPr>
          <a:xfrm>
            <a:off x="3962638" y="1647277"/>
            <a:ext cx="116857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731" dirty="0"/>
          </a:p>
        </p:txBody>
      </p:sp>
      <p:sp>
        <p:nvSpPr>
          <p:cNvPr id="78" name="Shape 76"/>
          <p:cNvSpPr/>
          <p:nvPr/>
        </p:nvSpPr>
        <p:spPr>
          <a:xfrm>
            <a:off x="5195507" y="1604415"/>
            <a:ext cx="1247013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79" name="Shape 77"/>
          <p:cNvSpPr/>
          <p:nvPr/>
        </p:nvSpPr>
        <p:spPr>
          <a:xfrm>
            <a:off x="5195507" y="2444448"/>
            <a:ext cx="1247013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80" name="Shape 78"/>
          <p:cNvSpPr/>
          <p:nvPr/>
        </p:nvSpPr>
        <p:spPr>
          <a:xfrm>
            <a:off x="6435376" y="1604415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81" name="Text 79"/>
          <p:cNvSpPr/>
          <p:nvPr/>
        </p:nvSpPr>
        <p:spPr>
          <a:xfrm>
            <a:off x="5209794" y="1647277"/>
            <a:ext cx="1168432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731" dirty="0"/>
          </a:p>
        </p:txBody>
      </p:sp>
      <p:sp>
        <p:nvSpPr>
          <p:cNvPr id="82" name="Shape 80"/>
          <p:cNvSpPr/>
          <p:nvPr/>
        </p:nvSpPr>
        <p:spPr>
          <a:xfrm>
            <a:off x="5252657" y="1790152"/>
            <a:ext cx="1125569" cy="107156"/>
          </a:xfrm>
          <a:prstGeom prst="roundRect">
            <a:avLst>
              <a:gd name="adj" fmla="val 26667"/>
            </a:avLst>
          </a:prstGeom>
          <a:solidFill>
            <a:srgbClr val="14B8A6"/>
          </a:solidFill>
          <a:ln>
            <a:noFill/>
          </a:ln>
        </p:spPr>
      </p:sp>
      <p:sp>
        <p:nvSpPr>
          <p:cNvPr id="83" name="Text 81"/>
          <p:cNvSpPr/>
          <p:nvPr/>
        </p:nvSpPr>
        <p:spPr>
          <a:xfrm>
            <a:off x="5295519" y="1790152"/>
            <a:ext cx="1132713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Offsite</a:t>
            </a:r>
            <a:endParaRPr lang="en-US" sz="506" dirty="0"/>
          </a:p>
        </p:txBody>
      </p:sp>
      <p:sp>
        <p:nvSpPr>
          <p:cNvPr id="84" name="Shape 82"/>
          <p:cNvSpPr/>
          <p:nvPr/>
        </p:nvSpPr>
        <p:spPr>
          <a:xfrm>
            <a:off x="6442520" y="1604415"/>
            <a:ext cx="1247156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85" name="Shape 83"/>
          <p:cNvSpPr/>
          <p:nvPr/>
        </p:nvSpPr>
        <p:spPr>
          <a:xfrm>
            <a:off x="6442520" y="2444448"/>
            <a:ext cx="1247156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86" name="Shape 84"/>
          <p:cNvSpPr/>
          <p:nvPr/>
        </p:nvSpPr>
        <p:spPr>
          <a:xfrm>
            <a:off x="7682532" y="1604415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87" name="Text 85"/>
          <p:cNvSpPr/>
          <p:nvPr/>
        </p:nvSpPr>
        <p:spPr>
          <a:xfrm>
            <a:off x="6456807" y="1647277"/>
            <a:ext cx="116857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731" dirty="0"/>
          </a:p>
        </p:txBody>
      </p:sp>
      <p:sp>
        <p:nvSpPr>
          <p:cNvPr id="88" name="Shape 86"/>
          <p:cNvSpPr/>
          <p:nvPr/>
        </p:nvSpPr>
        <p:spPr>
          <a:xfrm>
            <a:off x="6499670" y="1790152"/>
            <a:ext cx="1125712" cy="107156"/>
          </a:xfrm>
          <a:prstGeom prst="roundRect">
            <a:avLst>
              <a:gd name="adj" fmla="val 26667"/>
            </a:avLst>
          </a:prstGeom>
          <a:solidFill>
            <a:srgbClr val="14B8A6"/>
          </a:solidFill>
          <a:ln>
            <a:noFill/>
          </a:ln>
        </p:spPr>
      </p:sp>
      <p:sp>
        <p:nvSpPr>
          <p:cNvPr id="89" name="Text 87"/>
          <p:cNvSpPr/>
          <p:nvPr/>
        </p:nvSpPr>
        <p:spPr>
          <a:xfrm>
            <a:off x="6542532" y="1790152"/>
            <a:ext cx="113285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Offsite</a:t>
            </a:r>
            <a:endParaRPr lang="en-US" sz="506" dirty="0"/>
          </a:p>
        </p:txBody>
      </p:sp>
      <p:sp>
        <p:nvSpPr>
          <p:cNvPr id="90" name="Shape 88"/>
          <p:cNvSpPr/>
          <p:nvPr/>
        </p:nvSpPr>
        <p:spPr>
          <a:xfrm>
            <a:off x="7689675" y="1604415"/>
            <a:ext cx="1247013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91" name="Shape 89"/>
          <p:cNvSpPr/>
          <p:nvPr/>
        </p:nvSpPr>
        <p:spPr>
          <a:xfrm>
            <a:off x="7689675" y="2444448"/>
            <a:ext cx="1247013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92" name="Text 90"/>
          <p:cNvSpPr/>
          <p:nvPr/>
        </p:nvSpPr>
        <p:spPr>
          <a:xfrm>
            <a:off x="7703963" y="1647277"/>
            <a:ext cx="1175576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731" dirty="0"/>
          </a:p>
        </p:txBody>
      </p:sp>
      <p:sp>
        <p:nvSpPr>
          <p:cNvPr id="93" name="Shape 91"/>
          <p:cNvSpPr/>
          <p:nvPr/>
        </p:nvSpPr>
        <p:spPr>
          <a:xfrm>
            <a:off x="207169" y="2451664"/>
            <a:ext cx="1247013" cy="847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94" name="Shape 92"/>
          <p:cNvSpPr/>
          <p:nvPr/>
        </p:nvSpPr>
        <p:spPr>
          <a:xfrm>
            <a:off x="207169" y="3291840"/>
            <a:ext cx="1247013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95" name="Shape 93"/>
          <p:cNvSpPr/>
          <p:nvPr/>
        </p:nvSpPr>
        <p:spPr>
          <a:xfrm>
            <a:off x="1447038" y="2451664"/>
            <a:ext cx="7144" cy="84732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96" name="Text 94"/>
          <p:cNvSpPr/>
          <p:nvPr/>
        </p:nvSpPr>
        <p:spPr>
          <a:xfrm>
            <a:off x="178594" y="2494526"/>
            <a:ext cx="1211294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731" dirty="0"/>
          </a:p>
        </p:txBody>
      </p:sp>
      <p:sp>
        <p:nvSpPr>
          <p:cNvPr id="97" name="Shape 95"/>
          <p:cNvSpPr/>
          <p:nvPr/>
        </p:nvSpPr>
        <p:spPr>
          <a:xfrm>
            <a:off x="1454182" y="2451664"/>
            <a:ext cx="1247156" cy="847320"/>
          </a:xfrm>
          <a:prstGeom prst="rect">
            <a:avLst/>
          </a:prstGeom>
          <a:solidFill>
            <a:srgbClr val="EFF6FF"/>
          </a:solidFill>
          <a:ln>
            <a:noFill/>
          </a:ln>
        </p:spPr>
      </p:sp>
      <p:sp>
        <p:nvSpPr>
          <p:cNvPr id="98" name="Shape 96"/>
          <p:cNvSpPr/>
          <p:nvPr/>
        </p:nvSpPr>
        <p:spPr>
          <a:xfrm>
            <a:off x="1454182" y="3291840"/>
            <a:ext cx="1247156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99" name="Shape 97"/>
          <p:cNvSpPr/>
          <p:nvPr/>
        </p:nvSpPr>
        <p:spPr>
          <a:xfrm>
            <a:off x="2694194" y="2451664"/>
            <a:ext cx="7144" cy="84732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00" name="Shape 98"/>
          <p:cNvSpPr/>
          <p:nvPr/>
        </p:nvSpPr>
        <p:spPr>
          <a:xfrm>
            <a:off x="2465594" y="2494526"/>
            <a:ext cx="171450" cy="17145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01" name="Text 99"/>
          <p:cNvSpPr/>
          <p:nvPr/>
        </p:nvSpPr>
        <p:spPr>
          <a:xfrm>
            <a:off x="2465594" y="2494526"/>
            <a:ext cx="171450" cy="171450"/>
          </a:xfrm>
          <a:prstGeom prst="rect">
            <a:avLst/>
          </a:prstGeom>
          <a:ln>
            <a:noFill/>
          </a:ln>
        </p:spPr>
        <p:txBody>
          <a:bodyPr wrap="square" lIns="0" tIns="22289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1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731" dirty="0"/>
          </a:p>
        </p:txBody>
      </p:sp>
      <p:sp>
        <p:nvSpPr>
          <p:cNvPr id="102" name="Shape 100"/>
          <p:cNvSpPr/>
          <p:nvPr/>
        </p:nvSpPr>
        <p:spPr>
          <a:xfrm>
            <a:off x="1511332" y="2694551"/>
            <a:ext cx="1125712" cy="107156"/>
          </a:xfrm>
          <a:prstGeom prst="roundRect">
            <a:avLst>
              <a:gd name="adj" fmla="val 26667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103" name="Text 101"/>
          <p:cNvSpPr/>
          <p:nvPr/>
        </p:nvSpPr>
        <p:spPr>
          <a:xfrm>
            <a:off x="1554194" y="2694551"/>
            <a:ext cx="113285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Standup</a:t>
            </a:r>
            <a:endParaRPr lang="en-US" sz="506" dirty="0"/>
          </a:p>
        </p:txBody>
      </p:sp>
      <p:sp>
        <p:nvSpPr>
          <p:cNvPr id="104" name="Shape 102"/>
          <p:cNvSpPr/>
          <p:nvPr/>
        </p:nvSpPr>
        <p:spPr>
          <a:xfrm>
            <a:off x="1511332" y="2815995"/>
            <a:ext cx="1125712" cy="107156"/>
          </a:xfrm>
          <a:prstGeom prst="roundRect">
            <a:avLst>
              <a:gd name="adj" fmla="val 26667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105" name="Text 103"/>
          <p:cNvSpPr/>
          <p:nvPr/>
        </p:nvSpPr>
        <p:spPr>
          <a:xfrm>
            <a:off x="1554194" y="2815995"/>
            <a:ext cx="113285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Freeze</a:t>
            </a:r>
            <a:endParaRPr lang="en-US" sz="506" dirty="0"/>
          </a:p>
        </p:txBody>
      </p:sp>
      <p:sp>
        <p:nvSpPr>
          <p:cNvPr id="106" name="Shape 104"/>
          <p:cNvSpPr/>
          <p:nvPr/>
        </p:nvSpPr>
        <p:spPr>
          <a:xfrm>
            <a:off x="2701338" y="2451664"/>
            <a:ext cx="1247013" cy="847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07" name="Shape 105"/>
          <p:cNvSpPr/>
          <p:nvPr/>
        </p:nvSpPr>
        <p:spPr>
          <a:xfrm>
            <a:off x="2701338" y="3291840"/>
            <a:ext cx="1247013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08" name="Shape 106"/>
          <p:cNvSpPr/>
          <p:nvPr/>
        </p:nvSpPr>
        <p:spPr>
          <a:xfrm>
            <a:off x="3941207" y="2451664"/>
            <a:ext cx="7144" cy="84732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09" name="Text 107"/>
          <p:cNvSpPr/>
          <p:nvPr/>
        </p:nvSpPr>
        <p:spPr>
          <a:xfrm>
            <a:off x="2715625" y="2494526"/>
            <a:ext cx="1168432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731" dirty="0"/>
          </a:p>
        </p:txBody>
      </p:sp>
      <p:sp>
        <p:nvSpPr>
          <p:cNvPr id="110" name="Shape 108"/>
          <p:cNvSpPr/>
          <p:nvPr/>
        </p:nvSpPr>
        <p:spPr>
          <a:xfrm>
            <a:off x="2758488" y="2637401"/>
            <a:ext cx="1125569" cy="107156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111" name="Text 109"/>
          <p:cNvSpPr/>
          <p:nvPr/>
        </p:nvSpPr>
        <p:spPr>
          <a:xfrm>
            <a:off x="2801350" y="2637401"/>
            <a:ext cx="1132713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 Reviews</a:t>
            </a:r>
            <a:endParaRPr lang="en-US" sz="506" dirty="0"/>
          </a:p>
        </p:txBody>
      </p:sp>
      <p:sp>
        <p:nvSpPr>
          <p:cNvPr id="112" name="Shape 110"/>
          <p:cNvSpPr/>
          <p:nvPr/>
        </p:nvSpPr>
        <p:spPr>
          <a:xfrm>
            <a:off x="3948351" y="2451664"/>
            <a:ext cx="1247156" cy="847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13" name="Shape 111"/>
          <p:cNvSpPr/>
          <p:nvPr/>
        </p:nvSpPr>
        <p:spPr>
          <a:xfrm>
            <a:off x="3948351" y="3291840"/>
            <a:ext cx="1247156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14" name="Shape 112"/>
          <p:cNvSpPr/>
          <p:nvPr/>
        </p:nvSpPr>
        <p:spPr>
          <a:xfrm>
            <a:off x="5188363" y="2451664"/>
            <a:ext cx="7144" cy="84732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15" name="Text 113"/>
          <p:cNvSpPr/>
          <p:nvPr/>
        </p:nvSpPr>
        <p:spPr>
          <a:xfrm>
            <a:off x="3962638" y="2494526"/>
            <a:ext cx="116857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731" dirty="0"/>
          </a:p>
        </p:txBody>
      </p:sp>
      <p:sp>
        <p:nvSpPr>
          <p:cNvPr id="116" name="Shape 114"/>
          <p:cNvSpPr/>
          <p:nvPr/>
        </p:nvSpPr>
        <p:spPr>
          <a:xfrm>
            <a:off x="4005501" y="2637401"/>
            <a:ext cx="1125712" cy="107156"/>
          </a:xfrm>
          <a:prstGeom prst="roundRect">
            <a:avLst>
              <a:gd name="adj" fmla="val 26667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117" name="Text 115"/>
          <p:cNvSpPr/>
          <p:nvPr/>
        </p:nvSpPr>
        <p:spPr>
          <a:xfrm>
            <a:off x="4048363" y="2637401"/>
            <a:ext cx="113285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Ship</a:t>
            </a:r>
            <a:endParaRPr lang="en-US" sz="506" dirty="0"/>
          </a:p>
        </p:txBody>
      </p:sp>
      <p:sp>
        <p:nvSpPr>
          <p:cNvPr id="118" name="Shape 116"/>
          <p:cNvSpPr/>
          <p:nvPr/>
        </p:nvSpPr>
        <p:spPr>
          <a:xfrm>
            <a:off x="5195507" y="2451664"/>
            <a:ext cx="1247013" cy="847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19" name="Shape 117"/>
          <p:cNvSpPr/>
          <p:nvPr/>
        </p:nvSpPr>
        <p:spPr>
          <a:xfrm>
            <a:off x="5195507" y="3291840"/>
            <a:ext cx="1247013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20" name="Shape 118"/>
          <p:cNvSpPr/>
          <p:nvPr/>
        </p:nvSpPr>
        <p:spPr>
          <a:xfrm>
            <a:off x="6435376" y="2451664"/>
            <a:ext cx="7144" cy="84732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21" name="Text 119"/>
          <p:cNvSpPr/>
          <p:nvPr/>
        </p:nvSpPr>
        <p:spPr>
          <a:xfrm>
            <a:off x="5209794" y="2494526"/>
            <a:ext cx="1168432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731" dirty="0"/>
          </a:p>
        </p:txBody>
      </p:sp>
      <p:sp>
        <p:nvSpPr>
          <p:cNvPr id="122" name="Shape 120"/>
          <p:cNvSpPr/>
          <p:nvPr/>
        </p:nvSpPr>
        <p:spPr>
          <a:xfrm>
            <a:off x="6442520" y="2451664"/>
            <a:ext cx="1247156" cy="847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23" name="Shape 121"/>
          <p:cNvSpPr/>
          <p:nvPr/>
        </p:nvSpPr>
        <p:spPr>
          <a:xfrm>
            <a:off x="6442520" y="3291840"/>
            <a:ext cx="1247156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24" name="Shape 122"/>
          <p:cNvSpPr/>
          <p:nvPr/>
        </p:nvSpPr>
        <p:spPr>
          <a:xfrm>
            <a:off x="7682532" y="2451664"/>
            <a:ext cx="7144" cy="847320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25" name="Text 123"/>
          <p:cNvSpPr/>
          <p:nvPr/>
        </p:nvSpPr>
        <p:spPr>
          <a:xfrm>
            <a:off x="6456807" y="2494526"/>
            <a:ext cx="116857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731" dirty="0"/>
          </a:p>
        </p:txBody>
      </p:sp>
      <p:sp>
        <p:nvSpPr>
          <p:cNvPr id="126" name="Shape 124"/>
          <p:cNvSpPr/>
          <p:nvPr/>
        </p:nvSpPr>
        <p:spPr>
          <a:xfrm>
            <a:off x="6499670" y="2637401"/>
            <a:ext cx="1125712" cy="107156"/>
          </a:xfrm>
          <a:prstGeom prst="roundRect">
            <a:avLst>
              <a:gd name="adj" fmla="val 26667"/>
            </a:avLst>
          </a:prstGeom>
          <a:solidFill>
            <a:srgbClr val="EF4444"/>
          </a:solidFill>
          <a:ln>
            <a:noFill/>
          </a:ln>
        </p:spPr>
      </p:sp>
      <p:sp>
        <p:nvSpPr>
          <p:cNvPr id="127" name="Text 125"/>
          <p:cNvSpPr/>
          <p:nvPr/>
        </p:nvSpPr>
        <p:spPr>
          <a:xfrm>
            <a:off x="6542532" y="2637401"/>
            <a:ext cx="113285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Company Holiday</a:t>
            </a:r>
            <a:endParaRPr lang="en-US" sz="506" dirty="0"/>
          </a:p>
        </p:txBody>
      </p:sp>
      <p:sp>
        <p:nvSpPr>
          <p:cNvPr id="128" name="Shape 126"/>
          <p:cNvSpPr/>
          <p:nvPr/>
        </p:nvSpPr>
        <p:spPr>
          <a:xfrm>
            <a:off x="7689675" y="2451664"/>
            <a:ext cx="1247013" cy="847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29" name="Shape 127"/>
          <p:cNvSpPr/>
          <p:nvPr/>
        </p:nvSpPr>
        <p:spPr>
          <a:xfrm>
            <a:off x="7689675" y="3291840"/>
            <a:ext cx="1247013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30" name="Text 128"/>
          <p:cNvSpPr/>
          <p:nvPr/>
        </p:nvSpPr>
        <p:spPr>
          <a:xfrm>
            <a:off x="7703963" y="2494526"/>
            <a:ext cx="1175576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731" dirty="0"/>
          </a:p>
        </p:txBody>
      </p:sp>
      <p:sp>
        <p:nvSpPr>
          <p:cNvPr id="131" name="Shape 129"/>
          <p:cNvSpPr/>
          <p:nvPr/>
        </p:nvSpPr>
        <p:spPr>
          <a:xfrm>
            <a:off x="207169" y="3298984"/>
            <a:ext cx="1247013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32" name="Shape 130"/>
          <p:cNvSpPr/>
          <p:nvPr/>
        </p:nvSpPr>
        <p:spPr>
          <a:xfrm>
            <a:off x="207169" y="4139017"/>
            <a:ext cx="1247013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33" name="Shape 131"/>
          <p:cNvSpPr/>
          <p:nvPr/>
        </p:nvSpPr>
        <p:spPr>
          <a:xfrm>
            <a:off x="1447038" y="3298984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34" name="Text 132"/>
          <p:cNvSpPr/>
          <p:nvPr/>
        </p:nvSpPr>
        <p:spPr>
          <a:xfrm>
            <a:off x="178594" y="3341846"/>
            <a:ext cx="1211294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731" dirty="0"/>
          </a:p>
        </p:txBody>
      </p:sp>
      <p:sp>
        <p:nvSpPr>
          <p:cNvPr id="135" name="Shape 133"/>
          <p:cNvSpPr/>
          <p:nvPr/>
        </p:nvSpPr>
        <p:spPr>
          <a:xfrm>
            <a:off x="1454182" y="3298984"/>
            <a:ext cx="1247156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36" name="Shape 134"/>
          <p:cNvSpPr/>
          <p:nvPr/>
        </p:nvSpPr>
        <p:spPr>
          <a:xfrm>
            <a:off x="1454182" y="4139017"/>
            <a:ext cx="1247156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37" name="Shape 135"/>
          <p:cNvSpPr/>
          <p:nvPr/>
        </p:nvSpPr>
        <p:spPr>
          <a:xfrm>
            <a:off x="2694194" y="3298984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38" name="Text 136"/>
          <p:cNvSpPr/>
          <p:nvPr/>
        </p:nvSpPr>
        <p:spPr>
          <a:xfrm>
            <a:off x="1468469" y="3341846"/>
            <a:ext cx="116857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731" dirty="0"/>
          </a:p>
        </p:txBody>
      </p:sp>
      <p:sp>
        <p:nvSpPr>
          <p:cNvPr id="139" name="Shape 137"/>
          <p:cNvSpPr/>
          <p:nvPr/>
        </p:nvSpPr>
        <p:spPr>
          <a:xfrm>
            <a:off x="1511332" y="3484721"/>
            <a:ext cx="1125712" cy="107156"/>
          </a:xfrm>
          <a:prstGeom prst="roundRect">
            <a:avLst>
              <a:gd name="adj" fmla="val 26667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140" name="Text 138"/>
          <p:cNvSpPr/>
          <p:nvPr/>
        </p:nvSpPr>
        <p:spPr>
          <a:xfrm>
            <a:off x="1554194" y="3484721"/>
            <a:ext cx="113285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Hands</a:t>
            </a:r>
            <a:endParaRPr lang="en-US" sz="506" dirty="0"/>
          </a:p>
        </p:txBody>
      </p:sp>
      <p:sp>
        <p:nvSpPr>
          <p:cNvPr id="141" name="Shape 139"/>
          <p:cNvSpPr/>
          <p:nvPr/>
        </p:nvSpPr>
        <p:spPr>
          <a:xfrm>
            <a:off x="2701338" y="3298984"/>
            <a:ext cx="1247013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42" name="Shape 140"/>
          <p:cNvSpPr/>
          <p:nvPr/>
        </p:nvSpPr>
        <p:spPr>
          <a:xfrm>
            <a:off x="2701338" y="4139017"/>
            <a:ext cx="1247013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43" name="Shape 141"/>
          <p:cNvSpPr/>
          <p:nvPr/>
        </p:nvSpPr>
        <p:spPr>
          <a:xfrm>
            <a:off x="3941207" y="3298984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44" name="Text 142"/>
          <p:cNvSpPr/>
          <p:nvPr/>
        </p:nvSpPr>
        <p:spPr>
          <a:xfrm>
            <a:off x="2715625" y="3341846"/>
            <a:ext cx="1168432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731" dirty="0"/>
          </a:p>
        </p:txBody>
      </p:sp>
      <p:sp>
        <p:nvSpPr>
          <p:cNvPr id="145" name="Shape 143"/>
          <p:cNvSpPr/>
          <p:nvPr/>
        </p:nvSpPr>
        <p:spPr>
          <a:xfrm>
            <a:off x="3948351" y="3298984"/>
            <a:ext cx="1247156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46" name="Shape 144"/>
          <p:cNvSpPr/>
          <p:nvPr/>
        </p:nvSpPr>
        <p:spPr>
          <a:xfrm>
            <a:off x="3948351" y="4139017"/>
            <a:ext cx="1247156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47" name="Shape 145"/>
          <p:cNvSpPr/>
          <p:nvPr/>
        </p:nvSpPr>
        <p:spPr>
          <a:xfrm>
            <a:off x="5188363" y="3298984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48" name="Text 146"/>
          <p:cNvSpPr/>
          <p:nvPr/>
        </p:nvSpPr>
        <p:spPr>
          <a:xfrm>
            <a:off x="3962638" y="3341846"/>
            <a:ext cx="116857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731" dirty="0"/>
          </a:p>
        </p:txBody>
      </p:sp>
      <p:sp>
        <p:nvSpPr>
          <p:cNvPr id="149" name="Shape 147"/>
          <p:cNvSpPr/>
          <p:nvPr/>
        </p:nvSpPr>
        <p:spPr>
          <a:xfrm>
            <a:off x="4005501" y="3484721"/>
            <a:ext cx="1125712" cy="107156"/>
          </a:xfrm>
          <a:prstGeom prst="roundRect">
            <a:avLst>
              <a:gd name="adj" fmla="val 26667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150" name="Text 148"/>
          <p:cNvSpPr/>
          <p:nvPr/>
        </p:nvSpPr>
        <p:spPr>
          <a:xfrm>
            <a:off x="4048363" y="3484721"/>
            <a:ext cx="113285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 Due</a:t>
            </a:r>
            <a:endParaRPr lang="en-US" sz="506" dirty="0"/>
          </a:p>
        </p:txBody>
      </p:sp>
      <p:sp>
        <p:nvSpPr>
          <p:cNvPr id="151" name="Shape 149"/>
          <p:cNvSpPr/>
          <p:nvPr/>
        </p:nvSpPr>
        <p:spPr>
          <a:xfrm>
            <a:off x="4005501" y="3606165"/>
            <a:ext cx="1125712" cy="107156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152" name="Text 150"/>
          <p:cNvSpPr/>
          <p:nvPr/>
        </p:nvSpPr>
        <p:spPr>
          <a:xfrm>
            <a:off x="4048363" y="3606165"/>
            <a:ext cx="113285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 Review</a:t>
            </a:r>
            <a:endParaRPr lang="en-US" sz="506" dirty="0"/>
          </a:p>
        </p:txBody>
      </p:sp>
      <p:sp>
        <p:nvSpPr>
          <p:cNvPr id="153" name="Shape 151"/>
          <p:cNvSpPr/>
          <p:nvPr/>
        </p:nvSpPr>
        <p:spPr>
          <a:xfrm>
            <a:off x="5195507" y="3298984"/>
            <a:ext cx="1247013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54" name="Shape 152"/>
          <p:cNvSpPr/>
          <p:nvPr/>
        </p:nvSpPr>
        <p:spPr>
          <a:xfrm>
            <a:off x="5195507" y="4139017"/>
            <a:ext cx="1247013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55" name="Shape 153"/>
          <p:cNvSpPr/>
          <p:nvPr/>
        </p:nvSpPr>
        <p:spPr>
          <a:xfrm>
            <a:off x="6435376" y="3298984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56" name="Text 154"/>
          <p:cNvSpPr/>
          <p:nvPr/>
        </p:nvSpPr>
        <p:spPr>
          <a:xfrm>
            <a:off x="5209794" y="3341846"/>
            <a:ext cx="1168432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731" dirty="0"/>
          </a:p>
        </p:txBody>
      </p:sp>
      <p:sp>
        <p:nvSpPr>
          <p:cNvPr id="157" name="Shape 155"/>
          <p:cNvSpPr/>
          <p:nvPr/>
        </p:nvSpPr>
        <p:spPr>
          <a:xfrm>
            <a:off x="6442520" y="3298984"/>
            <a:ext cx="1247156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58" name="Shape 156"/>
          <p:cNvSpPr/>
          <p:nvPr/>
        </p:nvSpPr>
        <p:spPr>
          <a:xfrm>
            <a:off x="6442520" y="4139017"/>
            <a:ext cx="1247156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59" name="Shape 157"/>
          <p:cNvSpPr/>
          <p:nvPr/>
        </p:nvSpPr>
        <p:spPr>
          <a:xfrm>
            <a:off x="7682532" y="3298984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60" name="Text 158"/>
          <p:cNvSpPr/>
          <p:nvPr/>
        </p:nvSpPr>
        <p:spPr>
          <a:xfrm>
            <a:off x="6456807" y="3341846"/>
            <a:ext cx="116857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731" dirty="0"/>
          </a:p>
        </p:txBody>
      </p:sp>
      <p:sp>
        <p:nvSpPr>
          <p:cNvPr id="161" name="Shape 159"/>
          <p:cNvSpPr/>
          <p:nvPr/>
        </p:nvSpPr>
        <p:spPr>
          <a:xfrm>
            <a:off x="6499670" y="3484721"/>
            <a:ext cx="1125712" cy="107156"/>
          </a:xfrm>
          <a:prstGeom prst="roundRect">
            <a:avLst>
              <a:gd name="adj" fmla="val 26667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162" name="Text 160"/>
          <p:cNvSpPr/>
          <p:nvPr/>
        </p:nvSpPr>
        <p:spPr>
          <a:xfrm>
            <a:off x="6542532" y="3484721"/>
            <a:ext cx="113285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 Release</a:t>
            </a:r>
            <a:endParaRPr lang="en-US" sz="506" dirty="0"/>
          </a:p>
        </p:txBody>
      </p:sp>
      <p:sp>
        <p:nvSpPr>
          <p:cNvPr id="163" name="Shape 161"/>
          <p:cNvSpPr/>
          <p:nvPr/>
        </p:nvSpPr>
        <p:spPr>
          <a:xfrm>
            <a:off x="7689675" y="3298984"/>
            <a:ext cx="1247013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64" name="Shape 162"/>
          <p:cNvSpPr/>
          <p:nvPr/>
        </p:nvSpPr>
        <p:spPr>
          <a:xfrm>
            <a:off x="7689675" y="4139017"/>
            <a:ext cx="1247013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65" name="Text 163"/>
          <p:cNvSpPr/>
          <p:nvPr/>
        </p:nvSpPr>
        <p:spPr>
          <a:xfrm>
            <a:off x="7703963" y="3341846"/>
            <a:ext cx="1175576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731" dirty="0"/>
          </a:p>
        </p:txBody>
      </p:sp>
      <p:sp>
        <p:nvSpPr>
          <p:cNvPr id="166" name="Shape 164"/>
          <p:cNvSpPr/>
          <p:nvPr/>
        </p:nvSpPr>
        <p:spPr>
          <a:xfrm>
            <a:off x="207169" y="4146161"/>
            <a:ext cx="1247013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67" name="Shape 165"/>
          <p:cNvSpPr/>
          <p:nvPr/>
        </p:nvSpPr>
        <p:spPr>
          <a:xfrm>
            <a:off x="1447038" y="4146161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68" name="Text 166"/>
          <p:cNvSpPr/>
          <p:nvPr/>
        </p:nvSpPr>
        <p:spPr>
          <a:xfrm>
            <a:off x="178594" y="4189024"/>
            <a:ext cx="1211294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731" dirty="0"/>
          </a:p>
        </p:txBody>
      </p:sp>
      <p:sp>
        <p:nvSpPr>
          <p:cNvPr id="169" name="Shape 167"/>
          <p:cNvSpPr/>
          <p:nvPr/>
        </p:nvSpPr>
        <p:spPr>
          <a:xfrm>
            <a:off x="1454182" y="4146161"/>
            <a:ext cx="1247156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70" name="Shape 168"/>
          <p:cNvSpPr/>
          <p:nvPr/>
        </p:nvSpPr>
        <p:spPr>
          <a:xfrm>
            <a:off x="2694194" y="4146161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71" name="Text 169"/>
          <p:cNvSpPr/>
          <p:nvPr/>
        </p:nvSpPr>
        <p:spPr>
          <a:xfrm>
            <a:off x="1468469" y="4189024"/>
            <a:ext cx="116857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731" dirty="0"/>
          </a:p>
        </p:txBody>
      </p:sp>
      <p:sp>
        <p:nvSpPr>
          <p:cNvPr id="172" name="Shape 170"/>
          <p:cNvSpPr/>
          <p:nvPr/>
        </p:nvSpPr>
        <p:spPr>
          <a:xfrm>
            <a:off x="1511332" y="4331899"/>
            <a:ext cx="1125712" cy="107156"/>
          </a:xfrm>
          <a:prstGeom prst="roundRect">
            <a:avLst>
              <a:gd name="adj" fmla="val 26667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173" name="Text 171"/>
          <p:cNvSpPr/>
          <p:nvPr/>
        </p:nvSpPr>
        <p:spPr>
          <a:xfrm>
            <a:off x="1554194" y="4331899"/>
            <a:ext cx="113285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Retro</a:t>
            </a:r>
            <a:endParaRPr lang="en-US" sz="506" dirty="0"/>
          </a:p>
        </p:txBody>
      </p:sp>
      <p:sp>
        <p:nvSpPr>
          <p:cNvPr id="174" name="Shape 172"/>
          <p:cNvSpPr/>
          <p:nvPr/>
        </p:nvSpPr>
        <p:spPr>
          <a:xfrm>
            <a:off x="2701338" y="4146161"/>
            <a:ext cx="1247013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75" name="Shape 173"/>
          <p:cNvSpPr/>
          <p:nvPr/>
        </p:nvSpPr>
        <p:spPr>
          <a:xfrm>
            <a:off x="3941207" y="4146161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76" name="Text 174"/>
          <p:cNvSpPr/>
          <p:nvPr/>
        </p:nvSpPr>
        <p:spPr>
          <a:xfrm>
            <a:off x="2715625" y="4189024"/>
            <a:ext cx="1168432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731" dirty="0"/>
          </a:p>
        </p:txBody>
      </p:sp>
      <p:sp>
        <p:nvSpPr>
          <p:cNvPr id="177" name="Shape 175"/>
          <p:cNvSpPr/>
          <p:nvPr/>
        </p:nvSpPr>
        <p:spPr>
          <a:xfrm>
            <a:off x="3948351" y="4146161"/>
            <a:ext cx="1247156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78" name="Shape 176"/>
          <p:cNvSpPr/>
          <p:nvPr/>
        </p:nvSpPr>
        <p:spPr>
          <a:xfrm>
            <a:off x="5188363" y="4146161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79" name="Text 177"/>
          <p:cNvSpPr/>
          <p:nvPr/>
        </p:nvSpPr>
        <p:spPr>
          <a:xfrm>
            <a:off x="3962638" y="4189024"/>
            <a:ext cx="116857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731" dirty="0"/>
          </a:p>
        </p:txBody>
      </p:sp>
      <p:sp>
        <p:nvSpPr>
          <p:cNvPr id="180" name="Shape 178"/>
          <p:cNvSpPr/>
          <p:nvPr/>
        </p:nvSpPr>
        <p:spPr>
          <a:xfrm>
            <a:off x="4005501" y="4331899"/>
            <a:ext cx="1125712" cy="107156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181" name="Text 179"/>
          <p:cNvSpPr/>
          <p:nvPr/>
        </p:nvSpPr>
        <p:spPr>
          <a:xfrm>
            <a:off x="4048363" y="4331899"/>
            <a:ext cx="113285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Quarterly Plan</a:t>
            </a:r>
            <a:endParaRPr lang="en-US" sz="506" dirty="0"/>
          </a:p>
        </p:txBody>
      </p:sp>
      <p:sp>
        <p:nvSpPr>
          <p:cNvPr id="182" name="Shape 180"/>
          <p:cNvSpPr/>
          <p:nvPr/>
        </p:nvSpPr>
        <p:spPr>
          <a:xfrm>
            <a:off x="5195507" y="4146161"/>
            <a:ext cx="1247013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83" name="Shape 181"/>
          <p:cNvSpPr/>
          <p:nvPr/>
        </p:nvSpPr>
        <p:spPr>
          <a:xfrm>
            <a:off x="6435376" y="4146161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84" name="Text 182"/>
          <p:cNvSpPr/>
          <p:nvPr/>
        </p:nvSpPr>
        <p:spPr>
          <a:xfrm>
            <a:off x="5209794" y="4189024"/>
            <a:ext cx="1168432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731" dirty="0"/>
          </a:p>
        </p:txBody>
      </p:sp>
      <p:sp>
        <p:nvSpPr>
          <p:cNvPr id="185" name="Shape 183"/>
          <p:cNvSpPr/>
          <p:nvPr/>
        </p:nvSpPr>
        <p:spPr>
          <a:xfrm>
            <a:off x="5252657" y="4331899"/>
            <a:ext cx="1125569" cy="107156"/>
          </a:xfrm>
          <a:prstGeom prst="roundRect">
            <a:avLst>
              <a:gd name="adj" fmla="val 26667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186" name="Text 184"/>
          <p:cNvSpPr/>
          <p:nvPr/>
        </p:nvSpPr>
        <p:spPr>
          <a:xfrm>
            <a:off x="5295519" y="4331899"/>
            <a:ext cx="1132713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6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 Close</a:t>
            </a:r>
            <a:endParaRPr lang="en-US" sz="506" dirty="0"/>
          </a:p>
        </p:txBody>
      </p:sp>
      <p:sp>
        <p:nvSpPr>
          <p:cNvPr id="187" name="Shape 185"/>
          <p:cNvSpPr/>
          <p:nvPr/>
        </p:nvSpPr>
        <p:spPr>
          <a:xfrm>
            <a:off x="6442520" y="4146161"/>
            <a:ext cx="1247156" cy="84717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88" name="Shape 186"/>
          <p:cNvSpPr/>
          <p:nvPr/>
        </p:nvSpPr>
        <p:spPr>
          <a:xfrm>
            <a:off x="7682532" y="4146161"/>
            <a:ext cx="7144" cy="847177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89" name="Text 187"/>
          <p:cNvSpPr/>
          <p:nvPr/>
        </p:nvSpPr>
        <p:spPr>
          <a:xfrm>
            <a:off x="6456807" y="4189024"/>
            <a:ext cx="116857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731" dirty="0"/>
          </a:p>
        </p:txBody>
      </p:sp>
      <p:sp>
        <p:nvSpPr>
          <p:cNvPr id="190" name="Text 188"/>
          <p:cNvSpPr/>
          <p:nvPr/>
        </p:nvSpPr>
        <p:spPr>
          <a:xfrm>
            <a:off x="7703963" y="4189024"/>
            <a:ext cx="1175576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3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200025"/>
            <a:ext cx="2572393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88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Journey Map</a:t>
            </a:r>
            <a:endParaRPr lang="en-US" sz="1688" dirty="0"/>
          </a:p>
        </p:txBody>
      </p:sp>
      <p:sp>
        <p:nvSpPr>
          <p:cNvPr id="3" name="Text 1"/>
          <p:cNvSpPr/>
          <p:nvPr/>
        </p:nvSpPr>
        <p:spPr>
          <a:xfrm>
            <a:off x="228600" y="457200"/>
            <a:ext cx="2572393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End-to-end experience from first touch to brand advocacy</a:t>
            </a:r>
            <a:endParaRPr lang="en-US" sz="731" dirty="0"/>
          </a:p>
        </p:txBody>
      </p:sp>
      <p:sp>
        <p:nvSpPr>
          <p:cNvPr id="4" name="Shape 2"/>
          <p:cNvSpPr/>
          <p:nvPr/>
        </p:nvSpPr>
        <p:spPr>
          <a:xfrm>
            <a:off x="6666119" y="310753"/>
            <a:ext cx="403479" cy="142875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5" name="Text 3"/>
          <p:cNvSpPr/>
          <p:nvPr/>
        </p:nvSpPr>
        <p:spPr>
          <a:xfrm>
            <a:off x="6637472" y="310753"/>
            <a:ext cx="460772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1</a:t>
            </a:r>
            <a:endParaRPr lang="en-US" sz="563" dirty="0"/>
          </a:p>
        </p:txBody>
      </p:sp>
      <p:sp>
        <p:nvSpPr>
          <p:cNvPr id="6" name="Shape 4"/>
          <p:cNvSpPr/>
          <p:nvPr/>
        </p:nvSpPr>
        <p:spPr>
          <a:xfrm>
            <a:off x="7112532" y="310753"/>
            <a:ext cx="417767" cy="142875"/>
          </a:xfrm>
          <a:prstGeom prst="roundRect">
            <a:avLst>
              <a:gd name="adj" fmla="val 50000"/>
            </a:avLst>
          </a:prstGeom>
          <a:solidFill>
            <a:srgbClr val="E0E7FF"/>
          </a:solidFill>
          <a:ln>
            <a:noFill/>
          </a:ln>
        </p:spPr>
      </p:sp>
      <p:sp>
        <p:nvSpPr>
          <p:cNvPr id="7" name="Text 5"/>
          <p:cNvSpPr/>
          <p:nvPr/>
        </p:nvSpPr>
        <p:spPr>
          <a:xfrm>
            <a:off x="7083957" y="310753"/>
            <a:ext cx="474916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4338C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2</a:t>
            </a:r>
            <a:endParaRPr lang="en-US" sz="563" dirty="0"/>
          </a:p>
        </p:txBody>
      </p:sp>
      <p:sp>
        <p:nvSpPr>
          <p:cNvPr id="8" name="Shape 6"/>
          <p:cNvSpPr/>
          <p:nvPr/>
        </p:nvSpPr>
        <p:spPr>
          <a:xfrm>
            <a:off x="7573161" y="310753"/>
            <a:ext cx="418695" cy="142875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7544586" y="310753"/>
            <a:ext cx="475845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6D28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3</a:t>
            </a:r>
            <a:endParaRPr lang="en-US" sz="563" dirty="0"/>
          </a:p>
        </p:txBody>
      </p:sp>
      <p:sp>
        <p:nvSpPr>
          <p:cNvPr id="10" name="Shape 8"/>
          <p:cNvSpPr/>
          <p:nvPr/>
        </p:nvSpPr>
        <p:spPr>
          <a:xfrm>
            <a:off x="8034719" y="310753"/>
            <a:ext cx="420838" cy="142875"/>
          </a:xfrm>
          <a:prstGeom prst="roundRect">
            <a:avLst>
              <a:gd name="adj" fmla="val 50000"/>
            </a:avLst>
          </a:prstGeom>
          <a:solidFill>
            <a:srgbClr val="FAE8FF"/>
          </a:solidFill>
          <a:ln>
            <a:noFill/>
          </a:ln>
        </p:spPr>
      </p:sp>
      <p:sp>
        <p:nvSpPr>
          <p:cNvPr id="11" name="Text 9"/>
          <p:cNvSpPr/>
          <p:nvPr/>
        </p:nvSpPr>
        <p:spPr>
          <a:xfrm>
            <a:off x="8006144" y="310753"/>
            <a:ext cx="477988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A21CA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4</a:t>
            </a:r>
            <a:endParaRPr lang="en-US" sz="563" dirty="0"/>
          </a:p>
        </p:txBody>
      </p:sp>
      <p:sp>
        <p:nvSpPr>
          <p:cNvPr id="12" name="Shape 10"/>
          <p:cNvSpPr/>
          <p:nvPr/>
        </p:nvSpPr>
        <p:spPr>
          <a:xfrm>
            <a:off x="8498419" y="310753"/>
            <a:ext cx="417052" cy="142875"/>
          </a:xfrm>
          <a:prstGeom prst="roundRect">
            <a:avLst>
              <a:gd name="adj" fmla="val 50000"/>
            </a:avLst>
          </a:prstGeom>
          <a:solidFill>
            <a:srgbClr val="FCE7F3"/>
          </a:solidFill>
          <a:ln>
            <a:noFill/>
          </a:ln>
        </p:spPr>
      </p:sp>
      <p:sp>
        <p:nvSpPr>
          <p:cNvPr id="13" name="Text 11"/>
          <p:cNvSpPr/>
          <p:nvPr/>
        </p:nvSpPr>
        <p:spPr>
          <a:xfrm>
            <a:off x="8469844" y="310753"/>
            <a:ext cx="474202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BE18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Phase 5</a:t>
            </a:r>
            <a:endParaRPr lang="en-US" sz="563" dirty="0"/>
          </a:p>
        </p:txBody>
      </p:sp>
      <p:sp>
        <p:nvSpPr>
          <p:cNvPr id="14" name="Shape 12"/>
          <p:cNvSpPr/>
          <p:nvPr/>
        </p:nvSpPr>
        <p:spPr>
          <a:xfrm>
            <a:off x="228600" y="4607719"/>
            <a:ext cx="8686800" cy="364331"/>
          </a:xfrm>
          <a:prstGeom prst="rect">
            <a:avLst/>
          </a:prstGeom>
          <a:solidFill>
            <a:srgbClr val="F8FAFC">
              <a:alpha val="0"/>
            </a:srgbClr>
          </a:solidFill>
          <a:ln>
            <a:noFill/>
          </a:ln>
        </p:spPr>
      </p:sp>
      <p:sp>
        <p:nvSpPr>
          <p:cNvPr id="15" name="Shape 13"/>
          <p:cNvSpPr/>
          <p:nvPr/>
        </p:nvSpPr>
        <p:spPr>
          <a:xfrm>
            <a:off x="228600" y="4607719"/>
            <a:ext cx="8686800" cy="7144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6" name="Shape 14"/>
          <p:cNvSpPr/>
          <p:nvPr/>
        </p:nvSpPr>
        <p:spPr>
          <a:xfrm>
            <a:off x="228600" y="4714875"/>
            <a:ext cx="1566124" cy="257175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7" name="Text 15"/>
          <p:cNvSpPr/>
          <p:nvPr/>
        </p:nvSpPr>
        <p:spPr>
          <a:xfrm>
            <a:off x="342900" y="4714875"/>
            <a:ext cx="1337524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u="none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 days</a:t>
            </a:r>
            <a:pPr algn="ctr" indent="0" marL="0">
              <a:lnSpc>
                <a:spcPct val="12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ctr" indent="0" marL="0">
              <a:lnSpc>
                <a:spcPct val="120000"/>
              </a:lnSpc>
              <a:buNone/>
            </a:pPr>
            <a:r>
              <a:rPr lang="en-US" sz="619" u="none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Avg. Time to Purchase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931724" y="4714875"/>
            <a:ext cx="1423821" cy="257175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9" name="Text 17"/>
          <p:cNvSpPr/>
          <p:nvPr/>
        </p:nvSpPr>
        <p:spPr>
          <a:xfrm>
            <a:off x="3046024" y="4714875"/>
            <a:ext cx="1195221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u="none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72%</a:t>
            </a:r>
            <a:pPr algn="ctr" indent="0" marL="0">
              <a:lnSpc>
                <a:spcPct val="12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ctr" indent="0" marL="0">
              <a:lnSpc>
                <a:spcPct val="120000"/>
              </a:lnSpc>
              <a:buNone/>
            </a:pPr>
            <a:r>
              <a:rPr lang="en-US" sz="619" u="none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Completion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92687" y="4714875"/>
            <a:ext cx="1259515" cy="257175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21" name="Text 19"/>
          <p:cNvSpPr/>
          <p:nvPr/>
        </p:nvSpPr>
        <p:spPr>
          <a:xfrm>
            <a:off x="5606987" y="4714875"/>
            <a:ext cx="103091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u="none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4.2/5</a:t>
            </a:r>
            <a:pPr algn="ctr" indent="0" marL="0">
              <a:lnSpc>
                <a:spcPct val="12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ctr" indent="0" marL="0">
              <a:lnSpc>
                <a:spcPct val="120000"/>
              </a:lnSpc>
              <a:buNone/>
            </a:pPr>
            <a:r>
              <a:rPr lang="en-US" sz="619" u="none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Satisfaction Score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889129" y="4714875"/>
            <a:ext cx="1026271" cy="257175"/>
          </a:xfrm>
          <a:prstGeom prst="roundRect">
            <a:avLst>
              <a:gd name="adj" fmla="val 22222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23" name="Text 21"/>
          <p:cNvSpPr/>
          <p:nvPr/>
        </p:nvSpPr>
        <p:spPr>
          <a:xfrm>
            <a:off x="8003429" y="4714875"/>
            <a:ext cx="797671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u="none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23%</a:t>
            </a:r>
            <a:pPr algn="ctr" indent="0" marL="0">
              <a:lnSpc>
                <a:spcPct val="12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ctr" indent="0" marL="0">
              <a:lnSpc>
                <a:spcPct val="120000"/>
              </a:lnSpc>
              <a:buNone/>
            </a:pPr>
            <a:r>
              <a:rPr lang="en-US" sz="619" u="none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Referral Rate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754434" y="707231"/>
            <a:ext cx="200025" cy="37861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b="1" u="none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3566160" y="707231"/>
            <a:ext cx="200025" cy="37861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b="1" u="none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5377815" y="707231"/>
            <a:ext cx="200025" cy="37861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b="1" u="none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7189541" y="707231"/>
            <a:ext cx="200025" cy="37861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b="1" u="none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125" dirty="0"/>
          </a:p>
        </p:txBody>
      </p:sp>
      <p:sp>
        <p:nvSpPr>
          <p:cNvPr id="28" name="Shape 26"/>
          <p:cNvSpPr/>
          <p:nvPr/>
        </p:nvSpPr>
        <p:spPr>
          <a:xfrm>
            <a:off x="228600" y="707231"/>
            <a:ext cx="1440109" cy="3786188"/>
          </a:xfrm>
          <a:prstGeom prst="roundRect">
            <a:avLst>
              <a:gd name="adj" fmla="val 6945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21431" dist="7144" dir="54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28600" y="707231"/>
            <a:ext cx="1440109" cy="3786188"/>
          </a:xfrm>
          <a:prstGeom prst="roundRect">
            <a:avLst>
              <a:gd name="adj" fmla="val 6945"/>
            </a:avLst>
          </a:prstGeom>
          <a:solidFill>
            <a:srgbClr val="3B82F6"/>
          </a:solidFill>
          <a:ln>
            <a:noFill/>
          </a:ln>
        </p:spPr>
      </p:sp>
      <p:sp>
        <p:nvSpPr>
          <p:cNvPr id="30" name="Shape 28"/>
          <p:cNvSpPr/>
          <p:nvPr/>
        </p:nvSpPr>
        <p:spPr>
          <a:xfrm>
            <a:off x="228600" y="735806"/>
            <a:ext cx="1440109" cy="3757613"/>
          </a:xfrm>
          <a:prstGeom prst="roundRect">
            <a:avLst>
              <a:gd name="adj" fmla="val 6945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" y="864394"/>
            <a:ext cx="280035" cy="24288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342900" y="1164431"/>
            <a:ext cx="1297234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</a:t>
            </a:r>
            <a:endParaRPr lang="en-US" sz="844" dirty="0"/>
          </a:p>
        </p:txBody>
      </p:sp>
      <p:sp>
        <p:nvSpPr>
          <p:cNvPr id="33" name="Text 30"/>
          <p:cNvSpPr/>
          <p:nvPr/>
        </p:nvSpPr>
        <p:spPr>
          <a:xfrm>
            <a:off x="342900" y="1328738"/>
            <a:ext cx="1211509" cy="21988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awareness through marketing channels</a:t>
            </a:r>
            <a:endParaRPr lang="en-US" sz="619" dirty="0"/>
          </a:p>
        </p:txBody>
      </p:sp>
      <p:sp>
        <p:nvSpPr>
          <p:cNvPr id="34" name="Text 31"/>
          <p:cNvSpPr/>
          <p:nvPr/>
        </p:nvSpPr>
        <p:spPr>
          <a:xfrm>
            <a:off x="342900" y="1634347"/>
            <a:ext cx="1297234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TOUCHPOINTS</a:t>
            </a:r>
            <a:endParaRPr lang="en-US" sz="506" dirty="0"/>
          </a:p>
        </p:txBody>
      </p:sp>
      <p:sp>
        <p:nvSpPr>
          <p:cNvPr id="35" name="Shape 32"/>
          <p:cNvSpPr/>
          <p:nvPr/>
        </p:nvSpPr>
        <p:spPr>
          <a:xfrm>
            <a:off x="342900" y="1820085"/>
            <a:ext cx="35719" cy="35719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36" name="Text 33"/>
          <p:cNvSpPr/>
          <p:nvPr/>
        </p:nvSpPr>
        <p:spPr>
          <a:xfrm>
            <a:off x="428625" y="1755791"/>
            <a:ext cx="1211509" cy="135731"/>
          </a:xfrm>
          <a:prstGeom prst="rect">
            <a:avLst/>
          </a:prstGeom>
          <a:ln>
            <a:noFill/>
          </a:ln>
        </p:spPr>
        <p:txBody>
          <a:bodyPr wrap="square" lIns="0" tIns="21431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search ads</a:t>
            </a:r>
            <a:endParaRPr lang="en-US" sz="619" dirty="0"/>
          </a:p>
        </p:txBody>
      </p:sp>
      <p:sp>
        <p:nvSpPr>
          <p:cNvPr id="37" name="Shape 34"/>
          <p:cNvSpPr/>
          <p:nvPr/>
        </p:nvSpPr>
        <p:spPr>
          <a:xfrm>
            <a:off x="342900" y="1955816"/>
            <a:ext cx="35719" cy="35719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38" name="Text 35"/>
          <p:cNvSpPr/>
          <p:nvPr/>
        </p:nvSpPr>
        <p:spPr>
          <a:xfrm>
            <a:off x="428625" y="1891522"/>
            <a:ext cx="1211509" cy="135731"/>
          </a:xfrm>
          <a:prstGeom prst="rect">
            <a:avLst/>
          </a:prstGeom>
          <a:ln>
            <a:noFill/>
          </a:ln>
        </p:spPr>
        <p:txBody>
          <a:bodyPr wrap="square" lIns="0" tIns="21431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Blog content / SEO</a:t>
            </a:r>
            <a:endParaRPr lang="en-US" sz="619" dirty="0"/>
          </a:p>
        </p:txBody>
      </p:sp>
      <p:sp>
        <p:nvSpPr>
          <p:cNvPr id="39" name="Shape 36"/>
          <p:cNvSpPr/>
          <p:nvPr/>
        </p:nvSpPr>
        <p:spPr>
          <a:xfrm>
            <a:off x="342900" y="2091547"/>
            <a:ext cx="35719" cy="35719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40" name="Text 37"/>
          <p:cNvSpPr/>
          <p:nvPr/>
        </p:nvSpPr>
        <p:spPr>
          <a:xfrm>
            <a:off x="428625" y="2027253"/>
            <a:ext cx="1211509" cy="135731"/>
          </a:xfrm>
          <a:prstGeom prst="rect">
            <a:avLst/>
          </a:prstGeom>
          <a:ln>
            <a:noFill/>
          </a:ln>
        </p:spPr>
        <p:txBody>
          <a:bodyPr wrap="square" lIns="0" tIns="21431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Social media posts</a:t>
            </a:r>
            <a:endParaRPr lang="en-US" sz="619" dirty="0"/>
          </a:p>
        </p:txBody>
      </p:sp>
      <p:sp>
        <p:nvSpPr>
          <p:cNvPr id="41" name="Shape 38"/>
          <p:cNvSpPr/>
          <p:nvPr/>
        </p:nvSpPr>
        <p:spPr>
          <a:xfrm>
            <a:off x="342900" y="2248710"/>
            <a:ext cx="1211509" cy="242888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42" name="Text 39"/>
          <p:cNvSpPr/>
          <p:nvPr/>
        </p:nvSpPr>
        <p:spPr>
          <a:xfrm>
            <a:off x="414338" y="2248710"/>
            <a:ext cx="1068634" cy="2428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3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🙂</a:t>
            </a:r>
            <a:pPr algn="l" indent="0" marL="0">
              <a:lnSpc>
                <a:spcPct val="12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Curious</a:t>
            </a:r>
            <a:endParaRPr lang="en-US" sz="1013" dirty="0"/>
          </a:p>
        </p:txBody>
      </p:sp>
      <p:sp>
        <p:nvSpPr>
          <p:cNvPr id="43" name="Text 40"/>
          <p:cNvSpPr/>
          <p:nvPr/>
        </p:nvSpPr>
        <p:spPr>
          <a:xfrm>
            <a:off x="342900" y="4029075"/>
            <a:ext cx="1297234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 POINTS</a:t>
            </a:r>
            <a:endParaRPr lang="en-US" sz="506" dirty="0"/>
          </a:p>
        </p:txBody>
      </p:sp>
      <p:sp>
        <p:nvSpPr>
          <p:cNvPr id="44" name="Text 41"/>
          <p:cNvSpPr/>
          <p:nvPr/>
        </p:nvSpPr>
        <p:spPr>
          <a:xfrm>
            <a:off x="342900" y="4164806"/>
            <a:ext cx="192881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63" u="none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!</a:t>
            </a:r>
            <a:endParaRPr lang="en-US" sz="563" dirty="0"/>
          </a:p>
        </p:txBody>
      </p:sp>
      <p:sp>
        <p:nvSpPr>
          <p:cNvPr id="45" name="Text 42"/>
          <p:cNvSpPr/>
          <p:nvPr/>
        </p:nvSpPr>
        <p:spPr>
          <a:xfrm>
            <a:off x="428625" y="4150519"/>
            <a:ext cx="1211509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 many options</a:t>
            </a:r>
            <a:endParaRPr lang="en-US" sz="563" dirty="0"/>
          </a:p>
        </p:txBody>
      </p:sp>
      <p:sp>
        <p:nvSpPr>
          <p:cNvPr id="46" name="Text 43"/>
          <p:cNvSpPr/>
          <p:nvPr/>
        </p:nvSpPr>
        <p:spPr>
          <a:xfrm>
            <a:off x="342900" y="4271963"/>
            <a:ext cx="192881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63" u="none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!</a:t>
            </a:r>
            <a:endParaRPr lang="en-US" sz="563" dirty="0"/>
          </a:p>
        </p:txBody>
      </p:sp>
      <p:sp>
        <p:nvSpPr>
          <p:cNvPr id="47" name="Text 44"/>
          <p:cNvSpPr/>
          <p:nvPr/>
        </p:nvSpPr>
        <p:spPr>
          <a:xfrm>
            <a:off x="428625" y="4257675"/>
            <a:ext cx="1211509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Unclear differentiation</a:t>
            </a:r>
            <a:endParaRPr lang="en-US" sz="563" dirty="0"/>
          </a:p>
        </p:txBody>
      </p:sp>
      <p:sp>
        <p:nvSpPr>
          <p:cNvPr id="48" name="Shape 45"/>
          <p:cNvSpPr/>
          <p:nvPr/>
        </p:nvSpPr>
        <p:spPr>
          <a:xfrm>
            <a:off x="2040184" y="707231"/>
            <a:ext cx="1440251" cy="378618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21431" dist="7144" dir="5400000">
              <a:srgbClr val="000000">
                <a:alpha val="6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2040184" y="707231"/>
            <a:ext cx="1440251" cy="3786188"/>
          </a:xfrm>
          <a:prstGeom prst="roundRect">
            <a:avLst>
              <a:gd name="adj" fmla="val 6944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50" name="Shape 47"/>
          <p:cNvSpPr/>
          <p:nvPr/>
        </p:nvSpPr>
        <p:spPr>
          <a:xfrm>
            <a:off x="2040184" y="735806"/>
            <a:ext cx="1440251" cy="3757613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5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484" y="864394"/>
            <a:ext cx="280035" cy="242888"/>
          </a:xfrm>
          <a:prstGeom prst="rect">
            <a:avLst/>
          </a:prstGeom>
        </p:spPr>
      </p:pic>
      <p:sp>
        <p:nvSpPr>
          <p:cNvPr id="52" name="Text 48"/>
          <p:cNvSpPr/>
          <p:nvPr/>
        </p:nvSpPr>
        <p:spPr>
          <a:xfrm>
            <a:off x="2154484" y="1164431"/>
            <a:ext cx="1297376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</a:t>
            </a:r>
            <a:endParaRPr lang="en-US" sz="844" dirty="0"/>
          </a:p>
        </p:txBody>
      </p:sp>
      <p:sp>
        <p:nvSpPr>
          <p:cNvPr id="53" name="Text 49"/>
          <p:cNvSpPr/>
          <p:nvPr/>
        </p:nvSpPr>
        <p:spPr>
          <a:xfrm>
            <a:off x="2154484" y="1328738"/>
            <a:ext cx="1211651" cy="21988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Comparing features, pricing and reviews</a:t>
            </a:r>
            <a:endParaRPr lang="en-US" sz="619" dirty="0"/>
          </a:p>
        </p:txBody>
      </p:sp>
      <p:sp>
        <p:nvSpPr>
          <p:cNvPr id="54" name="Text 50"/>
          <p:cNvSpPr/>
          <p:nvPr/>
        </p:nvSpPr>
        <p:spPr>
          <a:xfrm>
            <a:off x="2154484" y="1634347"/>
            <a:ext cx="1297376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TOUCHPOINTS</a:t>
            </a:r>
            <a:endParaRPr lang="en-US" sz="506" dirty="0"/>
          </a:p>
        </p:txBody>
      </p:sp>
      <p:sp>
        <p:nvSpPr>
          <p:cNvPr id="55" name="Shape 51"/>
          <p:cNvSpPr/>
          <p:nvPr/>
        </p:nvSpPr>
        <p:spPr>
          <a:xfrm>
            <a:off x="2154484" y="1820085"/>
            <a:ext cx="35719" cy="35719"/>
          </a:xfrm>
          <a:prstGeom prst="ellipse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56" name="Text 52"/>
          <p:cNvSpPr/>
          <p:nvPr/>
        </p:nvSpPr>
        <p:spPr>
          <a:xfrm>
            <a:off x="2240209" y="1755791"/>
            <a:ext cx="1211651" cy="135731"/>
          </a:xfrm>
          <a:prstGeom prst="rect">
            <a:avLst/>
          </a:prstGeom>
          <a:ln>
            <a:noFill/>
          </a:ln>
        </p:spPr>
        <p:txBody>
          <a:bodyPr wrap="square" lIns="0" tIns="21431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Pricing page</a:t>
            </a:r>
            <a:endParaRPr lang="en-US" sz="619" dirty="0"/>
          </a:p>
        </p:txBody>
      </p:sp>
      <p:sp>
        <p:nvSpPr>
          <p:cNvPr id="57" name="Shape 53"/>
          <p:cNvSpPr/>
          <p:nvPr/>
        </p:nvSpPr>
        <p:spPr>
          <a:xfrm>
            <a:off x="2154484" y="1955816"/>
            <a:ext cx="35719" cy="35719"/>
          </a:xfrm>
          <a:prstGeom prst="ellipse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58" name="Text 54"/>
          <p:cNvSpPr/>
          <p:nvPr/>
        </p:nvSpPr>
        <p:spPr>
          <a:xfrm>
            <a:off x="2240209" y="1891522"/>
            <a:ext cx="1211651" cy="135731"/>
          </a:xfrm>
          <a:prstGeom prst="rect">
            <a:avLst/>
          </a:prstGeom>
          <a:ln>
            <a:noFill/>
          </a:ln>
        </p:spPr>
        <p:txBody>
          <a:bodyPr wrap="square" lIns="0" tIns="21431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G2 / Capterra reviews</a:t>
            </a:r>
            <a:endParaRPr lang="en-US" sz="619" dirty="0"/>
          </a:p>
        </p:txBody>
      </p:sp>
      <p:sp>
        <p:nvSpPr>
          <p:cNvPr id="59" name="Shape 55"/>
          <p:cNvSpPr/>
          <p:nvPr/>
        </p:nvSpPr>
        <p:spPr>
          <a:xfrm>
            <a:off x="2154484" y="2091547"/>
            <a:ext cx="35719" cy="35719"/>
          </a:xfrm>
          <a:prstGeom prst="ellipse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60" name="Text 56"/>
          <p:cNvSpPr/>
          <p:nvPr/>
        </p:nvSpPr>
        <p:spPr>
          <a:xfrm>
            <a:off x="2240209" y="2027253"/>
            <a:ext cx="1211651" cy="135731"/>
          </a:xfrm>
          <a:prstGeom prst="rect">
            <a:avLst/>
          </a:prstGeom>
          <a:ln>
            <a:noFill/>
          </a:ln>
        </p:spPr>
        <p:txBody>
          <a:bodyPr wrap="square" lIns="0" tIns="21431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 request form</a:t>
            </a:r>
            <a:endParaRPr lang="en-US" sz="619" dirty="0"/>
          </a:p>
        </p:txBody>
      </p:sp>
      <p:sp>
        <p:nvSpPr>
          <p:cNvPr id="61" name="Shape 57"/>
          <p:cNvSpPr/>
          <p:nvPr/>
        </p:nvSpPr>
        <p:spPr>
          <a:xfrm>
            <a:off x="2154484" y="2227278"/>
            <a:ext cx="35719" cy="35719"/>
          </a:xfrm>
          <a:prstGeom prst="ellipse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62" name="Text 58"/>
          <p:cNvSpPr/>
          <p:nvPr/>
        </p:nvSpPr>
        <p:spPr>
          <a:xfrm>
            <a:off x="2240209" y="2162985"/>
            <a:ext cx="1211651" cy="135731"/>
          </a:xfrm>
          <a:prstGeom prst="rect">
            <a:avLst/>
          </a:prstGeom>
          <a:ln>
            <a:noFill/>
          </a:ln>
        </p:spPr>
        <p:txBody>
          <a:bodyPr wrap="square" lIns="0" tIns="21431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Competitor comparison</a:t>
            </a:r>
            <a:endParaRPr lang="en-US" sz="619" dirty="0"/>
          </a:p>
        </p:txBody>
      </p:sp>
      <p:sp>
        <p:nvSpPr>
          <p:cNvPr id="63" name="Shape 59"/>
          <p:cNvSpPr/>
          <p:nvPr/>
        </p:nvSpPr>
        <p:spPr>
          <a:xfrm>
            <a:off x="2154484" y="2384441"/>
            <a:ext cx="1211651" cy="235744"/>
          </a:xfrm>
          <a:prstGeom prst="roundRect">
            <a:avLst>
              <a:gd name="adj" fmla="val 24242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64" name="Text 60"/>
          <p:cNvSpPr/>
          <p:nvPr/>
        </p:nvSpPr>
        <p:spPr>
          <a:xfrm>
            <a:off x="2225921" y="2384441"/>
            <a:ext cx="1068776" cy="2357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3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😐</a:t>
            </a:r>
            <a:pPr algn="l" indent="0" marL="0">
              <a:lnSpc>
                <a:spcPct val="12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CA8A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Cautious</a:t>
            </a:r>
            <a:endParaRPr lang="en-US" sz="1013" dirty="0"/>
          </a:p>
        </p:txBody>
      </p:sp>
      <p:sp>
        <p:nvSpPr>
          <p:cNvPr id="65" name="Text 61"/>
          <p:cNvSpPr/>
          <p:nvPr/>
        </p:nvSpPr>
        <p:spPr>
          <a:xfrm>
            <a:off x="2154484" y="4029075"/>
            <a:ext cx="1297376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 POINTS</a:t>
            </a:r>
            <a:endParaRPr lang="en-US" sz="506" dirty="0"/>
          </a:p>
        </p:txBody>
      </p:sp>
      <p:sp>
        <p:nvSpPr>
          <p:cNvPr id="66" name="Text 62"/>
          <p:cNvSpPr/>
          <p:nvPr/>
        </p:nvSpPr>
        <p:spPr>
          <a:xfrm>
            <a:off x="2154484" y="4164806"/>
            <a:ext cx="192881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63" u="none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!</a:t>
            </a:r>
            <a:endParaRPr lang="en-US" sz="563" dirty="0"/>
          </a:p>
        </p:txBody>
      </p:sp>
      <p:sp>
        <p:nvSpPr>
          <p:cNvPr id="67" name="Text 63"/>
          <p:cNvSpPr/>
          <p:nvPr/>
        </p:nvSpPr>
        <p:spPr>
          <a:xfrm>
            <a:off x="2240209" y="4150519"/>
            <a:ext cx="1211651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Complex pricing tiers</a:t>
            </a:r>
            <a:endParaRPr lang="en-US" sz="563" dirty="0"/>
          </a:p>
        </p:txBody>
      </p:sp>
      <p:sp>
        <p:nvSpPr>
          <p:cNvPr id="68" name="Text 64"/>
          <p:cNvSpPr/>
          <p:nvPr/>
        </p:nvSpPr>
        <p:spPr>
          <a:xfrm>
            <a:off x="2154484" y="4271963"/>
            <a:ext cx="192881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63" u="none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!</a:t>
            </a:r>
            <a:endParaRPr lang="en-US" sz="563" dirty="0"/>
          </a:p>
        </p:txBody>
      </p:sp>
      <p:sp>
        <p:nvSpPr>
          <p:cNvPr id="69" name="Text 65"/>
          <p:cNvSpPr/>
          <p:nvPr/>
        </p:nvSpPr>
        <p:spPr>
          <a:xfrm>
            <a:off x="2240209" y="4257675"/>
            <a:ext cx="1211651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Slow demo scheduling</a:t>
            </a:r>
            <a:endParaRPr lang="en-US" sz="563" dirty="0"/>
          </a:p>
        </p:txBody>
      </p:sp>
      <p:sp>
        <p:nvSpPr>
          <p:cNvPr id="70" name="Shape 66"/>
          <p:cNvSpPr/>
          <p:nvPr/>
        </p:nvSpPr>
        <p:spPr>
          <a:xfrm>
            <a:off x="3851910" y="707231"/>
            <a:ext cx="1440109" cy="3786188"/>
          </a:xfrm>
          <a:prstGeom prst="roundRect">
            <a:avLst>
              <a:gd name="adj" fmla="val 6945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21431" dist="7144" dir="5400000">
              <a:srgbClr val="000000">
                <a:alpha val="6000"/>
              </a:srgbClr>
            </a:outerShdw>
          </a:effectLst>
        </p:spPr>
      </p:sp>
      <p:sp>
        <p:nvSpPr>
          <p:cNvPr id="71" name="Shape 67"/>
          <p:cNvSpPr/>
          <p:nvPr/>
        </p:nvSpPr>
        <p:spPr>
          <a:xfrm>
            <a:off x="3851910" y="707231"/>
            <a:ext cx="1440109" cy="3786188"/>
          </a:xfrm>
          <a:prstGeom prst="roundRect">
            <a:avLst>
              <a:gd name="adj" fmla="val 6945"/>
            </a:avLst>
          </a:prstGeom>
          <a:solidFill>
            <a:srgbClr val="8B5CF6"/>
          </a:solidFill>
          <a:ln>
            <a:noFill/>
          </a:ln>
        </p:spPr>
      </p:sp>
      <p:sp>
        <p:nvSpPr>
          <p:cNvPr id="72" name="Shape 68"/>
          <p:cNvSpPr/>
          <p:nvPr/>
        </p:nvSpPr>
        <p:spPr>
          <a:xfrm>
            <a:off x="3851910" y="735806"/>
            <a:ext cx="1440109" cy="3757613"/>
          </a:xfrm>
          <a:prstGeom prst="roundRect">
            <a:avLst>
              <a:gd name="adj" fmla="val 6945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7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6210" y="864394"/>
            <a:ext cx="280035" cy="242888"/>
          </a:xfrm>
          <a:prstGeom prst="rect">
            <a:avLst/>
          </a:prstGeom>
        </p:spPr>
      </p:pic>
      <p:sp>
        <p:nvSpPr>
          <p:cNvPr id="74" name="Text 69"/>
          <p:cNvSpPr/>
          <p:nvPr/>
        </p:nvSpPr>
        <p:spPr>
          <a:xfrm>
            <a:off x="3966210" y="1164431"/>
            <a:ext cx="1297234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Purchase</a:t>
            </a:r>
            <a:endParaRPr lang="en-US" sz="844" dirty="0"/>
          </a:p>
        </p:txBody>
      </p:sp>
      <p:sp>
        <p:nvSpPr>
          <p:cNvPr id="75" name="Text 70"/>
          <p:cNvSpPr/>
          <p:nvPr/>
        </p:nvSpPr>
        <p:spPr>
          <a:xfrm>
            <a:off x="3966210" y="1328738"/>
            <a:ext cx="1211509" cy="21988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Checkout flow and onboarding kickoff</a:t>
            </a:r>
            <a:endParaRPr lang="en-US" sz="619" dirty="0"/>
          </a:p>
        </p:txBody>
      </p:sp>
      <p:sp>
        <p:nvSpPr>
          <p:cNvPr id="76" name="Text 71"/>
          <p:cNvSpPr/>
          <p:nvPr/>
        </p:nvSpPr>
        <p:spPr>
          <a:xfrm>
            <a:off x="3966210" y="1634347"/>
            <a:ext cx="1297234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TOUCHPOINTS</a:t>
            </a:r>
            <a:endParaRPr lang="en-US" sz="506" dirty="0"/>
          </a:p>
        </p:txBody>
      </p:sp>
      <p:sp>
        <p:nvSpPr>
          <p:cNvPr id="77" name="Shape 72"/>
          <p:cNvSpPr/>
          <p:nvPr/>
        </p:nvSpPr>
        <p:spPr>
          <a:xfrm>
            <a:off x="3966210" y="1820085"/>
            <a:ext cx="35719" cy="35719"/>
          </a:xfrm>
          <a:prstGeom prst="ellipse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78" name="Text 73"/>
          <p:cNvSpPr/>
          <p:nvPr/>
        </p:nvSpPr>
        <p:spPr>
          <a:xfrm>
            <a:off x="4051935" y="1755791"/>
            <a:ext cx="1211509" cy="135731"/>
          </a:xfrm>
          <a:prstGeom prst="rect">
            <a:avLst/>
          </a:prstGeom>
          <a:ln>
            <a:noFill/>
          </a:ln>
        </p:spPr>
        <p:txBody>
          <a:bodyPr wrap="square" lIns="0" tIns="21431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Checkout page</a:t>
            </a:r>
            <a:endParaRPr lang="en-US" sz="619" dirty="0"/>
          </a:p>
        </p:txBody>
      </p:sp>
      <p:sp>
        <p:nvSpPr>
          <p:cNvPr id="79" name="Shape 74"/>
          <p:cNvSpPr/>
          <p:nvPr/>
        </p:nvSpPr>
        <p:spPr>
          <a:xfrm>
            <a:off x="3966210" y="1955816"/>
            <a:ext cx="35719" cy="35719"/>
          </a:xfrm>
          <a:prstGeom prst="ellipse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80" name="Text 75"/>
          <p:cNvSpPr/>
          <p:nvPr/>
        </p:nvSpPr>
        <p:spPr>
          <a:xfrm>
            <a:off x="4051935" y="1891522"/>
            <a:ext cx="1211509" cy="135731"/>
          </a:xfrm>
          <a:prstGeom prst="rect">
            <a:avLst/>
          </a:prstGeom>
          <a:ln>
            <a:noFill/>
          </a:ln>
        </p:spPr>
        <p:txBody>
          <a:bodyPr wrap="square" lIns="0" tIns="21431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Welcome email series</a:t>
            </a:r>
            <a:endParaRPr lang="en-US" sz="619" dirty="0"/>
          </a:p>
        </p:txBody>
      </p:sp>
      <p:sp>
        <p:nvSpPr>
          <p:cNvPr id="81" name="Shape 76"/>
          <p:cNvSpPr/>
          <p:nvPr/>
        </p:nvSpPr>
        <p:spPr>
          <a:xfrm>
            <a:off x="3966210" y="2091547"/>
            <a:ext cx="35719" cy="35719"/>
          </a:xfrm>
          <a:prstGeom prst="ellipse">
            <a:avLst/>
          </a:prstGeom>
          <a:solidFill>
            <a:srgbClr val="8B5CF6"/>
          </a:solidFill>
          <a:ln>
            <a:noFill/>
          </a:ln>
        </p:spPr>
      </p:sp>
      <p:sp>
        <p:nvSpPr>
          <p:cNvPr id="82" name="Text 77"/>
          <p:cNvSpPr/>
          <p:nvPr/>
        </p:nvSpPr>
        <p:spPr>
          <a:xfrm>
            <a:off x="4051935" y="2027253"/>
            <a:ext cx="1211509" cy="135731"/>
          </a:xfrm>
          <a:prstGeom prst="rect">
            <a:avLst/>
          </a:prstGeom>
          <a:ln>
            <a:noFill/>
          </a:ln>
        </p:spPr>
        <p:txBody>
          <a:bodyPr wrap="square" lIns="0" tIns="21431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Onboarding call</a:t>
            </a:r>
            <a:endParaRPr lang="en-US" sz="619" dirty="0"/>
          </a:p>
        </p:txBody>
      </p:sp>
      <p:sp>
        <p:nvSpPr>
          <p:cNvPr id="83" name="Shape 78"/>
          <p:cNvSpPr/>
          <p:nvPr/>
        </p:nvSpPr>
        <p:spPr>
          <a:xfrm>
            <a:off x="3966210" y="2248710"/>
            <a:ext cx="1211509" cy="235744"/>
          </a:xfrm>
          <a:prstGeom prst="roundRect">
            <a:avLst>
              <a:gd name="adj" fmla="val 24242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84" name="Text 79"/>
          <p:cNvSpPr/>
          <p:nvPr/>
        </p:nvSpPr>
        <p:spPr>
          <a:xfrm>
            <a:off x="4037648" y="2248710"/>
            <a:ext cx="1068634" cy="2357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3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😊</a:t>
            </a:r>
            <a:pPr algn="l" indent="0" marL="0">
              <a:lnSpc>
                <a:spcPct val="12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Excited</a:t>
            </a:r>
            <a:endParaRPr lang="en-US" sz="1013" dirty="0"/>
          </a:p>
        </p:txBody>
      </p:sp>
      <p:sp>
        <p:nvSpPr>
          <p:cNvPr id="85" name="Text 80"/>
          <p:cNvSpPr/>
          <p:nvPr/>
        </p:nvSpPr>
        <p:spPr>
          <a:xfrm>
            <a:off x="3966210" y="4136231"/>
            <a:ext cx="1297234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 POINTS</a:t>
            </a:r>
            <a:endParaRPr lang="en-US" sz="506" dirty="0"/>
          </a:p>
        </p:txBody>
      </p:sp>
      <p:sp>
        <p:nvSpPr>
          <p:cNvPr id="86" name="Text 81"/>
          <p:cNvSpPr/>
          <p:nvPr/>
        </p:nvSpPr>
        <p:spPr>
          <a:xfrm>
            <a:off x="3966210" y="4271963"/>
            <a:ext cx="192881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63" u="none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!</a:t>
            </a:r>
            <a:endParaRPr lang="en-US" sz="563" dirty="0"/>
          </a:p>
        </p:txBody>
      </p:sp>
      <p:sp>
        <p:nvSpPr>
          <p:cNvPr id="87" name="Text 82"/>
          <p:cNvSpPr/>
          <p:nvPr/>
        </p:nvSpPr>
        <p:spPr>
          <a:xfrm>
            <a:off x="4051935" y="4257675"/>
            <a:ext cx="1211509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Long contract process</a:t>
            </a:r>
            <a:endParaRPr lang="en-US" sz="563" dirty="0"/>
          </a:p>
        </p:txBody>
      </p:sp>
      <p:sp>
        <p:nvSpPr>
          <p:cNvPr id="88" name="Shape 83"/>
          <p:cNvSpPr/>
          <p:nvPr/>
        </p:nvSpPr>
        <p:spPr>
          <a:xfrm>
            <a:off x="5663565" y="707231"/>
            <a:ext cx="1440251" cy="378618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21431" dist="7144" dir="5400000">
              <a:srgbClr val="000000">
                <a:alpha val="6000"/>
              </a:srgbClr>
            </a:outerShdw>
          </a:effectLst>
        </p:spPr>
      </p:sp>
      <p:sp>
        <p:nvSpPr>
          <p:cNvPr id="89" name="Shape 84"/>
          <p:cNvSpPr/>
          <p:nvPr/>
        </p:nvSpPr>
        <p:spPr>
          <a:xfrm>
            <a:off x="5663565" y="707231"/>
            <a:ext cx="1440251" cy="3786188"/>
          </a:xfrm>
          <a:prstGeom prst="roundRect">
            <a:avLst>
              <a:gd name="adj" fmla="val 6944"/>
            </a:avLst>
          </a:prstGeom>
          <a:solidFill>
            <a:srgbClr val="A855F7"/>
          </a:solidFill>
          <a:ln>
            <a:noFill/>
          </a:ln>
        </p:spPr>
      </p:sp>
      <p:sp>
        <p:nvSpPr>
          <p:cNvPr id="90" name="Shape 85"/>
          <p:cNvSpPr/>
          <p:nvPr/>
        </p:nvSpPr>
        <p:spPr>
          <a:xfrm>
            <a:off x="5663565" y="735806"/>
            <a:ext cx="1440251" cy="3757613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9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7865" y="864394"/>
            <a:ext cx="280035" cy="242888"/>
          </a:xfrm>
          <a:prstGeom prst="rect">
            <a:avLst/>
          </a:prstGeom>
        </p:spPr>
      </p:pic>
      <p:sp>
        <p:nvSpPr>
          <p:cNvPr id="92" name="Text 86"/>
          <p:cNvSpPr/>
          <p:nvPr/>
        </p:nvSpPr>
        <p:spPr>
          <a:xfrm>
            <a:off x="5777865" y="1164431"/>
            <a:ext cx="1297376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</a:t>
            </a:r>
            <a:endParaRPr lang="en-US" sz="844" dirty="0"/>
          </a:p>
        </p:txBody>
      </p:sp>
      <p:sp>
        <p:nvSpPr>
          <p:cNvPr id="93" name="Text 87"/>
          <p:cNvSpPr/>
          <p:nvPr/>
        </p:nvSpPr>
        <p:spPr>
          <a:xfrm>
            <a:off x="5777865" y="1328738"/>
            <a:ext cx="1211651" cy="21988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Daily product usage and support interactions</a:t>
            </a:r>
            <a:endParaRPr lang="en-US" sz="619" dirty="0"/>
          </a:p>
        </p:txBody>
      </p:sp>
      <p:sp>
        <p:nvSpPr>
          <p:cNvPr id="94" name="Text 88"/>
          <p:cNvSpPr/>
          <p:nvPr/>
        </p:nvSpPr>
        <p:spPr>
          <a:xfrm>
            <a:off x="5777865" y="1634347"/>
            <a:ext cx="1297376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TOUCHPOINTS</a:t>
            </a:r>
            <a:endParaRPr lang="en-US" sz="506" dirty="0"/>
          </a:p>
        </p:txBody>
      </p:sp>
      <p:sp>
        <p:nvSpPr>
          <p:cNvPr id="95" name="Shape 89"/>
          <p:cNvSpPr/>
          <p:nvPr/>
        </p:nvSpPr>
        <p:spPr>
          <a:xfrm>
            <a:off x="5777865" y="1820085"/>
            <a:ext cx="35719" cy="35719"/>
          </a:xfrm>
          <a:prstGeom prst="ellipse">
            <a:avLst/>
          </a:prstGeom>
          <a:solidFill>
            <a:srgbClr val="A855F7"/>
          </a:solidFill>
          <a:ln>
            <a:noFill/>
          </a:ln>
        </p:spPr>
      </p:sp>
      <p:sp>
        <p:nvSpPr>
          <p:cNvPr id="96" name="Text 90"/>
          <p:cNvSpPr/>
          <p:nvPr/>
        </p:nvSpPr>
        <p:spPr>
          <a:xfrm>
            <a:off x="5863590" y="1755791"/>
            <a:ext cx="1211651" cy="135731"/>
          </a:xfrm>
          <a:prstGeom prst="rect">
            <a:avLst/>
          </a:prstGeom>
          <a:ln>
            <a:noFill/>
          </a:ln>
        </p:spPr>
        <p:txBody>
          <a:bodyPr wrap="square" lIns="0" tIns="21431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 dashboard</a:t>
            </a:r>
            <a:endParaRPr lang="en-US" sz="619" dirty="0"/>
          </a:p>
        </p:txBody>
      </p:sp>
      <p:sp>
        <p:nvSpPr>
          <p:cNvPr id="97" name="Shape 91"/>
          <p:cNvSpPr/>
          <p:nvPr/>
        </p:nvSpPr>
        <p:spPr>
          <a:xfrm>
            <a:off x="5777865" y="1955816"/>
            <a:ext cx="35719" cy="35719"/>
          </a:xfrm>
          <a:prstGeom prst="ellipse">
            <a:avLst/>
          </a:prstGeom>
          <a:solidFill>
            <a:srgbClr val="A855F7"/>
          </a:solidFill>
          <a:ln>
            <a:noFill/>
          </a:ln>
        </p:spPr>
      </p:sp>
      <p:sp>
        <p:nvSpPr>
          <p:cNvPr id="98" name="Text 92"/>
          <p:cNvSpPr/>
          <p:nvPr/>
        </p:nvSpPr>
        <p:spPr>
          <a:xfrm>
            <a:off x="5863590" y="1891522"/>
            <a:ext cx="1211651" cy="135731"/>
          </a:xfrm>
          <a:prstGeom prst="rect">
            <a:avLst/>
          </a:prstGeom>
          <a:ln>
            <a:noFill/>
          </a:ln>
        </p:spPr>
        <p:txBody>
          <a:bodyPr wrap="square" lIns="0" tIns="21431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Help center / docs</a:t>
            </a:r>
            <a:endParaRPr lang="en-US" sz="619" dirty="0"/>
          </a:p>
        </p:txBody>
      </p:sp>
      <p:sp>
        <p:nvSpPr>
          <p:cNvPr id="99" name="Shape 93"/>
          <p:cNvSpPr/>
          <p:nvPr/>
        </p:nvSpPr>
        <p:spPr>
          <a:xfrm>
            <a:off x="5777865" y="2091547"/>
            <a:ext cx="35719" cy="35719"/>
          </a:xfrm>
          <a:prstGeom prst="ellipse">
            <a:avLst/>
          </a:prstGeom>
          <a:solidFill>
            <a:srgbClr val="A855F7"/>
          </a:solidFill>
          <a:ln>
            <a:noFill/>
          </a:ln>
        </p:spPr>
      </p:sp>
      <p:sp>
        <p:nvSpPr>
          <p:cNvPr id="100" name="Text 94"/>
          <p:cNvSpPr/>
          <p:nvPr/>
        </p:nvSpPr>
        <p:spPr>
          <a:xfrm>
            <a:off x="5863590" y="2027253"/>
            <a:ext cx="1211651" cy="135731"/>
          </a:xfrm>
          <a:prstGeom prst="rect">
            <a:avLst/>
          </a:prstGeom>
          <a:ln>
            <a:noFill/>
          </a:ln>
        </p:spPr>
        <p:txBody>
          <a:bodyPr wrap="square" lIns="0" tIns="21431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 chat</a:t>
            </a:r>
            <a:endParaRPr lang="en-US" sz="619" dirty="0"/>
          </a:p>
        </p:txBody>
      </p:sp>
      <p:sp>
        <p:nvSpPr>
          <p:cNvPr id="101" name="Shape 95"/>
          <p:cNvSpPr/>
          <p:nvPr/>
        </p:nvSpPr>
        <p:spPr>
          <a:xfrm>
            <a:off x="5777865" y="2227278"/>
            <a:ext cx="35719" cy="35719"/>
          </a:xfrm>
          <a:prstGeom prst="ellipse">
            <a:avLst/>
          </a:prstGeom>
          <a:solidFill>
            <a:srgbClr val="A855F7"/>
          </a:solidFill>
          <a:ln>
            <a:noFill/>
          </a:ln>
        </p:spPr>
      </p:sp>
      <p:sp>
        <p:nvSpPr>
          <p:cNvPr id="102" name="Text 96"/>
          <p:cNvSpPr/>
          <p:nvPr/>
        </p:nvSpPr>
        <p:spPr>
          <a:xfrm>
            <a:off x="5863590" y="2162985"/>
            <a:ext cx="1211651" cy="135731"/>
          </a:xfrm>
          <a:prstGeom prst="rect">
            <a:avLst/>
          </a:prstGeom>
          <a:ln>
            <a:noFill/>
          </a:ln>
        </p:spPr>
        <p:txBody>
          <a:bodyPr wrap="square" lIns="0" tIns="21431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 requests</a:t>
            </a:r>
            <a:endParaRPr lang="en-US" sz="619" dirty="0"/>
          </a:p>
        </p:txBody>
      </p:sp>
      <p:sp>
        <p:nvSpPr>
          <p:cNvPr id="103" name="Shape 97"/>
          <p:cNvSpPr/>
          <p:nvPr/>
        </p:nvSpPr>
        <p:spPr>
          <a:xfrm>
            <a:off x="5777865" y="2384441"/>
            <a:ext cx="1211651" cy="235744"/>
          </a:xfrm>
          <a:prstGeom prst="roundRect">
            <a:avLst>
              <a:gd name="adj" fmla="val 24242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04" name="Text 98"/>
          <p:cNvSpPr/>
          <p:nvPr/>
        </p:nvSpPr>
        <p:spPr>
          <a:xfrm>
            <a:off x="5849303" y="2384441"/>
            <a:ext cx="1068776" cy="2357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3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😐</a:t>
            </a:r>
            <a:pPr algn="l" indent="0" marL="0">
              <a:lnSpc>
                <a:spcPct val="12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CA8A0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Mixed</a:t>
            </a:r>
            <a:endParaRPr lang="en-US" sz="1013" dirty="0"/>
          </a:p>
        </p:txBody>
      </p:sp>
      <p:sp>
        <p:nvSpPr>
          <p:cNvPr id="105" name="Text 99"/>
          <p:cNvSpPr/>
          <p:nvPr/>
        </p:nvSpPr>
        <p:spPr>
          <a:xfrm>
            <a:off x="5777865" y="4029075"/>
            <a:ext cx="1297376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 POINTS</a:t>
            </a:r>
            <a:endParaRPr lang="en-US" sz="506" dirty="0"/>
          </a:p>
        </p:txBody>
      </p:sp>
      <p:sp>
        <p:nvSpPr>
          <p:cNvPr id="106" name="Text 100"/>
          <p:cNvSpPr/>
          <p:nvPr/>
        </p:nvSpPr>
        <p:spPr>
          <a:xfrm>
            <a:off x="5777865" y="4164806"/>
            <a:ext cx="192881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63" u="none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!</a:t>
            </a:r>
            <a:endParaRPr lang="en-US" sz="563" dirty="0"/>
          </a:p>
        </p:txBody>
      </p:sp>
      <p:sp>
        <p:nvSpPr>
          <p:cNvPr id="107" name="Text 101"/>
          <p:cNvSpPr/>
          <p:nvPr/>
        </p:nvSpPr>
        <p:spPr>
          <a:xfrm>
            <a:off x="5863590" y="4150519"/>
            <a:ext cx="1211651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Steep learning curve</a:t>
            </a:r>
            <a:endParaRPr lang="en-US" sz="563" dirty="0"/>
          </a:p>
        </p:txBody>
      </p:sp>
      <p:sp>
        <p:nvSpPr>
          <p:cNvPr id="108" name="Text 102"/>
          <p:cNvSpPr/>
          <p:nvPr/>
        </p:nvSpPr>
        <p:spPr>
          <a:xfrm>
            <a:off x="5777865" y="4271963"/>
            <a:ext cx="192881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63" u="none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!</a:t>
            </a:r>
            <a:endParaRPr lang="en-US" sz="563" dirty="0"/>
          </a:p>
        </p:txBody>
      </p:sp>
      <p:sp>
        <p:nvSpPr>
          <p:cNvPr id="109" name="Text 103"/>
          <p:cNvSpPr/>
          <p:nvPr/>
        </p:nvSpPr>
        <p:spPr>
          <a:xfrm>
            <a:off x="5863590" y="4257675"/>
            <a:ext cx="1211651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Missing integrations</a:t>
            </a:r>
            <a:endParaRPr lang="en-US" sz="563" dirty="0"/>
          </a:p>
        </p:txBody>
      </p:sp>
      <p:sp>
        <p:nvSpPr>
          <p:cNvPr id="110" name="Shape 104"/>
          <p:cNvSpPr/>
          <p:nvPr/>
        </p:nvSpPr>
        <p:spPr>
          <a:xfrm>
            <a:off x="7475291" y="707231"/>
            <a:ext cx="1440109" cy="3786188"/>
          </a:xfrm>
          <a:prstGeom prst="roundRect">
            <a:avLst>
              <a:gd name="adj" fmla="val 6945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21431" dist="7144" dir="5400000">
              <a:srgbClr val="000000">
                <a:alpha val="6000"/>
              </a:srgbClr>
            </a:outerShdw>
          </a:effectLst>
        </p:spPr>
      </p:sp>
      <p:sp>
        <p:nvSpPr>
          <p:cNvPr id="111" name="Shape 105"/>
          <p:cNvSpPr/>
          <p:nvPr/>
        </p:nvSpPr>
        <p:spPr>
          <a:xfrm>
            <a:off x="7475291" y="707231"/>
            <a:ext cx="1440109" cy="3786188"/>
          </a:xfrm>
          <a:prstGeom prst="roundRect">
            <a:avLst>
              <a:gd name="adj" fmla="val 6945"/>
            </a:avLst>
          </a:prstGeom>
          <a:solidFill>
            <a:srgbClr val="D946EF"/>
          </a:solidFill>
          <a:ln>
            <a:noFill/>
          </a:ln>
        </p:spPr>
      </p:sp>
      <p:sp>
        <p:nvSpPr>
          <p:cNvPr id="112" name="Shape 106"/>
          <p:cNvSpPr/>
          <p:nvPr/>
        </p:nvSpPr>
        <p:spPr>
          <a:xfrm>
            <a:off x="7475291" y="735806"/>
            <a:ext cx="1440109" cy="3757613"/>
          </a:xfrm>
          <a:prstGeom prst="roundRect">
            <a:avLst>
              <a:gd name="adj" fmla="val 6945"/>
            </a:avLst>
          </a:prstGeom>
          <a:solidFill>
            <a:srgbClr val="FFFFFF"/>
          </a:solidFill>
          <a:ln>
            <a:noFill/>
          </a:ln>
        </p:spPr>
      </p:sp>
      <p:pic>
        <p:nvPicPr>
          <p:cNvPr id="1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91" y="864394"/>
            <a:ext cx="280035" cy="242888"/>
          </a:xfrm>
          <a:prstGeom prst="rect">
            <a:avLst/>
          </a:prstGeom>
        </p:spPr>
      </p:pic>
      <p:sp>
        <p:nvSpPr>
          <p:cNvPr id="114" name="Text 107"/>
          <p:cNvSpPr/>
          <p:nvPr/>
        </p:nvSpPr>
        <p:spPr>
          <a:xfrm>
            <a:off x="7589591" y="1164431"/>
            <a:ext cx="1297234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Advocate</a:t>
            </a:r>
            <a:endParaRPr lang="en-US" sz="844" dirty="0"/>
          </a:p>
        </p:txBody>
      </p:sp>
      <p:sp>
        <p:nvSpPr>
          <p:cNvPr id="115" name="Text 108"/>
          <p:cNvSpPr/>
          <p:nvPr/>
        </p:nvSpPr>
        <p:spPr>
          <a:xfrm>
            <a:off x="7589591" y="1328738"/>
            <a:ext cx="1211509" cy="21988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Champions who refer and promote the product</a:t>
            </a:r>
            <a:endParaRPr lang="en-US" sz="619" dirty="0"/>
          </a:p>
        </p:txBody>
      </p:sp>
      <p:sp>
        <p:nvSpPr>
          <p:cNvPr id="116" name="Text 109"/>
          <p:cNvSpPr/>
          <p:nvPr/>
        </p:nvSpPr>
        <p:spPr>
          <a:xfrm>
            <a:off x="7589591" y="1634347"/>
            <a:ext cx="1297234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TOUCHPOINTS</a:t>
            </a:r>
            <a:endParaRPr lang="en-US" sz="506" dirty="0"/>
          </a:p>
        </p:txBody>
      </p:sp>
      <p:sp>
        <p:nvSpPr>
          <p:cNvPr id="117" name="Shape 110"/>
          <p:cNvSpPr/>
          <p:nvPr/>
        </p:nvSpPr>
        <p:spPr>
          <a:xfrm>
            <a:off x="7589591" y="1820085"/>
            <a:ext cx="35719" cy="35719"/>
          </a:xfrm>
          <a:prstGeom prst="ellipse">
            <a:avLst/>
          </a:prstGeom>
          <a:solidFill>
            <a:srgbClr val="D946EF"/>
          </a:solidFill>
          <a:ln>
            <a:noFill/>
          </a:ln>
        </p:spPr>
      </p:sp>
      <p:sp>
        <p:nvSpPr>
          <p:cNvPr id="118" name="Text 111"/>
          <p:cNvSpPr/>
          <p:nvPr/>
        </p:nvSpPr>
        <p:spPr>
          <a:xfrm>
            <a:off x="7675316" y="1755791"/>
            <a:ext cx="1211509" cy="135731"/>
          </a:xfrm>
          <a:prstGeom prst="rect">
            <a:avLst/>
          </a:prstGeom>
          <a:ln>
            <a:noFill/>
          </a:ln>
        </p:spPr>
        <p:txBody>
          <a:bodyPr wrap="square" lIns="0" tIns="21431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Referral program</a:t>
            </a:r>
            <a:endParaRPr lang="en-US" sz="619" dirty="0"/>
          </a:p>
        </p:txBody>
      </p:sp>
      <p:sp>
        <p:nvSpPr>
          <p:cNvPr id="119" name="Shape 112"/>
          <p:cNvSpPr/>
          <p:nvPr/>
        </p:nvSpPr>
        <p:spPr>
          <a:xfrm>
            <a:off x="7589591" y="1955816"/>
            <a:ext cx="35719" cy="35719"/>
          </a:xfrm>
          <a:prstGeom prst="ellipse">
            <a:avLst/>
          </a:prstGeom>
          <a:solidFill>
            <a:srgbClr val="D946EF"/>
          </a:solidFill>
          <a:ln>
            <a:noFill/>
          </a:ln>
        </p:spPr>
      </p:sp>
      <p:sp>
        <p:nvSpPr>
          <p:cNvPr id="120" name="Text 113"/>
          <p:cNvSpPr/>
          <p:nvPr/>
        </p:nvSpPr>
        <p:spPr>
          <a:xfrm>
            <a:off x="7675316" y="1891522"/>
            <a:ext cx="1211509" cy="135731"/>
          </a:xfrm>
          <a:prstGeom prst="rect">
            <a:avLst/>
          </a:prstGeom>
          <a:ln>
            <a:noFill/>
          </a:ln>
        </p:spPr>
        <p:txBody>
          <a:bodyPr wrap="square" lIns="0" tIns="21431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Case study invite</a:t>
            </a:r>
            <a:endParaRPr lang="en-US" sz="619" dirty="0"/>
          </a:p>
        </p:txBody>
      </p:sp>
      <p:sp>
        <p:nvSpPr>
          <p:cNvPr id="121" name="Shape 114"/>
          <p:cNvSpPr/>
          <p:nvPr/>
        </p:nvSpPr>
        <p:spPr>
          <a:xfrm>
            <a:off x="7589591" y="2091547"/>
            <a:ext cx="35719" cy="35719"/>
          </a:xfrm>
          <a:prstGeom prst="ellipse">
            <a:avLst/>
          </a:prstGeom>
          <a:solidFill>
            <a:srgbClr val="D946EF"/>
          </a:solidFill>
          <a:ln>
            <a:noFill/>
          </a:ln>
        </p:spPr>
      </p:sp>
      <p:sp>
        <p:nvSpPr>
          <p:cNvPr id="122" name="Text 115"/>
          <p:cNvSpPr/>
          <p:nvPr/>
        </p:nvSpPr>
        <p:spPr>
          <a:xfrm>
            <a:off x="7675316" y="2027253"/>
            <a:ext cx="1211509" cy="135731"/>
          </a:xfrm>
          <a:prstGeom prst="rect">
            <a:avLst/>
          </a:prstGeom>
          <a:ln>
            <a:noFill/>
          </a:ln>
        </p:spPr>
        <p:txBody>
          <a:bodyPr wrap="square" lIns="0" tIns="21431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Community forum</a:t>
            </a:r>
            <a:endParaRPr lang="en-US" sz="619" dirty="0"/>
          </a:p>
        </p:txBody>
      </p:sp>
      <p:sp>
        <p:nvSpPr>
          <p:cNvPr id="123" name="Shape 116"/>
          <p:cNvSpPr/>
          <p:nvPr/>
        </p:nvSpPr>
        <p:spPr>
          <a:xfrm>
            <a:off x="7589591" y="2248710"/>
            <a:ext cx="1211509" cy="242888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24" name="Text 117"/>
          <p:cNvSpPr/>
          <p:nvPr/>
        </p:nvSpPr>
        <p:spPr>
          <a:xfrm>
            <a:off x="7661029" y="2248710"/>
            <a:ext cx="1068634" cy="2428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13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🤩</a:t>
            </a:r>
            <a:pPr algn="l" indent="0" marL="0">
              <a:lnSpc>
                <a:spcPct val="120000"/>
              </a:lnSpc>
              <a:buNone/>
            </a:pPr>
            <a:r>
              <a:rPr lang="en-US" sz="900" u="none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120000"/>
              </a:lnSpc>
              <a:buNone/>
            </a:pPr>
            <a:r>
              <a:rPr lang="en-US" sz="619" b="1" u="none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</a:t>
            </a:r>
            <a:endParaRPr lang="en-US" sz="1013" dirty="0"/>
          </a:p>
        </p:txBody>
      </p:sp>
      <p:sp>
        <p:nvSpPr>
          <p:cNvPr id="125" name="Text 118"/>
          <p:cNvSpPr/>
          <p:nvPr/>
        </p:nvSpPr>
        <p:spPr>
          <a:xfrm>
            <a:off x="7589591" y="4136231"/>
            <a:ext cx="1297234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b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 POINTS</a:t>
            </a:r>
            <a:endParaRPr lang="en-US" sz="506" dirty="0"/>
          </a:p>
        </p:txBody>
      </p:sp>
      <p:sp>
        <p:nvSpPr>
          <p:cNvPr id="126" name="Text 119"/>
          <p:cNvSpPr/>
          <p:nvPr/>
        </p:nvSpPr>
        <p:spPr>
          <a:xfrm>
            <a:off x="7589591" y="4271963"/>
            <a:ext cx="192881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63" u="none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!</a:t>
            </a:r>
            <a:endParaRPr lang="en-US" sz="563" dirty="0"/>
          </a:p>
        </p:txBody>
      </p:sp>
      <p:sp>
        <p:nvSpPr>
          <p:cNvPr id="127" name="Text 120"/>
          <p:cNvSpPr/>
          <p:nvPr/>
        </p:nvSpPr>
        <p:spPr>
          <a:xfrm>
            <a:off x="7675316" y="4257675"/>
            <a:ext cx="1211509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referral incentives</a:t>
            </a:r>
            <a:endParaRPr lang="en-US" sz="563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7175" y="200025"/>
            <a:ext cx="4056864" cy="2428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Positioning Map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257175" y="457200"/>
            <a:ext cx="4056864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Market landscape analysis by feature completeness vs. ease of use (bubble size = market share)</a:t>
            </a:r>
            <a:endParaRPr lang="en-US" sz="731" dirty="0"/>
          </a:p>
        </p:txBody>
      </p:sp>
      <p:sp>
        <p:nvSpPr>
          <p:cNvPr id="4" name="Text 2"/>
          <p:cNvSpPr/>
          <p:nvPr/>
        </p:nvSpPr>
        <p:spPr>
          <a:xfrm>
            <a:off x="6558177" y="467916"/>
            <a:ext cx="503992" cy="928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u="none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Product</a:t>
            </a:r>
            <a:endParaRPr lang="en-US" sz="619" dirty="0"/>
          </a:p>
        </p:txBody>
      </p:sp>
      <p:sp>
        <p:nvSpPr>
          <p:cNvPr id="5" name="Shape 3"/>
          <p:cNvSpPr/>
          <p:nvPr/>
        </p:nvSpPr>
        <p:spPr>
          <a:xfrm>
            <a:off x="6429589" y="464344"/>
            <a:ext cx="100013" cy="100013"/>
          </a:xfrm>
          <a:prstGeom prst="ellipse">
            <a:avLst/>
          </a:prstGeom>
          <a:solidFill>
            <a:srgbClr val="6366F1">
              <a:alpha val="30000"/>
            </a:srgbClr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6443877" y="478631"/>
            <a:ext cx="71438" cy="71438"/>
          </a:xfrm>
          <a:prstGeom prst="ellipse">
            <a:avLst/>
          </a:prstGeom>
          <a:solidFill>
            <a:srgbClr val="6366F1"/>
          </a:solidFill>
          <a:ln>
            <a:noFill/>
          </a:ln>
        </p:spPr>
      </p:sp>
      <p:sp>
        <p:nvSpPr>
          <p:cNvPr id="7" name="Text 5"/>
          <p:cNvSpPr/>
          <p:nvPr/>
        </p:nvSpPr>
        <p:spPr>
          <a:xfrm>
            <a:off x="7190756" y="467916"/>
            <a:ext cx="518279" cy="928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u="none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Competitors</a:t>
            </a:r>
            <a:endParaRPr lang="en-US" sz="619" dirty="0"/>
          </a:p>
        </p:txBody>
      </p:sp>
      <p:sp>
        <p:nvSpPr>
          <p:cNvPr id="8" name="Shape 6"/>
          <p:cNvSpPr/>
          <p:nvPr/>
        </p:nvSpPr>
        <p:spPr>
          <a:xfrm>
            <a:off x="7076456" y="478631"/>
            <a:ext cx="71438" cy="71438"/>
          </a:xfrm>
          <a:prstGeom prst="ellipse">
            <a:avLst/>
          </a:prstGeom>
          <a:solidFill>
            <a:srgbClr val="94A3B8"/>
          </a:solidFill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7866197" y="464344"/>
            <a:ext cx="49613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u="none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Large share</a:t>
            </a:r>
            <a:endParaRPr lang="en-US" sz="619" dirty="0"/>
          </a:p>
        </p:txBody>
      </p:sp>
      <p:sp>
        <p:nvSpPr>
          <p:cNvPr id="10" name="Shape 8"/>
          <p:cNvSpPr/>
          <p:nvPr/>
        </p:nvSpPr>
        <p:spPr>
          <a:xfrm>
            <a:off x="7723322" y="464344"/>
            <a:ext cx="100013" cy="100013"/>
          </a:xfrm>
          <a:prstGeom prst="ellipse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1" name="Text 9"/>
          <p:cNvSpPr/>
          <p:nvPr/>
        </p:nvSpPr>
        <p:spPr>
          <a:xfrm>
            <a:off x="8476631" y="467916"/>
            <a:ext cx="495919" cy="928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619" u="none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Small share</a:t>
            </a:r>
            <a:endParaRPr lang="en-US" sz="619" dirty="0"/>
          </a:p>
        </p:txBody>
      </p:sp>
      <p:sp>
        <p:nvSpPr>
          <p:cNvPr id="12" name="Shape 10"/>
          <p:cNvSpPr/>
          <p:nvPr/>
        </p:nvSpPr>
        <p:spPr>
          <a:xfrm>
            <a:off x="8376618" y="485775"/>
            <a:ext cx="57150" cy="57150"/>
          </a:xfrm>
          <a:prstGeom prst="ellipse">
            <a:avLst/>
          </a:prstGeom>
          <a:solidFill>
            <a:srgbClr val="CBD5E1"/>
          </a:solidFill>
          <a:ln>
            <a:noFill/>
          </a:ln>
        </p:spPr>
      </p:sp>
      <p:sp>
        <p:nvSpPr>
          <p:cNvPr id="13" name="Shape 11"/>
          <p:cNvSpPr/>
          <p:nvPr/>
        </p:nvSpPr>
        <p:spPr>
          <a:xfrm>
            <a:off x="257175" y="4471988"/>
            <a:ext cx="2781276" cy="471488"/>
          </a:xfrm>
          <a:prstGeom prst="roundRect">
            <a:avLst>
              <a:gd name="adj" fmla="val 15151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4" name="Shape 12"/>
          <p:cNvSpPr/>
          <p:nvPr/>
        </p:nvSpPr>
        <p:spPr>
          <a:xfrm>
            <a:off x="257175" y="4471988"/>
            <a:ext cx="2781276" cy="471488"/>
          </a:xfrm>
          <a:prstGeom prst="roundRect">
            <a:avLst>
              <a:gd name="adj" fmla="val 15151"/>
            </a:avLst>
          </a:prstGeom>
          <a:solidFill>
            <a:srgbClr val="6366F1"/>
          </a:solidFill>
          <a:ln>
            <a:noFill/>
          </a:ln>
        </p:spPr>
      </p:sp>
      <p:sp>
        <p:nvSpPr>
          <p:cNvPr id="15" name="Shape 13"/>
          <p:cNvSpPr/>
          <p:nvPr/>
        </p:nvSpPr>
        <p:spPr>
          <a:xfrm>
            <a:off x="278606" y="4471988"/>
            <a:ext cx="2759845" cy="471488"/>
          </a:xfrm>
          <a:prstGeom prst="roundRect">
            <a:avLst>
              <a:gd name="adj" fmla="val 15151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6" name="Text 14"/>
          <p:cNvSpPr/>
          <p:nvPr/>
        </p:nvSpPr>
        <p:spPr>
          <a:xfrm>
            <a:off x="392906" y="4557713"/>
            <a:ext cx="261697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Positioning Advantage</a:t>
            </a:r>
            <a:endParaRPr lang="en-US" sz="619" dirty="0"/>
          </a:p>
        </p:txBody>
      </p:sp>
      <p:sp>
        <p:nvSpPr>
          <p:cNvPr id="17" name="Text 15"/>
          <p:cNvSpPr/>
          <p:nvPr/>
        </p:nvSpPr>
        <p:spPr>
          <a:xfrm>
            <a:off x="392906" y="4672013"/>
            <a:ext cx="2531245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Only product in the "Leaders" quadrant with high ease-of-use AND feature completeness.</a:t>
            </a:r>
            <a:endParaRPr lang="en-US" sz="619" dirty="0"/>
          </a:p>
        </p:txBody>
      </p:sp>
      <p:sp>
        <p:nvSpPr>
          <p:cNvPr id="18" name="Shape 16"/>
          <p:cNvSpPr/>
          <p:nvPr/>
        </p:nvSpPr>
        <p:spPr>
          <a:xfrm>
            <a:off x="3181326" y="4471988"/>
            <a:ext cx="2781348" cy="471488"/>
          </a:xfrm>
          <a:prstGeom prst="roundRect">
            <a:avLst>
              <a:gd name="adj" fmla="val 15151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19" name="Shape 17"/>
          <p:cNvSpPr/>
          <p:nvPr/>
        </p:nvSpPr>
        <p:spPr>
          <a:xfrm>
            <a:off x="3181326" y="4471988"/>
            <a:ext cx="2781348" cy="471488"/>
          </a:xfrm>
          <a:prstGeom prst="roundRect">
            <a:avLst>
              <a:gd name="adj" fmla="val 15151"/>
            </a:avLst>
          </a:prstGeom>
          <a:solidFill>
            <a:srgbClr val="10B981"/>
          </a:solidFill>
          <a:ln>
            <a:noFill/>
          </a:ln>
        </p:spPr>
      </p:sp>
      <p:sp>
        <p:nvSpPr>
          <p:cNvPr id="20" name="Shape 18"/>
          <p:cNvSpPr/>
          <p:nvPr/>
        </p:nvSpPr>
        <p:spPr>
          <a:xfrm>
            <a:off x="3202757" y="4471988"/>
            <a:ext cx="2759916" cy="471488"/>
          </a:xfrm>
          <a:prstGeom prst="roundRect">
            <a:avLst>
              <a:gd name="adj" fmla="val 15151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1" name="Text 19"/>
          <p:cNvSpPr/>
          <p:nvPr/>
        </p:nvSpPr>
        <p:spPr>
          <a:xfrm>
            <a:off x="3317057" y="4557713"/>
            <a:ext cx="2617041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Opportunity Gap</a:t>
            </a:r>
            <a:endParaRPr lang="en-US" sz="619" dirty="0"/>
          </a:p>
        </p:txBody>
      </p:sp>
      <p:sp>
        <p:nvSpPr>
          <p:cNvPr id="22" name="Text 20"/>
          <p:cNvSpPr/>
          <p:nvPr/>
        </p:nvSpPr>
        <p:spPr>
          <a:xfrm>
            <a:off x="3317057" y="4672013"/>
            <a:ext cx="2531316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competitor effectively serves the mid-market segment with 5-7 ease-of-use scores.</a:t>
            </a:r>
            <a:endParaRPr lang="en-US" sz="619" dirty="0"/>
          </a:p>
        </p:txBody>
      </p:sp>
      <p:sp>
        <p:nvSpPr>
          <p:cNvPr id="23" name="Shape 21"/>
          <p:cNvSpPr/>
          <p:nvPr/>
        </p:nvSpPr>
        <p:spPr>
          <a:xfrm>
            <a:off x="6105549" y="4471988"/>
            <a:ext cx="2781276" cy="471488"/>
          </a:xfrm>
          <a:prstGeom prst="roundRect">
            <a:avLst>
              <a:gd name="adj" fmla="val 15151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4" name="Shape 22"/>
          <p:cNvSpPr/>
          <p:nvPr/>
        </p:nvSpPr>
        <p:spPr>
          <a:xfrm>
            <a:off x="6105549" y="4471988"/>
            <a:ext cx="2781276" cy="471488"/>
          </a:xfrm>
          <a:prstGeom prst="roundRect">
            <a:avLst>
              <a:gd name="adj" fmla="val 15151"/>
            </a:avLst>
          </a:prstGeom>
          <a:solidFill>
            <a:srgbClr val="F59E0B"/>
          </a:solidFill>
          <a:ln>
            <a:noFill/>
          </a:ln>
        </p:spPr>
      </p:sp>
      <p:sp>
        <p:nvSpPr>
          <p:cNvPr id="25" name="Shape 23"/>
          <p:cNvSpPr/>
          <p:nvPr/>
        </p:nvSpPr>
        <p:spPr>
          <a:xfrm>
            <a:off x="6126980" y="4471988"/>
            <a:ext cx="2759845" cy="471488"/>
          </a:xfrm>
          <a:prstGeom prst="roundRect">
            <a:avLst>
              <a:gd name="adj" fmla="val 15151"/>
            </a:avLst>
          </a:prstGeom>
          <a:solidFill>
            <a:srgbClr val="F8FAFC"/>
          </a:solidFill>
          <a:ln>
            <a:noFill/>
          </a:ln>
        </p:spPr>
      </p:sp>
      <p:sp>
        <p:nvSpPr>
          <p:cNvPr id="26" name="Text 24"/>
          <p:cNvSpPr/>
          <p:nvPr/>
        </p:nvSpPr>
        <p:spPr>
          <a:xfrm>
            <a:off x="6241280" y="4557713"/>
            <a:ext cx="261697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Out</a:t>
            </a:r>
            <a:endParaRPr lang="en-US" sz="619" dirty="0"/>
          </a:p>
        </p:txBody>
      </p:sp>
      <p:sp>
        <p:nvSpPr>
          <p:cNvPr id="27" name="Text 25"/>
          <p:cNvSpPr/>
          <p:nvPr/>
        </p:nvSpPr>
        <p:spPr>
          <a:xfrm>
            <a:off x="6241280" y="4672013"/>
            <a:ext cx="2531245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Enterprise Pro (SAP) is investing heavily in UX redesign expected to launch Q3 2026.</a:t>
            </a:r>
            <a:endParaRPr lang="en-US" sz="619" dirty="0"/>
          </a:p>
        </p:txBody>
      </p:sp>
      <p:sp>
        <p:nvSpPr>
          <p:cNvPr id="28" name="Shape 26"/>
          <p:cNvSpPr/>
          <p:nvPr/>
        </p:nvSpPr>
        <p:spPr>
          <a:xfrm>
            <a:off x="542925" y="678656"/>
            <a:ext cx="8201025" cy="353615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29" name="Shape 27"/>
          <p:cNvSpPr/>
          <p:nvPr/>
        </p:nvSpPr>
        <p:spPr>
          <a:xfrm>
            <a:off x="542925" y="4200525"/>
            <a:ext cx="8201025" cy="14288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30" name="Shape 28"/>
          <p:cNvSpPr/>
          <p:nvPr/>
        </p:nvSpPr>
        <p:spPr>
          <a:xfrm>
            <a:off x="542925" y="678656"/>
            <a:ext cx="14288" cy="3536156"/>
          </a:xfrm>
          <a:prstGeom prst="rect">
            <a:avLst/>
          </a:prstGeom>
          <a:solidFill>
            <a:srgbClr val="334155"/>
          </a:solidFill>
          <a:ln>
            <a:noFill/>
          </a:ln>
        </p:spPr>
      </p:sp>
      <p:sp>
        <p:nvSpPr>
          <p:cNvPr id="31" name="Shape 29"/>
          <p:cNvSpPr/>
          <p:nvPr/>
        </p:nvSpPr>
        <p:spPr>
          <a:xfrm>
            <a:off x="557213" y="3489079"/>
            <a:ext cx="8186738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32" name="Shape 30"/>
          <p:cNvSpPr/>
          <p:nvPr/>
        </p:nvSpPr>
        <p:spPr>
          <a:xfrm>
            <a:off x="557213" y="3492651"/>
            <a:ext cx="8186738" cy="0"/>
          </a:xfrm>
          <a:prstGeom prst="line">
            <a:avLst/>
          </a:prstGeom>
          <a:noFill/>
          <a:ln w="7144" algn="in">
            <a:solidFill>
              <a:srgbClr val="F1F5F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7213" y="2784705"/>
            <a:ext cx="8186738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34" name="Shape 32"/>
          <p:cNvSpPr/>
          <p:nvPr/>
        </p:nvSpPr>
        <p:spPr>
          <a:xfrm>
            <a:off x="557213" y="2788277"/>
            <a:ext cx="8186738" cy="0"/>
          </a:xfrm>
          <a:prstGeom prst="line">
            <a:avLst/>
          </a:prstGeom>
          <a:noFill/>
          <a:ln w="7144" algn="in">
            <a:solidFill>
              <a:srgbClr val="F1F5F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7213" y="2080260"/>
            <a:ext cx="8186738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36" name="Shape 34"/>
          <p:cNvSpPr/>
          <p:nvPr/>
        </p:nvSpPr>
        <p:spPr>
          <a:xfrm>
            <a:off x="557213" y="2083832"/>
            <a:ext cx="8186738" cy="0"/>
          </a:xfrm>
          <a:prstGeom prst="line">
            <a:avLst/>
          </a:prstGeom>
          <a:noFill/>
          <a:ln w="7144" algn="in">
            <a:solidFill>
              <a:srgbClr val="F1F5F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57213" y="1375958"/>
            <a:ext cx="8186738" cy="7144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38" name="Shape 36"/>
          <p:cNvSpPr/>
          <p:nvPr/>
        </p:nvSpPr>
        <p:spPr>
          <a:xfrm>
            <a:off x="557213" y="1379530"/>
            <a:ext cx="8186738" cy="0"/>
          </a:xfrm>
          <a:prstGeom prst="line">
            <a:avLst/>
          </a:prstGeom>
          <a:noFill/>
          <a:ln w="7144" algn="in">
            <a:solidFill>
              <a:srgbClr val="F1F5F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94489" y="678656"/>
            <a:ext cx="7144" cy="3521869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40" name="Shape 38"/>
          <p:cNvSpPr/>
          <p:nvPr/>
        </p:nvSpPr>
        <p:spPr>
          <a:xfrm>
            <a:off x="3831836" y="678656"/>
            <a:ext cx="7144" cy="3521869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41" name="Shape 39"/>
          <p:cNvSpPr/>
          <p:nvPr/>
        </p:nvSpPr>
        <p:spPr>
          <a:xfrm>
            <a:off x="5469184" y="678656"/>
            <a:ext cx="7144" cy="3521869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42" name="Shape 40"/>
          <p:cNvSpPr/>
          <p:nvPr/>
        </p:nvSpPr>
        <p:spPr>
          <a:xfrm>
            <a:off x="7106603" y="678656"/>
            <a:ext cx="7144" cy="3521869"/>
          </a:xfrm>
          <a:prstGeom prst="rect">
            <a:avLst/>
          </a:prstGeom>
          <a:solidFill>
            <a:srgbClr val="F1F5F9"/>
          </a:solidFill>
          <a:ln>
            <a:noFill/>
          </a:ln>
        </p:spPr>
      </p:sp>
      <p:sp>
        <p:nvSpPr>
          <p:cNvPr id="43" name="Text 41"/>
          <p:cNvSpPr/>
          <p:nvPr/>
        </p:nvSpPr>
        <p:spPr>
          <a:xfrm>
            <a:off x="242888" y="4061222"/>
            <a:ext cx="231958" cy="928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</a:t>
            </a:r>
            <a:endParaRPr lang="en-US" sz="619" dirty="0"/>
          </a:p>
        </p:txBody>
      </p:sp>
      <p:sp>
        <p:nvSpPr>
          <p:cNvPr id="44" name="Text 42"/>
          <p:cNvSpPr/>
          <p:nvPr/>
        </p:nvSpPr>
        <p:spPr>
          <a:xfrm>
            <a:off x="242888" y="3180755"/>
            <a:ext cx="129945" cy="928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619" dirty="0"/>
          </a:p>
        </p:txBody>
      </p:sp>
      <p:sp>
        <p:nvSpPr>
          <p:cNvPr id="45" name="Text 43"/>
          <p:cNvSpPr/>
          <p:nvPr/>
        </p:nvSpPr>
        <p:spPr>
          <a:xfrm>
            <a:off x="242888" y="2300288"/>
            <a:ext cx="129945" cy="928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619" dirty="0"/>
          </a:p>
        </p:txBody>
      </p:sp>
      <p:sp>
        <p:nvSpPr>
          <p:cNvPr id="46" name="Text 44"/>
          <p:cNvSpPr/>
          <p:nvPr/>
        </p:nvSpPr>
        <p:spPr>
          <a:xfrm>
            <a:off x="242888" y="1419820"/>
            <a:ext cx="129945" cy="928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619" dirty="0"/>
          </a:p>
        </p:txBody>
      </p:sp>
      <p:sp>
        <p:nvSpPr>
          <p:cNvPr id="47" name="Text 45"/>
          <p:cNvSpPr/>
          <p:nvPr/>
        </p:nvSpPr>
        <p:spPr>
          <a:xfrm>
            <a:off x="242888" y="645081"/>
            <a:ext cx="174165" cy="928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endParaRPr lang="en-US" sz="619" dirty="0"/>
          </a:p>
        </p:txBody>
      </p:sp>
      <p:sp>
        <p:nvSpPr>
          <p:cNvPr id="48" name="Text 46"/>
          <p:cNvSpPr/>
          <p:nvPr/>
        </p:nvSpPr>
        <p:spPr>
          <a:xfrm>
            <a:off x="484132" y="4307681"/>
            <a:ext cx="231958" cy="928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</a:t>
            </a:r>
            <a:endParaRPr lang="en-US" sz="619" dirty="0"/>
          </a:p>
        </p:txBody>
      </p:sp>
      <p:sp>
        <p:nvSpPr>
          <p:cNvPr id="49" name="Text 47"/>
          <p:cNvSpPr/>
          <p:nvPr/>
        </p:nvSpPr>
        <p:spPr>
          <a:xfrm>
            <a:off x="2581823" y="4307681"/>
            <a:ext cx="129945" cy="928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619" dirty="0"/>
          </a:p>
        </p:txBody>
      </p:sp>
      <p:sp>
        <p:nvSpPr>
          <p:cNvPr id="50" name="Text 48"/>
          <p:cNvSpPr/>
          <p:nvPr/>
        </p:nvSpPr>
        <p:spPr>
          <a:xfrm>
            <a:off x="4628507" y="4307681"/>
            <a:ext cx="129945" cy="928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619" dirty="0"/>
          </a:p>
        </p:txBody>
      </p:sp>
      <p:sp>
        <p:nvSpPr>
          <p:cNvPr id="51" name="Text 49"/>
          <p:cNvSpPr/>
          <p:nvPr/>
        </p:nvSpPr>
        <p:spPr>
          <a:xfrm>
            <a:off x="6675191" y="4307681"/>
            <a:ext cx="129945" cy="928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</a:t>
            </a:r>
            <a:endParaRPr lang="en-US" sz="619" dirty="0"/>
          </a:p>
        </p:txBody>
      </p:sp>
      <p:sp>
        <p:nvSpPr>
          <p:cNvPr id="52" name="Text 50"/>
          <p:cNvSpPr/>
          <p:nvPr/>
        </p:nvSpPr>
        <p:spPr>
          <a:xfrm>
            <a:off x="8454057" y="4307681"/>
            <a:ext cx="174165" cy="928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</a:t>
            </a:r>
            <a:endParaRPr lang="en-US" sz="619" dirty="0"/>
          </a:p>
        </p:txBody>
      </p:sp>
      <p:sp>
        <p:nvSpPr>
          <p:cNvPr id="53" name="Text 51"/>
          <p:cNvSpPr/>
          <p:nvPr/>
        </p:nvSpPr>
        <p:spPr>
          <a:xfrm rot="16200000">
            <a:off x="12573" y="2386013"/>
            <a:ext cx="1128713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Completeness →</a:t>
            </a:r>
            <a:endParaRPr lang="en-US" sz="675" dirty="0"/>
          </a:p>
        </p:txBody>
      </p:sp>
      <p:sp>
        <p:nvSpPr>
          <p:cNvPr id="54" name="Text 52"/>
          <p:cNvSpPr/>
          <p:nvPr/>
        </p:nvSpPr>
        <p:spPr>
          <a:xfrm>
            <a:off x="4352687" y="4464844"/>
            <a:ext cx="681585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Ease of Use →</a:t>
            </a:r>
            <a:endParaRPr lang="en-US" sz="675" dirty="0"/>
          </a:p>
        </p:txBody>
      </p:sp>
      <p:sp>
        <p:nvSpPr>
          <p:cNvPr id="55" name="Text 53"/>
          <p:cNvSpPr/>
          <p:nvPr/>
        </p:nvSpPr>
        <p:spPr>
          <a:xfrm>
            <a:off x="671513" y="764381"/>
            <a:ext cx="1322808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FEATURE-RICH, COMPLEX</a:t>
            </a:r>
            <a:endParaRPr lang="en-US" sz="619" dirty="0"/>
          </a:p>
        </p:txBody>
      </p:sp>
      <p:sp>
        <p:nvSpPr>
          <p:cNvPr id="56" name="Text 54"/>
          <p:cNvSpPr/>
          <p:nvPr/>
        </p:nvSpPr>
        <p:spPr>
          <a:xfrm>
            <a:off x="8198668" y="764381"/>
            <a:ext cx="516707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LEADERS</a:t>
            </a:r>
            <a:endParaRPr lang="en-US" sz="619" dirty="0"/>
          </a:p>
        </p:txBody>
      </p:sp>
      <p:sp>
        <p:nvSpPr>
          <p:cNvPr id="57" name="Text 55"/>
          <p:cNvSpPr/>
          <p:nvPr/>
        </p:nvSpPr>
        <p:spPr>
          <a:xfrm>
            <a:off x="671513" y="4014788"/>
            <a:ext cx="601718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LAGGARDS</a:t>
            </a:r>
            <a:endParaRPr lang="en-US" sz="619" dirty="0"/>
          </a:p>
        </p:txBody>
      </p:sp>
      <p:sp>
        <p:nvSpPr>
          <p:cNvPr id="58" name="Text 56"/>
          <p:cNvSpPr/>
          <p:nvPr/>
        </p:nvSpPr>
        <p:spPr>
          <a:xfrm>
            <a:off x="7820978" y="4014788"/>
            <a:ext cx="894398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SIMPLE, LIMITED</a:t>
            </a:r>
            <a:endParaRPr lang="en-US" sz="619" dirty="0"/>
          </a:p>
        </p:txBody>
      </p:sp>
      <p:sp>
        <p:nvSpPr>
          <p:cNvPr id="59" name="Shape 57"/>
          <p:cNvSpPr/>
          <p:nvPr/>
        </p:nvSpPr>
        <p:spPr>
          <a:xfrm>
            <a:off x="2318147" y="807601"/>
            <a:ext cx="571500" cy="571500"/>
          </a:xfrm>
          <a:prstGeom prst="ellipse">
            <a:avLst/>
          </a:prstGeom>
          <a:solidFill>
            <a:srgbClr val="94A3B8">
              <a:alpha val="12000"/>
            </a:srgbClr>
          </a:solidFill>
          <a:ln w="14288" algn="in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23958" y="1043345"/>
            <a:ext cx="245602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SAP</a:t>
            </a:r>
            <a:endParaRPr lang="en-US" sz="619" dirty="0"/>
          </a:p>
        </p:txBody>
      </p:sp>
      <p:sp>
        <p:nvSpPr>
          <p:cNvPr id="61" name="Text 59"/>
          <p:cNvSpPr/>
          <p:nvPr/>
        </p:nvSpPr>
        <p:spPr>
          <a:xfrm>
            <a:off x="2333935" y="1407676"/>
            <a:ext cx="62565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Pro</a:t>
            </a:r>
            <a:endParaRPr lang="en-US" sz="619" dirty="0"/>
          </a:p>
        </p:txBody>
      </p:sp>
      <p:sp>
        <p:nvSpPr>
          <p:cNvPr id="62" name="Text 60"/>
          <p:cNvSpPr/>
          <p:nvPr/>
        </p:nvSpPr>
        <p:spPr>
          <a:xfrm>
            <a:off x="2456807" y="1507688"/>
            <a:ext cx="379976" cy="714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22% share</a:t>
            </a:r>
            <a:endParaRPr lang="en-US" sz="506" dirty="0"/>
          </a:p>
        </p:txBody>
      </p:sp>
      <p:sp>
        <p:nvSpPr>
          <p:cNvPr id="63" name="Shape 61"/>
          <p:cNvSpPr/>
          <p:nvPr/>
        </p:nvSpPr>
        <p:spPr>
          <a:xfrm>
            <a:off x="3208187" y="1972818"/>
            <a:ext cx="428625" cy="428625"/>
          </a:xfrm>
          <a:prstGeom prst="ellipse">
            <a:avLst/>
          </a:prstGeom>
          <a:solidFill>
            <a:srgbClr val="94A3B8">
              <a:alpha val="12000"/>
            </a:srgbClr>
          </a:solidFill>
          <a:ln w="14288" algn="in">
            <a:solidFill>
              <a:srgbClr val="CBD5E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15129" y="2137124"/>
            <a:ext cx="300466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ORCL</a:t>
            </a:r>
            <a:endParaRPr lang="en-US" sz="619" dirty="0"/>
          </a:p>
        </p:txBody>
      </p:sp>
      <p:sp>
        <p:nvSpPr>
          <p:cNvPr id="65" name="Text 63"/>
          <p:cNvSpPr/>
          <p:nvPr/>
        </p:nvSpPr>
        <p:spPr>
          <a:xfrm>
            <a:off x="3186398" y="2430018"/>
            <a:ext cx="557998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OracleCloud</a:t>
            </a:r>
            <a:endParaRPr lang="en-US" sz="619" dirty="0"/>
          </a:p>
        </p:txBody>
      </p:sp>
      <p:sp>
        <p:nvSpPr>
          <p:cNvPr id="66" name="Text 64"/>
          <p:cNvSpPr/>
          <p:nvPr/>
        </p:nvSpPr>
        <p:spPr>
          <a:xfrm>
            <a:off x="3275409" y="2530031"/>
            <a:ext cx="379976" cy="714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14% share</a:t>
            </a:r>
            <a:endParaRPr lang="en-US" sz="506" dirty="0"/>
          </a:p>
        </p:txBody>
      </p:sp>
      <p:sp>
        <p:nvSpPr>
          <p:cNvPr id="67" name="Shape 65"/>
          <p:cNvSpPr/>
          <p:nvPr/>
        </p:nvSpPr>
        <p:spPr>
          <a:xfrm>
            <a:off x="5454396" y="2432090"/>
            <a:ext cx="357188" cy="357188"/>
          </a:xfrm>
          <a:prstGeom prst="ellipse">
            <a:avLst/>
          </a:prstGeom>
          <a:solidFill>
            <a:srgbClr val="94A3B8">
              <a:alpha val="12000"/>
            </a:srgbClr>
          </a:solidFill>
          <a:ln w="14288" algn="in">
            <a:solidFill>
              <a:srgbClr val="CBD5E1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551837" y="2560677"/>
            <a:ext cx="247888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HBS</a:t>
            </a:r>
            <a:endParaRPr lang="en-US" sz="619" dirty="0"/>
          </a:p>
        </p:txBody>
      </p:sp>
      <p:sp>
        <p:nvSpPr>
          <p:cNvPr id="69" name="Text 67"/>
          <p:cNvSpPr/>
          <p:nvPr/>
        </p:nvSpPr>
        <p:spPr>
          <a:xfrm>
            <a:off x="5461754" y="2817852"/>
            <a:ext cx="428054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HubBase</a:t>
            </a:r>
            <a:endParaRPr lang="en-US" sz="619" dirty="0"/>
          </a:p>
        </p:txBody>
      </p:sp>
      <p:sp>
        <p:nvSpPr>
          <p:cNvPr id="70" name="Text 68"/>
          <p:cNvSpPr/>
          <p:nvPr/>
        </p:nvSpPr>
        <p:spPr>
          <a:xfrm>
            <a:off x="5503902" y="2917865"/>
            <a:ext cx="343829" cy="714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8% share</a:t>
            </a:r>
            <a:endParaRPr lang="en-US" sz="506" dirty="0"/>
          </a:p>
        </p:txBody>
      </p:sp>
      <p:sp>
        <p:nvSpPr>
          <p:cNvPr id="71" name="Shape 69"/>
          <p:cNvSpPr/>
          <p:nvPr/>
        </p:nvSpPr>
        <p:spPr>
          <a:xfrm>
            <a:off x="6785705" y="2038683"/>
            <a:ext cx="314325" cy="314325"/>
          </a:xfrm>
          <a:prstGeom prst="ellipse">
            <a:avLst/>
          </a:prstGeom>
          <a:solidFill>
            <a:srgbClr val="94A3B8">
              <a:alpha val="12000"/>
            </a:srgbClr>
          </a:solidFill>
          <a:ln w="14288" algn="in">
            <a:solidFill>
              <a:srgbClr val="CBD5E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858357" y="2145840"/>
            <a:ext cx="233958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ZND</a:t>
            </a:r>
            <a:endParaRPr lang="en-US" sz="619" dirty="0"/>
          </a:p>
        </p:txBody>
      </p:sp>
      <p:sp>
        <p:nvSpPr>
          <p:cNvPr id="73" name="Text 71"/>
          <p:cNvSpPr/>
          <p:nvPr/>
        </p:nvSpPr>
        <p:spPr>
          <a:xfrm>
            <a:off x="6778204" y="2381583"/>
            <a:ext cx="414980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Zendesk</a:t>
            </a:r>
            <a:endParaRPr lang="en-US" sz="619" dirty="0"/>
          </a:p>
        </p:txBody>
      </p:sp>
      <p:sp>
        <p:nvSpPr>
          <p:cNvPr id="74" name="Text 72"/>
          <p:cNvSpPr/>
          <p:nvPr/>
        </p:nvSpPr>
        <p:spPr>
          <a:xfrm>
            <a:off x="6813780" y="2481596"/>
            <a:ext cx="278535" cy="714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7% share</a:t>
            </a:r>
            <a:endParaRPr lang="en-US" sz="506" dirty="0"/>
          </a:p>
        </p:txBody>
      </p:sp>
      <p:sp>
        <p:nvSpPr>
          <p:cNvPr id="75" name="Shape 73"/>
          <p:cNvSpPr/>
          <p:nvPr/>
        </p:nvSpPr>
        <p:spPr>
          <a:xfrm>
            <a:off x="4112585" y="3180898"/>
            <a:ext cx="257175" cy="257175"/>
          </a:xfrm>
          <a:prstGeom prst="ellipse">
            <a:avLst/>
          </a:prstGeom>
          <a:solidFill>
            <a:srgbClr val="94A3B8">
              <a:alpha val="12000"/>
            </a:srgbClr>
          </a:solidFill>
          <a:ln w="14288" algn="in">
            <a:solidFill>
              <a:srgbClr val="CBD5E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162877" y="3259479"/>
            <a:ext cx="242245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FRH</a:t>
            </a:r>
            <a:endParaRPr lang="en-US" sz="619" dirty="0"/>
          </a:p>
        </p:txBody>
      </p:sp>
      <p:sp>
        <p:nvSpPr>
          <p:cNvPr id="77" name="Text 75"/>
          <p:cNvSpPr/>
          <p:nvPr/>
        </p:nvSpPr>
        <p:spPr>
          <a:xfrm>
            <a:off x="4101584" y="3466648"/>
            <a:ext cx="36490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Freshly</a:t>
            </a:r>
            <a:endParaRPr lang="en-US" sz="619" dirty="0"/>
          </a:p>
        </p:txBody>
      </p:sp>
      <p:sp>
        <p:nvSpPr>
          <p:cNvPr id="78" name="Text 76"/>
          <p:cNvSpPr/>
          <p:nvPr/>
        </p:nvSpPr>
        <p:spPr>
          <a:xfrm>
            <a:off x="4112157" y="3566660"/>
            <a:ext cx="343829" cy="714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4% share</a:t>
            </a:r>
            <a:endParaRPr lang="en-US" sz="506" dirty="0"/>
          </a:p>
        </p:txBody>
      </p:sp>
      <p:sp>
        <p:nvSpPr>
          <p:cNvPr id="79" name="Shape 77"/>
          <p:cNvSpPr/>
          <p:nvPr/>
        </p:nvSpPr>
        <p:spPr>
          <a:xfrm>
            <a:off x="6397228" y="639151"/>
            <a:ext cx="600075" cy="600075"/>
          </a:xfrm>
          <a:prstGeom prst="ellipse">
            <a:avLst/>
          </a:prstGeom>
          <a:solidFill>
            <a:srgbClr val="6366F1">
              <a:alpha val="10000"/>
            </a:srgbClr>
          </a:solidFill>
          <a:ln>
            <a:noFill/>
          </a:ln>
        </p:spPr>
      </p:sp>
      <p:sp>
        <p:nvSpPr>
          <p:cNvPr id="80" name="Shape 78"/>
          <p:cNvSpPr/>
          <p:nvPr/>
        </p:nvSpPr>
        <p:spPr>
          <a:xfrm>
            <a:off x="6440091" y="682014"/>
            <a:ext cx="514350" cy="514350"/>
          </a:xfrm>
          <a:prstGeom prst="ellipse">
            <a:avLst/>
          </a:prstGeom>
          <a:solidFill>
            <a:srgbClr val="6366F1">
              <a:alpha val="15000"/>
            </a:srgbClr>
          </a:solidFill>
          <a:ln w="21431" algn="in">
            <a:solidFill>
              <a:srgbClr val="6366F1"/>
            </a:solidFill>
            <a:prstDash val="solid"/>
          </a:ln>
          <a:effectLst>
            <a:outerShdw sx="100000" sy="100000" kx="0" ky="0" algn="bl" rotWithShape="0" blurRad="142875" dist="50800" dir="5400000">
              <a:srgbClr val="6366F1">
                <a:alpha val="20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6632829" y="882039"/>
            <a:ext cx="214527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</a:t>
            </a:r>
            <a:endParaRPr lang="en-US" sz="731" dirty="0"/>
          </a:p>
        </p:txBody>
      </p:sp>
      <p:sp>
        <p:nvSpPr>
          <p:cNvPr id="82" name="Text 80"/>
          <p:cNvSpPr/>
          <p:nvPr/>
        </p:nvSpPr>
        <p:spPr>
          <a:xfrm>
            <a:off x="6465880" y="1217795"/>
            <a:ext cx="548497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Product</a:t>
            </a:r>
            <a:endParaRPr lang="en-US" sz="619" dirty="0"/>
          </a:p>
        </p:txBody>
      </p:sp>
      <p:sp>
        <p:nvSpPr>
          <p:cNvPr id="83" name="Text 81"/>
          <p:cNvSpPr/>
          <p:nvPr/>
        </p:nvSpPr>
        <p:spPr>
          <a:xfrm>
            <a:off x="6550176" y="1317808"/>
            <a:ext cx="379976" cy="714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dirty="0">
                <a:solidFill>
                  <a:srgbClr val="94A3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18% share</a:t>
            </a:r>
            <a:endParaRPr lang="en-US" sz="506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57313" y="1135856"/>
            <a:ext cx="6429375" cy="2871788"/>
          </a:xfrm>
          <a:prstGeom prst="roundRect">
            <a:avLst>
              <a:gd name="adj" fmla="val 3980"/>
            </a:avLst>
          </a:prstGeom>
          <a:solidFill>
            <a:srgbClr val="FFFFFF"/>
          </a:solidFill>
          <a:ln w="14288" algn="in">
            <a:solidFill>
              <a:srgbClr val="D1D9E6"/>
            </a:solidFill>
            <a:prstDash val="solid"/>
          </a:ln>
          <a:effectLst>
            <a:outerShdw sx="100000" sy="100000" kx="0" ky="0" algn="bl" rotWithShape="0" blurRad="228600" dist="57150" dir="5400000">
              <a:srgbClr val="000000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600200" y="1378744"/>
            <a:ext cx="6029325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Nested Rounded Corners Test</a:t>
            </a:r>
            <a:endParaRPr lang="en-US" sz="1238" dirty="0"/>
          </a:p>
        </p:txBody>
      </p:sp>
      <p:sp>
        <p:nvSpPr>
          <p:cNvPr id="4" name="Shape 2"/>
          <p:cNvSpPr/>
          <p:nvPr/>
        </p:nvSpPr>
        <p:spPr>
          <a:xfrm>
            <a:off x="1600200" y="1707356"/>
            <a:ext cx="5943600" cy="1678781"/>
          </a:xfrm>
          <a:prstGeom prst="roundRect">
            <a:avLst>
              <a:gd name="adj" fmla="val 5106"/>
            </a:avLst>
          </a:prstGeom>
          <a:solidFill>
            <a:srgbClr val="F7FAFC"/>
          </a:solidFill>
          <a:ln w="7144" algn="in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07344" y="1714500"/>
            <a:ext cx="5929313" cy="371475"/>
          </a:xfrm>
          <a:prstGeom prst="round2SameRect">
            <a:avLst>
              <a:gd name="adj" fmla="val 23077"/>
            </a:avLst>
          </a:prstGeom>
          <a:solidFill>
            <a:srgbClr val="4A6CF7"/>
          </a:solidFill>
          <a:ln>
            <a:noFill/>
          </a:ln>
        </p:spPr>
      </p:sp>
      <p:sp>
        <p:nvSpPr>
          <p:cNvPr id="6" name="Text 4"/>
          <p:cNvSpPr/>
          <p:nvPr/>
        </p:nvSpPr>
        <p:spPr>
          <a:xfrm>
            <a:off x="1778794" y="1714500"/>
            <a:ext cx="6700838" cy="3714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Alpha — Status Dashboard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778794" y="2257425"/>
            <a:ext cx="4929188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844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inner card is nested inside the outer card, each with its own border-radius. The header section clips to the inner card's top corners. The badge on the right is a perfect circle (border-radius: 50%).</a:t>
            </a:r>
            <a:endParaRPr lang="en-US" sz="844" dirty="0"/>
          </a:p>
        </p:txBody>
      </p:sp>
      <p:sp>
        <p:nvSpPr>
          <p:cNvPr id="8" name="GRAD_38"/>
          <p:cNvSpPr/>
          <p:nvPr/>
        </p:nvSpPr>
        <p:spPr>
          <a:xfrm>
            <a:off x="6850856" y="2257425"/>
            <a:ext cx="514350" cy="514350"/>
          </a:xfrm>
          <a:prstGeom prst="ellipse">
            <a:avLst/>
          </a:prstGeom>
          <a:gradFill rotWithShape="1">
            <a:gsLst>
              <a:gs pos="0">
                <a:srgbClr val="FF6B6B"/>
              </a:gs>
              <a:gs pos="100000">
                <a:srgbClr val="EE5A24"/>
              </a:gs>
            </a:gsLst>
            <a:lin ang="2700000" scaled="0"/>
          </a:gradFill>
          <a:ln w="21431" algn="in">
            <a:solidFill>
              <a:srgbClr val="FFFFFF"/>
            </a:solidFill>
            <a:prstDash val="solid"/>
          </a:ln>
          <a:effectLst>
            <a:outerShdw sx="100000" sy="100000" kx="0" ky="0" algn="bl" rotWithShape="0" blurRad="85725" dist="28575" dir="5400000">
              <a:srgbClr val="EE5A24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0856" y="2257425"/>
            <a:ext cx="514350" cy="5143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A+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778794" y="3057525"/>
            <a:ext cx="473916" cy="178594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 w="7144" algn="in">
            <a:solidFill>
              <a:srgbClr val="D1D9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5931" y="3057525"/>
            <a:ext cx="559641" cy="1785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4A6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</a:t>
            </a:r>
            <a:endParaRPr lang="en-US" sz="675" dirty="0"/>
          </a:p>
        </p:txBody>
      </p:sp>
      <p:sp>
        <p:nvSpPr>
          <p:cNvPr id="12" name="Shape 10"/>
          <p:cNvSpPr/>
          <p:nvPr/>
        </p:nvSpPr>
        <p:spPr>
          <a:xfrm>
            <a:off x="2309860" y="3057525"/>
            <a:ext cx="557070" cy="178594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 w="7144" algn="in">
            <a:solidFill>
              <a:srgbClr val="D1D9E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66998" y="3057525"/>
            <a:ext cx="642795" cy="1785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4A6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675" dirty="0"/>
          </a:p>
        </p:txBody>
      </p:sp>
      <p:sp>
        <p:nvSpPr>
          <p:cNvPr id="14" name="Shape 12"/>
          <p:cNvSpPr/>
          <p:nvPr/>
        </p:nvSpPr>
        <p:spPr>
          <a:xfrm>
            <a:off x="2924151" y="3057525"/>
            <a:ext cx="627293" cy="178594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 w="7144" algn="in">
            <a:solidFill>
              <a:srgbClr val="D1D9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1289" y="3057525"/>
            <a:ext cx="713018" cy="1785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4A6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Case</a:t>
            </a:r>
            <a:endParaRPr lang="en-US" sz="675" dirty="0"/>
          </a:p>
        </p:txBody>
      </p:sp>
      <p:sp>
        <p:nvSpPr>
          <p:cNvPr id="16" name="Shape 14"/>
          <p:cNvSpPr/>
          <p:nvPr/>
        </p:nvSpPr>
        <p:spPr>
          <a:xfrm>
            <a:off x="3608594" y="3057525"/>
            <a:ext cx="482346" cy="178594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 w="7144" algn="in">
            <a:solidFill>
              <a:srgbClr val="D1D9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5731" y="3057525"/>
            <a:ext cx="568071" cy="1785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4A6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Nested</a:t>
            </a:r>
            <a:endParaRPr lang="en-US" sz="675" dirty="0"/>
          </a:p>
        </p:txBody>
      </p:sp>
      <p:sp>
        <p:nvSpPr>
          <p:cNvPr id="18" name="Text 16"/>
          <p:cNvSpPr/>
          <p:nvPr/>
        </p:nvSpPr>
        <p:spPr>
          <a:xfrm>
            <a:off x="1600200" y="3589734"/>
            <a:ext cx="1233297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updated: 2 hours ago</a:t>
            </a:r>
            <a:endParaRPr lang="en-US" sz="731" dirty="0"/>
          </a:p>
        </p:txBody>
      </p:sp>
      <p:sp>
        <p:nvSpPr>
          <p:cNvPr id="19" name="Shape 17"/>
          <p:cNvSpPr/>
          <p:nvPr/>
        </p:nvSpPr>
        <p:spPr>
          <a:xfrm>
            <a:off x="6660404" y="3529013"/>
            <a:ext cx="883396" cy="235744"/>
          </a:xfrm>
          <a:prstGeom prst="roundRect">
            <a:avLst>
              <a:gd name="adj" fmla="val 24242"/>
            </a:avLst>
          </a:prstGeom>
          <a:solidFill>
            <a:srgbClr val="4A6CF7"/>
          </a:solidFill>
          <a:ln>
            <a:noFill/>
          </a:ln>
        </p:spPr>
      </p:sp>
      <p:sp>
        <p:nvSpPr>
          <p:cNvPr id="20" name="Text 18"/>
          <p:cNvSpPr/>
          <p:nvPr/>
        </p:nvSpPr>
        <p:spPr>
          <a:xfrm>
            <a:off x="6481810" y="3529013"/>
            <a:ext cx="1240584" cy="2357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Details</a:t>
            </a:r>
            <a:endParaRPr lang="en-US" sz="788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71638" y="4357688"/>
            <a:ext cx="5800725" cy="15001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13" b="1" dirty="0">
                <a:solidFill>
                  <a:srgbClr val="E6E6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Overlapping Elements — Z-Index Stress Test</a:t>
            </a:r>
            <a:endParaRPr lang="en-US" sz="1013" dirty="0"/>
          </a:p>
        </p:txBody>
      </p:sp>
      <p:sp>
        <p:nvSpPr>
          <p:cNvPr id="3" name="Text 1"/>
          <p:cNvSpPr/>
          <p:nvPr/>
        </p:nvSpPr>
        <p:spPr>
          <a:xfrm>
            <a:off x="1671638" y="4550569"/>
            <a:ext cx="580072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fanned cards with a circular badge crossing card boundaries</a:t>
            </a:r>
            <a:endParaRPr lang="en-US" sz="731" dirty="0"/>
          </a:p>
        </p:txBody>
      </p:sp>
      <p:sp>
        <p:nvSpPr>
          <p:cNvPr id="4" name="Shape 2"/>
          <p:cNvSpPr/>
          <p:nvPr/>
        </p:nvSpPr>
        <p:spPr>
          <a:xfrm>
            <a:off x="1714500" y="785813"/>
            <a:ext cx="3571875" cy="22860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14288" algn="in">
            <a:solidFill>
              <a:srgbClr val="0F3460"/>
            </a:solidFill>
            <a:prstDash val="solid"/>
          </a:ln>
          <a:effectLst>
            <a:outerShdw sx="100000" sy="100000" kx="0" ky="0" algn="bl" rotWithShape="0" blurRad="285750" dist="85725" dir="5400000">
              <a:srgbClr val="000000">
                <a:alpha val="4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928813" y="1000125"/>
            <a:ext cx="3143250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64FF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Background Layer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1928813" y="1257300"/>
            <a:ext cx="3143250" cy="47984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788" dirty="0">
                <a:solidFill>
                  <a:srgbClr val="A8B2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card sits at the back (z-index: 1). It's partially obscured by the cards above. The overlapping region tests how the converter handles stacked elements with transparency and borders.</a:t>
            </a:r>
            <a:endParaRPr lang="en-US" sz="788" dirty="0"/>
          </a:p>
        </p:txBody>
      </p:sp>
      <p:sp>
        <p:nvSpPr>
          <p:cNvPr id="7" name="Shape 5"/>
          <p:cNvSpPr/>
          <p:nvPr/>
        </p:nvSpPr>
        <p:spPr>
          <a:xfrm>
            <a:off x="2714625" y="1214438"/>
            <a:ext cx="3571875" cy="2286000"/>
          </a:xfrm>
          <a:prstGeom prst="roundRect">
            <a:avLst>
              <a:gd name="adj" fmla="val 5000"/>
            </a:avLst>
          </a:prstGeom>
          <a:solidFill>
            <a:srgbClr val="0F3460"/>
          </a:solidFill>
          <a:ln w="14288" algn="in">
            <a:solidFill>
              <a:srgbClr val="533483"/>
            </a:solidFill>
            <a:prstDash val="solid"/>
          </a:ln>
          <a:effectLst>
            <a:outerShdw sx="100000" sy="100000" kx="0" ky="0" algn="bl" rotWithShape="0" blurRad="285750" dist="85725" dir="5400000">
              <a:srgbClr val="000000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28938" y="1428750"/>
            <a:ext cx="3228975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D7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Middle Layer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2928938" y="1685925"/>
            <a:ext cx="3143250" cy="47984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788" dirty="0">
                <a:solidFill>
                  <a:srgbClr val="CCD6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Overlapping card #1 by about 30%. This layer has its own distinct background, rounded corners, and shadow. Text should remain readable where visible.</a:t>
            </a:r>
            <a:endParaRPr lang="en-US" sz="788" dirty="0"/>
          </a:p>
        </p:txBody>
      </p:sp>
      <p:sp>
        <p:nvSpPr>
          <p:cNvPr id="10" name="Shape 8"/>
          <p:cNvSpPr/>
          <p:nvPr/>
        </p:nvSpPr>
        <p:spPr>
          <a:xfrm>
            <a:off x="3714750" y="1643063"/>
            <a:ext cx="3571875" cy="2286000"/>
          </a:xfrm>
          <a:prstGeom prst="roundRect">
            <a:avLst>
              <a:gd name="adj" fmla="val 5000"/>
            </a:avLst>
          </a:prstGeom>
          <a:solidFill>
            <a:srgbClr val="533483"/>
          </a:solidFill>
          <a:ln w="14288" algn="in">
            <a:solidFill>
              <a:srgbClr val="E94560"/>
            </a:solidFill>
            <a:prstDash val="solid"/>
          </a:ln>
          <a:effectLst>
            <a:outerShdw sx="100000" sy="100000" kx="0" ky="0" algn="bl" rotWithShape="0" blurRad="285750" dist="85725" dir="540000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29063" y="1857375"/>
            <a:ext cx="3228975" cy="17145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FF6B9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 Layer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3929063" y="2114550"/>
            <a:ext cx="3143250" cy="47984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788" dirty="0">
                <a:solidFill>
                  <a:srgbClr val="E6E6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topmost card (z-index: 3). Notice how shadows from different layers interact. Each card maintains its own visual identity despite overlapping.</a:t>
            </a:r>
            <a:endParaRPr lang="en-US" sz="788" dirty="0"/>
          </a:p>
        </p:txBody>
      </p:sp>
      <p:sp>
        <p:nvSpPr>
          <p:cNvPr id="13" name="Shape 11"/>
          <p:cNvSpPr/>
          <p:nvPr/>
        </p:nvSpPr>
        <p:spPr>
          <a:xfrm>
            <a:off x="5086350" y="1071563"/>
            <a:ext cx="457200" cy="457200"/>
          </a:xfrm>
          <a:prstGeom prst="ellipse">
            <a:avLst/>
          </a:prstGeom>
          <a:solidFill>
            <a:srgbClr val="E94560"/>
          </a:solidFill>
          <a:ln w="28575" algn="in">
            <a:solidFill>
              <a:srgbClr val="1A1A2E"/>
            </a:solidFill>
            <a:prstDash val="solid"/>
          </a:ln>
          <a:effectLst>
            <a:outerShdw sx="100000" sy="100000" kx="0" ky="0" algn="bl" rotWithShape="0" blurRad="114300" dist="28575" dir="5400000">
              <a:srgbClr val="E94560">
                <a:alpha val="5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86350" y="1071563"/>
            <a:ext cx="457200" cy="457200"/>
          </a:xfrm>
          <a:prstGeom prst="rect">
            <a:avLst/>
          </a:prstGeom>
          <a:ln>
            <a:noFill/>
          </a:ln>
        </p:spPr>
        <p:txBody>
          <a:bodyPr wrap="square" lIns="0" tIns="37719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38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8315325" cy="2428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 Borders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457200" y="642938"/>
            <a:ext cx="8315325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border variations testing converter edge cases</a:t>
            </a:r>
            <a:endParaRPr lang="en-US" sz="788" dirty="0"/>
          </a:p>
        </p:txBody>
      </p:sp>
      <p:sp>
        <p:nvSpPr>
          <p:cNvPr id="4" name="Shape 2"/>
          <p:cNvSpPr/>
          <p:nvPr/>
        </p:nvSpPr>
        <p:spPr>
          <a:xfrm>
            <a:off x="457200" y="992981"/>
            <a:ext cx="2628900" cy="1285875"/>
          </a:xfrm>
          <a:prstGeom prst="rect">
            <a:avLst/>
          </a:prstGeom>
          <a:solidFill>
            <a:srgbClr val="FFFFFF"/>
          </a:solidFill>
          <a:ln w="28575" algn="in">
            <a:solidFill>
              <a:srgbClr val="4A6CF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8650" y="1164431"/>
            <a:ext cx="2371725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Thick All Sides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628650" y="1850231"/>
            <a:ext cx="2286000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4px solid blue border on all four sides. Uniform width and color — the simplest multi-side case.</a:t>
            </a:r>
            <a:endParaRPr lang="en-US" sz="675" dirty="0"/>
          </a:p>
        </p:txBody>
      </p:sp>
      <p:sp>
        <p:nvSpPr>
          <p:cNvPr id="7" name="Shape 5"/>
          <p:cNvSpPr/>
          <p:nvPr/>
        </p:nvSpPr>
        <p:spPr>
          <a:xfrm>
            <a:off x="3257550" y="992981"/>
            <a:ext cx="2628900" cy="1285875"/>
          </a:xfrm>
          <a:prstGeom prst="rect">
            <a:avLst/>
          </a:prstGeom>
          <a:solidFill>
            <a:srgbClr val="FFF5F5"/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3257550" y="992981"/>
            <a:ext cx="42863" cy="1285875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3443288" y="1135856"/>
            <a:ext cx="2386013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Left Accent Only</a:t>
            </a:r>
            <a:endParaRPr lang="en-US" sz="844" dirty="0"/>
          </a:p>
        </p:txBody>
      </p:sp>
      <p:sp>
        <p:nvSpPr>
          <p:cNvPr id="10" name="Text 8"/>
          <p:cNvSpPr/>
          <p:nvPr/>
        </p:nvSpPr>
        <p:spPr>
          <a:xfrm>
            <a:off x="3443288" y="1878806"/>
            <a:ext cx="2300288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6px solid red on left only. Common "accent border" pattern. No border on other three sides.</a:t>
            </a:r>
            <a:endParaRPr lang="en-US" sz="675" dirty="0"/>
          </a:p>
        </p:txBody>
      </p:sp>
      <p:sp>
        <p:nvSpPr>
          <p:cNvPr id="11" name="Shape 9"/>
          <p:cNvSpPr/>
          <p:nvPr/>
        </p:nvSpPr>
        <p:spPr>
          <a:xfrm>
            <a:off x="6057900" y="992981"/>
            <a:ext cx="2628900" cy="1285875"/>
          </a:xfrm>
          <a:prstGeom prst="rect">
            <a:avLst/>
          </a:prstGeom>
          <a:solidFill>
            <a:srgbClr val="FFFFFF"/>
          </a:solidFill>
          <a:ln w="21431" algn="in">
            <a:solidFill>
              <a:srgbClr val="38B2AC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222206" y="1157288"/>
            <a:ext cx="2386013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Dashed Border</a:t>
            </a:r>
            <a:endParaRPr lang="en-US" sz="844" dirty="0"/>
          </a:p>
        </p:txBody>
      </p:sp>
      <p:sp>
        <p:nvSpPr>
          <p:cNvPr id="13" name="Text 11"/>
          <p:cNvSpPr/>
          <p:nvPr/>
        </p:nvSpPr>
        <p:spPr>
          <a:xfrm>
            <a:off x="6222206" y="1857375"/>
            <a:ext cx="2300288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3px dashed teal border. Tests non-solid border-style rendering. Many converters drop dash patterns.</a:t>
            </a:r>
            <a:endParaRPr lang="en-US" sz="675" dirty="0"/>
          </a:p>
        </p:txBody>
      </p:sp>
      <p:sp>
        <p:nvSpPr>
          <p:cNvPr id="14" name="Shape 12"/>
          <p:cNvSpPr/>
          <p:nvPr/>
        </p:nvSpPr>
        <p:spPr>
          <a:xfrm>
            <a:off x="457200" y="2450306"/>
            <a:ext cx="2628900" cy="1285875"/>
          </a:xfrm>
          <a:prstGeom prst="rect">
            <a:avLst/>
          </a:prstGeom>
          <a:solidFill>
            <a:srgbClr val="FFFFFF"/>
          </a:solidFill>
          <a:ln w="42863" algn="in">
            <a:solidFill>
              <a:srgbClr val="D69E2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938" y="2636044"/>
            <a:ext cx="2343150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Double Border</a:t>
            </a:r>
            <a:endParaRPr lang="en-US" sz="844" dirty="0"/>
          </a:p>
        </p:txBody>
      </p:sp>
      <p:sp>
        <p:nvSpPr>
          <p:cNvPr id="16" name="Text 14"/>
          <p:cNvSpPr/>
          <p:nvPr/>
        </p:nvSpPr>
        <p:spPr>
          <a:xfrm>
            <a:off x="642938" y="3293269"/>
            <a:ext cx="225742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6px double gold border. The "double" style draws two parallel lines. Rarely supported in slide formats.</a:t>
            </a:r>
            <a:endParaRPr lang="en-US" sz="675" dirty="0"/>
          </a:p>
        </p:txBody>
      </p:sp>
      <p:sp>
        <p:nvSpPr>
          <p:cNvPr id="17" name="Shape 15"/>
          <p:cNvSpPr/>
          <p:nvPr/>
        </p:nvSpPr>
        <p:spPr>
          <a:xfrm>
            <a:off x="3257550" y="2450306"/>
            <a:ext cx="2628900" cy="128587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8" name="Shape 16"/>
          <p:cNvSpPr/>
          <p:nvPr/>
        </p:nvSpPr>
        <p:spPr>
          <a:xfrm>
            <a:off x="3257550" y="2450306"/>
            <a:ext cx="2628900" cy="28575"/>
          </a:xfrm>
          <a:prstGeom prst="rect">
            <a:avLst/>
          </a:prstGeom>
          <a:solidFill>
            <a:srgbClr val="E53E3E"/>
          </a:solidFill>
          <a:ln>
            <a:noFill/>
          </a:ln>
        </p:spPr>
      </p:sp>
      <p:sp>
        <p:nvSpPr>
          <p:cNvPr id="19" name="Shape 17"/>
          <p:cNvSpPr/>
          <p:nvPr/>
        </p:nvSpPr>
        <p:spPr>
          <a:xfrm>
            <a:off x="3257550" y="3707606"/>
            <a:ext cx="2628900" cy="28575"/>
          </a:xfrm>
          <a:prstGeom prst="rect">
            <a:avLst/>
          </a:prstGeom>
          <a:solidFill>
            <a:srgbClr val="3182CE"/>
          </a:solidFill>
          <a:ln>
            <a:noFill/>
          </a:ln>
        </p:spPr>
      </p:sp>
      <p:sp>
        <p:nvSpPr>
          <p:cNvPr id="20" name="Shape 18"/>
          <p:cNvSpPr/>
          <p:nvPr/>
        </p:nvSpPr>
        <p:spPr>
          <a:xfrm>
            <a:off x="3257550" y="2450306"/>
            <a:ext cx="28575" cy="1285875"/>
          </a:xfrm>
          <a:prstGeom prst="rect">
            <a:avLst/>
          </a:prstGeom>
          <a:solidFill>
            <a:srgbClr val="D69E2E"/>
          </a:solidFill>
          <a:ln>
            <a:noFill/>
          </a:ln>
        </p:spPr>
      </p:sp>
      <p:sp>
        <p:nvSpPr>
          <p:cNvPr id="21" name="Shape 19"/>
          <p:cNvSpPr/>
          <p:nvPr/>
        </p:nvSpPr>
        <p:spPr>
          <a:xfrm>
            <a:off x="5857875" y="2450306"/>
            <a:ext cx="28575" cy="1285875"/>
          </a:xfrm>
          <a:prstGeom prst="rect">
            <a:avLst/>
          </a:prstGeom>
          <a:solidFill>
            <a:srgbClr val="38A169"/>
          </a:solidFill>
          <a:ln>
            <a:noFill/>
          </a:ln>
        </p:spPr>
      </p:sp>
      <p:sp>
        <p:nvSpPr>
          <p:cNvPr id="22" name="Text 20"/>
          <p:cNvSpPr/>
          <p:nvPr/>
        </p:nvSpPr>
        <p:spPr>
          <a:xfrm>
            <a:off x="3429000" y="2621756"/>
            <a:ext cx="2371725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Different Colors Per Side</a:t>
            </a:r>
            <a:endParaRPr lang="en-US" sz="844" dirty="0"/>
          </a:p>
        </p:txBody>
      </p:sp>
      <p:sp>
        <p:nvSpPr>
          <p:cNvPr id="23" name="Text 21"/>
          <p:cNvSpPr/>
          <p:nvPr/>
        </p:nvSpPr>
        <p:spPr>
          <a:xfrm>
            <a:off x="3429000" y="3307556"/>
            <a:ext cx="2286000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side is a different color: red top, green right, blue bottom, gold left. Tests per-side color extraction.</a:t>
            </a:r>
            <a:endParaRPr lang="en-US" sz="675" dirty="0"/>
          </a:p>
        </p:txBody>
      </p:sp>
      <p:sp>
        <p:nvSpPr>
          <p:cNvPr id="24" name="Shape 22"/>
          <p:cNvSpPr/>
          <p:nvPr/>
        </p:nvSpPr>
        <p:spPr>
          <a:xfrm>
            <a:off x="6057900" y="2450306"/>
            <a:ext cx="2628900" cy="1285875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21431" algn="in">
            <a:solidFill>
              <a:srgbClr val="805AD5"/>
            </a:solidFill>
            <a:prstDash val="solid"/>
          </a:ln>
          <a:effectLst>
            <a:outerShdw sx="100000" sy="100000" kx="0" ky="0" algn="bl" rotWithShape="0" blurRad="171450" dist="57150" dir="5400000">
              <a:srgbClr val="805AD5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222206" y="2614613"/>
            <a:ext cx="2386013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 Border + Radius + Shadow</a:t>
            </a:r>
            <a:endParaRPr lang="en-US" sz="844" dirty="0"/>
          </a:p>
        </p:txBody>
      </p:sp>
      <p:sp>
        <p:nvSpPr>
          <p:cNvPr id="26" name="Text 24"/>
          <p:cNvSpPr/>
          <p:nvPr/>
        </p:nvSpPr>
        <p:spPr>
          <a:xfrm>
            <a:off x="6222206" y="3314700"/>
            <a:ext cx="2300288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Purple border combined with border-radius: 16px and a box-shadow. Tests all three properties together.</a:t>
            </a:r>
            <a:endParaRPr lang="en-US" sz="67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621631"/>
            <a:ext cx="6710196" cy="1900238"/>
          </a:xfrm>
          <a:prstGeom prst="roundRect">
            <a:avLst>
              <a:gd name="adj" fmla="val 4511"/>
            </a:avLst>
          </a:prstGeom>
          <a:solidFill>
            <a:srgbClr val="161B22"/>
          </a:solidFill>
          <a:ln w="7144" algn="in">
            <a:solidFill>
              <a:srgbClr val="3036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1444" y="1743075"/>
            <a:ext cx="6467308" cy="1657350"/>
          </a:xfrm>
          <a:prstGeom prst="roundRect">
            <a:avLst>
              <a:gd name="adj" fmla="val 4310"/>
            </a:avLst>
          </a:prstGeom>
          <a:solidFill>
            <a:srgbClr val="1C2333"/>
          </a:solidFill>
          <a:ln w="7144" algn="in">
            <a:solidFill>
              <a:srgbClr val="3B44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2888" y="1864519"/>
            <a:ext cx="6224421" cy="1414463"/>
          </a:xfrm>
          <a:prstGeom prst="roundRect">
            <a:avLst>
              <a:gd name="adj" fmla="val 4040"/>
            </a:avLst>
          </a:prstGeom>
          <a:solidFill>
            <a:srgbClr val="243044"/>
          </a:solidFill>
          <a:ln w="7144" algn="in">
            <a:solidFill>
              <a:srgbClr val="4A60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4331" y="1985963"/>
            <a:ext cx="5981533" cy="1171575"/>
          </a:xfrm>
          <a:prstGeom prst="roundRect">
            <a:avLst>
              <a:gd name="adj" fmla="val 3659"/>
            </a:avLst>
          </a:prstGeom>
          <a:solidFill>
            <a:srgbClr val="2A4060"/>
          </a:solidFill>
          <a:ln w="7144" algn="in">
            <a:solidFill>
              <a:srgbClr val="5A80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5775" y="2107406"/>
            <a:ext cx="5738646" cy="928688"/>
          </a:xfrm>
          <a:prstGeom prst="roundRect">
            <a:avLst>
              <a:gd name="adj" fmla="val 3077"/>
            </a:avLst>
          </a:prstGeom>
          <a:solidFill>
            <a:srgbClr val="305080"/>
          </a:solidFill>
          <a:ln w="7144" algn="in">
            <a:solidFill>
              <a:srgbClr val="6A9A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7219" y="2228850"/>
            <a:ext cx="5495758" cy="6858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844" u="none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text lives inside </a:t>
            </a:r>
            <a:pPr algn="l" indent="0" marL="0">
              <a:lnSpc>
                <a:spcPct val="133333"/>
              </a:lnSpc>
              <a:buNone/>
            </a:pPr>
            <a:r>
              <a:rPr lang="en-US" sz="844" b="1" u="none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levels</a:t>
            </a:r>
            <a:pPr algn="l" indent="0" marL="0">
              <a:lnSpc>
                <a:spcPct val="133333"/>
              </a:lnSpc>
              <a:buNone/>
            </a:pPr>
            <a:r>
              <a:rPr lang="en-US" sz="844" u="none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nested containers.</a:t>
            </a:r>
            <a:pPr algn="l" indent="0" marL="0">
              <a:lnSpc>
                <a:spcPct val="133333"/>
              </a:lnSpc>
              <a:buNone/>
            </a:pPr>
            <a:r>
              <a:rPr lang="en-US" sz="844" u="none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ct val="133333"/>
              </a:lnSpc>
              <a:buNone/>
            </a:pPr>
            <a:r>
              <a:rPr lang="en-US" sz="844" u="none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ct val="133333"/>
              </a:lnSpc>
              <a:buNone/>
            </a:pPr>
            <a:r>
              <a:rPr lang="en-US" sz="844" u="none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Each level adds </a:t>
            </a:r>
            <a:pPr algn="l" indent="0" marL="0">
              <a:lnSpc>
                <a:spcPct val="133333"/>
              </a:lnSpc>
              <a:buNone/>
            </a:pPr>
            <a:r>
              <a:rPr lang="en-US" sz="844" b="1" u="none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16px padding</a:t>
            </a:r>
            <a:pPr algn="l" indent="0" marL="0">
              <a:lnSpc>
                <a:spcPct val="133333"/>
              </a:lnSpc>
              <a:buNone/>
            </a:pPr>
            <a:r>
              <a:rPr lang="en-US" sz="844" u="none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a </a:t>
            </a:r>
            <a:pPr algn="l" indent="0" marL="0">
              <a:lnSpc>
                <a:spcPct val="133333"/>
              </a:lnSpc>
              <a:buNone/>
            </a:pPr>
            <a:r>
              <a:rPr lang="en-US" sz="844" b="1" u="none" dirty="0">
                <a:solidFill>
                  <a:srgbClr val="58A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1px border</a:t>
            </a:r>
            <a:pPr algn="l" indent="0" marL="0">
              <a:lnSpc>
                <a:spcPct val="133333"/>
              </a:lnSpc>
              <a:buNone/>
            </a:pPr>
            <a:r>
              <a:rPr lang="en-US" sz="844" u="none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accumulating to 80px of padding and 10px of borders from the outermost edge to this content.</a:t>
            </a:r>
            <a:endParaRPr lang="en-US" sz="844" dirty="0"/>
          </a:p>
        </p:txBody>
      </p:sp>
      <p:sp>
        <p:nvSpPr>
          <p:cNvPr id="8" name="Text 6"/>
          <p:cNvSpPr/>
          <p:nvPr/>
        </p:nvSpPr>
        <p:spPr>
          <a:xfrm>
            <a:off x="7167396" y="1671638"/>
            <a:ext cx="2062329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Padding Nesting</a:t>
            </a:r>
            <a:endParaRPr lang="en-US" sz="1238" dirty="0"/>
          </a:p>
        </p:txBody>
      </p:sp>
      <p:sp>
        <p:nvSpPr>
          <p:cNvPr id="9" name="Shape 7"/>
          <p:cNvSpPr/>
          <p:nvPr/>
        </p:nvSpPr>
        <p:spPr>
          <a:xfrm>
            <a:off x="7167396" y="2028825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161B22"/>
          </a:solidFill>
          <a:ln w="7144" algn="in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24571" y="2057400"/>
            <a:ext cx="1362099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u="none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 0</a:t>
            </a:r>
            <a:pPr algn="l" indent="0" marL="0">
              <a:lnSpc>
                <a:spcPct val="100000"/>
              </a:lnSpc>
              <a:buNone/>
            </a:pPr>
            <a:r>
              <a:rPr lang="en-US" sz="731" u="none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#161b22, pad 16px</a:t>
            </a:r>
            <a:endParaRPr lang="en-US" sz="731" dirty="0"/>
          </a:p>
        </p:txBody>
      </p:sp>
      <p:sp>
        <p:nvSpPr>
          <p:cNvPr id="11" name="Shape 9"/>
          <p:cNvSpPr/>
          <p:nvPr/>
        </p:nvSpPr>
        <p:spPr>
          <a:xfrm>
            <a:off x="7167396" y="2257425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1C2333"/>
          </a:solidFill>
          <a:ln w="7144" algn="in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24571" y="2286000"/>
            <a:ext cx="1354312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u="none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 1</a:t>
            </a:r>
            <a:pPr algn="l" indent="0" marL="0">
              <a:lnSpc>
                <a:spcPct val="100000"/>
              </a:lnSpc>
              <a:buNone/>
            </a:pPr>
            <a:r>
              <a:rPr lang="en-US" sz="731" u="none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#1c2333, pad 16px</a:t>
            </a:r>
            <a:endParaRPr lang="en-US" sz="731" dirty="0"/>
          </a:p>
        </p:txBody>
      </p:sp>
      <p:sp>
        <p:nvSpPr>
          <p:cNvPr id="13" name="Shape 11"/>
          <p:cNvSpPr/>
          <p:nvPr/>
        </p:nvSpPr>
        <p:spPr>
          <a:xfrm>
            <a:off x="7167396" y="2486025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243044"/>
          </a:solidFill>
          <a:ln w="7144" algn="in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24571" y="2514600"/>
            <a:ext cx="1403318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u="none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 2</a:t>
            </a:r>
            <a:pPr algn="l" indent="0" marL="0">
              <a:lnSpc>
                <a:spcPct val="100000"/>
              </a:lnSpc>
              <a:buNone/>
            </a:pPr>
            <a:r>
              <a:rPr lang="en-US" sz="731" u="none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#243044, pad 16px</a:t>
            </a:r>
            <a:endParaRPr lang="en-US" sz="731" dirty="0"/>
          </a:p>
        </p:txBody>
      </p:sp>
      <p:sp>
        <p:nvSpPr>
          <p:cNvPr id="15" name="Shape 13"/>
          <p:cNvSpPr/>
          <p:nvPr/>
        </p:nvSpPr>
        <p:spPr>
          <a:xfrm>
            <a:off x="7167396" y="2714625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2A4060"/>
          </a:solidFill>
          <a:ln w="7144" algn="in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24571" y="2743200"/>
            <a:ext cx="1397746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u="none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 3</a:t>
            </a:r>
            <a:pPr algn="l" indent="0" marL="0">
              <a:lnSpc>
                <a:spcPct val="100000"/>
              </a:lnSpc>
              <a:buNone/>
            </a:pPr>
            <a:r>
              <a:rPr lang="en-US" sz="731" u="none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#2a4060, pad 16px</a:t>
            </a:r>
            <a:endParaRPr lang="en-US" sz="731" dirty="0"/>
          </a:p>
        </p:txBody>
      </p:sp>
      <p:sp>
        <p:nvSpPr>
          <p:cNvPr id="17" name="Shape 15"/>
          <p:cNvSpPr/>
          <p:nvPr/>
        </p:nvSpPr>
        <p:spPr>
          <a:xfrm>
            <a:off x="7167396" y="2943225"/>
            <a:ext cx="171450" cy="171450"/>
          </a:xfrm>
          <a:prstGeom prst="roundRect">
            <a:avLst>
              <a:gd name="adj" fmla="val 16667"/>
            </a:avLst>
          </a:prstGeom>
          <a:solidFill>
            <a:srgbClr val="305080"/>
          </a:solidFill>
          <a:ln w="7144" algn="in">
            <a:solidFill>
              <a:srgbClr val="3036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24571" y="2971800"/>
            <a:ext cx="1402604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u="none" dirty="0">
                <a:solidFill>
                  <a:srgbClr val="E6ED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 4</a:t>
            </a:r>
            <a:pPr algn="l" indent="0" marL="0">
              <a:lnSpc>
                <a:spcPct val="100000"/>
              </a:lnSpc>
              <a:buNone/>
            </a:pPr>
            <a:r>
              <a:rPr lang="en-US" sz="731" u="none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#305080, pad 16px</a:t>
            </a:r>
            <a:endParaRPr lang="en-US" sz="731" dirty="0"/>
          </a:p>
        </p:txBody>
      </p:sp>
      <p:sp>
        <p:nvSpPr>
          <p:cNvPr id="19" name="Text 17"/>
          <p:cNvSpPr/>
          <p:nvPr/>
        </p:nvSpPr>
        <p:spPr>
          <a:xfrm>
            <a:off x="7167396" y="3257550"/>
            <a:ext cx="1976604" cy="2143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i="1" dirty="0">
                <a:solidFill>
                  <a:srgbClr val="8B949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accumulated: 80px padding + 10px borders = 90px inset</a:t>
            </a:r>
            <a:endParaRPr lang="en-US" sz="6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201025" cy="2428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Mixed Text Styling — Inline Style Transitions</a:t>
            </a:r>
            <a:endParaRPr lang="en-US" sz="1575" dirty="0"/>
          </a:p>
        </p:txBody>
      </p:sp>
      <p:sp>
        <p:nvSpPr>
          <p:cNvPr id="3" name="Text 1"/>
          <p:cNvSpPr/>
          <p:nvPr/>
        </p:nvSpPr>
        <p:spPr>
          <a:xfrm>
            <a:off x="514350" y="871538"/>
            <a:ext cx="7858125" cy="1508546"/>
          </a:xfrm>
          <a:prstGeom prst="rect">
            <a:avLst/>
          </a:prstGeom>
          <a:ln>
            <a:noFill/>
          </a:ln>
        </p:spPr>
        <p:txBody>
          <a:bodyPr wrap="square" lIns="0" tIns="84274" rIns="0" bIns="0" rtlCol="0" anchor="t"/>
          <a:lstStyle/>
          <a:p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</a:t>
            </a:r>
            <a:pPr algn="l" indent="0" marL="0">
              <a:lnSpc>
                <a:spcPts val="2340"/>
              </a:lnSpc>
              <a:buNone/>
            </a:pPr>
            <a:r>
              <a:rPr lang="en-US" sz="1013" b="1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brown fox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jumps over the </a:t>
            </a:r>
            <a:pPr algn="l" indent="0" marL="0">
              <a:lnSpc>
                <a:spcPts val="2340"/>
              </a:lnSpc>
              <a:buNone/>
            </a:pPr>
            <a:r>
              <a:rPr lang="en-US" sz="1013" i="1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lazy dog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This sentence has </a:t>
            </a:r>
            <a:pPr algn="l" indent="0" marL="0">
              <a:lnSpc>
                <a:spcPts val="2340"/>
              </a:lnSpc>
              <a:buNone/>
            </a:pPr>
            <a:r>
              <a:rPr lang="en-US" sz="1013" b="1" u="none" dirty="0">
                <a:solidFill>
                  <a:srgbClr val="E53E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 bold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340"/>
              </a:lnSpc>
              <a:buNone/>
            </a:pPr>
            <a:r>
              <a:rPr lang="en-US" sz="1013" i="1" u="none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 italic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</a:t>
            </a:r>
            <a:pPr algn="l" indent="0" marL="0">
              <a:lnSpc>
                <a:spcPts val="2340"/>
              </a:lnSpc>
              <a:buNone/>
            </a:pPr>
            <a:r>
              <a:rPr lang="en-US" sz="1013" u="sng" dirty="0">
                <a:solidFill>
                  <a:srgbClr val="38A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 underlined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words. Here is </a:t>
            </a:r>
            <a:pPr algn="l" indent="0" marL="0">
              <a:lnSpc>
                <a:spcPts val="2340"/>
              </a:lnSpc>
              <a:buNone/>
            </a:pPr>
            <a:r>
              <a:rPr lang="en-US" sz="1013" strike="sngStrike" u="none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deleted text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a </a:t>
            </a:r>
            <a:pPr algn="l" indent="0" marL="0">
              <a:lnSpc>
                <a:spcPts val="2340"/>
              </a:lnSpc>
              <a:buNone/>
            </a:pPr>
            <a:r>
              <a:rPr lang="en-US" sz="1350" b="1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word with a footnote</a:t>
            </a:r>
            <a:pPr algn="l" indent="0" marL="0">
              <a:lnSpc>
                <a:spcPts val="2340"/>
              </a:lnSpc>
              <a:buNone/>
            </a:pPr>
            <a:r>
              <a:rPr lang="en-US" sz="675" u="none" baseline="300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chemical formula H</a:t>
            </a:r>
            <a:pPr algn="l" indent="0" marL="0">
              <a:lnSpc>
                <a:spcPts val="2340"/>
              </a:lnSpc>
              <a:buNone/>
            </a:pPr>
            <a:r>
              <a:rPr lang="en-US" sz="675" u="none" baseline="-40000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O. Use </a:t>
            </a:r>
            <a:pPr algn="l" indent="0" marL="0">
              <a:lnSpc>
                <a:spcPts val="2340"/>
              </a:lnSpc>
              <a:buNone/>
            </a:pPr>
            <a:r>
              <a:rPr lang="en-US" sz="844" u="none" dirty="0">
                <a:solidFill>
                  <a:srgbClr val="E53E3E"/>
                </a:solidFill>
                <a:highlight>
                  <a:srgbClr val="F0F4F8"/>
                </a:highlight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console.log()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debug, or try </a:t>
            </a:r>
            <a:pPr algn="l" indent="0" marL="0">
              <a:lnSpc>
                <a:spcPts val="2340"/>
              </a:lnSpc>
              <a:buNone/>
            </a:pPr>
            <a:r>
              <a:rPr lang="en-US" sz="844" u="none" dirty="0">
                <a:solidFill>
                  <a:srgbClr val="E53E3E"/>
                </a:solidFill>
                <a:highlight>
                  <a:srgbClr val="F0F4F8"/>
                </a:highlight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Array.from()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conversion. Some text is 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highlight>
                  <a:srgbClr val="FEFCBF"/>
                </a:highlight>
                <a:latin typeface="Inter" pitchFamily="34" charset="0"/>
                <a:ea typeface="Inter" pitchFamily="34" charset="-122"/>
                <a:cs typeface="Inter" pitchFamily="34" charset="-120"/>
              </a:rPr>
              <a:t>highlighted in yellow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while other text uses </a:t>
            </a:r>
            <a:pPr algn="l" indent="0" marL="0">
              <a:lnSpc>
                <a:spcPts val="2340"/>
              </a:lnSpc>
              <a:buNone/>
            </a:pPr>
            <a:r>
              <a:rPr lang="en-US" sz="1013" b="1" u="none" dirty="0">
                <a:solidFill>
                  <a:srgbClr val="805A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purple bold emphasis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Finally, </a:t>
            </a:r>
            <a:pPr algn="l" indent="0" marL="0">
              <a:lnSpc>
                <a:spcPts val="2340"/>
              </a:lnSpc>
              <a:buNone/>
            </a:pPr>
            <a:r>
              <a:rPr lang="en-US" sz="1013" b="1" u="none" dirty="0">
                <a:solidFill>
                  <a:srgbClr val="9A59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gradient text is purely decorative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should fallback to a </a:t>
            </a:r>
            <a:pPr algn="l" indent="0" marL="0">
              <a:lnSpc>
                <a:spcPts val="2340"/>
              </a:lnSpc>
              <a:buNone/>
            </a:pPr>
            <a:r>
              <a:rPr lang="en-US" sz="1013" b="1" u="none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solid color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Mixing </a:t>
            </a:r>
            <a:pPr algn="l" indent="0" marL="0">
              <a:lnSpc>
                <a:spcPts val="2340"/>
              </a:lnSpc>
              <a:buNone/>
            </a:pPr>
            <a:r>
              <a:rPr lang="en-US" sz="1013" b="1" i="1" u="none" dirty="0">
                <a:solidFill>
                  <a:srgbClr val="E53E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bold italic red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</a:t>
            </a:r>
            <a:pPr algn="l" indent="0" marL="0">
              <a:lnSpc>
                <a:spcPts val="2340"/>
              </a:lnSpc>
              <a:buNone/>
            </a:pPr>
            <a:r>
              <a:rPr lang="en-US" sz="1013" u="sng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underlined blue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pPr algn="l" indent="0" marL="0">
              <a:lnSpc>
                <a:spcPts val="2340"/>
              </a:lnSpc>
              <a:buNone/>
            </a:pPr>
            <a:r>
              <a:rPr lang="en-US" sz="844" u="none" dirty="0">
                <a:solidFill>
                  <a:srgbClr val="E53E3E"/>
                </a:solidFill>
                <a:highlight>
                  <a:srgbClr val="F0F4F8"/>
                </a:highlight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inline code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a single paragraph tests how many </a:t>
            </a:r>
            <a:pPr algn="l" indent="0" marL="0">
              <a:lnSpc>
                <a:spcPts val="2340"/>
              </a:lnSpc>
              <a:buNone/>
            </a:pPr>
            <a:r>
              <a:rPr lang="en-US" sz="1013" b="1" u="none" dirty="0">
                <a:solidFill>
                  <a:srgbClr val="38A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style transitions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converter can handle without </a:t>
            </a:r>
            <a:pPr algn="l" indent="0" marL="0">
              <a:lnSpc>
                <a:spcPts val="2340"/>
              </a:lnSpc>
              <a:buNone/>
            </a:pPr>
            <a:r>
              <a:rPr lang="en-US" sz="1013" strike="sngStrike" u="none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breaking</a:t>
            </a:r>
            <a:pPr algn="l" indent="0" marL="0">
              <a:lnSpc>
                <a:spcPts val="2340"/>
              </a:lnSpc>
              <a:buNone/>
            </a:pPr>
            <a:r>
              <a:rPr lang="en-US" sz="1013" u="none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text flow.</a:t>
            </a:r>
            <a:endParaRPr lang="en-US" sz="1013" dirty="0"/>
          </a:p>
        </p:txBody>
      </p:sp>
      <p:sp>
        <p:nvSpPr>
          <p:cNvPr id="4" name="Shape 2"/>
          <p:cNvSpPr/>
          <p:nvPr/>
        </p:nvSpPr>
        <p:spPr>
          <a:xfrm>
            <a:off x="514350" y="2665833"/>
            <a:ext cx="8115300" cy="525709"/>
          </a:xfrm>
          <a:prstGeom prst="roundRect">
            <a:avLst>
              <a:gd name="adj" fmla="val 10871"/>
            </a:avLst>
          </a:prstGeom>
          <a:solidFill>
            <a:srgbClr val="F7FAFC"/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>
            <a:off x="514350" y="2665833"/>
            <a:ext cx="57150" cy="5715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514350" y="3134392"/>
            <a:ext cx="57150" cy="5715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514350" y="2665833"/>
            <a:ext cx="28575" cy="525709"/>
          </a:xfrm>
          <a:prstGeom prst="rect">
            <a:avLst/>
          </a:prstGeom>
          <a:solidFill>
            <a:srgbClr val="4A6CF7"/>
          </a:solidFill>
          <a:ln>
            <a:noFill/>
          </a:ln>
        </p:spPr>
      </p:sp>
      <p:sp>
        <p:nvSpPr>
          <p:cNvPr id="8" name="Text 6"/>
          <p:cNvSpPr/>
          <p:nvPr/>
        </p:nvSpPr>
        <p:spPr>
          <a:xfrm>
            <a:off x="685800" y="2780133"/>
            <a:ext cx="7800975" cy="29710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731" b="1" u="none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purpose:</a:t>
            </a:r>
            <a:pPr algn="l" indent="0" marL="0">
              <a:lnSpc>
                <a:spcPct val="133333"/>
              </a:lnSpc>
              <a:buNone/>
            </a:pPr>
            <a:r>
              <a:rPr lang="en-US" sz="731" u="none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This paragraph contains 18+ inline style transitions within continuous text. The converter must extract each text run with its correct font-weight, font-style, color, text-decoration, font-family, font-size, and background.</a:t>
            </a:r>
            <a:endParaRPr lang="en-US" sz="731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285750"/>
            <a:ext cx="8429625" cy="20716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 Grid Complex Layout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00050" y="535781"/>
            <a:ext cx="842962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12-column grid with varying span widths — tests layout extraction fidelity</a:t>
            </a:r>
            <a:endParaRPr lang="en-US" sz="731" dirty="0"/>
          </a:p>
        </p:txBody>
      </p:sp>
      <p:sp>
        <p:nvSpPr>
          <p:cNvPr id="4" name="Shape 2"/>
          <p:cNvSpPr/>
          <p:nvPr/>
        </p:nvSpPr>
        <p:spPr>
          <a:xfrm>
            <a:off x="400050" y="821531"/>
            <a:ext cx="5524476" cy="1128713"/>
          </a:xfrm>
          <a:prstGeom prst="roundRect">
            <a:avLst>
              <a:gd name="adj" fmla="val 7595"/>
            </a:avLst>
          </a:prstGeom>
          <a:solidFill>
            <a:srgbClr val="4A6CF7"/>
          </a:solidFill>
          <a:ln>
            <a:noFill/>
          </a:ln>
        </p:spPr>
      </p:sp>
      <p:sp>
        <p:nvSpPr>
          <p:cNvPr id="5" name="Text 3"/>
          <p:cNvSpPr/>
          <p:nvPr/>
        </p:nvSpPr>
        <p:spPr>
          <a:xfrm>
            <a:off x="542925" y="964406"/>
            <a:ext cx="5324451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Dashboard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2925" y="1150144"/>
            <a:ext cx="5324451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$2.4M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542925" y="1493044"/>
            <a:ext cx="5324451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quarterly revenue across all product lines. Up 23% from last quarter.</a:t>
            </a:r>
            <a:endParaRPr lang="en-US" sz="675" dirty="0"/>
          </a:p>
        </p:txBody>
      </p:sp>
      <p:sp>
        <p:nvSpPr>
          <p:cNvPr id="8" name="Shape 6"/>
          <p:cNvSpPr/>
          <p:nvPr/>
        </p:nvSpPr>
        <p:spPr>
          <a:xfrm>
            <a:off x="542925" y="1678781"/>
            <a:ext cx="716947" cy="128588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400050" y="1678781"/>
            <a:ext cx="1002697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8-column span</a:t>
            </a:r>
            <a:endParaRPr lang="en-US" sz="619" dirty="0"/>
          </a:p>
        </p:txBody>
      </p:sp>
      <p:sp>
        <p:nvSpPr>
          <p:cNvPr id="10" name="Shape 8"/>
          <p:cNvSpPr/>
          <p:nvPr/>
        </p:nvSpPr>
        <p:spPr>
          <a:xfrm>
            <a:off x="6038826" y="821531"/>
            <a:ext cx="2705052" cy="1128713"/>
          </a:xfrm>
          <a:prstGeom prst="roundRect">
            <a:avLst>
              <a:gd name="adj" fmla="val 7595"/>
            </a:avLst>
          </a:prstGeom>
          <a:solidFill>
            <a:srgbClr val="1A202C"/>
          </a:solidFill>
          <a:ln>
            <a:noFill/>
          </a:ln>
        </p:spPr>
      </p:sp>
      <p:sp>
        <p:nvSpPr>
          <p:cNvPr id="11" name="Text 9"/>
          <p:cNvSpPr/>
          <p:nvPr/>
        </p:nvSpPr>
        <p:spPr>
          <a:xfrm>
            <a:off x="6181701" y="964406"/>
            <a:ext cx="2505027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Users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81701" y="1150144"/>
            <a:ext cx="2505027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48.2K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6181701" y="1493044"/>
            <a:ext cx="2505027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active users</a:t>
            </a:r>
            <a:endParaRPr lang="en-US" sz="675" dirty="0"/>
          </a:p>
        </p:txBody>
      </p:sp>
      <p:sp>
        <p:nvSpPr>
          <p:cNvPr id="14" name="Shape 12"/>
          <p:cNvSpPr/>
          <p:nvPr/>
        </p:nvSpPr>
        <p:spPr>
          <a:xfrm>
            <a:off x="6181701" y="1678781"/>
            <a:ext cx="718947" cy="128588"/>
          </a:xfrm>
          <a:prstGeom prst="roundRect">
            <a:avLst>
              <a:gd name="adj" fmla="val 50000"/>
            </a:avLst>
          </a:prstGeom>
          <a:solidFill>
            <a:srgbClr val="FFFFFF">
              <a:alpha val="30000"/>
            </a:srgbClr>
          </a:solidFill>
          <a:ln>
            <a:noFill/>
          </a:ln>
        </p:spPr>
      </p:sp>
      <p:sp>
        <p:nvSpPr>
          <p:cNvPr id="15" name="Text 13"/>
          <p:cNvSpPr/>
          <p:nvPr/>
        </p:nvSpPr>
        <p:spPr>
          <a:xfrm>
            <a:off x="6038826" y="1678781"/>
            <a:ext cx="1004697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4-column span</a:t>
            </a:r>
            <a:endParaRPr lang="en-US" sz="619" dirty="0"/>
          </a:p>
        </p:txBody>
      </p:sp>
      <p:sp>
        <p:nvSpPr>
          <p:cNvPr id="16" name="Shape 14"/>
          <p:cNvSpPr/>
          <p:nvPr/>
        </p:nvSpPr>
        <p:spPr>
          <a:xfrm>
            <a:off x="400050" y="2064544"/>
            <a:ext cx="2705052" cy="957263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7144" algn="in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0069" y="2214563"/>
            <a:ext cx="2490740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50069" y="2400300"/>
            <a:ext cx="2490740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38A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+18%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550069" y="2743200"/>
            <a:ext cx="2490740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 rate this month</a:t>
            </a:r>
            <a:endParaRPr lang="en-US" sz="675" dirty="0"/>
          </a:p>
        </p:txBody>
      </p:sp>
      <p:sp>
        <p:nvSpPr>
          <p:cNvPr id="20" name="Shape 18"/>
          <p:cNvSpPr/>
          <p:nvPr/>
        </p:nvSpPr>
        <p:spPr>
          <a:xfrm>
            <a:off x="3219402" y="2064544"/>
            <a:ext cx="2705124" cy="957263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7144" algn="in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9421" y="2214563"/>
            <a:ext cx="2490811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B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69421" y="2400300"/>
            <a:ext cx="2490811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E53E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-3%</a:t>
            </a:r>
            <a:endParaRPr lang="en-US" sz="2025" dirty="0"/>
          </a:p>
        </p:txBody>
      </p:sp>
      <p:sp>
        <p:nvSpPr>
          <p:cNvPr id="23" name="Text 21"/>
          <p:cNvSpPr/>
          <p:nvPr/>
        </p:nvSpPr>
        <p:spPr>
          <a:xfrm>
            <a:off x="3369421" y="2743200"/>
            <a:ext cx="2490811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Slight decline in signups</a:t>
            </a:r>
            <a:endParaRPr lang="en-US" sz="675" dirty="0"/>
          </a:p>
        </p:txBody>
      </p:sp>
      <p:sp>
        <p:nvSpPr>
          <p:cNvPr id="24" name="Shape 22"/>
          <p:cNvSpPr/>
          <p:nvPr/>
        </p:nvSpPr>
        <p:spPr>
          <a:xfrm>
            <a:off x="6038826" y="2064544"/>
            <a:ext cx="2705052" cy="957263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7144" algn="in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88845" y="2214563"/>
            <a:ext cx="2490740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C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188845" y="2400300"/>
            <a:ext cx="2490740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38A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+42%</a:t>
            </a:r>
            <a:endParaRPr lang="en-US" sz="2025" dirty="0"/>
          </a:p>
        </p:txBody>
      </p:sp>
      <p:sp>
        <p:nvSpPr>
          <p:cNvPr id="27" name="Text 25"/>
          <p:cNvSpPr/>
          <p:nvPr/>
        </p:nvSpPr>
        <p:spPr>
          <a:xfrm>
            <a:off x="6188845" y="2743200"/>
            <a:ext cx="2490740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market expansion</a:t>
            </a:r>
            <a:endParaRPr lang="en-US" sz="675" dirty="0"/>
          </a:p>
        </p:txBody>
      </p:sp>
      <p:sp>
        <p:nvSpPr>
          <p:cNvPr id="28" name="GRAD_39"/>
          <p:cNvSpPr/>
          <p:nvPr/>
        </p:nvSpPr>
        <p:spPr>
          <a:xfrm>
            <a:off x="400050" y="3136106"/>
            <a:ext cx="8343757" cy="600075"/>
          </a:xfrm>
          <a:prstGeom prst="roundRect">
            <a:avLst>
              <a:gd name="adj" fmla="val 14286"/>
            </a:avLst>
          </a:prstGeom>
          <a:gradFill rotWithShape="1">
            <a:gsLst>
              <a:gs pos="0">
                <a:srgbClr val="E94560"/>
              </a:gs>
              <a:gs pos="100000">
                <a:srgbClr val="FF6B6B"/>
              </a:gs>
            </a:gsLst>
            <a:lin ang="0" scaled="0"/>
          </a:gradFill>
          <a:ln>
            <a:noFill/>
          </a:ln>
        </p:spPr>
      </p:sp>
      <p:sp>
        <p:nvSpPr>
          <p:cNvPr id="29" name="Text 27"/>
          <p:cNvSpPr/>
          <p:nvPr/>
        </p:nvSpPr>
        <p:spPr>
          <a:xfrm>
            <a:off x="542925" y="3278981"/>
            <a:ext cx="2656332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Quarterly All-Hands Meeting — April 20,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2925" y="3464719"/>
            <a:ext cx="2656332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Full-width banner spanning all 12 columns</a:t>
            </a:r>
            <a:endParaRPr lang="en-US" sz="675" dirty="0"/>
          </a:p>
        </p:txBody>
      </p:sp>
      <p:sp>
        <p:nvSpPr>
          <p:cNvPr id="31" name="Shape 29"/>
          <p:cNvSpPr/>
          <p:nvPr/>
        </p:nvSpPr>
        <p:spPr>
          <a:xfrm>
            <a:off x="7951637" y="3400425"/>
            <a:ext cx="649295" cy="128588"/>
          </a:xfrm>
          <a:prstGeom prst="roundRect">
            <a:avLst>
              <a:gd name="adj" fmla="val 50000"/>
            </a:avLst>
          </a:prstGeom>
          <a:solidFill>
            <a:srgbClr val="000000">
              <a:alpha val="20000"/>
            </a:srgbClr>
          </a:solidFill>
          <a:ln>
            <a:noFill/>
          </a:ln>
        </p:spPr>
      </p:sp>
      <p:sp>
        <p:nvSpPr>
          <p:cNvPr id="32" name="Text 30"/>
          <p:cNvSpPr/>
          <p:nvPr/>
        </p:nvSpPr>
        <p:spPr>
          <a:xfrm>
            <a:off x="7823049" y="3400425"/>
            <a:ext cx="906470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 Now</a:t>
            </a:r>
            <a:endParaRPr lang="en-US" sz="619" dirty="0"/>
          </a:p>
        </p:txBody>
      </p:sp>
      <p:sp>
        <p:nvSpPr>
          <p:cNvPr id="33" name="Shape 31"/>
          <p:cNvSpPr/>
          <p:nvPr/>
        </p:nvSpPr>
        <p:spPr>
          <a:xfrm>
            <a:off x="400050" y="3850481"/>
            <a:ext cx="4114657" cy="714375"/>
          </a:xfrm>
          <a:prstGeom prst="roundRect">
            <a:avLst>
              <a:gd name="adj" fmla="val 12000"/>
            </a:avLst>
          </a:prstGeom>
          <a:solidFill>
            <a:srgbClr val="F0FFF4"/>
          </a:solidFill>
          <a:ln w="7144" algn="in">
            <a:solidFill>
              <a:srgbClr val="C6F6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0069" y="4050506"/>
            <a:ext cx="3900345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2767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Engineering Velocity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0069" y="4236244"/>
            <a:ext cx="3900345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27674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completion rate at 94%. Deploy frequency: 3.2/day. MTTR under 15 minutes.</a:t>
            </a:r>
            <a:endParaRPr lang="en-US" sz="675" dirty="0"/>
          </a:p>
        </p:txBody>
      </p:sp>
      <p:sp>
        <p:nvSpPr>
          <p:cNvPr id="36" name="Shape 34"/>
          <p:cNvSpPr/>
          <p:nvPr/>
        </p:nvSpPr>
        <p:spPr>
          <a:xfrm>
            <a:off x="4629007" y="3850481"/>
            <a:ext cx="4114800" cy="714375"/>
          </a:xfrm>
          <a:prstGeom prst="roundRect">
            <a:avLst>
              <a:gd name="adj" fmla="val 12000"/>
            </a:avLst>
          </a:prstGeom>
          <a:solidFill>
            <a:srgbClr val="FFFFF0"/>
          </a:solidFill>
          <a:ln w="7144" algn="in">
            <a:solidFill>
              <a:srgbClr val="FEFCB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9026" y="4050506"/>
            <a:ext cx="3900488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75A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Satisfaction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779026" y="4236244"/>
            <a:ext cx="3900488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975A1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NPS score: 72 (+8 pts). Support ticket resolution time down 22% quarter over quarter.</a:t>
            </a:r>
            <a:endParaRPr lang="en-US" sz="67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2900" y="257175"/>
            <a:ext cx="8543925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Quarterly Performance Digest</a:t>
            </a:r>
            <a:endParaRPr lang="en-US" sz="1238" dirty="0"/>
          </a:p>
        </p:txBody>
      </p:sp>
      <p:sp>
        <p:nvSpPr>
          <p:cNvPr id="3" name="Text 1"/>
          <p:cNvSpPr/>
          <p:nvPr/>
        </p:nvSpPr>
        <p:spPr>
          <a:xfrm>
            <a:off x="342900" y="471488"/>
            <a:ext cx="8543925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CONFIDENTIAL — INTERNAL DISTRIBUTION ONLY — Q1 2026</a:t>
            </a:r>
            <a:endParaRPr lang="en-US" sz="619" dirty="0"/>
          </a:p>
        </p:txBody>
      </p:sp>
      <p:sp>
        <p:nvSpPr>
          <p:cNvPr id="4" name="Shape 2"/>
          <p:cNvSpPr/>
          <p:nvPr/>
        </p:nvSpPr>
        <p:spPr>
          <a:xfrm>
            <a:off x="342900" y="714375"/>
            <a:ext cx="2821781" cy="421481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>
            <a:off x="3157538" y="714375"/>
            <a:ext cx="7144" cy="4214813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485775" y="714375"/>
            <a:ext cx="2528888" cy="17859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485775" y="878681"/>
            <a:ext cx="2528888" cy="14288"/>
          </a:xfrm>
          <a:prstGeom prst="rect">
            <a:avLst/>
          </a:prstGeom>
          <a:solidFill>
            <a:srgbClr val="4A6CF7"/>
          </a:solidFill>
          <a:ln>
            <a:noFill/>
          </a:ln>
        </p:spPr>
      </p:sp>
      <p:sp>
        <p:nvSpPr>
          <p:cNvPr id="8" name="Text 6"/>
          <p:cNvSpPr/>
          <p:nvPr/>
        </p:nvSpPr>
        <p:spPr>
          <a:xfrm>
            <a:off x="485775" y="714375"/>
            <a:ext cx="2614613" cy="1785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 Overview</a:t>
            </a:r>
            <a:endParaRPr lang="en-US" sz="788" dirty="0"/>
          </a:p>
        </p:txBody>
      </p:sp>
      <p:sp>
        <p:nvSpPr>
          <p:cNvPr id="9" name="Text 7"/>
          <p:cNvSpPr/>
          <p:nvPr/>
        </p:nvSpPr>
        <p:spPr>
          <a:xfrm>
            <a:off x="485775" y="964406"/>
            <a:ext cx="2528888" cy="74209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59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technology spending reached $4.8 trillion in Q1 2026, representing a 6.2% year-over-year increase. Cloud infrastructure continues to dominate capital allocation, with hyperscaler revenue growing at 28% annually. Enterprise software margins expanded to 72.4%, driven by AI-assisted development tools and automation platforms.</a:t>
            </a:r>
            <a:endParaRPr lang="en-US" sz="591" dirty="0"/>
          </a:p>
        </p:txBody>
      </p:sp>
      <p:sp>
        <p:nvSpPr>
          <p:cNvPr id="10" name="Shape 8"/>
          <p:cNvSpPr/>
          <p:nvPr/>
        </p:nvSpPr>
        <p:spPr>
          <a:xfrm>
            <a:off x="485775" y="1806512"/>
            <a:ext cx="2528888" cy="607219"/>
          </a:xfrm>
          <a:prstGeom prst="rect">
            <a:avLst/>
          </a:prstGeom>
          <a:solidFill>
            <a:srgbClr val="FFF5F5"/>
          </a:solidFill>
          <a:ln>
            <a:noFill/>
          </a:ln>
        </p:spPr>
      </p:sp>
      <p:sp>
        <p:nvSpPr>
          <p:cNvPr id="11" name="Shape 9"/>
          <p:cNvSpPr/>
          <p:nvPr/>
        </p:nvSpPr>
        <p:spPr>
          <a:xfrm>
            <a:off x="485775" y="1806512"/>
            <a:ext cx="21431" cy="607219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12" name="Text 10"/>
          <p:cNvSpPr/>
          <p:nvPr/>
        </p:nvSpPr>
        <p:spPr>
          <a:xfrm>
            <a:off x="592931" y="1863662"/>
            <a:ext cx="2336006" cy="3857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i="1" dirty="0">
                <a:solidFill>
                  <a:srgbClr val="C530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inflection point for AI-native applications has arrived. Companies not investing now will face structural disadvantage within 18 months."</a:t>
            </a:r>
            <a:endParaRPr lang="en-US" sz="675" dirty="0"/>
          </a:p>
        </p:txBody>
      </p:sp>
      <p:sp>
        <p:nvSpPr>
          <p:cNvPr id="13" name="Text 11"/>
          <p:cNvSpPr/>
          <p:nvPr/>
        </p:nvSpPr>
        <p:spPr>
          <a:xfrm>
            <a:off x="592931" y="2277999"/>
            <a:ext cx="2421731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Sarah Chen, VP Strategy</a:t>
            </a:r>
            <a:endParaRPr lang="en-US" sz="506" dirty="0"/>
          </a:p>
        </p:txBody>
      </p:sp>
      <p:sp>
        <p:nvSpPr>
          <p:cNvPr id="14" name="Text 12"/>
          <p:cNvSpPr/>
          <p:nvPr/>
        </p:nvSpPr>
        <p:spPr>
          <a:xfrm>
            <a:off x="485775" y="2513743"/>
            <a:ext cx="2528888" cy="6183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59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Regional analysis shows APAC markets outpacing North America for the second consecutive quarter. European regulatory frameworks continue to create compliance overhead, with GDPR-adjacent AI regulations adding 8-12% to deployment costs for multinational operations.</a:t>
            </a:r>
            <a:endParaRPr lang="en-US" sz="591" dirty="0"/>
          </a:p>
        </p:txBody>
      </p:sp>
      <p:sp>
        <p:nvSpPr>
          <p:cNvPr id="15" name="Text 13"/>
          <p:cNvSpPr/>
          <p:nvPr/>
        </p:nvSpPr>
        <p:spPr>
          <a:xfrm>
            <a:off x="485775" y="3217831"/>
            <a:ext cx="261461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Indicators</a:t>
            </a:r>
            <a:endParaRPr lang="en-US" sz="619" dirty="0"/>
          </a:p>
        </p:txBody>
      </p:sp>
      <p:sp>
        <p:nvSpPr>
          <p:cNvPr id="16" name="Shape 14"/>
          <p:cNvSpPr/>
          <p:nvPr/>
        </p:nvSpPr>
        <p:spPr>
          <a:xfrm>
            <a:off x="485775" y="3360706"/>
            <a:ext cx="2528888" cy="13573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7" name="Shape 15"/>
          <p:cNvSpPr/>
          <p:nvPr/>
        </p:nvSpPr>
        <p:spPr>
          <a:xfrm>
            <a:off x="485775" y="3489293"/>
            <a:ext cx="2528888" cy="0"/>
          </a:xfrm>
          <a:prstGeom prst="line">
            <a:avLst/>
          </a:prstGeom>
          <a:noFill/>
          <a:ln w="12700" algn="in">
            <a:solidFill>
              <a:srgbClr val="E2E8F0"/>
            </a:solidFill>
            <a:prstDash val="sysDot"/>
          </a:ln>
        </p:spPr>
      </p:sp>
      <p:sp>
        <p:nvSpPr>
          <p:cNvPr id="18" name="Text 16"/>
          <p:cNvSpPr/>
          <p:nvPr/>
        </p:nvSpPr>
        <p:spPr>
          <a:xfrm>
            <a:off x="485775" y="3382137"/>
            <a:ext cx="612791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S&amp;P Tech Index</a:t>
            </a:r>
            <a:endParaRPr lang="en-US" sz="563" dirty="0"/>
          </a:p>
        </p:txBody>
      </p:sp>
      <p:sp>
        <p:nvSpPr>
          <p:cNvPr id="19" name="Text 17"/>
          <p:cNvSpPr/>
          <p:nvPr/>
        </p:nvSpPr>
        <p:spPr>
          <a:xfrm>
            <a:off x="2752916" y="3382137"/>
            <a:ext cx="347472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+14.3%</a:t>
            </a:r>
            <a:endParaRPr lang="en-US" sz="563" dirty="0"/>
          </a:p>
        </p:txBody>
      </p:sp>
      <p:sp>
        <p:nvSpPr>
          <p:cNvPr id="20" name="Shape 18"/>
          <p:cNvSpPr/>
          <p:nvPr/>
        </p:nvSpPr>
        <p:spPr>
          <a:xfrm>
            <a:off x="485775" y="3496437"/>
            <a:ext cx="2528888" cy="13573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21" name="Shape 19"/>
          <p:cNvSpPr/>
          <p:nvPr/>
        </p:nvSpPr>
        <p:spPr>
          <a:xfrm>
            <a:off x="485775" y="3625025"/>
            <a:ext cx="2528888" cy="0"/>
          </a:xfrm>
          <a:prstGeom prst="line">
            <a:avLst/>
          </a:prstGeom>
          <a:noFill/>
          <a:ln w="12700" algn="in">
            <a:solidFill>
              <a:srgbClr val="E2E8F0"/>
            </a:solidFill>
            <a:prstDash val="sysDot"/>
          </a:ln>
        </p:spPr>
      </p:sp>
      <p:sp>
        <p:nvSpPr>
          <p:cNvPr id="22" name="Text 20"/>
          <p:cNvSpPr/>
          <p:nvPr/>
        </p:nvSpPr>
        <p:spPr>
          <a:xfrm>
            <a:off x="485775" y="3517868"/>
            <a:ext cx="860608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Revenue Growth</a:t>
            </a:r>
            <a:endParaRPr lang="en-US" sz="563" dirty="0"/>
          </a:p>
        </p:txBody>
      </p:sp>
      <p:sp>
        <p:nvSpPr>
          <p:cNvPr id="23" name="Text 21"/>
          <p:cNvSpPr/>
          <p:nvPr/>
        </p:nvSpPr>
        <p:spPr>
          <a:xfrm>
            <a:off x="2807494" y="3517868"/>
            <a:ext cx="292894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28.1%</a:t>
            </a:r>
            <a:endParaRPr lang="en-US" sz="563" dirty="0"/>
          </a:p>
        </p:txBody>
      </p:sp>
      <p:sp>
        <p:nvSpPr>
          <p:cNvPr id="24" name="Shape 22"/>
          <p:cNvSpPr/>
          <p:nvPr/>
        </p:nvSpPr>
        <p:spPr>
          <a:xfrm>
            <a:off x="485775" y="3632168"/>
            <a:ext cx="2528888" cy="13573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25" name="Shape 23"/>
          <p:cNvSpPr/>
          <p:nvPr/>
        </p:nvSpPr>
        <p:spPr>
          <a:xfrm>
            <a:off x="485775" y="3760756"/>
            <a:ext cx="2528888" cy="0"/>
          </a:xfrm>
          <a:prstGeom prst="line">
            <a:avLst/>
          </a:prstGeom>
          <a:noFill/>
          <a:ln w="12700" algn="in">
            <a:solidFill>
              <a:srgbClr val="E2E8F0"/>
            </a:solidFill>
            <a:prstDash val="sysDot"/>
          </a:ln>
        </p:spPr>
      </p:sp>
      <p:sp>
        <p:nvSpPr>
          <p:cNvPr id="26" name="Text 24"/>
          <p:cNvSpPr/>
          <p:nvPr/>
        </p:nvSpPr>
        <p:spPr>
          <a:xfrm>
            <a:off x="485775" y="3653600"/>
            <a:ext cx="616934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VC Funding (AI)</a:t>
            </a:r>
            <a:endParaRPr lang="en-US" sz="563" dirty="0"/>
          </a:p>
        </p:txBody>
      </p:sp>
      <p:sp>
        <p:nvSpPr>
          <p:cNvPr id="27" name="Text 25"/>
          <p:cNvSpPr/>
          <p:nvPr/>
        </p:nvSpPr>
        <p:spPr>
          <a:xfrm>
            <a:off x="2762488" y="3653600"/>
            <a:ext cx="33789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$42.6B</a:t>
            </a:r>
            <a:endParaRPr lang="en-US" sz="563" dirty="0"/>
          </a:p>
        </p:txBody>
      </p:sp>
      <p:sp>
        <p:nvSpPr>
          <p:cNvPr id="28" name="Shape 26"/>
          <p:cNvSpPr/>
          <p:nvPr/>
        </p:nvSpPr>
        <p:spPr>
          <a:xfrm>
            <a:off x="3164681" y="714375"/>
            <a:ext cx="2821781" cy="421481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29" name="Shape 27"/>
          <p:cNvSpPr/>
          <p:nvPr/>
        </p:nvSpPr>
        <p:spPr>
          <a:xfrm>
            <a:off x="5979319" y="714375"/>
            <a:ext cx="7144" cy="4214813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0" name="Shape 28"/>
          <p:cNvSpPr/>
          <p:nvPr/>
        </p:nvSpPr>
        <p:spPr>
          <a:xfrm>
            <a:off x="3307556" y="714375"/>
            <a:ext cx="2528888" cy="17859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31" name="Shape 29"/>
          <p:cNvSpPr/>
          <p:nvPr/>
        </p:nvSpPr>
        <p:spPr>
          <a:xfrm>
            <a:off x="3307556" y="878681"/>
            <a:ext cx="2528888" cy="14288"/>
          </a:xfrm>
          <a:prstGeom prst="rect">
            <a:avLst/>
          </a:prstGeom>
          <a:solidFill>
            <a:srgbClr val="4A6CF7"/>
          </a:solidFill>
          <a:ln>
            <a:noFill/>
          </a:ln>
        </p:spPr>
      </p:sp>
      <p:sp>
        <p:nvSpPr>
          <p:cNvPr id="32" name="Text 30"/>
          <p:cNvSpPr/>
          <p:nvPr/>
        </p:nvSpPr>
        <p:spPr>
          <a:xfrm>
            <a:off x="3307556" y="714375"/>
            <a:ext cx="2614613" cy="1785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Metrics</a:t>
            </a:r>
            <a:endParaRPr lang="en-US" sz="788" dirty="0"/>
          </a:p>
        </p:txBody>
      </p:sp>
      <p:sp>
        <p:nvSpPr>
          <p:cNvPr id="33" name="Text 31"/>
          <p:cNvSpPr/>
          <p:nvPr/>
        </p:nvSpPr>
        <p:spPr>
          <a:xfrm>
            <a:off x="3307556" y="964406"/>
            <a:ext cx="2528888" cy="4947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59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 adoption accelerated with 12,400 new enterprise accounts activated in Q1. Daily active usage increased to 2.1M sessions, with average session duration up 34% following the February feature release. API call volume crossed 8 billion per month.</a:t>
            </a:r>
            <a:endParaRPr lang="en-US" sz="591" dirty="0"/>
          </a:p>
        </p:txBody>
      </p:sp>
      <p:sp>
        <p:nvSpPr>
          <p:cNvPr id="34" name="Text 32"/>
          <p:cNvSpPr/>
          <p:nvPr/>
        </p:nvSpPr>
        <p:spPr>
          <a:xfrm>
            <a:off x="3307556" y="1544836"/>
            <a:ext cx="261461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Breakdown</a:t>
            </a:r>
            <a:endParaRPr lang="en-US" sz="619" dirty="0"/>
          </a:p>
        </p:txBody>
      </p:sp>
      <p:sp>
        <p:nvSpPr>
          <p:cNvPr id="35" name="Shape 33"/>
          <p:cNvSpPr/>
          <p:nvPr/>
        </p:nvSpPr>
        <p:spPr>
          <a:xfrm>
            <a:off x="3307556" y="1687711"/>
            <a:ext cx="2528888" cy="13573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36" name="Shape 34"/>
          <p:cNvSpPr/>
          <p:nvPr/>
        </p:nvSpPr>
        <p:spPr>
          <a:xfrm>
            <a:off x="3307556" y="1816298"/>
            <a:ext cx="2528888" cy="0"/>
          </a:xfrm>
          <a:prstGeom prst="line">
            <a:avLst/>
          </a:prstGeom>
          <a:noFill/>
          <a:ln w="12700" algn="in">
            <a:solidFill>
              <a:srgbClr val="E2E8F0"/>
            </a:solidFill>
            <a:prstDash val="sysDot"/>
          </a:ln>
        </p:spPr>
      </p:sp>
      <p:sp>
        <p:nvSpPr>
          <p:cNvPr id="37" name="Text 35"/>
          <p:cNvSpPr/>
          <p:nvPr/>
        </p:nvSpPr>
        <p:spPr>
          <a:xfrm>
            <a:off x="3307556" y="1709142"/>
            <a:ext cx="612577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DAU/MAU Ratio</a:t>
            </a:r>
            <a:endParaRPr lang="en-US" sz="563" dirty="0"/>
          </a:p>
        </p:txBody>
      </p:sp>
      <p:sp>
        <p:nvSpPr>
          <p:cNvPr id="38" name="Text 36"/>
          <p:cNvSpPr/>
          <p:nvPr/>
        </p:nvSpPr>
        <p:spPr>
          <a:xfrm>
            <a:off x="5679067" y="1709142"/>
            <a:ext cx="243102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0.68</a:t>
            </a:r>
            <a:endParaRPr lang="en-US" sz="563" dirty="0"/>
          </a:p>
        </p:txBody>
      </p:sp>
      <p:sp>
        <p:nvSpPr>
          <p:cNvPr id="39" name="Shape 37"/>
          <p:cNvSpPr/>
          <p:nvPr/>
        </p:nvSpPr>
        <p:spPr>
          <a:xfrm>
            <a:off x="3307556" y="1823442"/>
            <a:ext cx="2528888" cy="13573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40" name="Shape 38"/>
          <p:cNvSpPr/>
          <p:nvPr/>
        </p:nvSpPr>
        <p:spPr>
          <a:xfrm>
            <a:off x="3307556" y="1952030"/>
            <a:ext cx="2528888" cy="0"/>
          </a:xfrm>
          <a:prstGeom prst="line">
            <a:avLst/>
          </a:prstGeom>
          <a:noFill/>
          <a:ln w="12700" algn="in">
            <a:solidFill>
              <a:srgbClr val="E2E8F0"/>
            </a:solidFill>
            <a:prstDash val="sysDot"/>
          </a:ln>
        </p:spPr>
      </p:sp>
      <p:sp>
        <p:nvSpPr>
          <p:cNvPr id="41" name="Text 39"/>
          <p:cNvSpPr/>
          <p:nvPr/>
        </p:nvSpPr>
        <p:spPr>
          <a:xfrm>
            <a:off x="3307556" y="1844873"/>
            <a:ext cx="751880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Session Length</a:t>
            </a:r>
            <a:endParaRPr lang="en-US" sz="563" dirty="0"/>
          </a:p>
        </p:txBody>
      </p:sp>
      <p:sp>
        <p:nvSpPr>
          <p:cNvPr id="42" name="Text 40"/>
          <p:cNvSpPr/>
          <p:nvPr/>
        </p:nvSpPr>
        <p:spPr>
          <a:xfrm>
            <a:off x="5549051" y="1844873"/>
            <a:ext cx="373118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14.2 min</a:t>
            </a:r>
            <a:endParaRPr lang="en-US" sz="563" dirty="0"/>
          </a:p>
        </p:txBody>
      </p:sp>
      <p:sp>
        <p:nvSpPr>
          <p:cNvPr id="43" name="Shape 41"/>
          <p:cNvSpPr/>
          <p:nvPr/>
        </p:nvSpPr>
        <p:spPr>
          <a:xfrm>
            <a:off x="3307556" y="1959173"/>
            <a:ext cx="2528888" cy="13573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44" name="Shape 42"/>
          <p:cNvSpPr/>
          <p:nvPr/>
        </p:nvSpPr>
        <p:spPr>
          <a:xfrm>
            <a:off x="3307556" y="2087761"/>
            <a:ext cx="2528888" cy="0"/>
          </a:xfrm>
          <a:prstGeom prst="line">
            <a:avLst/>
          </a:prstGeom>
          <a:noFill/>
          <a:ln w="12700" algn="in">
            <a:solidFill>
              <a:srgbClr val="E2E8F0"/>
            </a:solidFill>
            <a:prstDash val="sysDot"/>
          </a:ln>
        </p:spPr>
      </p:sp>
      <p:sp>
        <p:nvSpPr>
          <p:cNvPr id="45" name="Text 43"/>
          <p:cNvSpPr/>
          <p:nvPr/>
        </p:nvSpPr>
        <p:spPr>
          <a:xfrm>
            <a:off x="3307556" y="1980605"/>
            <a:ext cx="879253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Adoption (new)</a:t>
            </a:r>
            <a:endParaRPr lang="en-US" sz="563" dirty="0"/>
          </a:p>
        </p:txBody>
      </p:sp>
      <p:sp>
        <p:nvSpPr>
          <p:cNvPr id="46" name="Text 44"/>
          <p:cNvSpPr/>
          <p:nvPr/>
        </p:nvSpPr>
        <p:spPr>
          <a:xfrm>
            <a:off x="5689140" y="1980605"/>
            <a:ext cx="233101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41%</a:t>
            </a:r>
            <a:endParaRPr lang="en-US" sz="563" dirty="0"/>
          </a:p>
        </p:txBody>
      </p:sp>
      <p:sp>
        <p:nvSpPr>
          <p:cNvPr id="47" name="Shape 45"/>
          <p:cNvSpPr/>
          <p:nvPr/>
        </p:nvSpPr>
        <p:spPr>
          <a:xfrm>
            <a:off x="3307556" y="2094905"/>
            <a:ext cx="2528888" cy="13573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48" name="Shape 46"/>
          <p:cNvSpPr/>
          <p:nvPr/>
        </p:nvSpPr>
        <p:spPr>
          <a:xfrm>
            <a:off x="3307556" y="2223492"/>
            <a:ext cx="2528888" cy="0"/>
          </a:xfrm>
          <a:prstGeom prst="line">
            <a:avLst/>
          </a:prstGeom>
          <a:noFill/>
          <a:ln w="12700" algn="in">
            <a:solidFill>
              <a:srgbClr val="E2E8F0"/>
            </a:solidFill>
            <a:prstDash val="sysDot"/>
          </a:ln>
        </p:spPr>
      </p:sp>
      <p:sp>
        <p:nvSpPr>
          <p:cNvPr id="49" name="Text 47"/>
          <p:cNvSpPr/>
          <p:nvPr/>
        </p:nvSpPr>
        <p:spPr>
          <a:xfrm>
            <a:off x="3307556" y="2116336"/>
            <a:ext cx="462772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Churn Rate</a:t>
            </a:r>
            <a:endParaRPr lang="en-US" sz="563" dirty="0"/>
          </a:p>
        </p:txBody>
      </p:sp>
      <p:sp>
        <p:nvSpPr>
          <p:cNvPr id="50" name="Text 48"/>
          <p:cNvSpPr/>
          <p:nvPr/>
        </p:nvSpPr>
        <p:spPr>
          <a:xfrm>
            <a:off x="5667780" y="2116336"/>
            <a:ext cx="25438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1.8%</a:t>
            </a:r>
            <a:endParaRPr lang="en-US" sz="563" dirty="0"/>
          </a:p>
        </p:txBody>
      </p:sp>
      <p:sp>
        <p:nvSpPr>
          <p:cNvPr id="51" name="Shape 49"/>
          <p:cNvSpPr/>
          <p:nvPr/>
        </p:nvSpPr>
        <p:spPr>
          <a:xfrm>
            <a:off x="3307556" y="2230636"/>
            <a:ext cx="2528888" cy="13573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52" name="Shape 50"/>
          <p:cNvSpPr/>
          <p:nvPr/>
        </p:nvSpPr>
        <p:spPr>
          <a:xfrm>
            <a:off x="3307556" y="2359223"/>
            <a:ext cx="2528888" cy="0"/>
          </a:xfrm>
          <a:prstGeom prst="line">
            <a:avLst/>
          </a:prstGeom>
          <a:noFill/>
          <a:ln w="12700" algn="in">
            <a:solidFill>
              <a:srgbClr val="E2E8F0"/>
            </a:solidFill>
            <a:prstDash val="sysDot"/>
          </a:ln>
        </p:spPr>
      </p:sp>
      <p:sp>
        <p:nvSpPr>
          <p:cNvPr id="53" name="Text 51"/>
          <p:cNvSpPr/>
          <p:nvPr/>
        </p:nvSpPr>
        <p:spPr>
          <a:xfrm>
            <a:off x="3307556" y="2252067"/>
            <a:ext cx="447913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NPS Score</a:t>
            </a:r>
            <a:endParaRPr lang="en-US" sz="563" dirty="0"/>
          </a:p>
        </p:txBody>
      </p:sp>
      <p:sp>
        <p:nvSpPr>
          <p:cNvPr id="54" name="Text 52"/>
          <p:cNvSpPr/>
          <p:nvPr/>
        </p:nvSpPr>
        <p:spPr>
          <a:xfrm>
            <a:off x="5750719" y="2252067"/>
            <a:ext cx="171450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</a:t>
            </a:r>
            <a:endParaRPr lang="en-US" sz="563" dirty="0"/>
          </a:p>
        </p:txBody>
      </p:sp>
      <p:sp>
        <p:nvSpPr>
          <p:cNvPr id="55" name="Shape 53"/>
          <p:cNvSpPr/>
          <p:nvPr/>
        </p:nvSpPr>
        <p:spPr>
          <a:xfrm>
            <a:off x="3307556" y="2466380"/>
            <a:ext cx="2528888" cy="607219"/>
          </a:xfrm>
          <a:prstGeom prst="rect">
            <a:avLst/>
          </a:prstGeom>
          <a:solidFill>
            <a:srgbClr val="FFF5F5"/>
          </a:solidFill>
          <a:ln>
            <a:noFill/>
          </a:ln>
        </p:spPr>
      </p:sp>
      <p:sp>
        <p:nvSpPr>
          <p:cNvPr id="56" name="Shape 54"/>
          <p:cNvSpPr/>
          <p:nvPr/>
        </p:nvSpPr>
        <p:spPr>
          <a:xfrm>
            <a:off x="3307556" y="2466380"/>
            <a:ext cx="21431" cy="607219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57" name="Text 55"/>
          <p:cNvSpPr/>
          <p:nvPr/>
        </p:nvSpPr>
        <p:spPr>
          <a:xfrm>
            <a:off x="3414713" y="2523530"/>
            <a:ext cx="2336006" cy="3857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i="1" dirty="0">
                <a:solidFill>
                  <a:srgbClr val="C530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"Retention improvements in the mid-market segment exceeded all projections. The onboarding redesign is clearly working."</a:t>
            </a:r>
            <a:endParaRPr lang="en-US" sz="675" dirty="0"/>
          </a:p>
        </p:txBody>
      </p:sp>
      <p:sp>
        <p:nvSpPr>
          <p:cNvPr id="58" name="Text 56"/>
          <p:cNvSpPr/>
          <p:nvPr/>
        </p:nvSpPr>
        <p:spPr>
          <a:xfrm>
            <a:off x="3414713" y="2937867"/>
            <a:ext cx="2421731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Marcus Rodriguez, Product Lead</a:t>
            </a:r>
            <a:endParaRPr lang="en-US" sz="506" dirty="0"/>
          </a:p>
        </p:txBody>
      </p:sp>
      <p:sp>
        <p:nvSpPr>
          <p:cNvPr id="59" name="Text 57"/>
          <p:cNvSpPr/>
          <p:nvPr/>
        </p:nvSpPr>
        <p:spPr>
          <a:xfrm>
            <a:off x="3307556" y="3173611"/>
            <a:ext cx="2528888" cy="37104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59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platform adoption remains a growth vector, with 38% of enterprise users now accessing via mobile at least once per week. Cross-platform sync reliability improved to 99.97%.</a:t>
            </a:r>
            <a:endParaRPr lang="en-US" sz="591" dirty="0"/>
          </a:p>
        </p:txBody>
      </p:sp>
      <p:sp>
        <p:nvSpPr>
          <p:cNvPr id="60" name="Shape 58"/>
          <p:cNvSpPr/>
          <p:nvPr/>
        </p:nvSpPr>
        <p:spPr>
          <a:xfrm>
            <a:off x="6129338" y="714375"/>
            <a:ext cx="2528888" cy="17859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61" name="Shape 59"/>
          <p:cNvSpPr/>
          <p:nvPr/>
        </p:nvSpPr>
        <p:spPr>
          <a:xfrm>
            <a:off x="6129338" y="878681"/>
            <a:ext cx="2528888" cy="14288"/>
          </a:xfrm>
          <a:prstGeom prst="rect">
            <a:avLst/>
          </a:prstGeom>
          <a:solidFill>
            <a:srgbClr val="4A6CF7"/>
          </a:solidFill>
          <a:ln>
            <a:noFill/>
          </a:ln>
        </p:spPr>
      </p:sp>
      <p:sp>
        <p:nvSpPr>
          <p:cNvPr id="62" name="Text 60"/>
          <p:cNvSpPr/>
          <p:nvPr/>
        </p:nvSpPr>
        <p:spPr>
          <a:xfrm>
            <a:off x="6129338" y="714375"/>
            <a:ext cx="2614613" cy="1785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Summary</a:t>
            </a:r>
            <a:endParaRPr lang="en-US" sz="788" dirty="0"/>
          </a:p>
        </p:txBody>
      </p:sp>
      <p:sp>
        <p:nvSpPr>
          <p:cNvPr id="63" name="Text 61"/>
          <p:cNvSpPr/>
          <p:nvPr/>
        </p:nvSpPr>
        <p:spPr>
          <a:xfrm>
            <a:off x="6129338" y="964406"/>
            <a:ext cx="2528888" cy="4947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59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for Q1 came in at $124.6M, exceeding guidance of $118M by 5.6%. Gross margin held steady at 74.2% despite increased infrastructure costs. Operating expenses grew 8% year-over-year, primarily in R&amp;D headcount expansion.</a:t>
            </a:r>
            <a:endParaRPr lang="en-US" sz="591" dirty="0"/>
          </a:p>
        </p:txBody>
      </p:sp>
      <p:sp>
        <p:nvSpPr>
          <p:cNvPr id="64" name="Text 62"/>
          <p:cNvSpPr/>
          <p:nvPr/>
        </p:nvSpPr>
        <p:spPr>
          <a:xfrm>
            <a:off x="6129338" y="1544836"/>
            <a:ext cx="261461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P&amp;L Highlights</a:t>
            </a:r>
            <a:endParaRPr lang="en-US" sz="619" dirty="0"/>
          </a:p>
        </p:txBody>
      </p:sp>
      <p:sp>
        <p:nvSpPr>
          <p:cNvPr id="65" name="Shape 63"/>
          <p:cNvSpPr/>
          <p:nvPr/>
        </p:nvSpPr>
        <p:spPr>
          <a:xfrm>
            <a:off x="6129338" y="1687711"/>
            <a:ext cx="2528888" cy="13573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66" name="Shape 64"/>
          <p:cNvSpPr/>
          <p:nvPr/>
        </p:nvSpPr>
        <p:spPr>
          <a:xfrm>
            <a:off x="6129338" y="1816298"/>
            <a:ext cx="2528888" cy="0"/>
          </a:xfrm>
          <a:prstGeom prst="line">
            <a:avLst/>
          </a:prstGeom>
          <a:noFill/>
          <a:ln w="12700" algn="in">
            <a:solidFill>
              <a:srgbClr val="E2E8F0"/>
            </a:solidFill>
            <a:prstDash val="sysDot"/>
          </a:ln>
        </p:spPr>
      </p:sp>
      <p:sp>
        <p:nvSpPr>
          <p:cNvPr id="67" name="Text 65"/>
          <p:cNvSpPr/>
          <p:nvPr/>
        </p:nvSpPr>
        <p:spPr>
          <a:xfrm>
            <a:off x="6129338" y="1709142"/>
            <a:ext cx="377476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</a:t>
            </a:r>
            <a:endParaRPr lang="en-US" sz="563" dirty="0"/>
          </a:p>
        </p:txBody>
      </p:sp>
      <p:sp>
        <p:nvSpPr>
          <p:cNvPr id="68" name="Text 66"/>
          <p:cNvSpPr/>
          <p:nvPr/>
        </p:nvSpPr>
        <p:spPr>
          <a:xfrm>
            <a:off x="8360545" y="1709142"/>
            <a:ext cx="383405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$124.6M</a:t>
            </a:r>
            <a:endParaRPr lang="en-US" sz="563" dirty="0"/>
          </a:p>
        </p:txBody>
      </p:sp>
      <p:sp>
        <p:nvSpPr>
          <p:cNvPr id="69" name="Shape 67"/>
          <p:cNvSpPr/>
          <p:nvPr/>
        </p:nvSpPr>
        <p:spPr>
          <a:xfrm>
            <a:off x="6129338" y="1823442"/>
            <a:ext cx="2528888" cy="13573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70" name="Shape 68"/>
          <p:cNvSpPr/>
          <p:nvPr/>
        </p:nvSpPr>
        <p:spPr>
          <a:xfrm>
            <a:off x="6129338" y="1952030"/>
            <a:ext cx="2528888" cy="0"/>
          </a:xfrm>
          <a:prstGeom prst="line">
            <a:avLst/>
          </a:prstGeom>
          <a:noFill/>
          <a:ln w="12700" algn="in">
            <a:solidFill>
              <a:srgbClr val="E2E8F0"/>
            </a:solidFill>
            <a:prstDash val="sysDot"/>
          </a:ln>
        </p:spPr>
      </p:sp>
      <p:sp>
        <p:nvSpPr>
          <p:cNvPr id="71" name="Text 69"/>
          <p:cNvSpPr/>
          <p:nvPr/>
        </p:nvSpPr>
        <p:spPr>
          <a:xfrm>
            <a:off x="6129338" y="1844873"/>
            <a:ext cx="536781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Margin</a:t>
            </a:r>
            <a:endParaRPr lang="en-US" sz="563" dirty="0"/>
          </a:p>
        </p:txBody>
      </p:sp>
      <p:sp>
        <p:nvSpPr>
          <p:cNvPr id="72" name="Text 70"/>
          <p:cNvSpPr/>
          <p:nvPr/>
        </p:nvSpPr>
        <p:spPr>
          <a:xfrm>
            <a:off x="8436983" y="1844873"/>
            <a:ext cx="306967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74.2%</a:t>
            </a:r>
            <a:endParaRPr lang="en-US" sz="563" dirty="0"/>
          </a:p>
        </p:txBody>
      </p:sp>
      <p:sp>
        <p:nvSpPr>
          <p:cNvPr id="73" name="Shape 71"/>
          <p:cNvSpPr/>
          <p:nvPr/>
        </p:nvSpPr>
        <p:spPr>
          <a:xfrm>
            <a:off x="6129338" y="1959173"/>
            <a:ext cx="2528888" cy="13573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74" name="Shape 72"/>
          <p:cNvSpPr/>
          <p:nvPr/>
        </p:nvSpPr>
        <p:spPr>
          <a:xfrm>
            <a:off x="6129338" y="2087761"/>
            <a:ext cx="2528888" cy="0"/>
          </a:xfrm>
          <a:prstGeom prst="line">
            <a:avLst/>
          </a:prstGeom>
          <a:noFill/>
          <a:ln w="12700" algn="in">
            <a:solidFill>
              <a:srgbClr val="E2E8F0"/>
            </a:solidFill>
            <a:prstDash val="sysDot"/>
          </a:ln>
        </p:spPr>
      </p:sp>
      <p:sp>
        <p:nvSpPr>
          <p:cNvPr id="75" name="Text 73"/>
          <p:cNvSpPr/>
          <p:nvPr/>
        </p:nvSpPr>
        <p:spPr>
          <a:xfrm>
            <a:off x="6129338" y="1980605"/>
            <a:ext cx="688800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Operating Income</a:t>
            </a:r>
            <a:endParaRPr lang="en-US" sz="563" dirty="0"/>
          </a:p>
        </p:txBody>
      </p:sp>
      <p:sp>
        <p:nvSpPr>
          <p:cNvPr id="76" name="Text 74"/>
          <p:cNvSpPr/>
          <p:nvPr/>
        </p:nvSpPr>
        <p:spPr>
          <a:xfrm>
            <a:off x="8386763" y="1980605"/>
            <a:ext cx="357188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$28.4M</a:t>
            </a:r>
            <a:endParaRPr lang="en-US" sz="563" dirty="0"/>
          </a:p>
        </p:txBody>
      </p:sp>
      <p:sp>
        <p:nvSpPr>
          <p:cNvPr id="77" name="Shape 75"/>
          <p:cNvSpPr/>
          <p:nvPr/>
        </p:nvSpPr>
        <p:spPr>
          <a:xfrm>
            <a:off x="6129338" y="2094905"/>
            <a:ext cx="2528888" cy="13573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78" name="Shape 76"/>
          <p:cNvSpPr/>
          <p:nvPr/>
        </p:nvSpPr>
        <p:spPr>
          <a:xfrm>
            <a:off x="6129338" y="2223492"/>
            <a:ext cx="2528888" cy="0"/>
          </a:xfrm>
          <a:prstGeom prst="line">
            <a:avLst/>
          </a:prstGeom>
          <a:noFill/>
          <a:ln w="12700" algn="in">
            <a:solidFill>
              <a:srgbClr val="E2E8F0"/>
            </a:solidFill>
            <a:prstDash val="sysDot"/>
          </a:ln>
        </p:spPr>
      </p:sp>
      <p:sp>
        <p:nvSpPr>
          <p:cNvPr id="79" name="Text 77"/>
          <p:cNvSpPr/>
          <p:nvPr/>
        </p:nvSpPr>
        <p:spPr>
          <a:xfrm>
            <a:off x="6129338" y="2116336"/>
            <a:ext cx="606790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Cash Flow</a:t>
            </a:r>
            <a:endParaRPr lang="en-US" sz="563" dirty="0"/>
          </a:p>
        </p:txBody>
      </p:sp>
      <p:sp>
        <p:nvSpPr>
          <p:cNvPr id="80" name="Text 78"/>
          <p:cNvSpPr/>
          <p:nvPr/>
        </p:nvSpPr>
        <p:spPr>
          <a:xfrm>
            <a:off x="8423481" y="2116336"/>
            <a:ext cx="320469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$31.1M</a:t>
            </a:r>
            <a:endParaRPr lang="en-US" sz="563" dirty="0"/>
          </a:p>
        </p:txBody>
      </p:sp>
      <p:sp>
        <p:nvSpPr>
          <p:cNvPr id="81" name="Shape 79"/>
          <p:cNvSpPr/>
          <p:nvPr/>
        </p:nvSpPr>
        <p:spPr>
          <a:xfrm>
            <a:off x="6129338" y="2230636"/>
            <a:ext cx="2528888" cy="13573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82" name="Shape 80"/>
          <p:cNvSpPr/>
          <p:nvPr/>
        </p:nvSpPr>
        <p:spPr>
          <a:xfrm>
            <a:off x="6129338" y="2359223"/>
            <a:ext cx="2528888" cy="0"/>
          </a:xfrm>
          <a:prstGeom prst="line">
            <a:avLst/>
          </a:prstGeom>
          <a:noFill/>
          <a:ln w="12700" algn="in">
            <a:solidFill>
              <a:srgbClr val="E2E8F0"/>
            </a:solidFill>
            <a:prstDash val="sysDot"/>
          </a:ln>
        </p:spPr>
      </p:sp>
      <p:sp>
        <p:nvSpPr>
          <p:cNvPr id="83" name="Text 81"/>
          <p:cNvSpPr/>
          <p:nvPr/>
        </p:nvSpPr>
        <p:spPr>
          <a:xfrm>
            <a:off x="6129338" y="2252067"/>
            <a:ext cx="227028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</a:t>
            </a:r>
            <a:endParaRPr lang="en-US" sz="563" dirty="0"/>
          </a:p>
        </p:txBody>
      </p:sp>
      <p:sp>
        <p:nvSpPr>
          <p:cNvPr id="84" name="Text 82"/>
          <p:cNvSpPr/>
          <p:nvPr/>
        </p:nvSpPr>
        <p:spPr>
          <a:xfrm>
            <a:off x="8410408" y="2252067"/>
            <a:ext cx="333542" cy="857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63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$502M</a:t>
            </a:r>
            <a:endParaRPr lang="en-US" sz="563" dirty="0"/>
          </a:p>
        </p:txBody>
      </p:sp>
      <p:sp>
        <p:nvSpPr>
          <p:cNvPr id="85" name="Shape 83"/>
          <p:cNvSpPr/>
          <p:nvPr/>
        </p:nvSpPr>
        <p:spPr>
          <a:xfrm>
            <a:off x="6129338" y="2466380"/>
            <a:ext cx="2528888" cy="607219"/>
          </a:xfrm>
          <a:prstGeom prst="rect">
            <a:avLst/>
          </a:prstGeom>
          <a:solidFill>
            <a:srgbClr val="FFF5F5"/>
          </a:solidFill>
          <a:ln>
            <a:noFill/>
          </a:ln>
        </p:spPr>
      </p:sp>
      <p:sp>
        <p:nvSpPr>
          <p:cNvPr id="86" name="Shape 84"/>
          <p:cNvSpPr/>
          <p:nvPr/>
        </p:nvSpPr>
        <p:spPr>
          <a:xfrm>
            <a:off x="6129338" y="2466380"/>
            <a:ext cx="21431" cy="607219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87" name="Text 85"/>
          <p:cNvSpPr/>
          <p:nvPr/>
        </p:nvSpPr>
        <p:spPr>
          <a:xfrm>
            <a:off x="6236494" y="2523530"/>
            <a:ext cx="2336006" cy="3857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i="1" dirty="0">
                <a:solidFill>
                  <a:srgbClr val="C5303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"Cash generation remains strong. We are well-positioned to fund both organic growth and targeted M&amp;A through 2027."</a:t>
            </a:r>
            <a:endParaRPr lang="en-US" sz="675" dirty="0"/>
          </a:p>
        </p:txBody>
      </p:sp>
      <p:sp>
        <p:nvSpPr>
          <p:cNvPr id="88" name="Text 86"/>
          <p:cNvSpPr/>
          <p:nvPr/>
        </p:nvSpPr>
        <p:spPr>
          <a:xfrm>
            <a:off x="6236494" y="2937867"/>
            <a:ext cx="2421731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06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David Park, CFO</a:t>
            </a:r>
            <a:endParaRPr lang="en-US" sz="506" dirty="0"/>
          </a:p>
        </p:txBody>
      </p:sp>
      <p:sp>
        <p:nvSpPr>
          <p:cNvPr id="89" name="Text 87"/>
          <p:cNvSpPr/>
          <p:nvPr/>
        </p:nvSpPr>
        <p:spPr>
          <a:xfrm>
            <a:off x="6129338" y="3173611"/>
            <a:ext cx="2528888" cy="49470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7500"/>
              </a:lnSpc>
              <a:buNone/>
            </a:pPr>
            <a:r>
              <a:rPr lang="en-US" sz="59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Deferred revenue grew to $186M, providing strong forward visibility. International revenue now represents 34% of total, up from 28% a year ago. Currency headwinds reduced reported growth by approximately 2 percentage points.</a:t>
            </a:r>
            <a:endParaRPr lang="en-US" sz="591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42900"/>
            <a:ext cx="8429625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63" b="1" dirty="0">
                <a:solidFill>
                  <a:srgbClr val="E6E6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Gradient Backgrounds &amp; Opacity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400050" y="621506"/>
            <a:ext cx="842962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 gradient rendering, semi-transparent overlays, text-shadow, and opacity levels</a:t>
            </a:r>
            <a:endParaRPr lang="en-US" sz="731" dirty="0"/>
          </a:p>
        </p:txBody>
      </p:sp>
      <p:sp>
        <p:nvSpPr>
          <p:cNvPr id="4" name="GRAD_40"/>
          <p:cNvSpPr/>
          <p:nvPr/>
        </p:nvSpPr>
        <p:spPr>
          <a:xfrm>
            <a:off x="400050" y="935831"/>
            <a:ext cx="2686050" cy="142875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4A6CF7"/>
              </a:gs>
              <a:gs pos="100000">
                <a:srgbClr val="805AD5"/>
              </a:gs>
            </a:gsLst>
            <a:lin ang="2700000" scaled="0"/>
          </a:gradFill>
          <a:ln>
            <a:noFill/>
          </a:ln>
        </p:spPr>
      </p:sp>
      <p:sp>
        <p:nvSpPr>
          <p:cNvPr id="5" name="Text 3"/>
          <p:cNvSpPr/>
          <p:nvPr/>
        </p:nvSpPr>
        <p:spPr>
          <a:xfrm>
            <a:off x="571500" y="1107281"/>
            <a:ext cx="2428875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Blue → Purple Gradient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71500" y="1321594"/>
            <a:ext cx="2343150" cy="44569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73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Linear gradient at 135 degrees from #4a6cf7 to #805ad5. The converter should either reproduce the gradient or pick a representative solid color.</a:t>
            </a:r>
            <a:endParaRPr lang="en-US" sz="731" dirty="0"/>
          </a:p>
        </p:txBody>
      </p:sp>
      <p:sp>
        <p:nvSpPr>
          <p:cNvPr id="7" name="GRAD_41"/>
          <p:cNvSpPr/>
          <p:nvPr/>
        </p:nvSpPr>
        <p:spPr>
          <a:xfrm>
            <a:off x="3228975" y="935831"/>
            <a:ext cx="2686050" cy="1428750"/>
          </a:xfrm>
          <a:prstGeom prst="roundRect">
            <a:avLst>
              <a:gd name="adj" fmla="val 7000"/>
            </a:avLst>
          </a:prstGeom>
          <a:gradFill rotWithShape="1">
            <a:gsLst>
              <a:gs pos="0">
                <a:srgbClr val="E94560"/>
              </a:gs>
              <a:gs pos="50000">
                <a:srgbClr val="FF6B6B"/>
              </a:gs>
              <a:gs pos="100000">
                <a:srgbClr val="FFD93D"/>
              </a:gs>
            </a:gsLst>
            <a:lin ang="5400000" scaled="0"/>
          </a:gradFill>
          <a:ln>
            <a:noFill/>
          </a:ln>
        </p:spPr>
      </p:sp>
      <p:sp>
        <p:nvSpPr>
          <p:cNvPr id="8" name="Text 6"/>
          <p:cNvSpPr/>
          <p:nvPr/>
        </p:nvSpPr>
        <p:spPr>
          <a:xfrm>
            <a:off x="3400425" y="1107281"/>
            <a:ext cx="2428875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Three-Stop Gradient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400425" y="1321594"/>
            <a:ext cx="2343150" cy="44569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73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 → coral → yellow with three color stops. Multi-stop gradients are harder to approximate with a single solid fallback color.</a:t>
            </a:r>
            <a:endParaRPr lang="en-US" sz="731" dirty="0"/>
          </a:p>
        </p:txBody>
      </p:sp>
      <p:sp>
        <p:nvSpPr>
          <p:cNvPr id="10" name="Shape 8"/>
          <p:cNvSpPr/>
          <p:nvPr/>
        </p:nvSpPr>
        <p:spPr>
          <a:xfrm>
            <a:off x="6057900" y="935831"/>
            <a:ext cx="2686050" cy="1428750"/>
          </a:xfrm>
          <a:prstGeom prst="roundRect">
            <a:avLst>
              <a:gd name="adj" fmla="val 7000"/>
            </a:avLst>
          </a:prstGeom>
          <a:solidFill>
            <a:srgbClr val="2D2D5E"/>
          </a:solidFill>
          <a:ln>
            <a:noFill/>
          </a:ln>
        </p:spPr>
      </p:sp>
      <p:sp>
        <p:nvSpPr>
          <p:cNvPr id="11" name="Shape 9"/>
          <p:cNvSpPr/>
          <p:nvPr/>
        </p:nvSpPr>
        <p:spPr>
          <a:xfrm>
            <a:off x="6057900" y="935831"/>
            <a:ext cx="2686050" cy="1428750"/>
          </a:xfrm>
          <a:prstGeom prst="roundRect">
            <a:avLst>
              <a:gd name="adj" fmla="val 7000"/>
            </a:avLst>
          </a:prstGeom>
          <a:solidFill>
            <a:srgbClr val="36408C"/>
          </a:solidFill>
          <a:ln>
            <a:noFill/>
          </a:ln>
        </p:spPr>
      </p:sp>
      <p:sp>
        <p:nvSpPr>
          <p:cNvPr id="12" name="Text 10"/>
          <p:cNvSpPr/>
          <p:nvPr/>
        </p:nvSpPr>
        <p:spPr>
          <a:xfrm>
            <a:off x="6229350" y="1107281"/>
            <a:ext cx="2428875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A8C8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Semi-Transparent Overlay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229350" y="1321594"/>
            <a:ext cx="2343150" cy="445699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731" dirty="0">
                <a:solidFill>
                  <a:srgbClr val="C0C8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card has a ::before pseudo-element with rgba(74,108,247,0.3) overlaid on a solid #2d2d5e background. The visual result is a tinted composite.</a:t>
            </a:r>
            <a:endParaRPr lang="en-US" sz="731" dirty="0"/>
          </a:p>
        </p:txBody>
      </p:sp>
      <p:sp>
        <p:nvSpPr>
          <p:cNvPr id="14" name="Shape 12"/>
          <p:cNvSpPr/>
          <p:nvPr/>
        </p:nvSpPr>
        <p:spPr>
          <a:xfrm>
            <a:off x="400050" y="2536031"/>
            <a:ext cx="2658118" cy="1092994"/>
          </a:xfrm>
          <a:prstGeom prst="roundRect">
            <a:avLst>
              <a:gd name="adj" fmla="val 9150"/>
            </a:avLst>
          </a:prstGeom>
          <a:solidFill>
            <a:srgbClr val="16213E"/>
          </a:solidFill>
          <a:ln>
            <a:noFill/>
          </a:ln>
        </p:spPr>
      </p:sp>
      <p:sp>
        <p:nvSpPr>
          <p:cNvPr id="15" name="Text 13"/>
          <p:cNvSpPr/>
          <p:nvPr/>
        </p:nvSpPr>
        <p:spPr>
          <a:xfrm>
            <a:off x="571500" y="2825353"/>
            <a:ext cx="2400943" cy="2428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Glowing Text Shadow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571500" y="3125391"/>
            <a:ext cx="2315218" cy="2143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text-shadow: 0 0 20px rgba(blue, 0.8). Should fallback to plain text.</a:t>
            </a:r>
            <a:endParaRPr lang="en-US" sz="675" dirty="0"/>
          </a:p>
        </p:txBody>
      </p:sp>
      <p:sp>
        <p:nvSpPr>
          <p:cNvPr id="17" name="Shape 15"/>
          <p:cNvSpPr/>
          <p:nvPr/>
        </p:nvSpPr>
        <p:spPr>
          <a:xfrm>
            <a:off x="3201043" y="2536031"/>
            <a:ext cx="2741771" cy="1092994"/>
          </a:xfrm>
          <a:prstGeom prst="roundRect">
            <a:avLst>
              <a:gd name="adj" fmla="val 9150"/>
            </a:avLst>
          </a:prstGeom>
          <a:solidFill>
            <a:srgbClr val="16213E"/>
          </a:solidFill>
          <a:ln>
            <a:noFill/>
          </a:ln>
        </p:spPr>
      </p:sp>
      <p:sp>
        <p:nvSpPr>
          <p:cNvPr id="18" name="Shape 16"/>
          <p:cNvSpPr/>
          <p:nvPr/>
        </p:nvSpPr>
        <p:spPr>
          <a:xfrm>
            <a:off x="3372493" y="2796778"/>
            <a:ext cx="571500" cy="571500"/>
          </a:xfrm>
          <a:prstGeom prst="ellipse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19" name="Text 17"/>
          <p:cNvSpPr/>
          <p:nvPr/>
        </p:nvSpPr>
        <p:spPr>
          <a:xfrm>
            <a:off x="3372493" y="2796778"/>
            <a:ext cx="571500" cy="571500"/>
          </a:xfrm>
          <a:prstGeom prst="rect">
            <a:avLst/>
          </a:prstGeom>
          <a:ln>
            <a:noFill/>
          </a:ln>
        </p:spPr>
        <p:txBody>
          <a:bodyPr wrap="square" lIns="0" tIns="3429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100%</a:t>
            </a:r>
            <a:endParaRPr lang="en-US" sz="1125" dirty="0"/>
          </a:p>
        </p:txBody>
      </p:sp>
      <p:sp>
        <p:nvSpPr>
          <p:cNvPr id="20" name="Shape 18"/>
          <p:cNvSpPr/>
          <p:nvPr/>
        </p:nvSpPr>
        <p:spPr>
          <a:xfrm>
            <a:off x="4058293" y="2796778"/>
            <a:ext cx="571500" cy="571500"/>
          </a:xfrm>
          <a:prstGeom prst="ellipse">
            <a:avLst/>
          </a:prstGeom>
          <a:solidFill>
            <a:srgbClr val="E94560">
              <a:alpha val="50000"/>
            </a:srgbClr>
          </a:solidFill>
          <a:ln>
            <a:noFill/>
          </a:ln>
        </p:spPr>
      </p:sp>
      <p:sp>
        <p:nvSpPr>
          <p:cNvPr id="21" name="Text 19"/>
          <p:cNvSpPr/>
          <p:nvPr/>
        </p:nvSpPr>
        <p:spPr>
          <a:xfrm>
            <a:off x="4058293" y="2796778"/>
            <a:ext cx="571500" cy="571500"/>
          </a:xfrm>
          <a:prstGeom prst="rect">
            <a:avLst/>
          </a:prstGeom>
          <a:ln>
            <a:noFill/>
          </a:ln>
        </p:spPr>
        <p:txBody>
          <a:bodyPr wrap="square" lIns="0" tIns="3429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50%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4744093" y="2796778"/>
            <a:ext cx="571500" cy="571500"/>
          </a:xfrm>
          <a:prstGeom prst="ellipse">
            <a:avLst/>
          </a:prstGeom>
          <a:solidFill>
            <a:srgbClr val="E94560">
              <a:alpha val="25000"/>
            </a:srgbClr>
          </a:solidFill>
          <a:ln>
            <a:noFill/>
          </a:ln>
        </p:spPr>
      </p:sp>
      <p:sp>
        <p:nvSpPr>
          <p:cNvPr id="23" name="Text 21"/>
          <p:cNvSpPr/>
          <p:nvPr/>
        </p:nvSpPr>
        <p:spPr>
          <a:xfrm>
            <a:off x="4744093" y="2796778"/>
            <a:ext cx="571500" cy="571500"/>
          </a:xfrm>
          <a:prstGeom prst="rect">
            <a:avLst/>
          </a:prstGeom>
          <a:ln>
            <a:noFill/>
          </a:ln>
        </p:spPr>
        <p:txBody>
          <a:bodyPr wrap="square" lIns="0" tIns="3429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25%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5429893" y="2707481"/>
            <a:ext cx="341471" cy="7500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identical badges at</a:t>
            </a:r>
            <a:endParaRPr lang="en-US" sz="675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675" dirty="0">
                <a:solidFill>
                  <a:srgbClr val="8892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opacity levels</a:t>
            </a:r>
            <a:endParaRPr lang="en-US" sz="675" dirty="0"/>
          </a:p>
        </p:txBody>
      </p:sp>
      <p:sp>
        <p:nvSpPr>
          <p:cNvPr id="25" name="GRAD_42"/>
          <p:cNvSpPr/>
          <p:nvPr/>
        </p:nvSpPr>
        <p:spPr>
          <a:xfrm>
            <a:off x="6085689" y="2536031"/>
            <a:ext cx="2658261" cy="1092994"/>
          </a:xfrm>
          <a:prstGeom prst="roundRect">
            <a:avLst>
              <a:gd name="adj" fmla="val 9150"/>
            </a:avLst>
          </a:prstGeom>
          <a:gradFill rotWithShape="1">
            <a:gsLst>
              <a:gs pos="0">
                <a:srgbClr val="38B2AC"/>
              </a:gs>
              <a:gs pos="33333">
                <a:srgbClr val="4A6CF7"/>
              </a:gs>
              <a:gs pos="66667">
                <a:srgbClr val="805AD5"/>
              </a:gs>
              <a:gs pos="100000">
                <a:srgbClr val="E94560"/>
              </a:gs>
            </a:gsLst>
            <a:lin ang="0" scaled="0"/>
          </a:gradFill>
          <a:ln>
            <a:noFill/>
          </a:ln>
        </p:spPr>
      </p:sp>
      <p:sp>
        <p:nvSpPr>
          <p:cNvPr id="26" name="Text 24"/>
          <p:cNvSpPr/>
          <p:nvPr/>
        </p:nvSpPr>
        <p:spPr>
          <a:xfrm>
            <a:off x="6257139" y="2536031"/>
            <a:ext cx="2315361" cy="10929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88" b="1" u="none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4-color horizontal gradient bar →</a:t>
            </a:r>
            <a:endParaRPr lang="en-US" sz="788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14325"/>
            <a:ext cx="8429625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63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List with Icon Indicators</a:t>
            </a:r>
            <a:endParaRPr lang="en-US" sz="1463" dirty="0"/>
          </a:p>
        </p:txBody>
      </p:sp>
      <p:sp>
        <p:nvSpPr>
          <p:cNvPr id="3" name="Text 1"/>
          <p:cNvSpPr/>
          <p:nvPr/>
        </p:nvSpPr>
        <p:spPr>
          <a:xfrm>
            <a:off x="400050" y="578644"/>
            <a:ext cx="842962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Flex-based list layout — no &lt;ul&gt; or &lt;ol&gt; elements used</a:t>
            </a:r>
            <a:endParaRPr lang="en-US" sz="731" dirty="0"/>
          </a:p>
        </p:txBody>
      </p:sp>
      <p:sp>
        <p:nvSpPr>
          <p:cNvPr id="4" name="Text 2"/>
          <p:cNvSpPr/>
          <p:nvPr/>
        </p:nvSpPr>
        <p:spPr>
          <a:xfrm>
            <a:off x="400050" y="892969"/>
            <a:ext cx="414337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PLATFORM</a:t>
            </a:r>
            <a:endParaRPr lang="en-US" sz="731" dirty="0"/>
          </a:p>
        </p:txBody>
      </p:sp>
      <p:sp>
        <p:nvSpPr>
          <p:cNvPr id="5" name="Shape 3"/>
          <p:cNvSpPr/>
          <p:nvPr/>
        </p:nvSpPr>
        <p:spPr>
          <a:xfrm>
            <a:off x="400050" y="1121569"/>
            <a:ext cx="4057650" cy="485775"/>
          </a:xfrm>
          <a:prstGeom prst="rect">
            <a:avLst/>
          </a:prstGeom>
          <a:solidFill>
            <a:srgbClr val="FAFBFC">
              <a:alpha val="0"/>
            </a:srgbClr>
          </a:solidFill>
          <a:ln>
            <a:noFill/>
          </a:ln>
        </p:spPr>
      </p:sp>
      <p:sp>
        <p:nvSpPr>
          <p:cNvPr id="6" name="Shape 4"/>
          <p:cNvSpPr/>
          <p:nvPr/>
        </p:nvSpPr>
        <p:spPr>
          <a:xfrm>
            <a:off x="400050" y="1600200"/>
            <a:ext cx="4057650" cy="7144"/>
          </a:xfrm>
          <a:prstGeom prst="rect">
            <a:avLst/>
          </a:prstGeom>
          <a:solidFill>
            <a:srgbClr val="EDF2F7"/>
          </a:solidFill>
          <a:ln>
            <a:noFill/>
          </a:ln>
        </p:spPr>
      </p:sp>
      <p:sp>
        <p:nvSpPr>
          <p:cNvPr id="7" name="Shape 5"/>
          <p:cNvSpPr/>
          <p:nvPr/>
        </p:nvSpPr>
        <p:spPr>
          <a:xfrm>
            <a:off x="400050" y="1221581"/>
            <a:ext cx="257175" cy="257175"/>
          </a:xfrm>
          <a:prstGeom prst="ellipse">
            <a:avLst/>
          </a:prstGeom>
          <a:solidFill>
            <a:srgbClr val="3182CE"/>
          </a:solidFill>
          <a:ln>
            <a:noFill/>
          </a:ln>
        </p:spPr>
      </p:sp>
      <p:sp>
        <p:nvSpPr>
          <p:cNvPr id="8" name="Text 6"/>
          <p:cNvSpPr/>
          <p:nvPr/>
        </p:nvSpPr>
        <p:spPr>
          <a:xfrm>
            <a:off x="400050" y="1221581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57238" y="1221581"/>
            <a:ext cx="1091994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Analytics</a:t>
            </a:r>
            <a:endParaRPr lang="en-US" sz="788" dirty="0"/>
          </a:p>
        </p:txBody>
      </p:sp>
      <p:sp>
        <p:nvSpPr>
          <p:cNvPr id="10" name="Text 8"/>
          <p:cNvSpPr/>
          <p:nvPr/>
        </p:nvSpPr>
        <p:spPr>
          <a:xfrm>
            <a:off x="757238" y="1371600"/>
            <a:ext cx="3786188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metrics with customizable widgets and export capabilities for team reporting.</a:t>
            </a:r>
            <a:endParaRPr lang="en-US" sz="675" dirty="0"/>
          </a:p>
        </p:txBody>
      </p:sp>
      <p:sp>
        <p:nvSpPr>
          <p:cNvPr id="11" name="Shape 9"/>
          <p:cNvSpPr/>
          <p:nvPr/>
        </p:nvSpPr>
        <p:spPr>
          <a:xfrm>
            <a:off x="400050" y="1607344"/>
            <a:ext cx="4057650" cy="485775"/>
          </a:xfrm>
          <a:prstGeom prst="rect">
            <a:avLst/>
          </a:prstGeom>
          <a:solidFill>
            <a:srgbClr val="FAFBFC">
              <a:alpha val="0"/>
            </a:srgbClr>
          </a:solidFill>
          <a:ln>
            <a:noFill/>
          </a:ln>
        </p:spPr>
      </p:sp>
      <p:sp>
        <p:nvSpPr>
          <p:cNvPr id="12" name="Shape 10"/>
          <p:cNvSpPr/>
          <p:nvPr/>
        </p:nvSpPr>
        <p:spPr>
          <a:xfrm>
            <a:off x="400050" y="2085975"/>
            <a:ext cx="4057650" cy="7144"/>
          </a:xfrm>
          <a:prstGeom prst="rect">
            <a:avLst/>
          </a:prstGeom>
          <a:solidFill>
            <a:srgbClr val="EDF2F7"/>
          </a:solidFill>
          <a:ln>
            <a:noFill/>
          </a:ln>
        </p:spPr>
      </p:sp>
      <p:sp>
        <p:nvSpPr>
          <p:cNvPr id="13" name="Shape 11"/>
          <p:cNvSpPr/>
          <p:nvPr/>
        </p:nvSpPr>
        <p:spPr>
          <a:xfrm>
            <a:off x="400050" y="1707356"/>
            <a:ext cx="257175" cy="257175"/>
          </a:xfrm>
          <a:prstGeom prst="ellipse">
            <a:avLst/>
          </a:prstGeom>
          <a:solidFill>
            <a:srgbClr val="38A169"/>
          </a:solidFill>
          <a:ln>
            <a:noFill/>
          </a:ln>
        </p:spPr>
      </p:sp>
      <p:sp>
        <p:nvSpPr>
          <p:cNvPr id="14" name="Text 12"/>
          <p:cNvSpPr/>
          <p:nvPr/>
        </p:nvSpPr>
        <p:spPr>
          <a:xfrm>
            <a:off x="400050" y="1707356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57238" y="1707356"/>
            <a:ext cx="655796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Gateway</a:t>
            </a:r>
            <a:endParaRPr lang="en-US" sz="788" dirty="0"/>
          </a:p>
        </p:txBody>
      </p:sp>
      <p:sp>
        <p:nvSpPr>
          <p:cNvPr id="16" name="Shape 14"/>
          <p:cNvSpPr/>
          <p:nvPr/>
        </p:nvSpPr>
        <p:spPr>
          <a:xfrm>
            <a:off x="1427321" y="1714500"/>
            <a:ext cx="279821" cy="107156"/>
          </a:xfrm>
          <a:prstGeom prst="roundRect">
            <a:avLst>
              <a:gd name="adj" fmla="val 50000"/>
            </a:avLst>
          </a:prstGeom>
          <a:solidFill>
            <a:srgbClr val="38A169"/>
          </a:solidFill>
          <a:ln>
            <a:noFill/>
          </a:ln>
        </p:spPr>
      </p:sp>
      <p:sp>
        <p:nvSpPr>
          <p:cNvPr id="17" name="Text 15"/>
          <p:cNvSpPr/>
          <p:nvPr/>
        </p:nvSpPr>
        <p:spPr>
          <a:xfrm>
            <a:off x="1384459" y="1714500"/>
            <a:ext cx="36554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0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</a:t>
            </a:r>
            <a:endParaRPr lang="en-US" sz="506" dirty="0"/>
          </a:p>
        </p:txBody>
      </p:sp>
      <p:sp>
        <p:nvSpPr>
          <p:cNvPr id="18" name="Text 16"/>
          <p:cNvSpPr/>
          <p:nvPr/>
        </p:nvSpPr>
        <p:spPr>
          <a:xfrm>
            <a:off x="757238" y="1857375"/>
            <a:ext cx="3786188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 limiting, auth middleware, and request transformation in a unified gateway layer.</a:t>
            </a:r>
            <a:endParaRPr lang="en-US" sz="675" dirty="0"/>
          </a:p>
        </p:txBody>
      </p:sp>
      <p:sp>
        <p:nvSpPr>
          <p:cNvPr id="19" name="Shape 17"/>
          <p:cNvSpPr/>
          <p:nvPr/>
        </p:nvSpPr>
        <p:spPr>
          <a:xfrm>
            <a:off x="400050" y="2093119"/>
            <a:ext cx="4057650" cy="485775"/>
          </a:xfrm>
          <a:prstGeom prst="rect">
            <a:avLst/>
          </a:prstGeom>
          <a:solidFill>
            <a:srgbClr val="FAFBFC">
              <a:alpha val="0"/>
            </a:srgbClr>
          </a:solidFill>
          <a:ln>
            <a:noFill/>
          </a:ln>
        </p:spPr>
      </p:sp>
      <p:sp>
        <p:nvSpPr>
          <p:cNvPr id="20" name="Shape 18"/>
          <p:cNvSpPr/>
          <p:nvPr/>
        </p:nvSpPr>
        <p:spPr>
          <a:xfrm>
            <a:off x="400050" y="2571750"/>
            <a:ext cx="4057650" cy="7144"/>
          </a:xfrm>
          <a:prstGeom prst="rect">
            <a:avLst/>
          </a:prstGeom>
          <a:solidFill>
            <a:srgbClr val="EDF2F7"/>
          </a:solidFill>
          <a:ln>
            <a:noFill/>
          </a:ln>
        </p:spPr>
      </p:sp>
      <p:sp>
        <p:nvSpPr>
          <p:cNvPr id="21" name="Shape 19"/>
          <p:cNvSpPr/>
          <p:nvPr/>
        </p:nvSpPr>
        <p:spPr>
          <a:xfrm>
            <a:off x="400050" y="2193131"/>
            <a:ext cx="257175" cy="257175"/>
          </a:xfrm>
          <a:prstGeom prst="ellipse">
            <a:avLst/>
          </a:prstGeom>
          <a:solidFill>
            <a:srgbClr val="E53E3E"/>
          </a:solidFill>
          <a:ln>
            <a:noFill/>
          </a:ln>
        </p:spPr>
      </p:sp>
      <p:sp>
        <p:nvSpPr>
          <p:cNvPr id="22" name="Text 20"/>
          <p:cNvSpPr/>
          <p:nvPr/>
        </p:nvSpPr>
        <p:spPr>
          <a:xfrm>
            <a:off x="400050" y="2193131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57238" y="2193131"/>
            <a:ext cx="844606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Center</a:t>
            </a:r>
            <a:endParaRPr lang="en-US" sz="788" dirty="0"/>
          </a:p>
        </p:txBody>
      </p:sp>
      <p:sp>
        <p:nvSpPr>
          <p:cNvPr id="24" name="Text 22"/>
          <p:cNvSpPr/>
          <p:nvPr/>
        </p:nvSpPr>
        <p:spPr>
          <a:xfrm>
            <a:off x="757238" y="2343150"/>
            <a:ext cx="3786188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Threat detection, vulnerability scanning, and compliance monitoring in one view.</a:t>
            </a:r>
            <a:endParaRPr lang="en-US" sz="675" dirty="0"/>
          </a:p>
        </p:txBody>
      </p:sp>
      <p:sp>
        <p:nvSpPr>
          <p:cNvPr id="25" name="Shape 23"/>
          <p:cNvSpPr/>
          <p:nvPr/>
        </p:nvSpPr>
        <p:spPr>
          <a:xfrm>
            <a:off x="400050" y="2578894"/>
            <a:ext cx="4057650" cy="485775"/>
          </a:xfrm>
          <a:prstGeom prst="rect">
            <a:avLst/>
          </a:prstGeom>
          <a:solidFill>
            <a:srgbClr val="FAFBFC">
              <a:alpha val="0"/>
            </a:srgbClr>
          </a:solidFill>
          <a:ln>
            <a:noFill/>
          </a:ln>
        </p:spPr>
      </p:sp>
      <p:sp>
        <p:nvSpPr>
          <p:cNvPr id="26" name="Shape 24"/>
          <p:cNvSpPr/>
          <p:nvPr/>
        </p:nvSpPr>
        <p:spPr>
          <a:xfrm>
            <a:off x="400050" y="3057525"/>
            <a:ext cx="4057650" cy="7144"/>
          </a:xfrm>
          <a:prstGeom prst="rect">
            <a:avLst/>
          </a:prstGeom>
          <a:solidFill>
            <a:srgbClr val="EDF2F7"/>
          </a:solidFill>
          <a:ln>
            <a:noFill/>
          </a:ln>
        </p:spPr>
      </p:sp>
      <p:sp>
        <p:nvSpPr>
          <p:cNvPr id="27" name="Shape 25"/>
          <p:cNvSpPr/>
          <p:nvPr/>
        </p:nvSpPr>
        <p:spPr>
          <a:xfrm>
            <a:off x="400050" y="2678906"/>
            <a:ext cx="257175" cy="257175"/>
          </a:xfrm>
          <a:prstGeom prst="ellipse">
            <a:avLst/>
          </a:prstGeom>
          <a:solidFill>
            <a:srgbClr val="DD6B20"/>
          </a:solidFill>
          <a:ln>
            <a:noFill/>
          </a:ln>
        </p:spPr>
      </p:sp>
      <p:sp>
        <p:nvSpPr>
          <p:cNvPr id="28" name="Text 26"/>
          <p:cNvSpPr/>
          <p:nvPr/>
        </p:nvSpPr>
        <p:spPr>
          <a:xfrm>
            <a:off x="400050" y="2678906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57238" y="2678906"/>
            <a:ext cx="1092851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Automation</a:t>
            </a:r>
            <a:endParaRPr lang="en-US" sz="788" dirty="0"/>
          </a:p>
        </p:txBody>
      </p:sp>
      <p:sp>
        <p:nvSpPr>
          <p:cNvPr id="30" name="Shape 28"/>
          <p:cNvSpPr/>
          <p:nvPr/>
        </p:nvSpPr>
        <p:spPr>
          <a:xfrm>
            <a:off x="1864376" y="2686050"/>
            <a:ext cx="263533" cy="107156"/>
          </a:xfrm>
          <a:prstGeom prst="roundRect">
            <a:avLst>
              <a:gd name="adj" fmla="val 50000"/>
            </a:avLst>
          </a:prstGeom>
          <a:solidFill>
            <a:srgbClr val="E53E3E"/>
          </a:solidFill>
          <a:ln>
            <a:noFill/>
          </a:ln>
        </p:spPr>
      </p:sp>
      <p:sp>
        <p:nvSpPr>
          <p:cNvPr id="31" name="Text 29"/>
          <p:cNvSpPr/>
          <p:nvPr/>
        </p:nvSpPr>
        <p:spPr>
          <a:xfrm>
            <a:off x="1821513" y="2686050"/>
            <a:ext cx="349258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0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</a:t>
            </a:r>
            <a:endParaRPr lang="en-US" sz="506" dirty="0"/>
          </a:p>
        </p:txBody>
      </p:sp>
      <p:sp>
        <p:nvSpPr>
          <p:cNvPr id="32" name="Text 30"/>
          <p:cNvSpPr/>
          <p:nvPr/>
        </p:nvSpPr>
        <p:spPr>
          <a:xfrm>
            <a:off x="757238" y="2828925"/>
            <a:ext cx="3786188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workflow builder with 200+ integrations and conditional branching logic.</a:t>
            </a:r>
            <a:endParaRPr lang="en-US" sz="675" dirty="0"/>
          </a:p>
        </p:txBody>
      </p:sp>
      <p:sp>
        <p:nvSpPr>
          <p:cNvPr id="33" name="Shape 31"/>
          <p:cNvSpPr/>
          <p:nvPr/>
        </p:nvSpPr>
        <p:spPr>
          <a:xfrm>
            <a:off x="400050" y="3164681"/>
            <a:ext cx="257175" cy="257175"/>
          </a:xfrm>
          <a:prstGeom prst="ellipse">
            <a:avLst/>
          </a:prstGeom>
          <a:solidFill>
            <a:srgbClr val="805AD5"/>
          </a:solidFill>
          <a:ln>
            <a:noFill/>
          </a:ln>
        </p:spPr>
      </p:sp>
      <p:sp>
        <p:nvSpPr>
          <p:cNvPr id="34" name="Text 32"/>
          <p:cNvSpPr/>
          <p:nvPr/>
        </p:nvSpPr>
        <p:spPr>
          <a:xfrm>
            <a:off x="400050" y="3164681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57238" y="3164681"/>
            <a:ext cx="1024271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Collaboration</a:t>
            </a:r>
            <a:endParaRPr lang="en-US" sz="788" dirty="0"/>
          </a:p>
        </p:txBody>
      </p:sp>
      <p:sp>
        <p:nvSpPr>
          <p:cNvPr id="36" name="Text 34"/>
          <p:cNvSpPr/>
          <p:nvPr/>
        </p:nvSpPr>
        <p:spPr>
          <a:xfrm>
            <a:off x="757238" y="3314700"/>
            <a:ext cx="3786188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workspaces, commenting, and real-time co-editing for distributed teams.</a:t>
            </a:r>
            <a:endParaRPr lang="en-US" sz="675" dirty="0"/>
          </a:p>
        </p:txBody>
      </p:sp>
      <p:sp>
        <p:nvSpPr>
          <p:cNvPr id="37" name="Text 35"/>
          <p:cNvSpPr/>
          <p:nvPr/>
        </p:nvSpPr>
        <p:spPr>
          <a:xfrm>
            <a:off x="4686300" y="892969"/>
            <a:ext cx="414337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FEATURES</a:t>
            </a:r>
            <a:endParaRPr lang="en-US" sz="731" dirty="0"/>
          </a:p>
        </p:txBody>
      </p:sp>
      <p:sp>
        <p:nvSpPr>
          <p:cNvPr id="38" name="Shape 36"/>
          <p:cNvSpPr/>
          <p:nvPr/>
        </p:nvSpPr>
        <p:spPr>
          <a:xfrm>
            <a:off x="4686300" y="1121569"/>
            <a:ext cx="4057650" cy="485775"/>
          </a:xfrm>
          <a:prstGeom prst="rect">
            <a:avLst/>
          </a:prstGeom>
          <a:solidFill>
            <a:srgbClr val="FAFBFC">
              <a:alpha val="0"/>
            </a:srgbClr>
          </a:solidFill>
          <a:ln>
            <a:noFill/>
          </a:ln>
        </p:spPr>
      </p:sp>
      <p:sp>
        <p:nvSpPr>
          <p:cNvPr id="39" name="Shape 37"/>
          <p:cNvSpPr/>
          <p:nvPr/>
        </p:nvSpPr>
        <p:spPr>
          <a:xfrm>
            <a:off x="4686300" y="1600200"/>
            <a:ext cx="4057650" cy="7144"/>
          </a:xfrm>
          <a:prstGeom prst="rect">
            <a:avLst/>
          </a:prstGeom>
          <a:solidFill>
            <a:srgbClr val="EDF2F7"/>
          </a:solidFill>
          <a:ln>
            <a:noFill/>
          </a:ln>
        </p:spPr>
      </p:sp>
      <p:sp>
        <p:nvSpPr>
          <p:cNvPr id="40" name="Shape 38"/>
          <p:cNvSpPr/>
          <p:nvPr/>
        </p:nvSpPr>
        <p:spPr>
          <a:xfrm>
            <a:off x="4686300" y="1221581"/>
            <a:ext cx="257175" cy="257175"/>
          </a:xfrm>
          <a:prstGeom prst="ellipse">
            <a:avLst/>
          </a:prstGeom>
          <a:solidFill>
            <a:srgbClr val="319795"/>
          </a:solidFill>
          <a:ln>
            <a:noFill/>
          </a:ln>
        </p:spPr>
      </p:sp>
      <p:sp>
        <p:nvSpPr>
          <p:cNvPr id="41" name="Text 39"/>
          <p:cNvSpPr/>
          <p:nvPr/>
        </p:nvSpPr>
        <p:spPr>
          <a:xfrm>
            <a:off x="4686300" y="1221581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43488" y="1221581"/>
            <a:ext cx="945190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Model Registry</a:t>
            </a:r>
            <a:endParaRPr lang="en-US" sz="788" dirty="0"/>
          </a:p>
        </p:txBody>
      </p:sp>
      <p:sp>
        <p:nvSpPr>
          <p:cNvPr id="43" name="Shape 41"/>
          <p:cNvSpPr/>
          <p:nvPr/>
        </p:nvSpPr>
        <p:spPr>
          <a:xfrm>
            <a:off x="6002965" y="1228725"/>
            <a:ext cx="295466" cy="107156"/>
          </a:xfrm>
          <a:prstGeom prst="roundRect">
            <a:avLst>
              <a:gd name="adj" fmla="val 50000"/>
            </a:avLst>
          </a:prstGeom>
          <a:solidFill>
            <a:srgbClr val="805AD5"/>
          </a:solidFill>
          <a:ln>
            <a:noFill/>
          </a:ln>
        </p:spPr>
      </p:sp>
      <p:sp>
        <p:nvSpPr>
          <p:cNvPr id="44" name="Text 42"/>
          <p:cNvSpPr/>
          <p:nvPr/>
        </p:nvSpPr>
        <p:spPr>
          <a:xfrm>
            <a:off x="5960102" y="1228725"/>
            <a:ext cx="381191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0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BETA</a:t>
            </a:r>
            <a:endParaRPr lang="en-US" sz="506" dirty="0"/>
          </a:p>
        </p:txBody>
      </p:sp>
      <p:sp>
        <p:nvSpPr>
          <p:cNvPr id="45" name="Text 43"/>
          <p:cNvSpPr/>
          <p:nvPr/>
        </p:nvSpPr>
        <p:spPr>
          <a:xfrm>
            <a:off x="5043488" y="1371600"/>
            <a:ext cx="3786188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Version, deploy, and monitor machine learning models with automated rollback.</a:t>
            </a:r>
            <a:endParaRPr lang="en-US" sz="675" dirty="0"/>
          </a:p>
        </p:txBody>
      </p:sp>
      <p:sp>
        <p:nvSpPr>
          <p:cNvPr id="46" name="Shape 44"/>
          <p:cNvSpPr/>
          <p:nvPr/>
        </p:nvSpPr>
        <p:spPr>
          <a:xfrm>
            <a:off x="4686300" y="1607344"/>
            <a:ext cx="4057650" cy="485775"/>
          </a:xfrm>
          <a:prstGeom prst="rect">
            <a:avLst/>
          </a:prstGeom>
          <a:solidFill>
            <a:srgbClr val="FAFBFC">
              <a:alpha val="0"/>
            </a:srgbClr>
          </a:solidFill>
          <a:ln>
            <a:noFill/>
          </a:ln>
        </p:spPr>
      </p:sp>
      <p:sp>
        <p:nvSpPr>
          <p:cNvPr id="47" name="Shape 45"/>
          <p:cNvSpPr/>
          <p:nvPr/>
        </p:nvSpPr>
        <p:spPr>
          <a:xfrm>
            <a:off x="4686300" y="2085975"/>
            <a:ext cx="4057650" cy="7144"/>
          </a:xfrm>
          <a:prstGeom prst="rect">
            <a:avLst/>
          </a:prstGeom>
          <a:solidFill>
            <a:srgbClr val="EDF2F7"/>
          </a:solidFill>
          <a:ln>
            <a:noFill/>
          </a:ln>
        </p:spPr>
      </p:sp>
      <p:sp>
        <p:nvSpPr>
          <p:cNvPr id="48" name="Shape 46"/>
          <p:cNvSpPr/>
          <p:nvPr/>
        </p:nvSpPr>
        <p:spPr>
          <a:xfrm>
            <a:off x="4686300" y="1707356"/>
            <a:ext cx="257175" cy="257175"/>
          </a:xfrm>
          <a:prstGeom prst="ellipse">
            <a:avLst/>
          </a:prstGeom>
          <a:solidFill>
            <a:srgbClr val="3182CE"/>
          </a:solidFill>
          <a:ln>
            <a:noFill/>
          </a:ln>
        </p:spPr>
      </p:sp>
      <p:sp>
        <p:nvSpPr>
          <p:cNvPr id="49" name="Text 47"/>
          <p:cNvSpPr/>
          <p:nvPr/>
        </p:nvSpPr>
        <p:spPr>
          <a:xfrm>
            <a:off x="4686300" y="1707356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43488" y="1707356"/>
            <a:ext cx="836462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 Streaming</a:t>
            </a:r>
            <a:endParaRPr lang="en-US" sz="788" dirty="0"/>
          </a:p>
        </p:txBody>
      </p:sp>
      <p:sp>
        <p:nvSpPr>
          <p:cNvPr id="51" name="Shape 49"/>
          <p:cNvSpPr/>
          <p:nvPr/>
        </p:nvSpPr>
        <p:spPr>
          <a:xfrm>
            <a:off x="5894237" y="1714500"/>
            <a:ext cx="279821" cy="107156"/>
          </a:xfrm>
          <a:prstGeom prst="roundRect">
            <a:avLst>
              <a:gd name="adj" fmla="val 50000"/>
            </a:avLst>
          </a:prstGeom>
          <a:solidFill>
            <a:srgbClr val="38A169"/>
          </a:solidFill>
          <a:ln>
            <a:noFill/>
          </a:ln>
        </p:spPr>
      </p:sp>
      <p:sp>
        <p:nvSpPr>
          <p:cNvPr id="52" name="Text 50"/>
          <p:cNvSpPr/>
          <p:nvPr/>
        </p:nvSpPr>
        <p:spPr>
          <a:xfrm>
            <a:off x="5851374" y="1714500"/>
            <a:ext cx="365546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0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</a:t>
            </a:r>
            <a:endParaRPr lang="en-US" sz="506" dirty="0"/>
          </a:p>
        </p:txBody>
      </p:sp>
      <p:sp>
        <p:nvSpPr>
          <p:cNvPr id="53" name="Text 51"/>
          <p:cNvSpPr/>
          <p:nvPr/>
        </p:nvSpPr>
        <p:spPr>
          <a:xfrm>
            <a:off x="5043488" y="1857375"/>
            <a:ext cx="3786188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Kafka-compatible event bus with schema registry and dead-letter queue handling.</a:t>
            </a:r>
            <a:endParaRPr lang="en-US" sz="675" dirty="0"/>
          </a:p>
        </p:txBody>
      </p:sp>
      <p:sp>
        <p:nvSpPr>
          <p:cNvPr id="54" name="Shape 52"/>
          <p:cNvSpPr/>
          <p:nvPr/>
        </p:nvSpPr>
        <p:spPr>
          <a:xfrm>
            <a:off x="4686300" y="2093119"/>
            <a:ext cx="4057650" cy="485775"/>
          </a:xfrm>
          <a:prstGeom prst="rect">
            <a:avLst/>
          </a:prstGeom>
          <a:solidFill>
            <a:srgbClr val="FAFBFC">
              <a:alpha val="0"/>
            </a:srgbClr>
          </a:solidFill>
          <a:ln>
            <a:noFill/>
          </a:ln>
        </p:spPr>
      </p:sp>
      <p:sp>
        <p:nvSpPr>
          <p:cNvPr id="55" name="Shape 53"/>
          <p:cNvSpPr/>
          <p:nvPr/>
        </p:nvSpPr>
        <p:spPr>
          <a:xfrm>
            <a:off x="4686300" y="2571750"/>
            <a:ext cx="4057650" cy="7144"/>
          </a:xfrm>
          <a:prstGeom prst="rect">
            <a:avLst/>
          </a:prstGeom>
          <a:solidFill>
            <a:srgbClr val="EDF2F7"/>
          </a:solidFill>
          <a:ln>
            <a:noFill/>
          </a:ln>
        </p:spPr>
      </p:sp>
      <p:sp>
        <p:nvSpPr>
          <p:cNvPr id="56" name="Shape 54"/>
          <p:cNvSpPr/>
          <p:nvPr/>
        </p:nvSpPr>
        <p:spPr>
          <a:xfrm>
            <a:off x="4686300" y="2193131"/>
            <a:ext cx="257175" cy="257175"/>
          </a:xfrm>
          <a:prstGeom prst="ellipse">
            <a:avLst/>
          </a:prstGeom>
          <a:solidFill>
            <a:srgbClr val="E53E3E"/>
          </a:solidFill>
          <a:ln>
            <a:noFill/>
          </a:ln>
        </p:spPr>
      </p:sp>
      <p:sp>
        <p:nvSpPr>
          <p:cNvPr id="57" name="Text 55"/>
          <p:cNvSpPr/>
          <p:nvPr/>
        </p:nvSpPr>
        <p:spPr>
          <a:xfrm>
            <a:off x="4686300" y="2193131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043488" y="2193131"/>
            <a:ext cx="806458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Optimizer</a:t>
            </a:r>
            <a:endParaRPr lang="en-US" sz="788" dirty="0"/>
          </a:p>
        </p:txBody>
      </p:sp>
      <p:sp>
        <p:nvSpPr>
          <p:cNvPr id="59" name="Text 57"/>
          <p:cNvSpPr/>
          <p:nvPr/>
        </p:nvSpPr>
        <p:spPr>
          <a:xfrm>
            <a:off x="5043488" y="2343150"/>
            <a:ext cx="3786188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cloud spend analysis with automated rightsizing recommendations.</a:t>
            </a:r>
            <a:endParaRPr lang="en-US" sz="675" dirty="0"/>
          </a:p>
        </p:txBody>
      </p:sp>
      <p:sp>
        <p:nvSpPr>
          <p:cNvPr id="60" name="Shape 58"/>
          <p:cNvSpPr/>
          <p:nvPr/>
        </p:nvSpPr>
        <p:spPr>
          <a:xfrm>
            <a:off x="4686300" y="2578894"/>
            <a:ext cx="4057650" cy="485775"/>
          </a:xfrm>
          <a:prstGeom prst="rect">
            <a:avLst/>
          </a:prstGeom>
          <a:solidFill>
            <a:srgbClr val="FAFBFC">
              <a:alpha val="0"/>
            </a:srgbClr>
          </a:solidFill>
          <a:ln>
            <a:noFill/>
          </a:ln>
        </p:spPr>
      </p:sp>
      <p:sp>
        <p:nvSpPr>
          <p:cNvPr id="61" name="Shape 59"/>
          <p:cNvSpPr/>
          <p:nvPr/>
        </p:nvSpPr>
        <p:spPr>
          <a:xfrm>
            <a:off x="4686300" y="3057525"/>
            <a:ext cx="4057650" cy="7144"/>
          </a:xfrm>
          <a:prstGeom prst="rect">
            <a:avLst/>
          </a:prstGeom>
          <a:solidFill>
            <a:srgbClr val="EDF2F7"/>
          </a:solidFill>
          <a:ln>
            <a:noFill/>
          </a:ln>
        </p:spPr>
      </p:sp>
      <p:sp>
        <p:nvSpPr>
          <p:cNvPr id="62" name="Shape 60"/>
          <p:cNvSpPr/>
          <p:nvPr/>
        </p:nvSpPr>
        <p:spPr>
          <a:xfrm>
            <a:off x="4686300" y="2678906"/>
            <a:ext cx="257175" cy="257175"/>
          </a:xfrm>
          <a:prstGeom prst="ellipse">
            <a:avLst/>
          </a:prstGeom>
          <a:solidFill>
            <a:srgbClr val="38A169"/>
          </a:solidFill>
          <a:ln>
            <a:noFill/>
          </a:ln>
        </p:spPr>
      </p:sp>
      <p:sp>
        <p:nvSpPr>
          <p:cNvPr id="63" name="Text 61"/>
          <p:cNvSpPr/>
          <p:nvPr/>
        </p:nvSpPr>
        <p:spPr>
          <a:xfrm>
            <a:off x="4686300" y="2678906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043488" y="2678906"/>
            <a:ext cx="850678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GraphQL Studio</a:t>
            </a:r>
            <a:endParaRPr lang="en-US" sz="788" dirty="0"/>
          </a:p>
        </p:txBody>
      </p:sp>
      <p:sp>
        <p:nvSpPr>
          <p:cNvPr id="65" name="Text 63"/>
          <p:cNvSpPr/>
          <p:nvPr/>
        </p:nvSpPr>
        <p:spPr>
          <a:xfrm>
            <a:off x="5043488" y="2828925"/>
            <a:ext cx="3786188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explorer, query builder, and performance profiling for GraphQL endpoints.</a:t>
            </a:r>
            <a:endParaRPr lang="en-US" sz="675" dirty="0"/>
          </a:p>
        </p:txBody>
      </p:sp>
      <p:sp>
        <p:nvSpPr>
          <p:cNvPr id="66" name="Shape 64"/>
          <p:cNvSpPr/>
          <p:nvPr/>
        </p:nvSpPr>
        <p:spPr>
          <a:xfrm>
            <a:off x="4686300" y="3164681"/>
            <a:ext cx="257175" cy="257175"/>
          </a:xfrm>
          <a:prstGeom prst="ellipse">
            <a:avLst/>
          </a:prstGeom>
          <a:solidFill>
            <a:srgbClr val="DD6B20"/>
          </a:solidFill>
          <a:ln>
            <a:noFill/>
          </a:ln>
        </p:spPr>
      </p:sp>
      <p:sp>
        <p:nvSpPr>
          <p:cNvPr id="67" name="Text 65"/>
          <p:cNvSpPr/>
          <p:nvPr/>
        </p:nvSpPr>
        <p:spPr>
          <a:xfrm>
            <a:off x="4686300" y="3164681"/>
            <a:ext cx="257175" cy="2571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043488" y="3164681"/>
            <a:ext cx="961192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2D374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Observability Suite</a:t>
            </a:r>
            <a:endParaRPr lang="en-US" sz="788" dirty="0"/>
          </a:p>
        </p:txBody>
      </p:sp>
      <p:sp>
        <p:nvSpPr>
          <p:cNvPr id="69" name="Shape 67"/>
          <p:cNvSpPr/>
          <p:nvPr/>
        </p:nvSpPr>
        <p:spPr>
          <a:xfrm>
            <a:off x="6018967" y="3171825"/>
            <a:ext cx="263533" cy="107156"/>
          </a:xfrm>
          <a:prstGeom prst="roundRect">
            <a:avLst>
              <a:gd name="adj" fmla="val 50000"/>
            </a:avLst>
          </a:prstGeom>
          <a:solidFill>
            <a:srgbClr val="E53E3E"/>
          </a:solidFill>
          <a:ln>
            <a:noFill/>
          </a:ln>
        </p:spPr>
      </p:sp>
      <p:sp>
        <p:nvSpPr>
          <p:cNvPr id="70" name="Text 68"/>
          <p:cNvSpPr/>
          <p:nvPr/>
        </p:nvSpPr>
        <p:spPr>
          <a:xfrm>
            <a:off x="5976104" y="3171825"/>
            <a:ext cx="349258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0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HOT</a:t>
            </a:r>
            <a:endParaRPr lang="en-US" sz="506" dirty="0"/>
          </a:p>
        </p:txBody>
      </p:sp>
      <p:sp>
        <p:nvSpPr>
          <p:cNvPr id="71" name="Text 69"/>
          <p:cNvSpPr/>
          <p:nvPr/>
        </p:nvSpPr>
        <p:spPr>
          <a:xfrm>
            <a:off x="5043488" y="3314700"/>
            <a:ext cx="3786188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logs, metrics, and traces with correlation engine and anomaly detection.</a:t>
            </a:r>
            <a:endParaRPr lang="en-US" sz="67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5750" y="228600"/>
            <a:ext cx="8658225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1A20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Mixed Content Extreme — All Element Types</a:t>
            </a:r>
            <a:endParaRPr lang="en-US" sz="1238" dirty="0"/>
          </a:p>
        </p:txBody>
      </p:sp>
      <p:sp>
        <p:nvSpPr>
          <p:cNvPr id="3" name="Text 1"/>
          <p:cNvSpPr/>
          <p:nvPr/>
        </p:nvSpPr>
        <p:spPr>
          <a:xfrm>
            <a:off x="285750" y="557213"/>
            <a:ext cx="2867001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TABLE</a:t>
            </a:r>
            <a:endParaRPr lang="en-US" sz="619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83464" y="713232"/>
          <a:ext cx="2779776" cy="1261872"/>
        </p:xfrm>
        <a:graphic>
          <a:graphicData uri="http://schemas.openxmlformats.org/drawingml/2006/table">
            <a:tbl>
              <a:tblPr/>
              <a:tblGrid>
                <a:gridCol w="813816"/>
                <a:gridCol w="640080"/>
                <a:gridCol w="649224"/>
                <a:gridCol w="676656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Metric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Q1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Q2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Delta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42863" marB="4286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3748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dirty="0">
                          <a:solidFill>
                            <a:srgbClr val="2D37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Revenue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dirty="0">
                          <a:solidFill>
                            <a:srgbClr val="2D37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$42M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dirty="0">
                          <a:solidFill>
                            <a:srgbClr val="2D37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$48M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b="1" dirty="0">
                          <a:solidFill>
                            <a:srgbClr val="38A1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+14%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dirty="0">
                          <a:solidFill>
                            <a:srgbClr val="2D37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Users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dirty="0">
                          <a:solidFill>
                            <a:srgbClr val="2D37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12.4K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dirty="0">
                          <a:solidFill>
                            <a:srgbClr val="2D37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15.1K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b="1" dirty="0">
                          <a:solidFill>
                            <a:srgbClr val="38A1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+22%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dirty="0">
                          <a:solidFill>
                            <a:srgbClr val="2D37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Churn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dirty="0">
                          <a:solidFill>
                            <a:srgbClr val="2D37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3.2%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dirty="0">
                          <a:solidFill>
                            <a:srgbClr val="2D37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2.8%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b="1" dirty="0">
                          <a:solidFill>
                            <a:srgbClr val="38A1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-0.4%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dirty="0">
                          <a:solidFill>
                            <a:srgbClr val="2D37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NPS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dirty="0">
                          <a:solidFill>
                            <a:srgbClr val="2D37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68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dirty="0">
                          <a:solidFill>
                            <a:srgbClr val="2D37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72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b="1" dirty="0">
                          <a:solidFill>
                            <a:srgbClr val="38A1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+4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dirty="0">
                          <a:solidFill>
                            <a:srgbClr val="2D37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ARPU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dirty="0">
                          <a:solidFill>
                            <a:srgbClr val="2D37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$84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dirty="0">
                          <a:solidFill>
                            <a:srgbClr val="2D37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$91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b="1" dirty="0">
                          <a:solidFill>
                            <a:srgbClr val="38A1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+8%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dirty="0">
                          <a:solidFill>
                            <a:srgbClr val="2D37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CAC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dirty="0">
                          <a:solidFill>
                            <a:srgbClr val="2D37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$320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dirty="0">
                          <a:solidFill>
                            <a:srgbClr val="2D374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$295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9" b="1" dirty="0">
                          <a:solidFill>
                            <a:srgbClr val="38A169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-8%</a:t>
                      </a:r>
                      <a:endParaRPr lang="en-US" sz="619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1438" marR="71438" marT="35719" marB="3571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144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181326" y="557213"/>
            <a:ext cx="2867001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PRIORITIES</a:t>
            </a:r>
            <a:endParaRPr lang="en-US" sz="619" dirty="0"/>
          </a:p>
        </p:txBody>
      </p:sp>
      <p:sp>
        <p:nvSpPr>
          <p:cNvPr id="6" name="Text 3"/>
          <p:cNvSpPr/>
          <p:nvPr/>
        </p:nvSpPr>
        <p:spPr>
          <a:xfrm>
            <a:off x="3181326" y="714375"/>
            <a:ext cx="2781276" cy="1328738"/>
          </a:xfrm>
          <a:prstGeom prst="rect">
            <a:avLst/>
          </a:prstGeom>
          <a:ln>
            <a:noFill/>
          </a:ln>
        </p:spPr>
        <p:txBody>
          <a:bodyPr wrap="square" lIns="0" tIns="21431" rIns="0" bIns="0" rtlCol="0" anchor="t"/>
          <a:lstStyle/>
          <a:p>
            <a:pPr algn="l" indent="0" marL="0">
              <a:lnSpc>
                <a:spcPct val="125000"/>
              </a:lnSpc>
              <a:spcAft>
                <a:spcPts val="338"/>
              </a:spcAft>
              <a:buNone/>
            </a:pPr>
            <a:r>
              <a:rPr lang="en-US" sz="675" dirty="0">
                <a:solidFill>
                  <a:srgbClr val="4A6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</a:t>
            </a:r>
            <a:pPr algn="l" indent="0" marL="0">
              <a:lnSpc>
                <a:spcPct val="125000"/>
              </a:lnSpc>
              <a:spcAft>
                <a:spcPts val="338"/>
              </a:spcAft>
              <a:buNone/>
            </a:pPr>
            <a:r>
              <a:rPr lang="en-US" sz="67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enterprise SSO integration by April 30</a:t>
            </a:r>
            <a:endParaRPr lang="en-US" sz="675" dirty="0"/>
          </a:p>
          <a:p>
            <a:pPr algn="l" indent="0" marL="0">
              <a:lnSpc>
                <a:spcPct val="125000"/>
              </a:lnSpc>
              <a:spcAft>
                <a:spcPts val="338"/>
              </a:spcAft>
              <a:buNone/>
            </a:pPr>
            <a:r>
              <a:rPr lang="en-US" sz="675" dirty="0">
                <a:solidFill>
                  <a:srgbClr val="E53E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</a:t>
            </a:r>
            <a:pPr algn="l" indent="0" marL="0">
              <a:lnSpc>
                <a:spcPct val="125000"/>
              </a:lnSpc>
              <a:spcAft>
                <a:spcPts val="338"/>
              </a:spcAft>
              <a:buNone/>
            </a:pPr>
            <a:r>
              <a:rPr lang="en-US" sz="67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Resolve critical auth vulnerability (P0)</a:t>
            </a:r>
            <a:endParaRPr lang="en-US" sz="675" dirty="0"/>
          </a:p>
          <a:p>
            <a:pPr algn="l" indent="0" marL="0">
              <a:lnSpc>
                <a:spcPct val="125000"/>
              </a:lnSpc>
              <a:spcAft>
                <a:spcPts val="338"/>
              </a:spcAft>
              <a:buNone/>
            </a:pPr>
            <a:r>
              <a:rPr lang="en-US" sz="675" dirty="0">
                <a:solidFill>
                  <a:srgbClr val="38A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</a:t>
            </a:r>
            <a:pPr algn="l" indent="0" marL="0">
              <a:lnSpc>
                <a:spcPct val="125000"/>
              </a:lnSpc>
              <a:spcAft>
                <a:spcPts val="338"/>
              </a:spcAft>
              <a:buNone/>
            </a:pPr>
            <a:r>
              <a:rPr lang="en-US" sz="67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mobile app redesign — on track</a:t>
            </a:r>
            <a:endParaRPr lang="en-US" sz="675" dirty="0"/>
          </a:p>
          <a:p>
            <a:pPr algn="l" indent="0" marL="0">
              <a:lnSpc>
                <a:spcPct val="125000"/>
              </a:lnSpc>
              <a:spcAft>
                <a:spcPts val="338"/>
              </a:spcAft>
              <a:buNone/>
            </a:pPr>
            <a:r>
              <a:rPr lang="en-US" sz="675" dirty="0">
                <a:solidFill>
                  <a:srgbClr val="4A6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</a:t>
            </a:r>
            <a:pPr algn="l" indent="0" marL="0">
              <a:lnSpc>
                <a:spcPct val="125000"/>
              </a:lnSpc>
              <a:spcAft>
                <a:spcPts val="338"/>
              </a:spcAft>
              <a:buNone/>
            </a:pPr>
            <a:r>
              <a:rPr lang="en-US" sz="67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Migrate legacy database to PostgreSQL 16</a:t>
            </a:r>
            <a:endParaRPr lang="en-US" sz="675" dirty="0"/>
          </a:p>
          <a:p>
            <a:pPr algn="l" indent="0" marL="0">
              <a:lnSpc>
                <a:spcPct val="125000"/>
              </a:lnSpc>
              <a:spcAft>
                <a:spcPts val="338"/>
              </a:spcAft>
              <a:buNone/>
            </a:pPr>
            <a:r>
              <a:rPr lang="en-US" sz="675" dirty="0">
                <a:solidFill>
                  <a:srgbClr val="DD6B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</a:t>
            </a:r>
            <a:pPr algn="l" indent="0" marL="0">
              <a:lnSpc>
                <a:spcPct val="125000"/>
              </a:lnSpc>
              <a:spcAft>
                <a:spcPts val="338"/>
              </a:spcAft>
              <a:buNone/>
            </a:pPr>
            <a:r>
              <a:rPr lang="en-US" sz="67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Finalize SOC 2 Type II audit preparation</a:t>
            </a:r>
            <a:endParaRPr lang="en-US" sz="675" dirty="0"/>
          </a:p>
          <a:p>
            <a:pPr algn="l" indent="0" marL="0">
              <a:lnSpc>
                <a:spcPct val="125000"/>
              </a:lnSpc>
              <a:spcAft>
                <a:spcPts val="338"/>
              </a:spcAft>
              <a:buNone/>
            </a:pPr>
            <a:r>
              <a:rPr lang="en-US" sz="675" dirty="0">
                <a:solidFill>
                  <a:srgbClr val="4A6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</a:t>
            </a:r>
            <a:pPr algn="l" indent="0" marL="0">
              <a:lnSpc>
                <a:spcPct val="125000"/>
              </a:lnSpc>
              <a:spcAft>
                <a:spcPts val="338"/>
              </a:spcAft>
              <a:buNone/>
            </a:pPr>
            <a:r>
              <a:rPr lang="en-US" sz="67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 edge caching to 12 new regions</a:t>
            </a:r>
            <a:endParaRPr lang="en-US" sz="675" dirty="0"/>
          </a:p>
          <a:p>
            <a:pPr algn="l" indent="0" marL="0">
              <a:lnSpc>
                <a:spcPct val="125000"/>
              </a:lnSpc>
              <a:spcAft>
                <a:spcPts val="338"/>
              </a:spcAft>
              <a:buNone/>
            </a:pPr>
            <a:r>
              <a:rPr lang="en-US" sz="675" dirty="0">
                <a:solidFill>
                  <a:srgbClr val="38A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</a:t>
            </a:r>
            <a:pPr algn="l" indent="0" marL="0">
              <a:lnSpc>
                <a:spcPct val="125000"/>
              </a:lnSpc>
              <a:spcAft>
                <a:spcPts val="338"/>
              </a:spcAft>
              <a:buNone/>
            </a:pPr>
            <a:r>
              <a:rPr lang="en-US" sz="67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v3 documentation — 90% complete</a:t>
            </a:r>
            <a:endParaRPr lang="en-US" sz="675" dirty="0"/>
          </a:p>
          <a:p>
            <a:pPr algn="l" indent="0" marL="0">
              <a:lnSpc>
                <a:spcPct val="125000"/>
              </a:lnSpc>
              <a:spcAft>
                <a:spcPts val="338"/>
              </a:spcAft>
              <a:buNone/>
            </a:pPr>
            <a:r>
              <a:rPr lang="en-US" sz="675" dirty="0">
                <a:solidFill>
                  <a:srgbClr val="4A6C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•  </a:t>
            </a:r>
            <a:pPr algn="l" indent="0" marL="0">
              <a:lnSpc>
                <a:spcPct val="125000"/>
              </a:lnSpc>
              <a:spcAft>
                <a:spcPts val="338"/>
              </a:spcAft>
              <a:buNone/>
            </a:pPr>
            <a:r>
              <a:rPr lang="en-US" sz="675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Hire 4 senior engineers for platform team</a:t>
            </a:r>
            <a:endParaRPr lang="en-US" sz="675" dirty="0"/>
          </a:p>
        </p:txBody>
      </p:sp>
      <p:sp>
        <p:nvSpPr>
          <p:cNvPr id="7" name="Text 4"/>
          <p:cNvSpPr/>
          <p:nvPr/>
        </p:nvSpPr>
        <p:spPr>
          <a:xfrm>
            <a:off x="6076902" y="557213"/>
            <a:ext cx="286707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CODE SAMPLE</a:t>
            </a:r>
            <a:endParaRPr lang="en-US" sz="619" dirty="0"/>
          </a:p>
        </p:txBody>
      </p:sp>
      <p:sp>
        <p:nvSpPr>
          <p:cNvPr id="8" name="Shape 5"/>
          <p:cNvSpPr/>
          <p:nvPr/>
        </p:nvSpPr>
        <p:spPr>
          <a:xfrm>
            <a:off x="6076902" y="714375"/>
            <a:ext cx="2781348" cy="1802011"/>
          </a:xfrm>
          <a:prstGeom prst="roundRect">
            <a:avLst>
              <a:gd name="adj" fmla="val 3171"/>
            </a:avLst>
          </a:prstGeom>
          <a:solidFill>
            <a:srgbClr val="1A202C"/>
          </a:solidFill>
          <a:ln>
            <a:noFill/>
          </a:ln>
        </p:spPr>
      </p:sp>
      <p:sp>
        <p:nvSpPr>
          <p:cNvPr id="9" name="Text 6"/>
          <p:cNvSpPr/>
          <p:nvPr/>
        </p:nvSpPr>
        <p:spPr>
          <a:xfrm>
            <a:off x="6191202" y="714375"/>
            <a:ext cx="2552748" cy="1802011"/>
          </a:xfrm>
          <a:prstGeom prst="rect">
            <a:avLst/>
          </a:prstGeom>
          <a:ln>
            <a:noFill/>
          </a:ln>
        </p:spPr>
        <p:txBody>
          <a:bodyPr wrap="square" lIns="0" tIns="100013" rIns="0" bIns="0" rtlCol="0" anchor="t"/>
          <a:lstStyle/>
          <a:p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546E7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// Fetch and transform data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C792E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async function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2AA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loadMetrics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EE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opts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)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{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  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C792E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const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EE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res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=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C792E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await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2AA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fetch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    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C3E88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`/api/v3/metrics`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,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    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{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EE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headers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: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{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C3E88D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'X-Api-Key'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: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EE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opts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.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EE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key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}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}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  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);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  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C792E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const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EE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data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=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C792E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await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EE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res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.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2AA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json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();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  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C792EA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return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EE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data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.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2AA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map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EE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=&gt;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({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    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EE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name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: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EE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.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EE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label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,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    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EE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value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: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EE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d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.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EEFF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count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*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F78C6C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1.15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  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}));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
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000000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 </a:t>
            </a:r>
            <a:pPr algn="l" indent="0" marL="0">
              <a:lnSpc>
                <a:spcPct val="141667"/>
              </a:lnSpc>
              <a:buNone/>
            </a:pPr>
            <a:r>
              <a:rPr lang="en-US" sz="619" u="none" dirty="0">
                <a:solidFill>
                  <a:srgbClr val="89DDFF"/>
                </a:solidFill>
                <a:latin typeface="Source Code Pro" pitchFamily="34" charset="0"/>
                <a:ea typeface="Source Code Pro" pitchFamily="34" charset="-122"/>
                <a:cs typeface="Source Code Pro" pitchFamily="34" charset="-120"/>
              </a:rPr>
              <a:t>}</a:t>
            </a:r>
            <a:endParaRPr lang="en-US" sz="619" dirty="0"/>
          </a:p>
        </p:txBody>
      </p:sp>
      <p:sp>
        <p:nvSpPr>
          <p:cNvPr id="10" name="Shape 7"/>
          <p:cNvSpPr/>
          <p:nvPr/>
        </p:nvSpPr>
        <p:spPr>
          <a:xfrm>
            <a:off x="285750" y="3297769"/>
            <a:ext cx="2781276" cy="1760077"/>
          </a:xfrm>
          <a:prstGeom prst="roundRect">
            <a:avLst>
              <a:gd name="adj" fmla="val 4871"/>
            </a:avLst>
          </a:prstGeom>
          <a:solidFill>
            <a:srgbClr val="4A6CF7"/>
          </a:solidFill>
          <a:ln>
            <a:noFill/>
          </a:ln>
        </p:spPr>
      </p:sp>
      <p:sp>
        <p:nvSpPr>
          <p:cNvPr id="11" name="Text 8"/>
          <p:cNvSpPr/>
          <p:nvPr/>
        </p:nvSpPr>
        <p:spPr>
          <a:xfrm>
            <a:off x="428625" y="3774115"/>
            <a:ext cx="2581251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ACTIVE USERS</a:t>
            </a:r>
            <a:endParaRPr lang="en-US" sz="619" dirty="0"/>
          </a:p>
        </p:txBody>
      </p:sp>
      <p:sp>
        <p:nvSpPr>
          <p:cNvPr id="12" name="Text 9"/>
          <p:cNvSpPr/>
          <p:nvPr/>
        </p:nvSpPr>
        <p:spPr>
          <a:xfrm>
            <a:off x="428625" y="3931277"/>
            <a:ext cx="2581251" cy="300038"/>
          </a:xfrm>
          <a:prstGeom prst="rect">
            <a:avLst/>
          </a:prstGeom>
          <a:ln>
            <a:noFill/>
          </a:ln>
        </p:spPr>
        <p:txBody>
          <a:bodyPr wrap="square" lIns="0" tIns="29554" rIns="0" bIns="0" rtlCol="0" anchor="t"/>
          <a:lstStyle/>
          <a:p>
            <a:pPr algn="l" indent="0" marL="0">
              <a:lnSpc>
                <a:spcPct val="83333"/>
              </a:lnSpc>
              <a:buNone/>
            </a:pPr>
            <a:r>
              <a:rPr lang="en-US" sz="236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284K</a:t>
            </a:r>
            <a:endParaRPr lang="en-US" sz="2363" dirty="0"/>
          </a:p>
        </p:txBody>
      </p:sp>
      <p:sp>
        <p:nvSpPr>
          <p:cNvPr id="13" name="Text 10"/>
          <p:cNvSpPr/>
          <p:nvPr/>
        </p:nvSpPr>
        <p:spPr>
          <a:xfrm>
            <a:off x="428625" y="4274177"/>
            <a:ext cx="2581251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dirty="0">
                <a:solidFill>
                  <a:srgbClr val="E4E9F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all platforms</a:t>
            </a:r>
            <a:endParaRPr lang="en-US" sz="731" dirty="0"/>
          </a:p>
        </p:txBody>
      </p:sp>
      <p:sp>
        <p:nvSpPr>
          <p:cNvPr id="14" name="Shape 11"/>
          <p:cNvSpPr/>
          <p:nvPr/>
        </p:nvSpPr>
        <p:spPr>
          <a:xfrm>
            <a:off x="428625" y="4445627"/>
            <a:ext cx="949976" cy="135731"/>
          </a:xfrm>
          <a:prstGeom prst="roundRect">
            <a:avLst>
              <a:gd name="adj" fmla="val 50000"/>
            </a:avLst>
          </a:prstGeom>
          <a:solidFill>
            <a:srgbClr val="FFFFFF">
              <a:alpha val="20000"/>
            </a:srgbClr>
          </a:solidFill>
          <a:ln>
            <a:noFill/>
          </a:ln>
        </p:spPr>
      </p:sp>
      <p:sp>
        <p:nvSpPr>
          <p:cNvPr id="15" name="Text 12"/>
          <p:cNvSpPr/>
          <p:nvPr/>
        </p:nvSpPr>
        <p:spPr>
          <a:xfrm>
            <a:off x="235744" y="4445627"/>
            <a:ext cx="1335738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+23% vs last month</a:t>
            </a:r>
            <a:endParaRPr lang="en-US" sz="675" dirty="0"/>
          </a:p>
        </p:txBody>
      </p:sp>
      <p:sp>
        <p:nvSpPr>
          <p:cNvPr id="16" name="Shape 13"/>
          <p:cNvSpPr/>
          <p:nvPr/>
        </p:nvSpPr>
        <p:spPr>
          <a:xfrm>
            <a:off x="3181326" y="3882057"/>
            <a:ext cx="2781276" cy="14288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7" name="Shape 14"/>
          <p:cNvSpPr/>
          <p:nvPr/>
        </p:nvSpPr>
        <p:spPr>
          <a:xfrm>
            <a:off x="3181326" y="3889200"/>
            <a:ext cx="2781276" cy="0"/>
          </a:xfrm>
          <a:prstGeom prst="line">
            <a:avLst/>
          </a:prstGeom>
          <a:noFill/>
          <a:ln w="14288" algn="in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181326" y="3996357"/>
            <a:ext cx="2781276" cy="319897"/>
          </a:xfrm>
          <a:prstGeom prst="rect">
            <a:avLst/>
          </a:prstGeom>
          <a:solidFill>
            <a:srgbClr val="F7FAFC">
              <a:alpha val="0"/>
            </a:srgbClr>
          </a:solidFill>
          <a:ln>
            <a:noFill/>
          </a:ln>
        </p:spPr>
      </p:sp>
      <p:sp>
        <p:nvSpPr>
          <p:cNvPr id="19" name="Shape 16"/>
          <p:cNvSpPr/>
          <p:nvPr/>
        </p:nvSpPr>
        <p:spPr>
          <a:xfrm>
            <a:off x="3181326" y="3996357"/>
            <a:ext cx="21431" cy="319897"/>
          </a:xfrm>
          <a:prstGeom prst="rect">
            <a:avLst/>
          </a:prstGeom>
          <a:solidFill>
            <a:srgbClr val="E94560"/>
          </a:solidFill>
          <a:ln>
            <a:noFill/>
          </a:ln>
        </p:spPr>
      </p:sp>
      <p:sp>
        <p:nvSpPr>
          <p:cNvPr id="20" name="Text 17"/>
          <p:cNvSpPr/>
          <p:nvPr/>
        </p:nvSpPr>
        <p:spPr>
          <a:xfrm>
            <a:off x="3281339" y="3996357"/>
            <a:ext cx="2681264" cy="319897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788" i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"The best way to predict the future is to build it — but only if your CI pipeline doesn't break first."</a:t>
            </a:r>
            <a:endParaRPr lang="en-US" sz="788" dirty="0"/>
          </a:p>
        </p:txBody>
      </p:sp>
      <p:sp>
        <p:nvSpPr>
          <p:cNvPr id="21" name="Text 18"/>
          <p:cNvSpPr/>
          <p:nvPr/>
        </p:nvSpPr>
        <p:spPr>
          <a:xfrm>
            <a:off x="3302770" y="4373404"/>
            <a:ext cx="2745557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 Anonymous Engineering Manager, 2026</a:t>
            </a:r>
            <a:endParaRPr lang="en-US" sz="619" dirty="0"/>
          </a:p>
        </p:txBody>
      </p:sp>
      <p:sp>
        <p:nvSpPr>
          <p:cNvPr id="22" name="Text 19"/>
          <p:cNvSpPr/>
          <p:nvPr/>
        </p:nvSpPr>
        <p:spPr>
          <a:xfrm>
            <a:off x="6076902" y="3297769"/>
            <a:ext cx="2867073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A0AEC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STACK</a:t>
            </a:r>
            <a:endParaRPr lang="en-US" sz="619" dirty="0"/>
          </a:p>
        </p:txBody>
      </p:sp>
      <p:sp>
        <p:nvSpPr>
          <p:cNvPr id="23" name="Shape 20"/>
          <p:cNvSpPr/>
          <p:nvPr/>
        </p:nvSpPr>
        <p:spPr>
          <a:xfrm>
            <a:off x="6076902" y="3454932"/>
            <a:ext cx="519851" cy="128588"/>
          </a:xfrm>
          <a:prstGeom prst="roundRect">
            <a:avLst>
              <a:gd name="adj" fmla="val 50000"/>
            </a:avLst>
          </a:prstGeom>
          <a:solidFill>
            <a:srgbClr val="EBF4FF"/>
          </a:solidFill>
          <a:ln>
            <a:noFill/>
          </a:ln>
        </p:spPr>
      </p:sp>
      <p:sp>
        <p:nvSpPr>
          <p:cNvPr id="24" name="Text 21"/>
          <p:cNvSpPr/>
          <p:nvPr/>
        </p:nvSpPr>
        <p:spPr>
          <a:xfrm>
            <a:off x="6048399" y="3454932"/>
            <a:ext cx="576858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TypeScript</a:t>
            </a:r>
            <a:endParaRPr lang="en-US" sz="563" dirty="0"/>
          </a:p>
        </p:txBody>
      </p:sp>
      <p:sp>
        <p:nvSpPr>
          <p:cNvPr id="25" name="Shape 22"/>
          <p:cNvSpPr/>
          <p:nvPr/>
        </p:nvSpPr>
        <p:spPr>
          <a:xfrm>
            <a:off x="6639544" y="3454932"/>
            <a:ext cx="408194" cy="128588"/>
          </a:xfrm>
          <a:prstGeom prst="roundRect">
            <a:avLst>
              <a:gd name="adj" fmla="val 50000"/>
            </a:avLst>
          </a:prstGeom>
          <a:solidFill>
            <a:srgbClr val="F0FFF4"/>
          </a:solidFill>
          <a:ln>
            <a:noFill/>
          </a:ln>
        </p:spPr>
      </p:sp>
      <p:sp>
        <p:nvSpPr>
          <p:cNvPr id="26" name="Text 23"/>
          <p:cNvSpPr/>
          <p:nvPr/>
        </p:nvSpPr>
        <p:spPr>
          <a:xfrm>
            <a:off x="6611041" y="3454932"/>
            <a:ext cx="465201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38A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</a:t>
            </a:r>
            <a:endParaRPr lang="en-US" sz="563" dirty="0"/>
          </a:p>
        </p:txBody>
      </p:sp>
      <p:sp>
        <p:nvSpPr>
          <p:cNvPr id="27" name="Shape 24"/>
          <p:cNvSpPr/>
          <p:nvPr/>
        </p:nvSpPr>
        <p:spPr>
          <a:xfrm>
            <a:off x="7090601" y="3454932"/>
            <a:ext cx="449056" cy="128588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>
            <a:noFill/>
          </a:ln>
        </p:spPr>
      </p:sp>
      <p:sp>
        <p:nvSpPr>
          <p:cNvPr id="28" name="Text 25"/>
          <p:cNvSpPr/>
          <p:nvPr/>
        </p:nvSpPr>
        <p:spPr>
          <a:xfrm>
            <a:off x="7062026" y="3454932"/>
            <a:ext cx="506206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805A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GraphQL</a:t>
            </a:r>
            <a:endParaRPr lang="en-US" sz="563" dirty="0"/>
          </a:p>
        </p:txBody>
      </p:sp>
      <p:sp>
        <p:nvSpPr>
          <p:cNvPr id="29" name="Shape 26"/>
          <p:cNvSpPr/>
          <p:nvPr/>
        </p:nvSpPr>
        <p:spPr>
          <a:xfrm>
            <a:off x="7582519" y="3454932"/>
            <a:ext cx="333399" cy="128588"/>
          </a:xfrm>
          <a:prstGeom prst="roundRect">
            <a:avLst>
              <a:gd name="adj" fmla="val 50000"/>
            </a:avLst>
          </a:prstGeom>
          <a:solidFill>
            <a:srgbClr val="FFF5F5"/>
          </a:solidFill>
          <a:ln>
            <a:noFill/>
          </a:ln>
        </p:spPr>
      </p:sp>
      <p:sp>
        <p:nvSpPr>
          <p:cNvPr id="30" name="Text 27"/>
          <p:cNvSpPr/>
          <p:nvPr/>
        </p:nvSpPr>
        <p:spPr>
          <a:xfrm>
            <a:off x="7553944" y="3454932"/>
            <a:ext cx="390549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E53E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Redis</a:t>
            </a:r>
            <a:endParaRPr lang="en-US" sz="563" dirty="0"/>
          </a:p>
        </p:txBody>
      </p:sp>
      <p:sp>
        <p:nvSpPr>
          <p:cNvPr id="31" name="Shape 28"/>
          <p:cNvSpPr/>
          <p:nvPr/>
        </p:nvSpPr>
        <p:spPr>
          <a:xfrm>
            <a:off x="7958780" y="3454932"/>
            <a:ext cx="542354" cy="128588"/>
          </a:xfrm>
          <a:prstGeom prst="roundRect">
            <a:avLst>
              <a:gd name="adj" fmla="val 50000"/>
            </a:avLst>
          </a:prstGeom>
          <a:solidFill>
            <a:srgbClr val="E6FFFA"/>
          </a:solidFill>
          <a:ln>
            <a:noFill/>
          </a:ln>
        </p:spPr>
      </p:sp>
      <p:sp>
        <p:nvSpPr>
          <p:cNvPr id="32" name="Text 29"/>
          <p:cNvSpPr/>
          <p:nvPr/>
        </p:nvSpPr>
        <p:spPr>
          <a:xfrm>
            <a:off x="7930205" y="3454932"/>
            <a:ext cx="599503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Kubernetes</a:t>
            </a:r>
            <a:endParaRPr lang="en-US" sz="563" dirty="0"/>
          </a:p>
        </p:txBody>
      </p:sp>
      <p:sp>
        <p:nvSpPr>
          <p:cNvPr id="33" name="Shape 30"/>
          <p:cNvSpPr/>
          <p:nvPr/>
        </p:nvSpPr>
        <p:spPr>
          <a:xfrm>
            <a:off x="6076902" y="3626382"/>
            <a:ext cx="487418" cy="128588"/>
          </a:xfrm>
          <a:prstGeom prst="roundRect">
            <a:avLst>
              <a:gd name="adj" fmla="val 50000"/>
            </a:avLst>
          </a:prstGeom>
          <a:solidFill>
            <a:srgbClr val="FFFAF0"/>
          </a:solidFill>
          <a:ln>
            <a:noFill/>
          </a:ln>
        </p:spPr>
      </p:sp>
      <p:sp>
        <p:nvSpPr>
          <p:cNvPr id="34" name="Text 31"/>
          <p:cNvSpPr/>
          <p:nvPr/>
        </p:nvSpPr>
        <p:spPr>
          <a:xfrm>
            <a:off x="6048327" y="3626382"/>
            <a:ext cx="544568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DD6B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Terraform</a:t>
            </a:r>
            <a:endParaRPr lang="en-US" sz="563" dirty="0"/>
          </a:p>
        </p:txBody>
      </p:sp>
      <p:sp>
        <p:nvSpPr>
          <p:cNvPr id="35" name="Shape 32"/>
          <p:cNvSpPr/>
          <p:nvPr/>
        </p:nvSpPr>
        <p:spPr>
          <a:xfrm>
            <a:off x="6607183" y="3626382"/>
            <a:ext cx="339471" cy="128588"/>
          </a:xfrm>
          <a:prstGeom prst="roundRect">
            <a:avLst>
              <a:gd name="adj" fmla="val 50000"/>
            </a:avLst>
          </a:prstGeom>
          <a:solidFill>
            <a:srgbClr val="EBF4FF"/>
          </a:solidFill>
          <a:ln>
            <a:noFill/>
          </a:ln>
        </p:spPr>
      </p:sp>
      <p:sp>
        <p:nvSpPr>
          <p:cNvPr id="36" name="Text 33"/>
          <p:cNvSpPr/>
          <p:nvPr/>
        </p:nvSpPr>
        <p:spPr>
          <a:xfrm>
            <a:off x="6578608" y="3626382"/>
            <a:ext cx="396621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</a:t>
            </a:r>
            <a:endParaRPr lang="en-US" sz="563" dirty="0"/>
          </a:p>
        </p:txBody>
      </p:sp>
      <p:sp>
        <p:nvSpPr>
          <p:cNvPr id="37" name="Shape 34"/>
          <p:cNvSpPr/>
          <p:nvPr/>
        </p:nvSpPr>
        <p:spPr>
          <a:xfrm>
            <a:off x="6989516" y="3626382"/>
            <a:ext cx="551498" cy="128588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38" name="Text 35"/>
          <p:cNvSpPr/>
          <p:nvPr/>
        </p:nvSpPr>
        <p:spPr>
          <a:xfrm>
            <a:off x="6960941" y="3626382"/>
            <a:ext cx="608648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</a:t>
            </a:r>
            <a:endParaRPr lang="en-US" sz="563" dirty="0"/>
          </a:p>
        </p:txBody>
      </p:sp>
      <p:sp>
        <p:nvSpPr>
          <p:cNvPr id="39" name="Shape 36"/>
          <p:cNvSpPr/>
          <p:nvPr/>
        </p:nvSpPr>
        <p:spPr>
          <a:xfrm>
            <a:off x="7583876" y="3626382"/>
            <a:ext cx="381048" cy="128588"/>
          </a:xfrm>
          <a:prstGeom prst="roundRect">
            <a:avLst>
              <a:gd name="adj" fmla="val 50000"/>
            </a:avLst>
          </a:prstGeom>
          <a:solidFill>
            <a:srgbClr val="FFF5F7"/>
          </a:solidFill>
          <a:ln>
            <a:noFill/>
          </a:ln>
        </p:spPr>
      </p:sp>
      <p:sp>
        <p:nvSpPr>
          <p:cNvPr id="40" name="Text 37"/>
          <p:cNvSpPr/>
          <p:nvPr/>
        </p:nvSpPr>
        <p:spPr>
          <a:xfrm>
            <a:off x="7555301" y="3626382"/>
            <a:ext cx="438198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D53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Prisma</a:t>
            </a:r>
            <a:endParaRPr lang="en-US" sz="563" dirty="0"/>
          </a:p>
        </p:txBody>
      </p:sp>
      <p:sp>
        <p:nvSpPr>
          <p:cNvPr id="41" name="Shape 38"/>
          <p:cNvSpPr/>
          <p:nvPr/>
        </p:nvSpPr>
        <p:spPr>
          <a:xfrm>
            <a:off x="8007787" y="3626382"/>
            <a:ext cx="389334" cy="128588"/>
          </a:xfrm>
          <a:prstGeom prst="roundRect">
            <a:avLst>
              <a:gd name="adj" fmla="val 50000"/>
            </a:avLst>
          </a:prstGeom>
          <a:solidFill>
            <a:srgbClr val="F0FFF4"/>
          </a:solidFill>
          <a:ln>
            <a:noFill/>
          </a:ln>
        </p:spPr>
      </p:sp>
      <p:sp>
        <p:nvSpPr>
          <p:cNvPr id="42" name="Text 39"/>
          <p:cNvSpPr/>
          <p:nvPr/>
        </p:nvSpPr>
        <p:spPr>
          <a:xfrm>
            <a:off x="7979212" y="3626382"/>
            <a:ext cx="446484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38A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Docker</a:t>
            </a:r>
            <a:endParaRPr lang="en-US" sz="563" dirty="0"/>
          </a:p>
        </p:txBody>
      </p:sp>
      <p:sp>
        <p:nvSpPr>
          <p:cNvPr id="43" name="Shape 40"/>
          <p:cNvSpPr/>
          <p:nvPr/>
        </p:nvSpPr>
        <p:spPr>
          <a:xfrm>
            <a:off x="8439983" y="3626382"/>
            <a:ext cx="414123" cy="128588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>
            <a:noFill/>
          </a:ln>
        </p:spPr>
      </p:sp>
      <p:sp>
        <p:nvSpPr>
          <p:cNvPr id="44" name="Text 41"/>
          <p:cNvSpPr/>
          <p:nvPr/>
        </p:nvSpPr>
        <p:spPr>
          <a:xfrm>
            <a:off x="8411408" y="3626382"/>
            <a:ext cx="471273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805A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ArgoCD</a:t>
            </a:r>
            <a:endParaRPr lang="en-US" sz="563" dirty="0"/>
          </a:p>
        </p:txBody>
      </p:sp>
      <p:sp>
        <p:nvSpPr>
          <p:cNvPr id="45" name="Shape 42"/>
          <p:cNvSpPr/>
          <p:nvPr/>
        </p:nvSpPr>
        <p:spPr>
          <a:xfrm>
            <a:off x="6076902" y="3797832"/>
            <a:ext cx="560213" cy="128588"/>
          </a:xfrm>
          <a:prstGeom prst="roundRect">
            <a:avLst>
              <a:gd name="adj" fmla="val 50000"/>
            </a:avLst>
          </a:prstGeom>
          <a:solidFill>
            <a:srgbClr val="E6FFFA"/>
          </a:solidFill>
          <a:ln>
            <a:noFill/>
          </a:ln>
        </p:spPr>
      </p:sp>
      <p:sp>
        <p:nvSpPr>
          <p:cNvPr id="46" name="Text 43"/>
          <p:cNvSpPr/>
          <p:nvPr/>
        </p:nvSpPr>
        <p:spPr>
          <a:xfrm>
            <a:off x="6048327" y="3797832"/>
            <a:ext cx="617363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Prometheus</a:t>
            </a:r>
            <a:endParaRPr lang="en-US" sz="563" dirty="0"/>
          </a:p>
        </p:txBody>
      </p:sp>
      <p:sp>
        <p:nvSpPr>
          <p:cNvPr id="47" name="Shape 44"/>
          <p:cNvSpPr/>
          <p:nvPr/>
        </p:nvSpPr>
        <p:spPr>
          <a:xfrm>
            <a:off x="6679978" y="3797832"/>
            <a:ext cx="343686" cy="128588"/>
          </a:xfrm>
          <a:prstGeom prst="roundRect">
            <a:avLst>
              <a:gd name="adj" fmla="val 50000"/>
            </a:avLst>
          </a:prstGeom>
          <a:solidFill>
            <a:srgbClr val="FFF5F5"/>
          </a:solidFill>
          <a:ln>
            <a:noFill/>
          </a:ln>
        </p:spPr>
      </p:sp>
      <p:sp>
        <p:nvSpPr>
          <p:cNvPr id="48" name="Text 45"/>
          <p:cNvSpPr/>
          <p:nvPr/>
        </p:nvSpPr>
        <p:spPr>
          <a:xfrm>
            <a:off x="6651403" y="3797832"/>
            <a:ext cx="400836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E53E3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Kafka</a:t>
            </a:r>
            <a:endParaRPr lang="en-US" sz="563" dirty="0"/>
          </a:p>
        </p:txBody>
      </p:sp>
      <p:sp>
        <p:nvSpPr>
          <p:cNvPr id="49" name="Shape 46"/>
          <p:cNvSpPr/>
          <p:nvPr/>
        </p:nvSpPr>
        <p:spPr>
          <a:xfrm>
            <a:off x="7066526" y="3797832"/>
            <a:ext cx="434912" cy="128588"/>
          </a:xfrm>
          <a:prstGeom prst="roundRect">
            <a:avLst>
              <a:gd name="adj" fmla="val 50000"/>
            </a:avLst>
          </a:prstGeom>
          <a:solidFill>
            <a:srgbClr val="FFFAF0"/>
          </a:solidFill>
          <a:ln>
            <a:noFill/>
          </a:ln>
        </p:spPr>
      </p:sp>
      <p:sp>
        <p:nvSpPr>
          <p:cNvPr id="50" name="Text 47"/>
          <p:cNvSpPr/>
          <p:nvPr/>
        </p:nvSpPr>
        <p:spPr>
          <a:xfrm>
            <a:off x="7038023" y="3797832"/>
            <a:ext cx="491919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DD6B2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Datadog</a:t>
            </a:r>
            <a:endParaRPr lang="en-US" sz="563" dirty="0"/>
          </a:p>
        </p:txBody>
      </p:sp>
      <p:sp>
        <p:nvSpPr>
          <p:cNvPr id="51" name="Shape 48"/>
          <p:cNvSpPr/>
          <p:nvPr/>
        </p:nvSpPr>
        <p:spPr>
          <a:xfrm>
            <a:off x="7544229" y="3797832"/>
            <a:ext cx="344900" cy="128588"/>
          </a:xfrm>
          <a:prstGeom prst="roundRect">
            <a:avLst>
              <a:gd name="adj" fmla="val 50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52" name="Text 49"/>
          <p:cNvSpPr/>
          <p:nvPr/>
        </p:nvSpPr>
        <p:spPr>
          <a:xfrm>
            <a:off x="7515725" y="3797832"/>
            <a:ext cx="401907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7180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Nginx</a:t>
            </a:r>
            <a:endParaRPr lang="en-US" sz="563" dirty="0"/>
          </a:p>
        </p:txBody>
      </p:sp>
      <p:sp>
        <p:nvSpPr>
          <p:cNvPr id="53" name="Shape 50"/>
          <p:cNvSpPr/>
          <p:nvPr/>
        </p:nvSpPr>
        <p:spPr>
          <a:xfrm>
            <a:off x="7931991" y="3797832"/>
            <a:ext cx="385620" cy="128588"/>
          </a:xfrm>
          <a:prstGeom prst="roundRect">
            <a:avLst>
              <a:gd name="adj" fmla="val 50000"/>
            </a:avLst>
          </a:prstGeom>
          <a:solidFill>
            <a:srgbClr val="EBF4FF"/>
          </a:solidFill>
          <a:ln>
            <a:noFill/>
          </a:ln>
        </p:spPr>
      </p:sp>
      <p:sp>
        <p:nvSpPr>
          <p:cNvPr id="54" name="Text 51"/>
          <p:cNvSpPr/>
          <p:nvPr/>
        </p:nvSpPr>
        <p:spPr>
          <a:xfrm>
            <a:off x="7903416" y="3797832"/>
            <a:ext cx="442770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3182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Next.js</a:t>
            </a:r>
            <a:endParaRPr lang="en-US" sz="563" dirty="0"/>
          </a:p>
        </p:txBody>
      </p:sp>
      <p:sp>
        <p:nvSpPr>
          <p:cNvPr id="55" name="Shape 52"/>
          <p:cNvSpPr/>
          <p:nvPr/>
        </p:nvSpPr>
        <p:spPr>
          <a:xfrm>
            <a:off x="8360545" y="3797832"/>
            <a:ext cx="313539" cy="128588"/>
          </a:xfrm>
          <a:prstGeom prst="roundRect">
            <a:avLst>
              <a:gd name="adj" fmla="val 50000"/>
            </a:avLst>
          </a:prstGeom>
          <a:solidFill>
            <a:srgbClr val="FFF5F7"/>
          </a:solidFill>
          <a:ln>
            <a:noFill/>
          </a:ln>
        </p:spPr>
      </p:sp>
      <p:sp>
        <p:nvSpPr>
          <p:cNvPr id="56" name="Text 53"/>
          <p:cNvSpPr/>
          <p:nvPr/>
        </p:nvSpPr>
        <p:spPr>
          <a:xfrm>
            <a:off x="8331899" y="3797832"/>
            <a:ext cx="370832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D53F8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tRPC</a:t>
            </a:r>
            <a:endParaRPr lang="en-US" sz="563" dirty="0"/>
          </a:p>
        </p:txBody>
      </p:sp>
      <p:sp>
        <p:nvSpPr>
          <p:cNvPr id="57" name="Shape 54"/>
          <p:cNvSpPr/>
          <p:nvPr/>
        </p:nvSpPr>
        <p:spPr>
          <a:xfrm>
            <a:off x="6076902" y="3969282"/>
            <a:ext cx="344829" cy="128588"/>
          </a:xfrm>
          <a:prstGeom prst="roundRect">
            <a:avLst>
              <a:gd name="adj" fmla="val 50000"/>
            </a:avLst>
          </a:prstGeom>
          <a:solidFill>
            <a:srgbClr val="F0FFF4"/>
          </a:solidFill>
          <a:ln>
            <a:noFill/>
          </a:ln>
        </p:spPr>
      </p:sp>
      <p:sp>
        <p:nvSpPr>
          <p:cNvPr id="58" name="Text 55"/>
          <p:cNvSpPr/>
          <p:nvPr/>
        </p:nvSpPr>
        <p:spPr>
          <a:xfrm>
            <a:off x="6048399" y="3969282"/>
            <a:ext cx="401836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38A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Vitest</a:t>
            </a:r>
            <a:endParaRPr lang="en-US" sz="563" dirty="0"/>
          </a:p>
        </p:txBody>
      </p:sp>
      <p:sp>
        <p:nvSpPr>
          <p:cNvPr id="59" name="Shape 56"/>
          <p:cNvSpPr/>
          <p:nvPr/>
        </p:nvSpPr>
        <p:spPr>
          <a:xfrm>
            <a:off x="6464522" y="3969282"/>
            <a:ext cx="510635" cy="128588"/>
          </a:xfrm>
          <a:prstGeom prst="roundRect">
            <a:avLst>
              <a:gd name="adj" fmla="val 50000"/>
            </a:avLst>
          </a:prstGeom>
          <a:solidFill>
            <a:srgbClr val="FAF5FF"/>
          </a:solidFill>
          <a:ln>
            <a:noFill/>
          </a:ln>
        </p:spPr>
      </p:sp>
      <p:sp>
        <p:nvSpPr>
          <p:cNvPr id="60" name="Text 57"/>
          <p:cNvSpPr/>
          <p:nvPr/>
        </p:nvSpPr>
        <p:spPr>
          <a:xfrm>
            <a:off x="6436019" y="3969282"/>
            <a:ext cx="567642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805A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Playwright</a:t>
            </a:r>
            <a:endParaRPr lang="en-US" sz="563" dirty="0"/>
          </a:p>
        </p:txBody>
      </p:sp>
      <p:sp>
        <p:nvSpPr>
          <p:cNvPr id="61" name="Shape 58"/>
          <p:cNvSpPr/>
          <p:nvPr/>
        </p:nvSpPr>
        <p:spPr>
          <a:xfrm>
            <a:off x="7018091" y="3969282"/>
            <a:ext cx="671370" cy="128588"/>
          </a:xfrm>
          <a:prstGeom prst="roundRect">
            <a:avLst>
              <a:gd name="adj" fmla="val 50000"/>
            </a:avLst>
          </a:prstGeom>
          <a:solidFill>
            <a:srgbClr val="E6FFFA"/>
          </a:solidFill>
          <a:ln>
            <a:noFill/>
          </a:ln>
        </p:spPr>
      </p:sp>
      <p:sp>
        <p:nvSpPr>
          <p:cNvPr id="62" name="Text 59"/>
          <p:cNvSpPr/>
          <p:nvPr/>
        </p:nvSpPr>
        <p:spPr>
          <a:xfrm>
            <a:off x="6989445" y="3969282"/>
            <a:ext cx="728662" cy="128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563" b="1" dirty="0">
                <a:solidFill>
                  <a:srgbClr val="31979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OpenTelemetry</a:t>
            </a:r>
            <a:endParaRPr lang="en-US" sz="563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D_4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50000">
                <a:srgbClr val="EDE9FE"/>
              </a:gs>
              <a:gs pos="100000">
                <a:srgbClr val="E0F2FE"/>
              </a:gs>
            </a:gsLst>
            <a:lin ang="2700000" scaled="0"/>
          </a:gradFill>
          <a:ln>
            <a:noFill/>
          </a:ln>
        </p:spPr>
      </p:sp>
      <p:sp>
        <p:nvSpPr>
          <p:cNvPr id="3" name="GRAD_4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FDF2F8"/>
              </a:gs>
              <a:gs pos="50000">
                <a:srgbClr val="EDE9FE"/>
              </a:gs>
              <a:gs pos="100000">
                <a:srgbClr val="E0F2FE"/>
              </a:gs>
            </a:gsLst>
            <a:lin ang="2700000" scaled="0"/>
          </a:gradFill>
          <a:ln>
            <a:noFill/>
          </a:ln>
        </p:spPr>
      </p:sp>
      <p:sp>
        <p:nvSpPr>
          <p:cNvPr id="4" name="GRAD_45"/>
          <p:cNvSpPr/>
          <p:nvPr/>
        </p:nvSpPr>
        <p:spPr>
          <a:xfrm>
            <a:off x="514350" y="457200"/>
            <a:ext cx="328613" cy="328613"/>
          </a:xfrm>
          <a:prstGeom prst="ellipse">
            <a:avLst/>
          </a:prstGeom>
          <a:gradFill rotWithShape="1">
            <a:gsLst>
              <a:gs pos="0">
                <a:srgbClr val="A78BFA"/>
              </a:gs>
              <a:gs pos="100000">
                <a:srgbClr val="F472B6"/>
              </a:gs>
            </a:gsLst>
            <a:lin ang="2700000" scaled="0"/>
          </a:gradFill>
          <a:ln>
            <a:noFill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641" y="501491"/>
            <a:ext cx="240030" cy="2400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2975" y="496491"/>
            <a:ext cx="1101138" cy="2500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6D28D9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MindBridge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14350" y="971550"/>
            <a:ext cx="6286500" cy="722876"/>
          </a:xfrm>
          <a:prstGeom prst="rect">
            <a:avLst/>
          </a:prstGeom>
          <a:ln>
            <a:noFill/>
          </a:ln>
        </p:spPr>
        <p:txBody>
          <a:bodyPr wrap="square" lIns="0" tIns="7387" rIns="0" bIns="0" rtlCol="0" anchor="t"/>
          <a:lstStyle/>
          <a:p>
            <a:pPr algn="l" indent="0" marL="0">
              <a:lnSpc>
                <a:spcPct val="95833"/>
              </a:lnSpc>
              <a:buNone/>
            </a:pPr>
            <a:r>
              <a:rPr lang="en-US" sz="2475" b="1" dirty="0">
                <a:solidFill>
                  <a:srgbClr val="3B07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kinder path to mental health support.</a:t>
            </a:r>
            <a:endParaRPr lang="en-US" sz="2475" dirty="0"/>
          </a:p>
        </p:txBody>
      </p:sp>
      <p:sp>
        <p:nvSpPr>
          <p:cNvPr id="8" name="Text 5"/>
          <p:cNvSpPr/>
          <p:nvPr/>
        </p:nvSpPr>
        <p:spPr>
          <a:xfrm>
            <a:off x="514350" y="1794439"/>
            <a:ext cx="5143500" cy="3857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13" dirty="0">
                <a:solidFill>
                  <a:srgbClr val="7F40B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LLM-guided psychological help for people who can't afford a psychiatrist — gentle, immediate, and always within reach.</a:t>
            </a:r>
            <a:endParaRPr lang="en-US" sz="1013" dirty="0"/>
          </a:p>
        </p:txBody>
      </p:sp>
      <p:sp>
        <p:nvSpPr>
          <p:cNvPr id="9" name="Shape 6"/>
          <p:cNvSpPr/>
          <p:nvPr/>
        </p:nvSpPr>
        <p:spPr>
          <a:xfrm>
            <a:off x="514350" y="2508814"/>
            <a:ext cx="2495526" cy="1285875"/>
          </a:xfrm>
          <a:prstGeom prst="roundRect">
            <a:avLst>
              <a:gd name="adj" fmla="val 12222"/>
            </a:avLst>
          </a:prstGeom>
          <a:solidFill>
            <a:srgbClr val="FFFFFF">
              <a:alpha val="70000"/>
            </a:srgbClr>
          </a:solidFill>
          <a:ln w="7144" algn="in">
            <a:solidFill>
              <a:srgbClr val="DDD3F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07231" y="2715982"/>
            <a:ext cx="757666" cy="200025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</p:spPr>
      </p:sp>
      <p:sp>
        <p:nvSpPr>
          <p:cNvPr id="11" name="Text 8"/>
          <p:cNvSpPr/>
          <p:nvPr/>
        </p:nvSpPr>
        <p:spPr>
          <a:xfrm>
            <a:off x="557213" y="2715982"/>
            <a:ext cx="1057704" cy="2000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7C3AE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ACCESSIBLE</a:t>
            </a:r>
            <a:endParaRPr lang="en-US" sz="675" dirty="0"/>
          </a:p>
        </p:txBody>
      </p:sp>
      <p:sp>
        <p:nvSpPr>
          <p:cNvPr id="12" name="Text 9"/>
          <p:cNvSpPr/>
          <p:nvPr/>
        </p:nvSpPr>
        <p:spPr>
          <a:xfrm>
            <a:off x="707231" y="3016020"/>
            <a:ext cx="2195489" cy="2143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3B07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Open to all</a:t>
            </a:r>
            <a:endParaRPr lang="en-US" sz="1125" dirty="0"/>
          </a:p>
        </p:txBody>
      </p:sp>
      <p:sp>
        <p:nvSpPr>
          <p:cNvPr id="13" name="Text 10"/>
          <p:cNvSpPr/>
          <p:nvPr/>
        </p:nvSpPr>
        <p:spPr>
          <a:xfrm>
            <a:off x="707231" y="3287482"/>
            <a:ext cx="2109764" cy="3000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88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Free and available 24/7 — no waitlists, no insurance.</a:t>
            </a:r>
            <a:endParaRPr lang="en-US" sz="788" dirty="0"/>
          </a:p>
        </p:txBody>
      </p:sp>
      <p:sp>
        <p:nvSpPr>
          <p:cNvPr id="14" name="Text 11"/>
          <p:cNvSpPr/>
          <p:nvPr/>
        </p:nvSpPr>
        <p:spPr>
          <a:xfrm>
            <a:off x="3009876" y="2508814"/>
            <a:ext cx="314325" cy="1285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63" b="1" dirty="0">
                <a:solidFill>
                  <a:srgbClr val="A78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63" dirty="0"/>
          </a:p>
        </p:txBody>
      </p:sp>
      <p:sp>
        <p:nvSpPr>
          <p:cNvPr id="15" name="Shape 12"/>
          <p:cNvSpPr/>
          <p:nvPr/>
        </p:nvSpPr>
        <p:spPr>
          <a:xfrm>
            <a:off x="3324201" y="2508814"/>
            <a:ext cx="2495598" cy="1285875"/>
          </a:xfrm>
          <a:prstGeom prst="roundRect">
            <a:avLst>
              <a:gd name="adj" fmla="val 12222"/>
            </a:avLst>
          </a:prstGeom>
          <a:solidFill>
            <a:srgbClr val="FFFFFF">
              <a:alpha val="70000"/>
            </a:srgbClr>
          </a:solidFill>
          <a:ln w="7144" algn="in">
            <a:solidFill>
              <a:srgbClr val="DDD3F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517082" y="2715982"/>
            <a:ext cx="785670" cy="200025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</p:spPr>
      </p:sp>
      <p:sp>
        <p:nvSpPr>
          <p:cNvPr id="17" name="Text 14"/>
          <p:cNvSpPr/>
          <p:nvPr/>
        </p:nvSpPr>
        <p:spPr>
          <a:xfrm>
            <a:off x="3359920" y="2715982"/>
            <a:ext cx="1099995" cy="2000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7C3AE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EMPATHETIC</a:t>
            </a:r>
            <a:endParaRPr lang="en-US" sz="675" dirty="0"/>
          </a:p>
        </p:txBody>
      </p:sp>
      <p:sp>
        <p:nvSpPr>
          <p:cNvPr id="18" name="Text 15"/>
          <p:cNvSpPr/>
          <p:nvPr/>
        </p:nvSpPr>
        <p:spPr>
          <a:xfrm>
            <a:off x="3517082" y="3016020"/>
            <a:ext cx="2195560" cy="2143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3B07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Truly listens</a:t>
            </a:r>
            <a:endParaRPr lang="en-US" sz="1125" dirty="0"/>
          </a:p>
        </p:txBody>
      </p:sp>
      <p:sp>
        <p:nvSpPr>
          <p:cNvPr id="19" name="Text 16"/>
          <p:cNvSpPr/>
          <p:nvPr/>
        </p:nvSpPr>
        <p:spPr>
          <a:xfrm>
            <a:off x="3517082" y="3287482"/>
            <a:ext cx="2109835" cy="3000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88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Evidence-based, judgment-free conversations rooted in therapy.</a:t>
            </a:r>
            <a:endParaRPr lang="en-US" sz="788" dirty="0"/>
          </a:p>
        </p:txBody>
      </p:sp>
      <p:sp>
        <p:nvSpPr>
          <p:cNvPr id="20" name="Text 17"/>
          <p:cNvSpPr/>
          <p:nvPr/>
        </p:nvSpPr>
        <p:spPr>
          <a:xfrm>
            <a:off x="5819799" y="2508814"/>
            <a:ext cx="314325" cy="1285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63" b="1" dirty="0">
                <a:solidFill>
                  <a:srgbClr val="A78BF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→</a:t>
            </a:r>
            <a:endParaRPr lang="en-US" sz="1463" dirty="0"/>
          </a:p>
        </p:txBody>
      </p:sp>
      <p:sp>
        <p:nvSpPr>
          <p:cNvPr id="21" name="Shape 18"/>
          <p:cNvSpPr/>
          <p:nvPr/>
        </p:nvSpPr>
        <p:spPr>
          <a:xfrm>
            <a:off x="6134124" y="2508814"/>
            <a:ext cx="2495526" cy="1285875"/>
          </a:xfrm>
          <a:prstGeom prst="roundRect">
            <a:avLst>
              <a:gd name="adj" fmla="val 12222"/>
            </a:avLst>
          </a:prstGeom>
          <a:solidFill>
            <a:srgbClr val="FFFFFF">
              <a:alpha val="70000"/>
            </a:srgbClr>
          </a:solidFill>
          <a:ln w="7144" algn="in">
            <a:solidFill>
              <a:srgbClr val="DDD3F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327005" y="2715982"/>
            <a:ext cx="579001" cy="200025"/>
          </a:xfrm>
          <a:prstGeom prst="roundRect">
            <a:avLst>
              <a:gd name="adj" fmla="val 50000"/>
            </a:avLst>
          </a:prstGeom>
          <a:solidFill>
            <a:srgbClr val="EDE9FE"/>
          </a:solidFill>
          <a:ln>
            <a:noFill/>
          </a:ln>
        </p:spPr>
      </p:sp>
      <p:sp>
        <p:nvSpPr>
          <p:cNvPr id="23" name="Text 20"/>
          <p:cNvSpPr/>
          <p:nvPr/>
        </p:nvSpPr>
        <p:spPr>
          <a:xfrm>
            <a:off x="6212705" y="2715982"/>
            <a:ext cx="807601" cy="2000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7C3AE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PRIVATE</a:t>
            </a:r>
            <a:endParaRPr lang="en-US" sz="675" dirty="0"/>
          </a:p>
        </p:txBody>
      </p:sp>
      <p:sp>
        <p:nvSpPr>
          <p:cNvPr id="24" name="Text 21"/>
          <p:cNvSpPr/>
          <p:nvPr/>
        </p:nvSpPr>
        <p:spPr>
          <a:xfrm>
            <a:off x="6327005" y="3016020"/>
            <a:ext cx="2195489" cy="2143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5" b="1" dirty="0">
                <a:solidFill>
                  <a:srgbClr val="3B076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Always safe</a:t>
            </a:r>
            <a:endParaRPr lang="en-US" sz="1125" dirty="0"/>
          </a:p>
        </p:txBody>
      </p:sp>
      <p:sp>
        <p:nvSpPr>
          <p:cNvPr id="25" name="Text 22"/>
          <p:cNvSpPr/>
          <p:nvPr/>
        </p:nvSpPr>
        <p:spPr>
          <a:xfrm>
            <a:off x="6327005" y="3287482"/>
            <a:ext cx="2109764" cy="3000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88" dirty="0">
                <a:solidFill>
                  <a:srgbClr val="6B728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Confidential and secure — your story stays yours.</a:t>
            </a:r>
            <a:endParaRPr lang="en-US" sz="788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71563" cy="51435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415123" y="400050"/>
            <a:ext cx="326969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NOW</a:t>
            </a:r>
            <a:endParaRPr lang="en-US" sz="675" dirty="0"/>
          </a:p>
        </p:txBody>
      </p:sp>
      <p:sp>
        <p:nvSpPr>
          <p:cNvPr id="4" name="Text 2"/>
          <p:cNvSpPr/>
          <p:nvPr/>
        </p:nvSpPr>
        <p:spPr>
          <a:xfrm>
            <a:off x="478631" y="678656"/>
            <a:ext cx="114300" cy="3564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 vert="vert270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31" b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· PRIORITY</a:t>
            </a:r>
            <a:endParaRPr lang="en-US" sz="731" dirty="0"/>
          </a:p>
        </p:txBody>
      </p:sp>
      <p:sp>
        <p:nvSpPr>
          <p:cNvPr id="5" name="Text 3"/>
          <p:cNvSpPr/>
          <p:nvPr/>
        </p:nvSpPr>
        <p:spPr>
          <a:xfrm>
            <a:off x="458343" y="4414838"/>
            <a:ext cx="240673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63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463" dirty="0"/>
          </a:p>
        </p:txBody>
      </p:sp>
      <p:sp>
        <p:nvSpPr>
          <p:cNvPr id="6" name="Text 4"/>
          <p:cNvSpPr/>
          <p:nvPr/>
        </p:nvSpPr>
        <p:spPr>
          <a:xfrm>
            <a:off x="249031" y="4636294"/>
            <a:ext cx="659225" cy="1071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5" b="1" dirty="0">
                <a:solidFill>
                  <a:srgbClr val="2DD4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TERM</a:t>
            </a:r>
            <a:endParaRPr lang="en-US" sz="675" dirty="0"/>
          </a:p>
        </p:txBody>
      </p:sp>
      <p:sp>
        <p:nvSpPr>
          <p:cNvPr id="7" name="Text 5"/>
          <p:cNvSpPr/>
          <p:nvPr/>
        </p:nvSpPr>
        <p:spPr>
          <a:xfrm>
            <a:off x="1471613" y="357188"/>
            <a:ext cx="7358063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MENTALWARD · ROADMAP</a:t>
            </a:r>
            <a:endParaRPr lang="en-US" sz="788" dirty="0"/>
          </a:p>
        </p:txBody>
      </p:sp>
      <p:sp>
        <p:nvSpPr>
          <p:cNvPr id="8" name="Text 6"/>
          <p:cNvSpPr/>
          <p:nvPr/>
        </p:nvSpPr>
        <p:spPr>
          <a:xfrm>
            <a:off x="1471613" y="521494"/>
            <a:ext cx="7358063" cy="2928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13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Prioritized top to bottom</a:t>
            </a:r>
            <a:endParaRPr lang="en-US" sz="1913" dirty="0"/>
          </a:p>
        </p:txBody>
      </p:sp>
      <p:sp>
        <p:nvSpPr>
          <p:cNvPr id="9" name="Shape 7"/>
          <p:cNvSpPr/>
          <p:nvPr/>
        </p:nvSpPr>
        <p:spPr>
          <a:xfrm>
            <a:off x="1471613" y="971550"/>
            <a:ext cx="7272338" cy="657225"/>
          </a:xfrm>
          <a:prstGeom prst="roundRect">
            <a:avLst>
              <a:gd name="adj" fmla="val 1521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14300" dist="28575" dir="5400000">
              <a:srgbClr val="0F172A">
                <a:alpha val="6000"/>
              </a:srgbClr>
            </a:outerShdw>
          </a:effectLst>
        </p:spPr>
      </p:sp>
      <p:sp>
        <p:nvSpPr>
          <p:cNvPr id="10" name="GRAD_46"/>
          <p:cNvSpPr/>
          <p:nvPr/>
        </p:nvSpPr>
        <p:spPr>
          <a:xfrm>
            <a:off x="1471613" y="971550"/>
            <a:ext cx="657225" cy="657225"/>
          </a:xfrm>
          <a:prstGeom prst="roundRect">
            <a:avLst>
              <a:gd name="adj" fmla="val 15217"/>
            </a:avLst>
          </a:prstGeom>
          <a:gradFill rotWithShape="1">
            <a:gsLst>
              <a:gs pos="0">
                <a:srgbClr val="F87171"/>
              </a:gs>
              <a:gs pos="100000">
                <a:srgbClr val="DC2626"/>
              </a:gs>
            </a:gsLst>
            <a:lin ang="4200000" scaled="0"/>
          </a:gradFill>
          <a:ln>
            <a:noFill/>
          </a:ln>
        </p:spPr>
      </p:sp>
      <p:sp>
        <p:nvSpPr>
          <p:cNvPr id="11" name="Shape 9"/>
          <p:cNvSpPr/>
          <p:nvPr/>
        </p:nvSpPr>
        <p:spPr>
          <a:xfrm>
            <a:off x="2028825" y="971550"/>
            <a:ext cx="100013" cy="100013"/>
          </a:xfrm>
          <a:prstGeom prst="rect">
            <a:avLst/>
          </a:prstGeom>
          <a:solidFill>
            <a:srgbClr val="F87171">
              <a:alpha val="0"/>
            </a:srgbClr>
          </a:solidFill>
          <a:ln>
            <a:noFill/>
          </a:ln>
        </p:spPr>
      </p:sp>
      <p:sp>
        <p:nvSpPr>
          <p:cNvPr id="12" name="Shape 10"/>
          <p:cNvSpPr/>
          <p:nvPr/>
        </p:nvSpPr>
        <p:spPr>
          <a:xfrm>
            <a:off x="2028825" y="1528763"/>
            <a:ext cx="100013" cy="100013"/>
          </a:xfrm>
          <a:prstGeom prst="rect">
            <a:avLst/>
          </a:prstGeom>
          <a:solidFill>
            <a:srgbClr val="F87171">
              <a:alpha val="0"/>
            </a:srgbClr>
          </a:solidFill>
          <a:ln>
            <a:noFill/>
          </a:ln>
        </p:spPr>
      </p:sp>
      <p:sp>
        <p:nvSpPr>
          <p:cNvPr id="13" name="Text 11"/>
          <p:cNvSpPr/>
          <p:nvPr/>
        </p:nvSpPr>
        <p:spPr>
          <a:xfrm>
            <a:off x="1694640" y="1157288"/>
            <a:ext cx="296894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P0</a:t>
            </a:r>
            <a:endParaRPr lang="en-US" sz="1238" dirty="0"/>
          </a:p>
        </p:txBody>
      </p:sp>
      <p:sp>
        <p:nvSpPr>
          <p:cNvPr id="14" name="Text 12"/>
          <p:cNvSpPr/>
          <p:nvPr/>
        </p:nvSpPr>
        <p:spPr>
          <a:xfrm>
            <a:off x="1561267" y="1364456"/>
            <a:ext cx="477845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34" b="1" dirty="0">
                <a:solidFill>
                  <a:srgbClr val="FDF1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SHIP NEXT</a:t>
            </a:r>
            <a:endParaRPr lang="en-US" sz="534" dirty="0"/>
          </a:p>
        </p:txBody>
      </p:sp>
      <p:sp>
        <p:nvSpPr>
          <p:cNvPr id="15" name="Text 13"/>
          <p:cNvSpPr/>
          <p:nvPr/>
        </p:nvSpPr>
        <p:spPr>
          <a:xfrm>
            <a:off x="2400300" y="1140000"/>
            <a:ext cx="4998696" cy="1643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69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Redirects</a:t>
            </a:r>
            <a:endParaRPr lang="en-US" sz="1069" dirty="0"/>
          </a:p>
        </p:txBody>
      </p:sp>
      <p:sp>
        <p:nvSpPr>
          <p:cNvPr id="16" name="Text 14"/>
          <p:cNvSpPr/>
          <p:nvPr/>
        </p:nvSpPr>
        <p:spPr>
          <a:xfrm>
            <a:off x="2400300" y="1325737"/>
            <a:ext cx="4998696" cy="134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73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mental-health prompts to official, vetted resources.</a:t>
            </a:r>
            <a:endParaRPr lang="en-US" sz="731" dirty="0"/>
          </a:p>
        </p:txBody>
      </p:sp>
      <p:sp>
        <p:nvSpPr>
          <p:cNvPr id="17" name="Shape 15"/>
          <p:cNvSpPr/>
          <p:nvPr/>
        </p:nvSpPr>
        <p:spPr>
          <a:xfrm>
            <a:off x="7584734" y="1189434"/>
            <a:ext cx="1030629" cy="2214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18" name="Text 16"/>
          <p:cNvSpPr/>
          <p:nvPr/>
        </p:nvSpPr>
        <p:spPr>
          <a:xfrm>
            <a:off x="7377565" y="1189434"/>
            <a:ext cx="1444966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↗ external redirects</a:t>
            </a:r>
            <a:endParaRPr lang="en-US" sz="675" dirty="0"/>
          </a:p>
        </p:txBody>
      </p:sp>
      <p:sp>
        <p:nvSpPr>
          <p:cNvPr id="19" name="Shape 17"/>
          <p:cNvSpPr/>
          <p:nvPr/>
        </p:nvSpPr>
        <p:spPr>
          <a:xfrm>
            <a:off x="1471613" y="1743075"/>
            <a:ext cx="7272338" cy="785813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14300" dist="28575" dir="5400000">
              <a:srgbClr val="0F172A">
                <a:alpha val="6000"/>
              </a:srgbClr>
            </a:outerShdw>
          </a:effectLst>
        </p:spPr>
      </p:sp>
      <p:sp>
        <p:nvSpPr>
          <p:cNvPr id="20" name="GRAD_47"/>
          <p:cNvSpPr/>
          <p:nvPr/>
        </p:nvSpPr>
        <p:spPr>
          <a:xfrm>
            <a:off x="1471613" y="1743075"/>
            <a:ext cx="657225" cy="785813"/>
          </a:xfrm>
          <a:prstGeom prst="roundRect">
            <a:avLst>
              <a:gd name="adj" fmla="val 15217"/>
            </a:avLst>
          </a:prstGeom>
          <a:gradFill rotWithShape="1">
            <a:gsLst>
              <a:gs pos="0">
                <a:srgbClr val="FBBF24"/>
              </a:gs>
              <a:gs pos="100000">
                <a:srgbClr val="D97706"/>
              </a:gs>
            </a:gsLst>
            <a:lin ang="4200000" scaled="0"/>
          </a:gradFill>
          <a:ln>
            <a:noFill/>
          </a:ln>
        </p:spPr>
      </p:sp>
      <p:sp>
        <p:nvSpPr>
          <p:cNvPr id="21" name="Shape 19"/>
          <p:cNvSpPr/>
          <p:nvPr/>
        </p:nvSpPr>
        <p:spPr>
          <a:xfrm>
            <a:off x="2028825" y="1743075"/>
            <a:ext cx="100013" cy="100013"/>
          </a:xfrm>
          <a:prstGeom prst="rect">
            <a:avLst/>
          </a:prstGeom>
          <a:solidFill>
            <a:srgbClr val="FBBF24">
              <a:alpha val="0"/>
            </a:srgbClr>
          </a:solidFill>
          <a:ln>
            <a:noFill/>
          </a:ln>
        </p:spPr>
      </p:sp>
      <p:sp>
        <p:nvSpPr>
          <p:cNvPr id="22" name="Shape 20"/>
          <p:cNvSpPr/>
          <p:nvPr/>
        </p:nvSpPr>
        <p:spPr>
          <a:xfrm>
            <a:off x="2028825" y="2428875"/>
            <a:ext cx="100013" cy="100013"/>
          </a:xfrm>
          <a:prstGeom prst="rect">
            <a:avLst/>
          </a:prstGeom>
          <a:solidFill>
            <a:srgbClr val="FBBF24">
              <a:alpha val="0"/>
            </a:srgbClr>
          </a:solidFill>
          <a:ln>
            <a:noFill/>
          </a:ln>
        </p:spPr>
      </p:sp>
      <p:sp>
        <p:nvSpPr>
          <p:cNvPr id="23" name="Text 21"/>
          <p:cNvSpPr/>
          <p:nvPr/>
        </p:nvSpPr>
        <p:spPr>
          <a:xfrm>
            <a:off x="1714286" y="1993106"/>
            <a:ext cx="257604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</a:t>
            </a:r>
            <a:endParaRPr lang="en-US" sz="1238" dirty="0"/>
          </a:p>
        </p:txBody>
      </p:sp>
      <p:sp>
        <p:nvSpPr>
          <p:cNvPr id="24" name="Text 22"/>
          <p:cNvSpPr/>
          <p:nvPr/>
        </p:nvSpPr>
        <p:spPr>
          <a:xfrm>
            <a:off x="1572197" y="2200275"/>
            <a:ext cx="456057" cy="7858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34" b="1" dirty="0">
                <a:solidFill>
                  <a:srgbClr val="FDF7E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 TERM</a:t>
            </a:r>
            <a:endParaRPr lang="en-US" sz="534" dirty="0"/>
          </a:p>
        </p:txBody>
      </p:sp>
      <p:sp>
        <p:nvSpPr>
          <p:cNvPr id="25" name="Text 23"/>
          <p:cNvSpPr/>
          <p:nvPr/>
        </p:nvSpPr>
        <p:spPr>
          <a:xfrm>
            <a:off x="2400300" y="1975818"/>
            <a:ext cx="5032343" cy="1643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69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fixups</a:t>
            </a:r>
            <a:endParaRPr lang="en-US" sz="1069" dirty="0"/>
          </a:p>
        </p:txBody>
      </p:sp>
      <p:sp>
        <p:nvSpPr>
          <p:cNvPr id="26" name="Text 24"/>
          <p:cNvSpPr/>
          <p:nvPr/>
        </p:nvSpPr>
        <p:spPr>
          <a:xfrm>
            <a:off x="2400300" y="2161556"/>
            <a:ext cx="5032343" cy="134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73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&amp; rewrite wrongly-transcribed medical sources online.</a:t>
            </a:r>
            <a:endParaRPr lang="en-US" sz="731" dirty="0"/>
          </a:p>
        </p:txBody>
      </p:sp>
      <p:sp>
        <p:nvSpPr>
          <p:cNvPr id="27" name="Shape 25"/>
          <p:cNvSpPr/>
          <p:nvPr/>
        </p:nvSpPr>
        <p:spPr>
          <a:xfrm>
            <a:off x="7618381" y="2025253"/>
            <a:ext cx="996982" cy="2214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28" name="Text 26"/>
          <p:cNvSpPr/>
          <p:nvPr/>
        </p:nvSpPr>
        <p:spPr>
          <a:xfrm>
            <a:off x="7418356" y="2025253"/>
            <a:ext cx="1397032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¹ citation-style refs</a:t>
            </a:r>
            <a:endParaRPr lang="en-US" sz="675" dirty="0"/>
          </a:p>
        </p:txBody>
      </p:sp>
      <p:sp>
        <p:nvSpPr>
          <p:cNvPr id="29" name="Shape 27"/>
          <p:cNvSpPr/>
          <p:nvPr/>
        </p:nvSpPr>
        <p:spPr>
          <a:xfrm>
            <a:off x="1471613" y="2643188"/>
            <a:ext cx="7272338" cy="942975"/>
          </a:xfrm>
          <a:prstGeom prst="roundRect">
            <a:avLst>
              <a:gd name="adj" fmla="val 10606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14300" dist="28575" dir="5400000">
              <a:srgbClr val="0F172A">
                <a:alpha val="6000"/>
              </a:srgbClr>
            </a:outerShdw>
          </a:effectLst>
        </p:spPr>
      </p:sp>
      <p:sp>
        <p:nvSpPr>
          <p:cNvPr id="30" name="GRAD_48"/>
          <p:cNvSpPr/>
          <p:nvPr/>
        </p:nvSpPr>
        <p:spPr>
          <a:xfrm>
            <a:off x="1471613" y="2643188"/>
            <a:ext cx="657225" cy="942975"/>
          </a:xfrm>
          <a:prstGeom prst="roundRect">
            <a:avLst>
              <a:gd name="adj" fmla="val 15217"/>
            </a:avLst>
          </a:prstGeom>
          <a:gradFill rotWithShape="1">
            <a:gsLst>
              <a:gs pos="0">
                <a:srgbClr val="2DD4BF"/>
              </a:gs>
              <a:gs pos="100000">
                <a:srgbClr val="0D9488"/>
              </a:gs>
            </a:gsLst>
            <a:lin ang="4200000" scaled="0"/>
          </a:gradFill>
          <a:ln>
            <a:noFill/>
          </a:ln>
        </p:spPr>
      </p:sp>
      <p:sp>
        <p:nvSpPr>
          <p:cNvPr id="31" name="Shape 29"/>
          <p:cNvSpPr/>
          <p:nvPr/>
        </p:nvSpPr>
        <p:spPr>
          <a:xfrm>
            <a:off x="2028825" y="2643188"/>
            <a:ext cx="100013" cy="100013"/>
          </a:xfrm>
          <a:prstGeom prst="rect">
            <a:avLst/>
          </a:prstGeom>
          <a:solidFill>
            <a:srgbClr val="2DD4BF">
              <a:alpha val="0"/>
            </a:srgbClr>
          </a:solidFill>
          <a:ln>
            <a:noFill/>
          </a:ln>
        </p:spPr>
      </p:sp>
      <p:sp>
        <p:nvSpPr>
          <p:cNvPr id="32" name="Shape 30"/>
          <p:cNvSpPr/>
          <p:nvPr/>
        </p:nvSpPr>
        <p:spPr>
          <a:xfrm>
            <a:off x="2028825" y="3486150"/>
            <a:ext cx="100013" cy="100013"/>
          </a:xfrm>
          <a:prstGeom prst="rect">
            <a:avLst/>
          </a:prstGeom>
          <a:solidFill>
            <a:srgbClr val="2DD4BF">
              <a:alpha val="0"/>
            </a:srgbClr>
          </a:solidFill>
          <a:ln>
            <a:noFill/>
          </a:ln>
        </p:spPr>
      </p:sp>
      <p:sp>
        <p:nvSpPr>
          <p:cNvPr id="33" name="Text 31"/>
          <p:cNvSpPr/>
          <p:nvPr/>
        </p:nvSpPr>
        <p:spPr>
          <a:xfrm>
            <a:off x="1698855" y="2932509"/>
            <a:ext cx="288465" cy="1857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8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P2</a:t>
            </a:r>
            <a:endParaRPr lang="en-US" sz="1238" dirty="0"/>
          </a:p>
        </p:txBody>
      </p:sp>
      <p:sp>
        <p:nvSpPr>
          <p:cNvPr id="34" name="Text 32"/>
          <p:cNvSpPr/>
          <p:nvPr/>
        </p:nvSpPr>
        <p:spPr>
          <a:xfrm>
            <a:off x="1471613" y="3139678"/>
            <a:ext cx="657225" cy="15716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534" b="1" dirty="0">
                <a:solidFill>
                  <a:srgbClr val="EDF9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PARALLEL · ONGOING</a:t>
            </a:r>
            <a:endParaRPr lang="en-US" sz="534" dirty="0"/>
          </a:p>
        </p:txBody>
      </p:sp>
      <p:sp>
        <p:nvSpPr>
          <p:cNvPr id="35" name="Text 33"/>
          <p:cNvSpPr/>
          <p:nvPr/>
        </p:nvSpPr>
        <p:spPr>
          <a:xfrm>
            <a:off x="2400300" y="2954512"/>
            <a:ext cx="5352883" cy="16430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69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Upstreaming</a:t>
            </a:r>
            <a:endParaRPr lang="en-US" sz="1069" dirty="0"/>
          </a:p>
        </p:txBody>
      </p:sp>
      <p:sp>
        <p:nvSpPr>
          <p:cNvPr id="36" name="Text 34"/>
          <p:cNvSpPr/>
          <p:nvPr/>
        </p:nvSpPr>
        <p:spPr>
          <a:xfrm>
            <a:off x="2400300" y="3140250"/>
            <a:ext cx="5352883" cy="13458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73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losses back to Claude &amp; Codex — the full-mode fix.</a:t>
            </a:r>
            <a:endParaRPr lang="en-US" sz="731" dirty="0"/>
          </a:p>
        </p:txBody>
      </p:sp>
      <p:sp>
        <p:nvSpPr>
          <p:cNvPr id="37" name="Shape 35"/>
          <p:cNvSpPr/>
          <p:nvPr/>
        </p:nvSpPr>
        <p:spPr>
          <a:xfrm>
            <a:off x="7938921" y="3003947"/>
            <a:ext cx="676442" cy="22145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</p:spPr>
      </p:sp>
      <p:sp>
        <p:nvSpPr>
          <p:cNvPr id="38" name="Text 36"/>
          <p:cNvSpPr/>
          <p:nvPr/>
        </p:nvSpPr>
        <p:spPr>
          <a:xfrm>
            <a:off x="7803190" y="3003947"/>
            <a:ext cx="947904" cy="22145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675" b="1" dirty="0">
                <a:solidFill>
                  <a:srgbClr val="33415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full mode</a:t>
            </a:r>
            <a:endParaRPr lang="en-US" sz="67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71A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85763"/>
            <a:ext cx="8372475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MENTALWARD · ROADMAP</a:t>
            </a:r>
            <a:endParaRPr lang="en-US" sz="788" dirty="0"/>
          </a:p>
        </p:txBody>
      </p:sp>
      <p:sp>
        <p:nvSpPr>
          <p:cNvPr id="3" name="Text 1"/>
          <p:cNvSpPr/>
          <p:nvPr/>
        </p:nvSpPr>
        <p:spPr>
          <a:xfrm>
            <a:off x="428625" y="564356"/>
            <a:ext cx="8372475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road to full mode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428625" y="921544"/>
            <a:ext cx="8372475" cy="13573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4" dirty="0">
                <a:solidFill>
                  <a:srgbClr val="7D93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milestones — each ships value on its own, and clears the path to the next.</a:t>
            </a:r>
            <a:endParaRPr lang="en-US" sz="844" dirty="0"/>
          </a:p>
        </p:txBody>
      </p:sp>
      <p:sp>
        <p:nvSpPr>
          <p:cNvPr id="5" name="GRAD_49"/>
          <p:cNvSpPr/>
          <p:nvPr/>
        </p:nvSpPr>
        <p:spPr>
          <a:xfrm>
            <a:off x="428625" y="1885950"/>
            <a:ext cx="8286750" cy="100013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EF4444"/>
              </a:gs>
              <a:gs pos="50000">
                <a:srgbClr val="F59E0B"/>
              </a:gs>
              <a:gs pos="100000">
                <a:srgbClr val="14B8A6"/>
              </a:gs>
            </a:gsLst>
            <a:lin ang="0" scaled="0"/>
          </a:gradFill>
          <a:ln>
            <a:noFill/>
          </a:ln>
          <a:effectLst>
            <a:outerShdw sx="100000" sy="100000" kx="0" ky="0" algn="bl" rotWithShape="0" blurRad="171450" dist="50800" dir="5400000">
              <a:srgbClr val="14B8A6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84471" y="1271588"/>
            <a:ext cx="457200" cy="457200"/>
          </a:xfrm>
          <a:prstGeom prst="roundRect">
            <a:avLst>
              <a:gd name="adj" fmla="val 28125"/>
            </a:avLst>
          </a:prstGeom>
          <a:solidFill>
            <a:srgbClr val="EF4444"/>
          </a:solidFill>
          <a:ln>
            <a:noFill/>
          </a:ln>
          <a:effectLst>
            <a:outerShdw sx="100000" sy="100000" kx="0" ky="0" algn="bl" rotWithShape="0" blurRad="171450" dist="5715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484471" y="1271588"/>
            <a:ext cx="457200" cy="4572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P0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385763" y="2128838"/>
            <a:ext cx="2654546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7D93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SHORT TERM · NEXT</a:t>
            </a:r>
            <a:endParaRPr lang="en-US" sz="619" dirty="0"/>
          </a:p>
        </p:txBody>
      </p:sp>
      <p:sp>
        <p:nvSpPr>
          <p:cNvPr id="9" name="Shape 7"/>
          <p:cNvSpPr/>
          <p:nvPr/>
        </p:nvSpPr>
        <p:spPr>
          <a:xfrm>
            <a:off x="428625" y="2328863"/>
            <a:ext cx="2568821" cy="1228725"/>
          </a:xfrm>
          <a:prstGeom prst="roundRect">
            <a:avLst>
              <a:gd name="adj" fmla="val 9302"/>
            </a:avLst>
          </a:prstGeom>
          <a:solidFill>
            <a:srgbClr val="122434"/>
          </a:solidFill>
          <a:ln w="7144" algn="in">
            <a:solidFill>
              <a:srgbClr val="2D40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5781" y="2478881"/>
            <a:ext cx="2354509" cy="1785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81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Redirects</a:t>
            </a:r>
            <a:endParaRPr lang="en-US" sz="1181" dirty="0"/>
          </a:p>
        </p:txBody>
      </p:sp>
      <p:sp>
        <p:nvSpPr>
          <p:cNvPr id="11" name="Text 9"/>
          <p:cNvSpPr/>
          <p:nvPr/>
        </p:nvSpPr>
        <p:spPr>
          <a:xfrm>
            <a:off x="578644" y="2707481"/>
            <a:ext cx="2268784" cy="4143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31" dirty="0">
                <a:solidFill>
                  <a:srgbClr val="9FB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 mental-health prompts to official, vetted resources.</a:t>
            </a:r>
            <a:endParaRPr lang="en-US" sz="731" dirty="0"/>
          </a:p>
        </p:txBody>
      </p:sp>
      <p:sp>
        <p:nvSpPr>
          <p:cNvPr id="12" name="Shape 10"/>
          <p:cNvSpPr/>
          <p:nvPr/>
        </p:nvSpPr>
        <p:spPr>
          <a:xfrm>
            <a:off x="578644" y="3207544"/>
            <a:ext cx="2268784" cy="200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13" name="Shape 11"/>
          <p:cNvSpPr/>
          <p:nvPr/>
        </p:nvSpPr>
        <p:spPr>
          <a:xfrm>
            <a:off x="578644" y="3207544"/>
            <a:ext cx="2268784" cy="0"/>
          </a:xfrm>
          <a:prstGeom prst="line">
            <a:avLst/>
          </a:prstGeom>
          <a:noFill/>
          <a:ln w="12700" algn="in">
            <a:solidFill>
              <a:srgbClr val="D8DFE6"/>
            </a:solidFill>
            <a:prstDash val="sysDash"/>
          </a:ln>
        </p:spPr>
      </p:sp>
      <p:sp>
        <p:nvSpPr>
          <p:cNvPr id="14" name="Text 12"/>
          <p:cNvSpPr/>
          <p:nvPr/>
        </p:nvSpPr>
        <p:spPr>
          <a:xfrm>
            <a:off x="578644" y="3207544"/>
            <a:ext cx="2268784" cy="200025"/>
          </a:xfrm>
          <a:prstGeom prst="rect">
            <a:avLst/>
          </a:prstGeom>
          <a:ln>
            <a:noFill/>
          </a:ln>
        </p:spPr>
        <p:txBody>
          <a:bodyPr wrap="square" lIns="0" tIns="85725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5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↗ 988lifeline.org · nimh.gov</a:t>
            </a:r>
            <a:endParaRPr lang="en-US" sz="675" dirty="0"/>
          </a:p>
        </p:txBody>
      </p:sp>
      <p:sp>
        <p:nvSpPr>
          <p:cNvPr id="15" name="Shape 13"/>
          <p:cNvSpPr/>
          <p:nvPr/>
        </p:nvSpPr>
        <p:spPr>
          <a:xfrm>
            <a:off x="4343400" y="1271588"/>
            <a:ext cx="457200" cy="457200"/>
          </a:xfrm>
          <a:prstGeom prst="roundRect">
            <a:avLst>
              <a:gd name="adj" fmla="val 28125"/>
            </a:avLst>
          </a:prstGeom>
          <a:solidFill>
            <a:srgbClr val="F59E0B"/>
          </a:solidFill>
          <a:ln>
            <a:noFill/>
          </a:ln>
          <a:effectLst>
            <a:outerShdw sx="100000" sy="100000" kx="0" ky="0" algn="bl" rotWithShape="0" blurRad="171450" dist="5715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43400" y="1271588"/>
            <a:ext cx="457200" cy="4572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3244691" y="2128838"/>
            <a:ext cx="2654546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7D93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 TERM</a:t>
            </a:r>
            <a:endParaRPr lang="en-US" sz="619" dirty="0"/>
          </a:p>
        </p:txBody>
      </p:sp>
      <p:sp>
        <p:nvSpPr>
          <p:cNvPr id="18" name="Shape 16"/>
          <p:cNvSpPr/>
          <p:nvPr/>
        </p:nvSpPr>
        <p:spPr>
          <a:xfrm>
            <a:off x="3287554" y="2328863"/>
            <a:ext cx="2568821" cy="1228725"/>
          </a:xfrm>
          <a:prstGeom prst="roundRect">
            <a:avLst>
              <a:gd name="adj" fmla="val 9302"/>
            </a:avLst>
          </a:prstGeom>
          <a:solidFill>
            <a:srgbClr val="122434"/>
          </a:solidFill>
          <a:ln w="7144" algn="in">
            <a:solidFill>
              <a:srgbClr val="2D40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94710" y="2478881"/>
            <a:ext cx="2354509" cy="1785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81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Online fixups</a:t>
            </a:r>
            <a:endParaRPr lang="en-US" sz="1181" dirty="0"/>
          </a:p>
        </p:txBody>
      </p:sp>
      <p:sp>
        <p:nvSpPr>
          <p:cNvPr id="20" name="Text 18"/>
          <p:cNvSpPr/>
          <p:nvPr/>
        </p:nvSpPr>
        <p:spPr>
          <a:xfrm>
            <a:off x="3437573" y="2707481"/>
            <a:ext cx="2268784" cy="4143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31" dirty="0">
                <a:solidFill>
                  <a:srgbClr val="9FB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cited medical sources online; rewrite anything wrongly transcribed.</a:t>
            </a:r>
            <a:endParaRPr lang="en-US" sz="731" dirty="0"/>
          </a:p>
        </p:txBody>
      </p:sp>
      <p:sp>
        <p:nvSpPr>
          <p:cNvPr id="21" name="Shape 19"/>
          <p:cNvSpPr/>
          <p:nvPr/>
        </p:nvSpPr>
        <p:spPr>
          <a:xfrm>
            <a:off x="3437573" y="3207544"/>
            <a:ext cx="2268784" cy="200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22" name="Shape 20"/>
          <p:cNvSpPr/>
          <p:nvPr/>
        </p:nvSpPr>
        <p:spPr>
          <a:xfrm>
            <a:off x="3437573" y="3207544"/>
            <a:ext cx="2268784" cy="0"/>
          </a:xfrm>
          <a:prstGeom prst="line">
            <a:avLst/>
          </a:prstGeom>
          <a:noFill/>
          <a:ln w="12700" algn="in">
            <a:solidFill>
              <a:srgbClr val="D8DFE6"/>
            </a:solidFill>
            <a:prstDash val="sysDash"/>
          </a:ln>
        </p:spPr>
      </p:sp>
      <p:sp>
        <p:nvSpPr>
          <p:cNvPr id="23" name="Text 21"/>
          <p:cNvSpPr/>
          <p:nvPr/>
        </p:nvSpPr>
        <p:spPr>
          <a:xfrm>
            <a:off x="3437573" y="3207544"/>
            <a:ext cx="2268784" cy="200025"/>
          </a:xfrm>
          <a:prstGeom prst="rect">
            <a:avLst/>
          </a:prstGeom>
          <a:ln>
            <a:noFill/>
          </a:ln>
        </p:spPr>
        <p:txBody>
          <a:bodyPr wrap="square" lIns="0" tIns="85725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5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¹ rewrite ✓ — WHO, 2023</a:t>
            </a:r>
            <a:endParaRPr lang="en-US" sz="675" dirty="0"/>
          </a:p>
        </p:txBody>
      </p:sp>
      <p:sp>
        <p:nvSpPr>
          <p:cNvPr id="24" name="Shape 22"/>
          <p:cNvSpPr/>
          <p:nvPr/>
        </p:nvSpPr>
        <p:spPr>
          <a:xfrm>
            <a:off x="7202329" y="1271588"/>
            <a:ext cx="457200" cy="457200"/>
          </a:xfrm>
          <a:prstGeom prst="roundRect">
            <a:avLst>
              <a:gd name="adj" fmla="val 28125"/>
            </a:avLst>
          </a:prstGeom>
          <a:solidFill>
            <a:srgbClr val="14B8A6"/>
          </a:solidFill>
          <a:ln>
            <a:noFill/>
          </a:ln>
          <a:effectLst>
            <a:outerShdw sx="100000" sy="100000" kx="0" ky="0" algn="bl" rotWithShape="0" blurRad="171450" dist="57150" dir="54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02329" y="1271588"/>
            <a:ext cx="457200" cy="4572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P2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6103691" y="2128838"/>
            <a:ext cx="2654546" cy="100013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19" b="1" dirty="0">
                <a:solidFill>
                  <a:srgbClr val="7D93A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TERM · PARALLEL</a:t>
            </a:r>
            <a:endParaRPr lang="en-US" sz="619" dirty="0"/>
          </a:p>
        </p:txBody>
      </p:sp>
      <p:sp>
        <p:nvSpPr>
          <p:cNvPr id="27" name="Shape 25"/>
          <p:cNvSpPr/>
          <p:nvPr/>
        </p:nvSpPr>
        <p:spPr>
          <a:xfrm>
            <a:off x="6146554" y="2328863"/>
            <a:ext cx="2568821" cy="1228725"/>
          </a:xfrm>
          <a:prstGeom prst="roundRect">
            <a:avLst>
              <a:gd name="adj" fmla="val 9302"/>
            </a:avLst>
          </a:prstGeom>
          <a:solidFill>
            <a:srgbClr val="122434"/>
          </a:solidFill>
          <a:ln w="7144" algn="in">
            <a:solidFill>
              <a:srgbClr val="2D40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53710" y="2478881"/>
            <a:ext cx="2354509" cy="17859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81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Upstreaming</a:t>
            </a:r>
            <a:endParaRPr lang="en-US" sz="1181" dirty="0"/>
          </a:p>
        </p:txBody>
      </p:sp>
      <p:sp>
        <p:nvSpPr>
          <p:cNvPr id="29" name="Text 27"/>
          <p:cNvSpPr/>
          <p:nvPr/>
        </p:nvSpPr>
        <p:spPr>
          <a:xfrm>
            <a:off x="6296573" y="2707481"/>
            <a:ext cx="2268784" cy="414338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731" dirty="0">
                <a:solidFill>
                  <a:srgbClr val="9FB3C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losses back into the base models — Claude &amp; Codex.</a:t>
            </a:r>
            <a:endParaRPr lang="en-US" sz="731" dirty="0"/>
          </a:p>
        </p:txBody>
      </p:sp>
      <p:sp>
        <p:nvSpPr>
          <p:cNvPr id="30" name="Shape 28"/>
          <p:cNvSpPr/>
          <p:nvPr/>
        </p:nvSpPr>
        <p:spPr>
          <a:xfrm>
            <a:off x="6296573" y="3207544"/>
            <a:ext cx="2268784" cy="20002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</p:sp>
      <p:sp>
        <p:nvSpPr>
          <p:cNvPr id="31" name="Shape 29"/>
          <p:cNvSpPr/>
          <p:nvPr/>
        </p:nvSpPr>
        <p:spPr>
          <a:xfrm>
            <a:off x="6296573" y="3207544"/>
            <a:ext cx="2268784" cy="0"/>
          </a:xfrm>
          <a:prstGeom prst="line">
            <a:avLst/>
          </a:prstGeom>
          <a:noFill/>
          <a:ln w="12700" algn="in">
            <a:solidFill>
              <a:srgbClr val="D8DFE6"/>
            </a:solidFill>
            <a:prstDash val="sysDash"/>
          </a:ln>
        </p:spPr>
      </p:sp>
      <p:sp>
        <p:nvSpPr>
          <p:cNvPr id="32" name="Text 30"/>
          <p:cNvSpPr/>
          <p:nvPr/>
        </p:nvSpPr>
        <p:spPr>
          <a:xfrm>
            <a:off x="6296573" y="3207544"/>
            <a:ext cx="2268784" cy="200025"/>
          </a:xfrm>
          <a:prstGeom prst="rect">
            <a:avLst/>
          </a:prstGeom>
          <a:ln>
            <a:noFill/>
          </a:ln>
        </p:spPr>
        <p:txBody>
          <a:bodyPr wrap="square" lIns="0" tIns="85725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75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 full mode</a:t>
            </a:r>
            <a:endParaRPr lang="en-US" sz="675" dirty="0"/>
          </a:p>
        </p:txBody>
      </p:sp>
      <p:sp>
        <p:nvSpPr>
          <p:cNvPr id="33" name="Shape 31"/>
          <p:cNvSpPr/>
          <p:nvPr/>
        </p:nvSpPr>
        <p:spPr>
          <a:xfrm>
            <a:off x="514350" y="1935956"/>
            <a:ext cx="8115300" cy="0"/>
          </a:xfrm>
          <a:prstGeom prst="line">
            <a:avLst/>
          </a:prstGeom>
          <a:noFill/>
          <a:ln w="28575" algn="in">
            <a:solidFill>
              <a:srgbClr val="FFFFFF"/>
            </a:solidFill>
            <a:prstDash val="sysDash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8625" y="357188"/>
            <a:ext cx="8372475" cy="114300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1" b="1" dirty="0">
                <a:solidFill>
                  <a:srgbClr val="EF44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MENTALWARD · P0 READINESS</a:t>
            </a:r>
            <a:endParaRPr lang="en-US" sz="731" dirty="0"/>
          </a:p>
        </p:txBody>
      </p:sp>
      <p:sp>
        <p:nvSpPr>
          <p:cNvPr id="3" name="Text 1"/>
          <p:cNvSpPr/>
          <p:nvPr/>
        </p:nvSpPr>
        <p:spPr>
          <a:xfrm>
            <a:off x="428625" y="514350"/>
            <a:ext cx="8372475" cy="31432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25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Launch blockers</a:t>
            </a:r>
            <a:endParaRPr lang="en-US" sz="2025" dirty="0"/>
          </a:p>
        </p:txBody>
      </p:sp>
      <p:sp>
        <p:nvSpPr>
          <p:cNvPr id="4" name="Shape 2"/>
          <p:cNvSpPr/>
          <p:nvPr/>
        </p:nvSpPr>
        <p:spPr>
          <a:xfrm>
            <a:off x="428625" y="1000125"/>
            <a:ext cx="4429125" cy="514350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0013" dist="28575" dir="5400000">
              <a:srgbClr val="0F172A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71500" y="1114425"/>
            <a:ext cx="285750" cy="285750"/>
          </a:xfrm>
          <a:prstGeom prst="roundRect">
            <a:avLst>
              <a:gd name="adj" fmla="val 27500"/>
            </a:avLst>
          </a:prstGeom>
          <a:solidFill>
            <a:srgbClr val="FEE2E2"/>
          </a:solidFill>
          <a:ln>
            <a:noFill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363" y="1157288"/>
            <a:ext cx="200025" cy="2000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1550" y="1123355"/>
            <a:ext cx="3590520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Crisis-detection gaps</a:t>
            </a:r>
            <a:endParaRPr lang="en-US" sz="956" dirty="0"/>
          </a:p>
        </p:txBody>
      </p:sp>
      <p:sp>
        <p:nvSpPr>
          <p:cNvPr id="8" name="Text 5"/>
          <p:cNvSpPr/>
          <p:nvPr/>
        </p:nvSpPr>
        <p:spPr>
          <a:xfrm>
            <a:off x="971550" y="1266230"/>
            <a:ext cx="3590520" cy="12501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70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Misses some acute-risk phrasings — a fraction of high-risk prompts won't redirect.</a:t>
            </a:r>
            <a:endParaRPr lang="en-US" sz="703" dirty="0"/>
          </a:p>
        </p:txBody>
      </p:sp>
      <p:sp>
        <p:nvSpPr>
          <p:cNvPr id="9" name="Shape 6"/>
          <p:cNvSpPr/>
          <p:nvPr/>
        </p:nvSpPr>
        <p:spPr>
          <a:xfrm>
            <a:off x="428625" y="1614488"/>
            <a:ext cx="4429125" cy="514350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0013" dist="28575" dir="5400000">
              <a:srgbClr val="0F172A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1500" y="1728788"/>
            <a:ext cx="285750" cy="285750"/>
          </a:xfrm>
          <a:prstGeom prst="roundRect">
            <a:avLst>
              <a:gd name="adj" fmla="val 27500"/>
            </a:avLst>
          </a:prstGeom>
          <a:solidFill>
            <a:srgbClr val="FEF3C7"/>
          </a:solidFill>
          <a:ln>
            <a:noFill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71650"/>
            <a:ext cx="285750" cy="2000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71550" y="1737717"/>
            <a:ext cx="3207972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Clinical &amp; legal sign-off</a:t>
            </a:r>
            <a:endParaRPr lang="en-US" sz="956" dirty="0"/>
          </a:p>
        </p:txBody>
      </p:sp>
      <p:sp>
        <p:nvSpPr>
          <p:cNvPr id="13" name="Text 9"/>
          <p:cNvSpPr/>
          <p:nvPr/>
        </p:nvSpPr>
        <p:spPr>
          <a:xfrm>
            <a:off x="971550" y="1880592"/>
            <a:ext cx="3207972" cy="12501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70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Redirect targets and disclaimers aren't reviewed by a clinician or legal yet.</a:t>
            </a:r>
            <a:endParaRPr lang="en-US" sz="703" dirty="0"/>
          </a:p>
        </p:txBody>
      </p:sp>
      <p:sp>
        <p:nvSpPr>
          <p:cNvPr id="14" name="Shape 10"/>
          <p:cNvSpPr/>
          <p:nvPr/>
        </p:nvSpPr>
        <p:spPr>
          <a:xfrm>
            <a:off x="428625" y="2228850"/>
            <a:ext cx="4429125" cy="514350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0013" dist="28575" dir="5400000">
              <a:srgbClr val="0F172A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1500" y="2343150"/>
            <a:ext cx="285750" cy="285750"/>
          </a:xfrm>
          <a:prstGeom prst="roundRect">
            <a:avLst>
              <a:gd name="adj" fmla="val 27500"/>
            </a:avLst>
          </a:prstGeom>
          <a:solidFill>
            <a:srgbClr val="CCFBF1"/>
          </a:solidFill>
          <a:ln>
            <a:noFill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63" y="2386013"/>
            <a:ext cx="200025" cy="2000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71550" y="2352080"/>
            <a:ext cx="3092387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Citation pipeline too slow</a:t>
            </a:r>
            <a:endParaRPr lang="en-US" sz="956" dirty="0"/>
          </a:p>
        </p:txBody>
      </p:sp>
      <p:sp>
        <p:nvSpPr>
          <p:cNvPr id="18" name="Text 13"/>
          <p:cNvSpPr/>
          <p:nvPr/>
        </p:nvSpPr>
        <p:spPr>
          <a:xfrm>
            <a:off x="971550" y="2494955"/>
            <a:ext cx="3092387" cy="12501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70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P1 fixups need sub-second source lookups; the provider is rate-limited.</a:t>
            </a:r>
            <a:endParaRPr lang="en-US" sz="703" dirty="0"/>
          </a:p>
        </p:txBody>
      </p:sp>
      <p:sp>
        <p:nvSpPr>
          <p:cNvPr id="19" name="Shape 14"/>
          <p:cNvSpPr/>
          <p:nvPr/>
        </p:nvSpPr>
        <p:spPr>
          <a:xfrm>
            <a:off x="428625" y="2843213"/>
            <a:ext cx="4429125" cy="514350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>
            <a:noFill/>
          </a:ln>
          <a:effectLst>
            <a:outerShdw sx="100000" sy="100000" kx="0" ky="0" algn="bl" rotWithShape="0" blurRad="100013" dist="28575" dir="5400000">
              <a:srgbClr val="0F172A">
                <a:alpha val="6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71500" y="2957513"/>
            <a:ext cx="285750" cy="285750"/>
          </a:xfrm>
          <a:prstGeom prst="roundRect">
            <a:avLst>
              <a:gd name="adj" fmla="val 27500"/>
            </a:avLst>
          </a:prstGeom>
          <a:solidFill>
            <a:srgbClr val="E0F2FE"/>
          </a:solidFill>
          <a:ln>
            <a:noFill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63" y="3000375"/>
            <a:ext cx="200025" cy="2000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71550" y="2966442"/>
            <a:ext cx="3015234" cy="142875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6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geographic coverage</a:t>
            </a:r>
            <a:endParaRPr lang="en-US" sz="956" dirty="0"/>
          </a:p>
        </p:txBody>
      </p:sp>
      <p:sp>
        <p:nvSpPr>
          <p:cNvPr id="23" name="Text 17"/>
          <p:cNvSpPr/>
          <p:nvPr/>
        </p:nvSpPr>
        <p:spPr>
          <a:xfrm>
            <a:off x="971550" y="3109317"/>
            <a:ext cx="3015234" cy="12501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703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US hotlines are mapped; non-US users get no localized redirect.</a:t>
            </a:r>
            <a:endParaRPr lang="en-US" sz="703" dirty="0"/>
          </a:p>
        </p:txBody>
      </p:sp>
      <p:sp>
        <p:nvSpPr>
          <p:cNvPr id="24" name="Shape 18"/>
          <p:cNvSpPr/>
          <p:nvPr/>
        </p:nvSpPr>
        <p:spPr>
          <a:xfrm>
            <a:off x="5886450" y="1071563"/>
            <a:ext cx="2857500" cy="1735503"/>
          </a:xfrm>
          <a:prstGeom prst="roundRect">
            <a:avLst>
              <a:gd name="adj" fmla="val 6586"/>
            </a:avLst>
          </a:prstGeom>
          <a:solidFill>
            <a:srgbClr val="1E1B4B"/>
          </a:solidFill>
          <a:ln>
            <a:noFill/>
          </a:ln>
          <a:effectLst>
            <a:outerShdw sx="100000" sy="100000" kx="0" ky="0" algn="bl" rotWithShape="0" blurRad="381000" dist="157163" dir="5400000">
              <a:srgbClr val="1E1B4B">
                <a:alpha val="5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 rot="16200000">
            <a:off x="5740003" y="1382316"/>
            <a:ext cx="171450" cy="121444"/>
          </a:xfrm>
          <a:prstGeom prst="triangle">
            <a:avLst/>
          </a:prstGeom>
          <a:solidFill>
            <a:srgbClr val="1E1B4B"/>
          </a:solidFill>
          <a:ln>
            <a:noFill/>
          </a:ln>
        </p:spPr>
      </p:sp>
      <p:sp>
        <p:nvSpPr>
          <p:cNvPr id="26" name="Text 20"/>
          <p:cNvSpPr/>
          <p:nvPr/>
        </p:nvSpPr>
        <p:spPr>
          <a:xfrm>
            <a:off x="6100763" y="1228725"/>
            <a:ext cx="2557463" cy="121444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88" b="1" dirty="0">
                <a:solidFill>
                  <a:srgbClr val="A5B4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ACTIONS</a:t>
            </a:r>
            <a:endParaRPr lang="en-US" sz="788" dirty="0"/>
          </a:p>
        </p:txBody>
      </p:sp>
      <p:sp>
        <p:nvSpPr>
          <p:cNvPr id="27" name="Shape 21"/>
          <p:cNvSpPr/>
          <p:nvPr/>
        </p:nvSpPr>
        <p:spPr>
          <a:xfrm>
            <a:off x="6100763" y="1464469"/>
            <a:ext cx="2471738" cy="395621"/>
          </a:xfrm>
          <a:prstGeom prst="rect">
            <a:avLst/>
          </a:prstGeom>
          <a:solidFill>
            <a:srgbClr val="1E1B4B">
              <a:alpha val="0"/>
            </a:srgbClr>
          </a:solidFill>
          <a:ln>
            <a:noFill/>
          </a:ln>
        </p:spPr>
      </p:sp>
      <p:sp>
        <p:nvSpPr>
          <p:cNvPr id="28" name="Shape 22"/>
          <p:cNvSpPr/>
          <p:nvPr/>
        </p:nvSpPr>
        <p:spPr>
          <a:xfrm>
            <a:off x="6100763" y="1852946"/>
            <a:ext cx="2471738" cy="7144"/>
          </a:xfrm>
          <a:prstGeom prst="rect">
            <a:avLst/>
          </a:prstGeom>
          <a:solidFill>
            <a:srgbClr val="343367"/>
          </a:solidFill>
          <a:ln>
            <a:noFill/>
          </a:ln>
        </p:spPr>
      </p:sp>
      <p:sp>
        <p:nvSpPr>
          <p:cNvPr id="29" name="Text 23"/>
          <p:cNvSpPr/>
          <p:nvPr/>
        </p:nvSpPr>
        <p:spPr>
          <a:xfrm>
            <a:off x="6300788" y="1464469"/>
            <a:ext cx="2271713" cy="395621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31" b="1" u="none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 red-team evals</a:t>
            </a:r>
            <a:pPr algn="l" indent="0" marL="0">
              <a:lnSpc>
                <a:spcPct val="120000"/>
              </a:lnSpc>
              <a:buNone/>
            </a:pPr>
            <a:r>
              <a:rPr lang="en-US" sz="731" u="none" dirty="0">
                <a:solidFill>
                  <a:srgbClr val="E0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+ add a keyword safety net.</a:t>
            </a:r>
            <a:endParaRPr lang="en-US" sz="731" dirty="0"/>
          </a:p>
        </p:txBody>
      </p:sp>
      <p:sp>
        <p:nvSpPr>
          <p:cNvPr id="30" name="Shape 24"/>
          <p:cNvSpPr/>
          <p:nvPr/>
        </p:nvSpPr>
        <p:spPr>
          <a:xfrm>
            <a:off x="6123166" y="1593669"/>
            <a:ext cx="55565" cy="55565"/>
          </a:xfrm>
          <a:prstGeom prst="line">
            <a:avLst/>
          </a:prstGeom>
          <a:noFill/>
          <a:ln w="28575" algn="in">
            <a:solidFill>
              <a:srgbClr val="818CF8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 flipV="1">
            <a:off x="6123166" y="1558309"/>
            <a:ext cx="55565" cy="55565"/>
          </a:xfrm>
          <a:prstGeom prst="line">
            <a:avLst/>
          </a:prstGeom>
          <a:noFill/>
          <a:ln w="28575" algn="in">
            <a:solidFill>
              <a:srgbClr val="818CF8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100763" y="1860090"/>
            <a:ext cx="2471738" cy="265676"/>
          </a:xfrm>
          <a:prstGeom prst="rect">
            <a:avLst/>
          </a:prstGeom>
          <a:solidFill>
            <a:srgbClr val="1E1B4B">
              <a:alpha val="0"/>
            </a:srgbClr>
          </a:solidFill>
          <a:ln>
            <a:noFill/>
          </a:ln>
        </p:spPr>
      </p:sp>
      <p:sp>
        <p:nvSpPr>
          <p:cNvPr id="33" name="Shape 27"/>
          <p:cNvSpPr/>
          <p:nvPr/>
        </p:nvSpPr>
        <p:spPr>
          <a:xfrm>
            <a:off x="6100763" y="2118622"/>
            <a:ext cx="2471738" cy="7144"/>
          </a:xfrm>
          <a:prstGeom prst="rect">
            <a:avLst/>
          </a:prstGeom>
          <a:solidFill>
            <a:srgbClr val="343367"/>
          </a:solidFill>
          <a:ln>
            <a:noFill/>
          </a:ln>
        </p:spPr>
      </p:sp>
      <p:sp>
        <p:nvSpPr>
          <p:cNvPr id="34" name="Text 28"/>
          <p:cNvSpPr/>
          <p:nvPr/>
        </p:nvSpPr>
        <p:spPr>
          <a:xfrm>
            <a:off x="6300788" y="1860090"/>
            <a:ext cx="2271713" cy="26567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31" b="1" u="none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Book clinician review</a:t>
            </a:r>
            <a:pPr algn="l" indent="0" marL="0">
              <a:lnSpc>
                <a:spcPct val="120000"/>
              </a:lnSpc>
              <a:buNone/>
            </a:pPr>
            <a:r>
              <a:rPr lang="en-US" sz="731" u="none" dirty="0">
                <a:solidFill>
                  <a:srgbClr val="E0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legal approves disclaimers.</a:t>
            </a:r>
            <a:endParaRPr lang="en-US" sz="731" dirty="0"/>
          </a:p>
        </p:txBody>
      </p:sp>
      <p:sp>
        <p:nvSpPr>
          <p:cNvPr id="35" name="Shape 29"/>
          <p:cNvSpPr/>
          <p:nvPr/>
        </p:nvSpPr>
        <p:spPr>
          <a:xfrm>
            <a:off x="6123166" y="1989290"/>
            <a:ext cx="55565" cy="55565"/>
          </a:xfrm>
          <a:prstGeom prst="line">
            <a:avLst/>
          </a:prstGeom>
          <a:noFill/>
          <a:ln w="28575" algn="in">
            <a:solidFill>
              <a:srgbClr val="818CF8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 flipV="1">
            <a:off x="6123166" y="1953930"/>
            <a:ext cx="55565" cy="55565"/>
          </a:xfrm>
          <a:prstGeom prst="line">
            <a:avLst/>
          </a:prstGeom>
          <a:noFill/>
          <a:ln w="28575" algn="in">
            <a:solidFill>
              <a:srgbClr val="818CF8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6100763" y="2125694"/>
            <a:ext cx="2471738" cy="265676"/>
          </a:xfrm>
          <a:prstGeom prst="rect">
            <a:avLst/>
          </a:prstGeom>
          <a:solidFill>
            <a:srgbClr val="1E1B4B">
              <a:alpha val="0"/>
            </a:srgbClr>
          </a:solidFill>
          <a:ln>
            <a:noFill/>
          </a:ln>
        </p:spPr>
      </p:sp>
      <p:sp>
        <p:nvSpPr>
          <p:cNvPr id="38" name="Shape 32"/>
          <p:cNvSpPr/>
          <p:nvPr/>
        </p:nvSpPr>
        <p:spPr>
          <a:xfrm>
            <a:off x="6100763" y="2384227"/>
            <a:ext cx="2471738" cy="7144"/>
          </a:xfrm>
          <a:prstGeom prst="rect">
            <a:avLst/>
          </a:prstGeom>
          <a:solidFill>
            <a:srgbClr val="343367"/>
          </a:solidFill>
          <a:ln>
            <a:noFill/>
          </a:ln>
        </p:spPr>
      </p:sp>
      <p:sp>
        <p:nvSpPr>
          <p:cNvPr id="39" name="Text 33"/>
          <p:cNvSpPr/>
          <p:nvPr/>
        </p:nvSpPr>
        <p:spPr>
          <a:xfrm>
            <a:off x="6300788" y="2125694"/>
            <a:ext cx="2271713" cy="265676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31" b="1" u="none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Cache trusted sources</a:t>
            </a:r>
            <a:pPr algn="l" indent="0" marL="0">
              <a:lnSpc>
                <a:spcPct val="120000"/>
              </a:lnSpc>
              <a:buNone/>
            </a:pPr>
            <a:r>
              <a:rPr lang="en-US" sz="731" u="none" dirty="0">
                <a:solidFill>
                  <a:srgbClr val="E0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; add a fallback provider.</a:t>
            </a:r>
            <a:endParaRPr lang="en-US" sz="731" dirty="0"/>
          </a:p>
        </p:txBody>
      </p:sp>
      <p:sp>
        <p:nvSpPr>
          <p:cNvPr id="40" name="Shape 34"/>
          <p:cNvSpPr/>
          <p:nvPr/>
        </p:nvSpPr>
        <p:spPr>
          <a:xfrm>
            <a:off x="6123166" y="2254895"/>
            <a:ext cx="55565" cy="55565"/>
          </a:xfrm>
          <a:prstGeom prst="line">
            <a:avLst/>
          </a:prstGeom>
          <a:noFill/>
          <a:ln w="28575" algn="in">
            <a:solidFill>
              <a:srgbClr val="818CF8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 flipV="1">
            <a:off x="6123166" y="2219535"/>
            <a:ext cx="55565" cy="55565"/>
          </a:xfrm>
          <a:prstGeom prst="line">
            <a:avLst/>
          </a:prstGeom>
          <a:noFill/>
          <a:ln w="28575" algn="in">
            <a:solidFill>
              <a:srgbClr val="818CF8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6300788" y="2391370"/>
            <a:ext cx="2271713" cy="258532"/>
          </a:xfrm>
          <a:prstGeom prst="rect">
            <a:avLst/>
          </a:prstGeom>
          <a:ln>
            <a:noFill/>
          </a:ln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31" b="1" u="none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 EU/UK/APAC</a:t>
            </a:r>
            <a:pPr algn="l" indent="0" marL="0">
              <a:lnSpc>
                <a:spcPct val="120000"/>
              </a:lnSpc>
              <a:buNone/>
            </a:pPr>
            <a:r>
              <a:rPr lang="en-US" sz="731" u="none" dirty="0">
                <a:solidFill>
                  <a:srgbClr val="E0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resources; add geo-routing.</a:t>
            </a:r>
            <a:endParaRPr lang="en-US" sz="731" dirty="0"/>
          </a:p>
        </p:txBody>
      </p:sp>
      <p:sp>
        <p:nvSpPr>
          <p:cNvPr id="43" name="Shape 37"/>
          <p:cNvSpPr/>
          <p:nvPr/>
        </p:nvSpPr>
        <p:spPr>
          <a:xfrm>
            <a:off x="6123166" y="2520571"/>
            <a:ext cx="55565" cy="55565"/>
          </a:xfrm>
          <a:prstGeom prst="line">
            <a:avLst/>
          </a:prstGeom>
          <a:noFill/>
          <a:ln w="28575" algn="in">
            <a:solidFill>
              <a:srgbClr val="818CF8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 flipV="1">
            <a:off x="6123166" y="2485211"/>
            <a:ext cx="55565" cy="55565"/>
          </a:xfrm>
          <a:prstGeom prst="line">
            <a:avLst/>
          </a:prstGeom>
          <a:noFill/>
          <a:ln w="28575" algn="in">
            <a:solidFill>
              <a:srgbClr val="818CF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merge-check-postmerge</dc:title>
  <dc:subject>PptxGenJS Presentation</dc:subject>
  <dc:creator>PptxGenJS</dc:creator>
  <cp:lastModifiedBy>PptxGenJS</cp:lastModifiedBy>
  <cp:revision>1</cp:revision>
  <dcterms:created xsi:type="dcterms:W3CDTF">2026-06-19T19:50:43Z</dcterms:created>
  <dcterms:modified xsi:type="dcterms:W3CDTF">2026-06-19T19:50:43Z</dcterms:modified>
</cp:coreProperties>
</file>