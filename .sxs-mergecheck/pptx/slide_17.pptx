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_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E1B4B"/>
              </a:gs>
              <a:gs pos="100000">
                <a:srgbClr val="0F172A"/>
              </a:gs>
            </a:gsLst>
            <a:lin ang="2700000" scaled="0"/>
          </a:gradFill>
          <a:ln>
            <a:noFill/>
          </a:ln>
        </p:spPr>
      </p:sp>
      <p:sp>
        <p:nvSpPr>
          <p:cNvPr id="3" name="GRAD_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E1B4B"/>
              </a:gs>
              <a:gs pos="100000">
                <a:srgbClr val="0F172A"/>
              </a:gs>
            </a:gsLst>
            <a:lin ang="2700000" scaled="0"/>
          </a:gra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3815977" y="1528763"/>
            <a:ext cx="1511903" cy="207169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  <a:ln w="7144" algn="in">
            <a:solidFill>
              <a:srgbClr val="373B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15939" y="1528763"/>
            <a:ext cx="2111978" cy="2071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ACHIEVED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3243120" y="1821656"/>
            <a:ext cx="2657689" cy="4572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Series A Funded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3840194" y="2336006"/>
            <a:ext cx="1463612" cy="514350"/>
          </a:xfrm>
          <a:prstGeom prst="rect">
            <a:avLst/>
          </a:prstGeom>
          <a:ln>
            <a:noFill/>
          </a:ln>
        </p:spPr>
        <p:txBody>
          <a:bodyPr wrap="square" lIns="0" tIns="50663" rIns="0" bIns="0" rtlCol="0" anchor="t"/>
          <a:lstStyle/>
          <a:p>
            <a:pPr algn="ctr" indent="0" marL="0">
              <a:lnSpc>
                <a:spcPct val="83333"/>
              </a:lnSpc>
              <a:buNone/>
            </a:pPr>
            <a:r>
              <a:rPr lang="en-US" sz="4050" b="1" dirty="0">
                <a:solidFill>
                  <a:srgbClr val="F271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$15M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3201043" y="2907506"/>
            <a:ext cx="274177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raised to accelerate growth and global expansion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34588" y="3278981"/>
            <a:ext cx="960477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INVESTORS</a:t>
            </a:r>
            <a:endParaRPr lang="en-US" sz="619" dirty="0"/>
          </a:p>
        </p:txBody>
      </p:sp>
      <p:sp>
        <p:nvSpPr>
          <p:cNvPr id="10" name="Shape 8"/>
          <p:cNvSpPr/>
          <p:nvPr/>
        </p:nvSpPr>
        <p:spPr>
          <a:xfrm>
            <a:off x="2528888" y="3479006"/>
            <a:ext cx="1285875" cy="457200"/>
          </a:xfrm>
          <a:prstGeom prst="roundRect">
            <a:avLst>
              <a:gd name="adj" fmla="val 18750"/>
            </a:avLst>
          </a:prstGeom>
          <a:solidFill>
            <a:srgbClr val="20243F"/>
          </a:solidFill>
          <a:ln w="7144" algn="in">
            <a:solidFill>
              <a:srgbClr val="363A52"/>
            </a:solidFill>
            <a:prstDash val="solid"/>
          </a:ln>
        </p:spPr>
      </p:sp>
      <p:sp>
        <p:nvSpPr>
          <p:cNvPr id="11" name="GRAD_2"/>
          <p:cNvSpPr/>
          <p:nvPr/>
        </p:nvSpPr>
        <p:spPr>
          <a:xfrm>
            <a:off x="2650331" y="3579019"/>
            <a:ext cx="239744" cy="257175"/>
          </a:xfrm>
          <a:prstGeom prst="roundRect">
            <a:avLst>
              <a:gd name="adj" fmla="val 23838"/>
            </a:avLst>
          </a:prstGeom>
          <a:gradFill rotWithShape="1">
            <a:gsLst>
              <a:gs pos="0">
                <a:srgbClr val="3B82F6"/>
              </a:gs>
              <a:gs pos="100000">
                <a:srgbClr val="1D4ED8"/>
              </a:gs>
            </a:gsLst>
            <a:lin ang="2700000" scaled="0"/>
          </a:gradFill>
          <a:ln>
            <a:noFill/>
          </a:ln>
        </p:spPr>
      </p:sp>
      <p:sp>
        <p:nvSpPr>
          <p:cNvPr id="12" name="Text 10"/>
          <p:cNvSpPr/>
          <p:nvPr/>
        </p:nvSpPr>
        <p:spPr>
          <a:xfrm>
            <a:off x="2650331" y="3579019"/>
            <a:ext cx="239744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75801" y="3543300"/>
            <a:ext cx="717518" cy="2286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Summit Ventures</a:t>
            </a:r>
            <a:endParaRPr lang="en-US" sz="731" dirty="0"/>
          </a:p>
        </p:txBody>
      </p:sp>
      <p:sp>
        <p:nvSpPr>
          <p:cNvPr id="14" name="Text 12"/>
          <p:cNvSpPr/>
          <p:nvPr/>
        </p:nvSpPr>
        <p:spPr>
          <a:xfrm>
            <a:off x="2975801" y="3786188"/>
            <a:ext cx="803243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Investor</a:t>
            </a:r>
            <a:endParaRPr lang="en-US" sz="563" dirty="0"/>
          </a:p>
        </p:txBody>
      </p:sp>
      <p:sp>
        <p:nvSpPr>
          <p:cNvPr id="15" name="Shape 13"/>
          <p:cNvSpPr/>
          <p:nvPr/>
        </p:nvSpPr>
        <p:spPr>
          <a:xfrm>
            <a:off x="3929063" y="3479006"/>
            <a:ext cx="1285875" cy="457200"/>
          </a:xfrm>
          <a:prstGeom prst="roundRect">
            <a:avLst>
              <a:gd name="adj" fmla="val 18750"/>
            </a:avLst>
          </a:prstGeom>
          <a:solidFill>
            <a:srgbClr val="20243F"/>
          </a:solidFill>
          <a:ln w="7144" algn="in">
            <a:solidFill>
              <a:srgbClr val="363A52"/>
            </a:solidFill>
            <a:prstDash val="solid"/>
          </a:ln>
        </p:spPr>
      </p:sp>
      <p:sp>
        <p:nvSpPr>
          <p:cNvPr id="16" name="GRAD_3"/>
          <p:cNvSpPr/>
          <p:nvPr/>
        </p:nvSpPr>
        <p:spPr>
          <a:xfrm>
            <a:off x="4095798" y="3579019"/>
            <a:ext cx="257175" cy="257175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10B981"/>
              </a:gs>
              <a:gs pos="100000">
                <a:srgbClr val="059669"/>
              </a:gs>
            </a:gsLst>
            <a:lin ang="2700000" scaled="0"/>
          </a:gra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4095798" y="3579019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38698" y="3600450"/>
            <a:ext cx="695087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 Capital</a:t>
            </a:r>
            <a:endParaRPr lang="en-US" sz="731" dirty="0"/>
          </a:p>
        </p:txBody>
      </p:sp>
      <p:sp>
        <p:nvSpPr>
          <p:cNvPr id="19" name="Text 17"/>
          <p:cNvSpPr/>
          <p:nvPr/>
        </p:nvSpPr>
        <p:spPr>
          <a:xfrm>
            <a:off x="4438698" y="3729038"/>
            <a:ext cx="695087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Co-Lead</a:t>
            </a:r>
            <a:endParaRPr lang="en-US" sz="563" dirty="0"/>
          </a:p>
        </p:txBody>
      </p:sp>
      <p:sp>
        <p:nvSpPr>
          <p:cNvPr id="20" name="Shape 18"/>
          <p:cNvSpPr/>
          <p:nvPr/>
        </p:nvSpPr>
        <p:spPr>
          <a:xfrm>
            <a:off x="5329238" y="3479006"/>
            <a:ext cx="1285875" cy="457200"/>
          </a:xfrm>
          <a:prstGeom prst="roundRect">
            <a:avLst>
              <a:gd name="adj" fmla="val 18750"/>
            </a:avLst>
          </a:prstGeom>
          <a:solidFill>
            <a:srgbClr val="20243F"/>
          </a:solidFill>
          <a:ln w="7144" algn="in">
            <a:solidFill>
              <a:srgbClr val="363A52"/>
            </a:solidFill>
            <a:prstDash val="solid"/>
          </a:ln>
        </p:spPr>
      </p:sp>
      <p:sp>
        <p:nvSpPr>
          <p:cNvPr id="21" name="GRAD_4"/>
          <p:cNvSpPr/>
          <p:nvPr/>
        </p:nvSpPr>
        <p:spPr>
          <a:xfrm>
            <a:off x="5455182" y="3579019"/>
            <a:ext cx="257175" cy="257175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2700000" scaled="0"/>
          </a:gra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5455182" y="3579019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98082" y="3600450"/>
            <a:ext cx="77674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Nexus Partners</a:t>
            </a:r>
            <a:endParaRPr lang="en-US" sz="731" dirty="0"/>
          </a:p>
        </p:txBody>
      </p:sp>
      <p:sp>
        <p:nvSpPr>
          <p:cNvPr id="24" name="Text 22"/>
          <p:cNvSpPr/>
          <p:nvPr/>
        </p:nvSpPr>
        <p:spPr>
          <a:xfrm>
            <a:off x="5798082" y="3729038"/>
            <a:ext cx="77674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</a:t>
            </a:r>
            <a:endParaRPr lang="en-US" sz="563" dirty="0"/>
          </a:p>
        </p:txBody>
      </p:sp>
      <p:sp>
        <p:nvSpPr>
          <p:cNvPr id="25" name="Shape 23"/>
          <p:cNvSpPr/>
          <p:nvPr/>
        </p:nvSpPr>
        <p:spPr>
          <a:xfrm>
            <a:off x="3521840" y="4250531"/>
            <a:ext cx="7144" cy="335756"/>
          </a:xfrm>
          <a:prstGeom prst="rect">
            <a:avLst/>
          </a:prstGeom>
          <a:solidFill>
            <a:srgbClr val="2C2F49"/>
          </a:solidFill>
          <a:ln>
            <a:noFill/>
          </a:ln>
        </p:spPr>
      </p:sp>
      <p:sp>
        <p:nvSpPr>
          <p:cNvPr id="26" name="Text 24"/>
          <p:cNvSpPr/>
          <p:nvPr/>
        </p:nvSpPr>
        <p:spPr>
          <a:xfrm>
            <a:off x="2532317" y="4193381"/>
            <a:ext cx="868109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2532317" y="4536281"/>
            <a:ext cx="86810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</a:t>
            </a:r>
            <a:endParaRPr lang="en-US" sz="675" dirty="0"/>
          </a:p>
        </p:txBody>
      </p:sp>
      <p:sp>
        <p:nvSpPr>
          <p:cNvPr id="28" name="Shape 26"/>
          <p:cNvSpPr/>
          <p:nvPr/>
        </p:nvSpPr>
        <p:spPr>
          <a:xfrm>
            <a:off x="4427896" y="4250531"/>
            <a:ext cx="7144" cy="335756"/>
          </a:xfrm>
          <a:prstGeom prst="rect">
            <a:avLst/>
          </a:prstGeom>
          <a:solidFill>
            <a:srgbClr val="2C2F49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3657600" y="4193381"/>
            <a:ext cx="648867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3657600" y="4536281"/>
            <a:ext cx="648867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COUNTRIES</a:t>
            </a:r>
            <a:endParaRPr lang="en-US" sz="675" dirty="0"/>
          </a:p>
        </p:txBody>
      </p:sp>
      <p:sp>
        <p:nvSpPr>
          <p:cNvPr id="31" name="Shape 29"/>
          <p:cNvSpPr/>
          <p:nvPr/>
        </p:nvSpPr>
        <p:spPr>
          <a:xfrm>
            <a:off x="5601607" y="4250531"/>
            <a:ext cx="7144" cy="335756"/>
          </a:xfrm>
          <a:prstGeom prst="rect">
            <a:avLst/>
          </a:prstGeom>
          <a:solidFill>
            <a:srgbClr val="2C2F49"/>
          </a:solidFill>
          <a:ln>
            <a:noFill/>
          </a:ln>
        </p:spPr>
      </p:sp>
      <p:sp>
        <p:nvSpPr>
          <p:cNvPr id="32" name="Text 30"/>
          <p:cNvSpPr/>
          <p:nvPr/>
        </p:nvSpPr>
        <p:spPr>
          <a:xfrm>
            <a:off x="4563642" y="4193381"/>
            <a:ext cx="916543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$3.2M</a:t>
            </a:r>
            <a:endParaRPr lang="en-US" sz="2025" dirty="0"/>
          </a:p>
        </p:txBody>
      </p:sp>
      <p:sp>
        <p:nvSpPr>
          <p:cNvPr id="33" name="Text 31"/>
          <p:cNvSpPr/>
          <p:nvPr/>
        </p:nvSpPr>
        <p:spPr>
          <a:xfrm>
            <a:off x="4563642" y="4536281"/>
            <a:ext cx="916543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 REVENUE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5737360" y="4193381"/>
            <a:ext cx="874324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340%</a:t>
            </a:r>
            <a:endParaRPr lang="en-US" sz="2025" dirty="0"/>
          </a:p>
        </p:txBody>
      </p:sp>
      <p:sp>
        <p:nvSpPr>
          <p:cNvPr id="35" name="Text 33"/>
          <p:cNvSpPr/>
          <p:nvPr/>
        </p:nvSpPr>
        <p:spPr>
          <a:xfrm>
            <a:off x="5737360" y="4536281"/>
            <a:ext cx="874324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YOY GROWTH</a:t>
            </a:r>
            <a:endParaRPr lang="en-US" sz="675" dirty="0"/>
          </a:p>
        </p:txBody>
      </p:sp>
      <p:sp>
        <p:nvSpPr>
          <p:cNvPr id="36" name="GRAD_5"/>
          <p:cNvSpPr/>
          <p:nvPr/>
        </p:nvSpPr>
        <p:spPr>
          <a:xfrm>
            <a:off x="2786063" y="785813"/>
            <a:ext cx="3571875" cy="3571875"/>
          </a:xfrm>
          <a:prstGeom prst="ellipse">
            <a:avLst/>
          </a:prstGeom>
          <a:gradFill rotWithShape="1">
            <a:gsLst>
              <a:gs pos="0">
                <a:srgbClr val="6366F1">
                  <a:alpha val="15000"/>
                </a:srgbClr>
              </a:gs>
              <a:gs pos="70000">
                <a:srgbClr val="6366F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7" name="Shape 35"/>
          <p:cNvSpPr/>
          <p:nvPr/>
        </p:nvSpPr>
        <p:spPr>
          <a:xfrm rot="1499999">
            <a:off x="857214" y="571464"/>
            <a:ext cx="57150" cy="57150"/>
          </a:xfrm>
          <a:prstGeom prst="rect">
            <a:avLst/>
          </a:prstGeom>
          <a:solidFill>
            <a:srgbClr val="F59E0B">
              <a:alpha val="30000"/>
            </a:srgbClr>
          </a:solidFill>
          <a:ln>
            <a:noFill/>
          </a:ln>
        </p:spPr>
      </p:sp>
      <p:sp>
        <p:nvSpPr>
          <p:cNvPr id="38" name="Shape 36"/>
          <p:cNvSpPr/>
          <p:nvPr/>
        </p:nvSpPr>
        <p:spPr>
          <a:xfrm rot="20700000">
            <a:off x="1428750" y="1000125"/>
            <a:ext cx="42863" cy="85725"/>
          </a:xfrm>
          <a:prstGeom prst="rect">
            <a:avLst/>
          </a:prstGeom>
          <a:solidFill>
            <a:srgbClr val="EF4444">
              <a:alpha val="30000"/>
            </a:srgbClr>
          </a:solidFill>
          <a:ln>
            <a:noFill/>
          </a:ln>
        </p:spPr>
      </p:sp>
      <p:sp>
        <p:nvSpPr>
          <p:cNvPr id="39" name="Shape 37"/>
          <p:cNvSpPr/>
          <p:nvPr/>
        </p:nvSpPr>
        <p:spPr>
          <a:xfrm rot="2700000">
            <a:off x="7800939" y="428589"/>
            <a:ext cx="57150" cy="57150"/>
          </a:xfrm>
          <a:prstGeom prst="rect">
            <a:avLst/>
          </a:prstGeom>
          <a:solidFill>
            <a:srgbClr val="8B5CF6">
              <a:alpha val="30000"/>
            </a:srgbClr>
          </a:solidFill>
          <a:ln>
            <a:noFill/>
          </a:ln>
        </p:spPr>
      </p:sp>
      <p:sp>
        <p:nvSpPr>
          <p:cNvPr id="40" name="Shape 38"/>
          <p:cNvSpPr/>
          <p:nvPr/>
        </p:nvSpPr>
        <p:spPr>
          <a:xfrm rot="19799999">
            <a:off x="7286625" y="857250"/>
            <a:ext cx="71438" cy="42863"/>
          </a:xfrm>
          <a:prstGeom prst="rect">
            <a:avLst/>
          </a:prstGeom>
          <a:solidFill>
            <a:srgbClr val="3B82F6">
              <a:alpha val="30000"/>
            </a:srgbClr>
          </a:solidFill>
          <a:ln>
            <a:noFill/>
          </a:ln>
        </p:spPr>
      </p:sp>
      <p:sp>
        <p:nvSpPr>
          <p:cNvPr id="41" name="Shape 39"/>
          <p:cNvSpPr/>
          <p:nvPr/>
        </p:nvSpPr>
        <p:spPr>
          <a:xfrm rot="3599999">
            <a:off x="1071598" y="4014823"/>
            <a:ext cx="57150" cy="57150"/>
          </a:xfrm>
          <a:prstGeom prst="rect">
            <a:avLst/>
          </a:prstGeom>
          <a:solidFill>
            <a:srgbClr val="10B981">
              <a:alpha val="30000"/>
            </a:srgbClr>
          </a:solidFill>
          <a:ln>
            <a:noFill/>
          </a:ln>
        </p:spPr>
      </p:sp>
      <p:sp>
        <p:nvSpPr>
          <p:cNvPr id="42" name="Shape 40"/>
          <p:cNvSpPr/>
          <p:nvPr/>
        </p:nvSpPr>
        <p:spPr>
          <a:xfrm rot="18900000">
            <a:off x="8229564" y="4371939"/>
            <a:ext cx="57150" cy="57150"/>
          </a:xfrm>
          <a:prstGeom prst="rect">
            <a:avLst/>
          </a:prstGeom>
          <a:solidFill>
            <a:srgbClr val="EC4899">
              <a:alpha val="30000"/>
            </a:srgbClr>
          </a:solidFill>
          <a:ln>
            <a:noFill/>
          </a:ln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3375" y="500063"/>
            <a:ext cx="857250" cy="857250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4171950" y="528638"/>
            <a:ext cx="800100" cy="8001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970" y="688658"/>
            <a:ext cx="480060" cy="480060"/>
          </a:xfrm>
          <a:prstGeom prst="rect">
            <a:avLst/>
          </a:prstGeom>
        </p:spPr>
      </p:pic>
      <p:sp>
        <p:nvSpPr>
          <p:cNvPr id="46" name="Shape 42"/>
          <p:cNvSpPr/>
          <p:nvPr/>
        </p:nvSpPr>
        <p:spPr>
          <a:xfrm>
            <a:off x="4829175" y="442913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sx="100000" sy="100000" kx="0" ky="0" algn="bl" rotWithShape="0" blurRad="142875" dist="50800" dir="5400000">
              <a:srgbClr val="F59E0B">
                <a:alpha val="50000"/>
              </a:srgbClr>
            </a:outerShdw>
          </a:effectLst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465" y="477203"/>
            <a:ext cx="160020" cy="1600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record-slide_17-1781898604932</dc:title>
  <dc:subject>PptxGenJS Presentation</dc:subject>
  <dc:creator>PptxGenJS</dc:creator>
  <cp:lastModifiedBy>PptxGenJS</cp:lastModifiedBy>
  <cp:revision>1</cp:revision>
  <dcterms:created xsi:type="dcterms:W3CDTF">2026-06-19T19:50:07Z</dcterms:created>
  <dcterms:modified xsi:type="dcterms:W3CDTF">2026-06-19T19:50:07Z</dcterms:modified>
</cp:coreProperties>
</file>