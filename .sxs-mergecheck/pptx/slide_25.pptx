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201025" cy="2428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Mixed Text Styling — Inline Style Transitions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514350" y="871538"/>
            <a:ext cx="7858125" cy="1508546"/>
          </a:xfrm>
          <a:prstGeom prst="rect">
            <a:avLst/>
          </a:prstGeom>
          <a:ln>
            <a:noFill/>
          </a:ln>
        </p:spPr>
        <p:txBody>
          <a:bodyPr wrap="square" lIns="0" tIns="84274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013" u="none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</a:t>
            </a:r>
            <a:pPr algn="l" indent="0" marL="0">
              <a:lnSpc>
                <a:spcPts val="2340"/>
              </a:lnSpc>
              <a:buNone/>
            </a:pPr>
            <a:r>
              <a:rPr lang="en-US" sz="1013" b="1" u="none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quick brown fox</a:t>
            </a:r>
            <a:pPr algn="l" indent="0" marL="0">
              <a:lnSpc>
                <a:spcPts val="2340"/>
              </a:lnSpc>
              <a:buNone/>
            </a:pPr>
            <a:r>
              <a:rPr lang="en-US" sz="1013" u="none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jumps over the </a:t>
            </a:r>
            <a:pPr algn="l" indent="0" marL="0">
              <a:lnSpc>
                <a:spcPts val="2340"/>
              </a:lnSpc>
              <a:buNone/>
            </a:pPr>
            <a:r>
              <a:rPr lang="en-US" sz="1013" i="1" u="none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lazy dog</a:t>
            </a:r>
            <a:pPr algn="l" indent="0" marL="0">
              <a:lnSpc>
                <a:spcPts val="2340"/>
              </a:lnSpc>
              <a:buNone/>
            </a:pPr>
            <a:r>
              <a:rPr lang="en-US" sz="1013" u="none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This sentence has </a:t>
            </a:r>
            <a:pPr algn="l" indent="0" marL="0">
              <a:lnSpc>
                <a:spcPts val="2340"/>
              </a:lnSpc>
              <a:buNone/>
            </a:pPr>
            <a:r>
              <a:rPr lang="en-US" sz="1013" b="1" u="none" dirty="0">
                <a:solidFill>
                  <a:srgbClr val="E53E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 bold</a:t>
            </a:r>
            <a:pPr algn="l" indent="0" marL="0">
              <a:lnSpc>
                <a:spcPts val="2340"/>
              </a:lnSpc>
              <a:buNone/>
            </a:pPr>
            <a:r>
              <a:rPr lang="en-US" sz="1013" u="none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2340"/>
              </a:lnSpc>
              <a:buNone/>
            </a:pPr>
            <a:r>
              <a:rPr lang="en-US" sz="1013" i="1" u="none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blue italic</a:t>
            </a:r>
            <a:pPr algn="l" indent="0" marL="0">
              <a:lnSpc>
                <a:spcPts val="2340"/>
              </a:lnSpc>
              <a:buNone/>
            </a:pPr>
            <a:r>
              <a:rPr lang="en-US" sz="1013" u="none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</a:t>
            </a:r>
            <a:pPr algn="l" indent="0" marL="0">
              <a:lnSpc>
                <a:spcPts val="2340"/>
              </a:lnSpc>
              <a:buNone/>
            </a:pPr>
            <a:r>
              <a:rPr lang="en-US" sz="1013" u="sng" dirty="0">
                <a:solidFill>
                  <a:srgbClr val="38A1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green underlined</a:t>
            </a:r>
            <a:pPr algn="l" indent="0" marL="0">
              <a:lnSpc>
                <a:spcPts val="2340"/>
              </a:lnSpc>
              <a:buNone/>
            </a:pPr>
            <a:r>
              <a:rPr lang="en-US" sz="1013" u="none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words. Here is </a:t>
            </a:r>
            <a:pPr algn="l" indent="0" marL="0">
              <a:lnSpc>
                <a:spcPts val="2340"/>
              </a:lnSpc>
              <a:buNone/>
            </a:pPr>
            <a:r>
              <a:rPr lang="en-US" sz="1013" strike="sngStrike" u="none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deleted text</a:t>
            </a:r>
            <a:pPr algn="l" indent="0" marL="0">
              <a:lnSpc>
                <a:spcPts val="2340"/>
              </a:lnSpc>
              <a:buNone/>
            </a:pPr>
            <a:r>
              <a:rPr lang="en-US" sz="1013" u="none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a </a:t>
            </a:r>
            <a:pPr algn="l" indent="0" marL="0">
              <a:lnSpc>
                <a:spcPts val="2340"/>
              </a:lnSpc>
              <a:buNone/>
            </a:pPr>
            <a:r>
              <a:rPr lang="en-US" sz="1350" b="1" u="none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BIG</a:t>
            </a:r>
            <a:pPr algn="l" indent="0" marL="0">
              <a:lnSpc>
                <a:spcPts val="2340"/>
              </a:lnSpc>
              <a:buNone/>
            </a:pPr>
            <a:r>
              <a:rPr lang="en-US" sz="1013" u="none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word with a footnote</a:t>
            </a:r>
            <a:pPr algn="l" indent="0" marL="0">
              <a:lnSpc>
                <a:spcPts val="2340"/>
              </a:lnSpc>
              <a:buNone/>
            </a:pPr>
            <a:r>
              <a:rPr lang="en-US" sz="675" u="none" baseline="3000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pPr algn="l" indent="0" marL="0">
              <a:lnSpc>
                <a:spcPts val="2340"/>
              </a:lnSpc>
              <a:buNone/>
            </a:pPr>
            <a:r>
              <a:rPr lang="en-US" sz="1013" u="none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chemical formula H</a:t>
            </a:r>
            <a:pPr algn="l" indent="0" marL="0">
              <a:lnSpc>
                <a:spcPts val="2340"/>
              </a:lnSpc>
              <a:buNone/>
            </a:pPr>
            <a:r>
              <a:rPr lang="en-US" sz="675" u="none" baseline="-4000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pPr algn="l" indent="0" marL="0">
              <a:lnSpc>
                <a:spcPts val="2340"/>
              </a:lnSpc>
              <a:buNone/>
            </a:pPr>
            <a:r>
              <a:rPr lang="en-US" sz="1013" u="none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O. Use </a:t>
            </a:r>
            <a:pPr algn="l" indent="0" marL="0">
              <a:lnSpc>
                <a:spcPts val="2340"/>
              </a:lnSpc>
              <a:buNone/>
            </a:pPr>
            <a:r>
              <a:rPr lang="en-US" sz="844" u="none" dirty="0">
                <a:solidFill>
                  <a:srgbClr val="E53E3E"/>
                </a:solidFill>
                <a:highlight>
                  <a:srgbClr val="F0F4F8"/>
                </a:highlight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console.log()</a:t>
            </a:r>
            <a:pPr algn="l" indent="0" marL="0">
              <a:lnSpc>
                <a:spcPts val="2340"/>
              </a:lnSpc>
              <a:buNone/>
            </a:pPr>
            <a:r>
              <a:rPr lang="en-US" sz="1013" u="none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debug, or try </a:t>
            </a:r>
            <a:pPr algn="l" indent="0" marL="0">
              <a:lnSpc>
                <a:spcPts val="2340"/>
              </a:lnSpc>
              <a:buNone/>
            </a:pPr>
            <a:r>
              <a:rPr lang="en-US" sz="844" u="none" dirty="0">
                <a:solidFill>
                  <a:srgbClr val="E53E3E"/>
                </a:solidFill>
                <a:highlight>
                  <a:srgbClr val="F0F4F8"/>
                </a:highlight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Array.from()</a:t>
            </a:r>
            <a:pPr algn="l" indent="0" marL="0">
              <a:lnSpc>
                <a:spcPts val="2340"/>
              </a:lnSpc>
              <a:buNone/>
            </a:pPr>
            <a:r>
              <a:rPr lang="en-US" sz="1013" u="none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conversion. Some text is </a:t>
            </a:r>
            <a:pPr algn="l" indent="0" marL="0">
              <a:lnSpc>
                <a:spcPts val="2340"/>
              </a:lnSpc>
              <a:buNone/>
            </a:pPr>
            <a:r>
              <a:rPr lang="en-US" sz="1013" u="none" dirty="0">
                <a:solidFill>
                  <a:srgbClr val="2D3748"/>
                </a:solidFill>
                <a:highlight>
                  <a:srgbClr val="FEFCB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highlighted in yellow</a:t>
            </a:r>
            <a:pPr algn="l" indent="0" marL="0">
              <a:lnSpc>
                <a:spcPts val="2340"/>
              </a:lnSpc>
              <a:buNone/>
            </a:pPr>
            <a:r>
              <a:rPr lang="en-US" sz="1013" u="none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while other text uses </a:t>
            </a:r>
            <a:pPr algn="l" indent="0" marL="0">
              <a:lnSpc>
                <a:spcPts val="2340"/>
              </a:lnSpc>
              <a:buNone/>
            </a:pPr>
            <a:r>
              <a:rPr lang="en-US" sz="1013" b="1" u="none" dirty="0">
                <a:solidFill>
                  <a:srgbClr val="805A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purple bold emphasis</a:t>
            </a:r>
            <a:pPr algn="l" indent="0" marL="0">
              <a:lnSpc>
                <a:spcPts val="2340"/>
              </a:lnSpc>
              <a:buNone/>
            </a:pPr>
            <a:r>
              <a:rPr lang="en-US" sz="1013" u="none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Finally, </a:t>
            </a:r>
            <a:pPr algn="l" indent="0" marL="0">
              <a:lnSpc>
                <a:spcPts val="2340"/>
              </a:lnSpc>
              <a:buNone/>
            </a:pPr>
            <a:r>
              <a:rPr lang="en-US" sz="1013" b="1" u="none" dirty="0">
                <a:solidFill>
                  <a:srgbClr val="9A59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gradient text is purely decorative</a:t>
            </a:r>
            <a:pPr algn="l" indent="0" marL="0">
              <a:lnSpc>
                <a:spcPts val="2340"/>
              </a:lnSpc>
              <a:buNone/>
            </a:pPr>
            <a:r>
              <a:rPr lang="en-US" sz="1013" u="none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should fallback to a </a:t>
            </a:r>
            <a:pPr algn="l" indent="0" marL="0">
              <a:lnSpc>
                <a:spcPts val="2340"/>
              </a:lnSpc>
              <a:buNone/>
            </a:pPr>
            <a:r>
              <a:rPr lang="en-US" sz="1013" b="1" u="none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solid color</a:t>
            </a:r>
            <a:pPr algn="l" indent="0" marL="0">
              <a:lnSpc>
                <a:spcPts val="2340"/>
              </a:lnSpc>
              <a:buNone/>
            </a:pPr>
            <a:r>
              <a:rPr lang="en-US" sz="1013" u="none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Mixing </a:t>
            </a:r>
            <a:pPr algn="l" indent="0" marL="0">
              <a:lnSpc>
                <a:spcPts val="2340"/>
              </a:lnSpc>
              <a:buNone/>
            </a:pPr>
            <a:r>
              <a:rPr lang="en-US" sz="1013" b="1" i="1" u="none" dirty="0">
                <a:solidFill>
                  <a:srgbClr val="E53E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bold italic red</a:t>
            </a:r>
            <a:pPr algn="l" indent="0" marL="0">
              <a:lnSpc>
                <a:spcPts val="2340"/>
              </a:lnSpc>
              <a:buNone/>
            </a:pPr>
            <a:r>
              <a:rPr lang="en-US" sz="1013" u="none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</a:t>
            </a:r>
            <a:pPr algn="l" indent="0" marL="0">
              <a:lnSpc>
                <a:spcPts val="2340"/>
              </a:lnSpc>
              <a:buNone/>
            </a:pPr>
            <a:r>
              <a:rPr lang="en-US" sz="1013" u="sng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underlined blue</a:t>
            </a:r>
            <a:pPr algn="l" indent="0" marL="0">
              <a:lnSpc>
                <a:spcPts val="2340"/>
              </a:lnSpc>
              <a:buNone/>
            </a:pPr>
            <a:r>
              <a:rPr lang="en-US" sz="1013" u="none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algn="l" indent="0" marL="0">
              <a:lnSpc>
                <a:spcPts val="2340"/>
              </a:lnSpc>
              <a:buNone/>
            </a:pPr>
            <a:r>
              <a:rPr lang="en-US" sz="844" u="none" dirty="0">
                <a:solidFill>
                  <a:srgbClr val="E53E3E"/>
                </a:solidFill>
                <a:highlight>
                  <a:srgbClr val="F0F4F8"/>
                </a:highlight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inline code</a:t>
            </a:r>
            <a:pPr algn="l" indent="0" marL="0">
              <a:lnSpc>
                <a:spcPts val="2340"/>
              </a:lnSpc>
              <a:buNone/>
            </a:pPr>
            <a:r>
              <a:rPr lang="en-US" sz="1013" u="none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a single paragraph tests how many </a:t>
            </a:r>
            <a:pPr algn="l" indent="0" marL="0">
              <a:lnSpc>
                <a:spcPts val="2340"/>
              </a:lnSpc>
              <a:buNone/>
            </a:pPr>
            <a:r>
              <a:rPr lang="en-US" sz="1013" b="1" u="none" dirty="0">
                <a:solidFill>
                  <a:srgbClr val="38A1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style transitions</a:t>
            </a:r>
            <a:pPr algn="l" indent="0" marL="0">
              <a:lnSpc>
                <a:spcPts val="2340"/>
              </a:lnSpc>
              <a:buNone/>
            </a:pPr>
            <a:r>
              <a:rPr lang="en-US" sz="1013" u="none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converter can handle without </a:t>
            </a:r>
            <a:pPr algn="l" indent="0" marL="0">
              <a:lnSpc>
                <a:spcPts val="2340"/>
              </a:lnSpc>
              <a:buNone/>
            </a:pPr>
            <a:r>
              <a:rPr lang="en-US" sz="1013" strike="sngStrike" u="none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breaking</a:t>
            </a:r>
            <a:pPr algn="l" indent="0" marL="0">
              <a:lnSpc>
                <a:spcPts val="2340"/>
              </a:lnSpc>
              <a:buNone/>
            </a:pPr>
            <a:r>
              <a:rPr lang="en-US" sz="1013" u="none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text flow.</a:t>
            </a:r>
            <a:endParaRPr lang="en-US" sz="1013" dirty="0"/>
          </a:p>
        </p:txBody>
      </p:sp>
      <p:sp>
        <p:nvSpPr>
          <p:cNvPr id="4" name="Shape 2"/>
          <p:cNvSpPr/>
          <p:nvPr/>
        </p:nvSpPr>
        <p:spPr>
          <a:xfrm>
            <a:off x="514350" y="2665833"/>
            <a:ext cx="8115300" cy="525709"/>
          </a:xfrm>
          <a:prstGeom prst="roundRect">
            <a:avLst>
              <a:gd name="adj" fmla="val 10871"/>
            </a:avLst>
          </a:prstGeom>
          <a:solidFill>
            <a:srgbClr val="F7FAFC"/>
          </a:solidFill>
          <a:ln>
            <a:noFill/>
          </a:ln>
        </p:spPr>
      </p:sp>
      <p:sp>
        <p:nvSpPr>
          <p:cNvPr id="5" name="Shape 3"/>
          <p:cNvSpPr/>
          <p:nvPr/>
        </p:nvSpPr>
        <p:spPr>
          <a:xfrm>
            <a:off x="514350" y="2665833"/>
            <a:ext cx="57150" cy="5715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6" name="Shape 4"/>
          <p:cNvSpPr/>
          <p:nvPr/>
        </p:nvSpPr>
        <p:spPr>
          <a:xfrm>
            <a:off x="514350" y="3134392"/>
            <a:ext cx="57150" cy="5715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7" name="Shape 5"/>
          <p:cNvSpPr/>
          <p:nvPr/>
        </p:nvSpPr>
        <p:spPr>
          <a:xfrm>
            <a:off x="514350" y="2665833"/>
            <a:ext cx="28575" cy="525709"/>
          </a:xfrm>
          <a:prstGeom prst="rect">
            <a:avLst/>
          </a:prstGeom>
          <a:solidFill>
            <a:srgbClr val="4A6CF7"/>
          </a:solidFill>
          <a:ln>
            <a:noFill/>
          </a:ln>
        </p:spPr>
      </p:sp>
      <p:sp>
        <p:nvSpPr>
          <p:cNvPr id="8" name="Text 6"/>
          <p:cNvSpPr/>
          <p:nvPr/>
        </p:nvSpPr>
        <p:spPr>
          <a:xfrm>
            <a:off x="685800" y="2780133"/>
            <a:ext cx="7800975" cy="29710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731" b="1" u="none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purpose:</a:t>
            </a:r>
            <a:pPr algn="l" indent="0" marL="0">
              <a:lnSpc>
                <a:spcPct val="133333"/>
              </a:lnSpc>
              <a:buNone/>
            </a:pPr>
            <a:r>
              <a:rPr lang="en-US" sz="731" u="none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This paragraph contains 18+ inline style transitions within continuous text. The converter must extract each text run with its correct font-weight, font-style, color, text-decoration, font-family, font-size, and background.</a:t>
            </a:r>
            <a:endParaRPr lang="en-US" sz="73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record-slide_25-1781898610264</dc:title>
  <dc:subject>PptxGenJS Presentation</dc:subject>
  <dc:creator>PptxGenJS</dc:creator>
  <cp:lastModifiedBy>PptxGenJS</cp:lastModifiedBy>
  <cp:revision>1</cp:revision>
  <dcterms:created xsi:type="dcterms:W3CDTF">2026-06-19T19:50:12Z</dcterms:created>
  <dcterms:modified xsi:type="dcterms:W3CDTF">2026-06-19T19:50:12Z</dcterms:modified>
</cp:coreProperties>
</file>