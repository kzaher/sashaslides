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57175"/>
            <a:ext cx="85439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Performance Digest</a:t>
            </a:r>
            <a:endParaRPr lang="en-US" sz="1238" dirty="0"/>
          </a:p>
        </p:txBody>
      </p:sp>
      <p:sp>
        <p:nvSpPr>
          <p:cNvPr id="3" name="Text 1"/>
          <p:cNvSpPr/>
          <p:nvPr/>
        </p:nvSpPr>
        <p:spPr>
          <a:xfrm>
            <a:off x="342900" y="471488"/>
            <a:ext cx="854392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INTERNAL DISTRIBUTION ONLY — Q1 2026</a:t>
            </a:r>
            <a:endParaRPr lang="en-US" sz="619" dirty="0"/>
          </a:p>
        </p:txBody>
      </p:sp>
      <p:sp>
        <p:nvSpPr>
          <p:cNvPr id="4" name="Shape 2"/>
          <p:cNvSpPr/>
          <p:nvPr/>
        </p:nvSpPr>
        <p:spPr>
          <a:xfrm>
            <a:off x="342900" y="714375"/>
            <a:ext cx="2821781" cy="42148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157538" y="714375"/>
            <a:ext cx="7144" cy="421481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775" y="714375"/>
            <a:ext cx="2528888" cy="1785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485775" y="878681"/>
            <a:ext cx="2528888" cy="14288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85775" y="714375"/>
            <a:ext cx="2614613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Overview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85775" y="964406"/>
            <a:ext cx="2528888" cy="74209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technology spending reached $4.8 trillion in Q1 2026, representing a 6.2% year-over-year increase. Cloud infrastructure continues to dominate capital allocation, with hyperscaler revenue growing at 28% annually. Enterprise software margins expanded to 72.4%, driven by AI-assisted development tools and automation platforms.</a:t>
            </a:r>
            <a:endParaRPr lang="en-US" sz="591" dirty="0"/>
          </a:p>
        </p:txBody>
      </p:sp>
      <p:sp>
        <p:nvSpPr>
          <p:cNvPr id="10" name="Shape 8"/>
          <p:cNvSpPr/>
          <p:nvPr/>
        </p:nvSpPr>
        <p:spPr>
          <a:xfrm>
            <a:off x="485775" y="1806512"/>
            <a:ext cx="2528888" cy="607219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485775" y="1806512"/>
            <a:ext cx="21431" cy="60721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592931" y="1863662"/>
            <a:ext cx="2336006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i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inflection point for AI-native applications has arrived. Companies not investing now will face structural disadvantage within 18 months."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92931" y="2277999"/>
            <a:ext cx="2421731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Sarah Chen, VP Strategy</a:t>
            </a:r>
            <a:endParaRPr lang="en-US" sz="506" dirty="0"/>
          </a:p>
        </p:txBody>
      </p:sp>
      <p:sp>
        <p:nvSpPr>
          <p:cNvPr id="14" name="Text 12"/>
          <p:cNvSpPr/>
          <p:nvPr/>
        </p:nvSpPr>
        <p:spPr>
          <a:xfrm>
            <a:off x="485775" y="2513743"/>
            <a:ext cx="2528888" cy="6183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analysis shows APAC markets outpacing North America for the second consecutive quarter. European regulatory frameworks continue to create compliance overhead, with GDPR-adjacent AI regulations adding 8-12% to deployment costs for multinational operations.</a:t>
            </a:r>
            <a:endParaRPr lang="en-US" sz="591" dirty="0"/>
          </a:p>
        </p:txBody>
      </p:sp>
      <p:sp>
        <p:nvSpPr>
          <p:cNvPr id="15" name="Text 13"/>
          <p:cNvSpPr/>
          <p:nvPr/>
        </p:nvSpPr>
        <p:spPr>
          <a:xfrm>
            <a:off x="485775" y="3217831"/>
            <a:ext cx="261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Indicators</a:t>
            </a:r>
            <a:endParaRPr lang="en-US" sz="619" dirty="0"/>
          </a:p>
        </p:txBody>
      </p:sp>
      <p:sp>
        <p:nvSpPr>
          <p:cNvPr id="16" name="Shape 14"/>
          <p:cNvSpPr/>
          <p:nvPr/>
        </p:nvSpPr>
        <p:spPr>
          <a:xfrm>
            <a:off x="485775" y="3360706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485775" y="3489293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18" name="Text 16"/>
          <p:cNvSpPr/>
          <p:nvPr/>
        </p:nvSpPr>
        <p:spPr>
          <a:xfrm>
            <a:off x="485775" y="3382137"/>
            <a:ext cx="61279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S&amp;P Tech Index</a:t>
            </a:r>
            <a:endParaRPr lang="en-US" sz="563" dirty="0"/>
          </a:p>
        </p:txBody>
      </p:sp>
      <p:sp>
        <p:nvSpPr>
          <p:cNvPr id="19" name="Text 17"/>
          <p:cNvSpPr/>
          <p:nvPr/>
        </p:nvSpPr>
        <p:spPr>
          <a:xfrm>
            <a:off x="2752916" y="3382137"/>
            <a:ext cx="34747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+14.3%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485775" y="3496437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485775" y="3625025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485775" y="3517868"/>
            <a:ext cx="86060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Revenue Growth</a:t>
            </a:r>
            <a:endParaRPr lang="en-US" sz="563" dirty="0"/>
          </a:p>
        </p:txBody>
      </p:sp>
      <p:sp>
        <p:nvSpPr>
          <p:cNvPr id="23" name="Text 21"/>
          <p:cNvSpPr/>
          <p:nvPr/>
        </p:nvSpPr>
        <p:spPr>
          <a:xfrm>
            <a:off x="2807494" y="3517868"/>
            <a:ext cx="292894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28.1%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485775" y="3632168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485775" y="3760756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26" name="Text 24"/>
          <p:cNvSpPr/>
          <p:nvPr/>
        </p:nvSpPr>
        <p:spPr>
          <a:xfrm>
            <a:off x="485775" y="3653600"/>
            <a:ext cx="616934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 Funding (AI)</a:t>
            </a:r>
            <a:endParaRPr lang="en-US" sz="563" dirty="0"/>
          </a:p>
        </p:txBody>
      </p:sp>
      <p:sp>
        <p:nvSpPr>
          <p:cNvPr id="27" name="Text 25"/>
          <p:cNvSpPr/>
          <p:nvPr/>
        </p:nvSpPr>
        <p:spPr>
          <a:xfrm>
            <a:off x="2762488" y="3653600"/>
            <a:ext cx="33789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$42.6B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3164681" y="714375"/>
            <a:ext cx="2821781" cy="42148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5979319" y="714375"/>
            <a:ext cx="7144" cy="421481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3307556" y="714375"/>
            <a:ext cx="2528888" cy="1785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3307556" y="878681"/>
            <a:ext cx="2528888" cy="14288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3307556" y="714375"/>
            <a:ext cx="2614613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Metrics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3307556" y="964406"/>
            <a:ext cx="2528888" cy="4947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adoption accelerated with 12,400 new enterprise accounts activated in Q1. Daily active usage increased to 2.1M sessions, with average session duration up 34% following the February feature release. API call volume crossed 8 billion per month.</a:t>
            </a:r>
            <a:endParaRPr lang="en-US" sz="591" dirty="0"/>
          </a:p>
        </p:txBody>
      </p:sp>
      <p:sp>
        <p:nvSpPr>
          <p:cNvPr id="34" name="Text 32"/>
          <p:cNvSpPr/>
          <p:nvPr/>
        </p:nvSpPr>
        <p:spPr>
          <a:xfrm>
            <a:off x="3307556" y="1544836"/>
            <a:ext cx="261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Breakdown</a:t>
            </a:r>
            <a:endParaRPr lang="en-US" sz="619" dirty="0"/>
          </a:p>
        </p:txBody>
      </p:sp>
      <p:sp>
        <p:nvSpPr>
          <p:cNvPr id="35" name="Shape 33"/>
          <p:cNvSpPr/>
          <p:nvPr/>
        </p:nvSpPr>
        <p:spPr>
          <a:xfrm>
            <a:off x="3307556" y="1687711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3307556" y="1816298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37" name="Text 35"/>
          <p:cNvSpPr/>
          <p:nvPr/>
        </p:nvSpPr>
        <p:spPr>
          <a:xfrm>
            <a:off x="3307556" y="1709142"/>
            <a:ext cx="612577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DAU/MAU Ratio</a:t>
            </a:r>
            <a:endParaRPr lang="en-US" sz="563" dirty="0"/>
          </a:p>
        </p:txBody>
      </p:sp>
      <p:sp>
        <p:nvSpPr>
          <p:cNvPr id="38" name="Text 36"/>
          <p:cNvSpPr/>
          <p:nvPr/>
        </p:nvSpPr>
        <p:spPr>
          <a:xfrm>
            <a:off x="5679067" y="1709142"/>
            <a:ext cx="24310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3307556" y="1823442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307556" y="1952030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41" name="Text 39"/>
          <p:cNvSpPr/>
          <p:nvPr/>
        </p:nvSpPr>
        <p:spPr>
          <a:xfrm>
            <a:off x="3307556" y="1844873"/>
            <a:ext cx="75188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Session Length</a:t>
            </a:r>
            <a:endParaRPr lang="en-US" sz="563" dirty="0"/>
          </a:p>
        </p:txBody>
      </p:sp>
      <p:sp>
        <p:nvSpPr>
          <p:cNvPr id="42" name="Text 40"/>
          <p:cNvSpPr/>
          <p:nvPr/>
        </p:nvSpPr>
        <p:spPr>
          <a:xfrm>
            <a:off x="5549051" y="1844873"/>
            <a:ext cx="37311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min</a:t>
            </a:r>
            <a:endParaRPr lang="en-US" sz="563" dirty="0"/>
          </a:p>
        </p:txBody>
      </p:sp>
      <p:sp>
        <p:nvSpPr>
          <p:cNvPr id="43" name="Shape 41"/>
          <p:cNvSpPr/>
          <p:nvPr/>
        </p:nvSpPr>
        <p:spPr>
          <a:xfrm>
            <a:off x="3307556" y="1959173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3307556" y="2087761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45" name="Text 43"/>
          <p:cNvSpPr/>
          <p:nvPr/>
        </p:nvSpPr>
        <p:spPr>
          <a:xfrm>
            <a:off x="3307556" y="1980605"/>
            <a:ext cx="879253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Adoption (new)</a:t>
            </a:r>
            <a:endParaRPr lang="en-US" sz="563" dirty="0"/>
          </a:p>
        </p:txBody>
      </p:sp>
      <p:sp>
        <p:nvSpPr>
          <p:cNvPr id="46" name="Text 44"/>
          <p:cNvSpPr/>
          <p:nvPr/>
        </p:nvSpPr>
        <p:spPr>
          <a:xfrm>
            <a:off x="5689140" y="1980605"/>
            <a:ext cx="23310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41%</a:t>
            </a:r>
            <a:endParaRPr lang="en-US" sz="563" dirty="0"/>
          </a:p>
        </p:txBody>
      </p:sp>
      <p:sp>
        <p:nvSpPr>
          <p:cNvPr id="47" name="Shape 45"/>
          <p:cNvSpPr/>
          <p:nvPr/>
        </p:nvSpPr>
        <p:spPr>
          <a:xfrm>
            <a:off x="3307556" y="2094905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3307556" y="2223492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49" name="Text 47"/>
          <p:cNvSpPr/>
          <p:nvPr/>
        </p:nvSpPr>
        <p:spPr>
          <a:xfrm>
            <a:off x="3307556" y="2116336"/>
            <a:ext cx="46277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5667780" y="2116336"/>
            <a:ext cx="25438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1.8%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3307556" y="2230636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3307556" y="2359223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53" name="Text 51"/>
          <p:cNvSpPr/>
          <p:nvPr/>
        </p:nvSpPr>
        <p:spPr>
          <a:xfrm>
            <a:off x="3307556" y="2252067"/>
            <a:ext cx="447913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Score</a:t>
            </a:r>
            <a:endParaRPr lang="en-US" sz="563" dirty="0"/>
          </a:p>
        </p:txBody>
      </p:sp>
      <p:sp>
        <p:nvSpPr>
          <p:cNvPr id="54" name="Text 52"/>
          <p:cNvSpPr/>
          <p:nvPr/>
        </p:nvSpPr>
        <p:spPr>
          <a:xfrm>
            <a:off x="5750719" y="2252067"/>
            <a:ext cx="17145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563" dirty="0"/>
          </a:p>
        </p:txBody>
      </p:sp>
      <p:sp>
        <p:nvSpPr>
          <p:cNvPr id="55" name="Shape 53"/>
          <p:cNvSpPr/>
          <p:nvPr/>
        </p:nvSpPr>
        <p:spPr>
          <a:xfrm>
            <a:off x="3307556" y="2466380"/>
            <a:ext cx="2528888" cy="607219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3307556" y="2466380"/>
            <a:ext cx="21431" cy="60721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7" name="Text 55"/>
          <p:cNvSpPr/>
          <p:nvPr/>
        </p:nvSpPr>
        <p:spPr>
          <a:xfrm>
            <a:off x="3414713" y="2523530"/>
            <a:ext cx="2336006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i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"Retention improvements in the mid-market segment exceeded all projections. The onboarding redesign is clearly working."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3414713" y="2937867"/>
            <a:ext cx="2421731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Marcus Rodriguez, Product Lead</a:t>
            </a:r>
            <a:endParaRPr lang="en-US" sz="506" dirty="0"/>
          </a:p>
        </p:txBody>
      </p:sp>
      <p:sp>
        <p:nvSpPr>
          <p:cNvPr id="59" name="Text 57"/>
          <p:cNvSpPr/>
          <p:nvPr/>
        </p:nvSpPr>
        <p:spPr>
          <a:xfrm>
            <a:off x="3307556" y="3173611"/>
            <a:ext cx="2528888" cy="3710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platform adoption remains a growth vector, with 38% of enterprise users now accessing via mobile at least once per week. Cross-platform sync reliability improved to 99.97%.</a:t>
            </a:r>
            <a:endParaRPr lang="en-US" sz="591" dirty="0"/>
          </a:p>
        </p:txBody>
      </p:sp>
      <p:sp>
        <p:nvSpPr>
          <p:cNvPr id="60" name="Shape 58"/>
          <p:cNvSpPr/>
          <p:nvPr/>
        </p:nvSpPr>
        <p:spPr>
          <a:xfrm>
            <a:off x="6129338" y="714375"/>
            <a:ext cx="2528888" cy="1785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6129338" y="878681"/>
            <a:ext cx="2528888" cy="14288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6129338" y="714375"/>
            <a:ext cx="2614613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Summary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6129338" y="964406"/>
            <a:ext cx="2528888" cy="4947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for Q1 came in at $124.6M, exceeding guidance of $118M by 5.6%. Gross margin held steady at 74.2% despite increased infrastructure costs. Operating expenses grew 8% year-over-year, primarily in R&amp;D headcount expansion.</a:t>
            </a:r>
            <a:endParaRPr lang="en-US" sz="591" dirty="0"/>
          </a:p>
        </p:txBody>
      </p:sp>
      <p:sp>
        <p:nvSpPr>
          <p:cNvPr id="64" name="Text 62"/>
          <p:cNvSpPr/>
          <p:nvPr/>
        </p:nvSpPr>
        <p:spPr>
          <a:xfrm>
            <a:off x="6129338" y="1544836"/>
            <a:ext cx="261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Highlights</a:t>
            </a:r>
            <a:endParaRPr lang="en-US" sz="619" dirty="0"/>
          </a:p>
        </p:txBody>
      </p:sp>
      <p:sp>
        <p:nvSpPr>
          <p:cNvPr id="65" name="Shape 63"/>
          <p:cNvSpPr/>
          <p:nvPr/>
        </p:nvSpPr>
        <p:spPr>
          <a:xfrm>
            <a:off x="6129338" y="1687711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6" name="Shape 64"/>
          <p:cNvSpPr/>
          <p:nvPr/>
        </p:nvSpPr>
        <p:spPr>
          <a:xfrm>
            <a:off x="6129338" y="1816298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67" name="Text 65"/>
          <p:cNvSpPr/>
          <p:nvPr/>
        </p:nvSpPr>
        <p:spPr>
          <a:xfrm>
            <a:off x="6129338" y="1709142"/>
            <a:ext cx="377476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563" dirty="0"/>
          </a:p>
        </p:txBody>
      </p:sp>
      <p:sp>
        <p:nvSpPr>
          <p:cNvPr id="68" name="Text 66"/>
          <p:cNvSpPr/>
          <p:nvPr/>
        </p:nvSpPr>
        <p:spPr>
          <a:xfrm>
            <a:off x="8360545" y="1709142"/>
            <a:ext cx="383405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$124.6M</a:t>
            </a:r>
            <a:endParaRPr lang="en-US" sz="563" dirty="0"/>
          </a:p>
        </p:txBody>
      </p:sp>
      <p:sp>
        <p:nvSpPr>
          <p:cNvPr id="69" name="Shape 67"/>
          <p:cNvSpPr/>
          <p:nvPr/>
        </p:nvSpPr>
        <p:spPr>
          <a:xfrm>
            <a:off x="6129338" y="1823442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6129338" y="1952030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71" name="Text 69"/>
          <p:cNvSpPr/>
          <p:nvPr/>
        </p:nvSpPr>
        <p:spPr>
          <a:xfrm>
            <a:off x="6129338" y="1844873"/>
            <a:ext cx="53678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563" dirty="0"/>
          </a:p>
        </p:txBody>
      </p:sp>
      <p:sp>
        <p:nvSpPr>
          <p:cNvPr id="72" name="Text 70"/>
          <p:cNvSpPr/>
          <p:nvPr/>
        </p:nvSpPr>
        <p:spPr>
          <a:xfrm>
            <a:off x="8436983" y="1844873"/>
            <a:ext cx="306967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74.2%</a:t>
            </a:r>
            <a:endParaRPr lang="en-US" sz="563" dirty="0"/>
          </a:p>
        </p:txBody>
      </p:sp>
      <p:sp>
        <p:nvSpPr>
          <p:cNvPr id="73" name="Shape 71"/>
          <p:cNvSpPr/>
          <p:nvPr/>
        </p:nvSpPr>
        <p:spPr>
          <a:xfrm>
            <a:off x="6129338" y="1959173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>
            <a:off x="6129338" y="2087761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75" name="Text 73"/>
          <p:cNvSpPr/>
          <p:nvPr/>
        </p:nvSpPr>
        <p:spPr>
          <a:xfrm>
            <a:off x="6129338" y="1980605"/>
            <a:ext cx="68880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Income</a:t>
            </a:r>
            <a:endParaRPr lang="en-US" sz="563" dirty="0"/>
          </a:p>
        </p:txBody>
      </p:sp>
      <p:sp>
        <p:nvSpPr>
          <p:cNvPr id="76" name="Text 74"/>
          <p:cNvSpPr/>
          <p:nvPr/>
        </p:nvSpPr>
        <p:spPr>
          <a:xfrm>
            <a:off x="8386763" y="1980605"/>
            <a:ext cx="35718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$28.4M</a:t>
            </a:r>
            <a:endParaRPr lang="en-US" sz="563" dirty="0"/>
          </a:p>
        </p:txBody>
      </p:sp>
      <p:sp>
        <p:nvSpPr>
          <p:cNvPr id="77" name="Shape 75"/>
          <p:cNvSpPr/>
          <p:nvPr/>
        </p:nvSpPr>
        <p:spPr>
          <a:xfrm>
            <a:off x="6129338" y="2094905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6129338" y="2223492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79" name="Text 77"/>
          <p:cNvSpPr/>
          <p:nvPr/>
        </p:nvSpPr>
        <p:spPr>
          <a:xfrm>
            <a:off x="6129338" y="2116336"/>
            <a:ext cx="60679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Cash Flow</a:t>
            </a:r>
            <a:endParaRPr lang="en-US" sz="563" dirty="0"/>
          </a:p>
        </p:txBody>
      </p:sp>
      <p:sp>
        <p:nvSpPr>
          <p:cNvPr id="80" name="Text 78"/>
          <p:cNvSpPr/>
          <p:nvPr/>
        </p:nvSpPr>
        <p:spPr>
          <a:xfrm>
            <a:off x="8423481" y="2116336"/>
            <a:ext cx="32046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$31.1M</a:t>
            </a:r>
            <a:endParaRPr lang="en-US" sz="563" dirty="0"/>
          </a:p>
        </p:txBody>
      </p:sp>
      <p:sp>
        <p:nvSpPr>
          <p:cNvPr id="81" name="Shape 79"/>
          <p:cNvSpPr/>
          <p:nvPr/>
        </p:nvSpPr>
        <p:spPr>
          <a:xfrm>
            <a:off x="6129338" y="2230636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2" name="Shape 80"/>
          <p:cNvSpPr/>
          <p:nvPr/>
        </p:nvSpPr>
        <p:spPr>
          <a:xfrm>
            <a:off x="6129338" y="2359223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83" name="Text 81"/>
          <p:cNvSpPr/>
          <p:nvPr/>
        </p:nvSpPr>
        <p:spPr>
          <a:xfrm>
            <a:off x="6129338" y="2252067"/>
            <a:ext cx="22702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563" dirty="0"/>
          </a:p>
        </p:txBody>
      </p:sp>
      <p:sp>
        <p:nvSpPr>
          <p:cNvPr id="84" name="Text 82"/>
          <p:cNvSpPr/>
          <p:nvPr/>
        </p:nvSpPr>
        <p:spPr>
          <a:xfrm>
            <a:off x="8410408" y="2252067"/>
            <a:ext cx="33354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$502M</a:t>
            </a:r>
            <a:endParaRPr lang="en-US" sz="563" dirty="0"/>
          </a:p>
        </p:txBody>
      </p:sp>
      <p:sp>
        <p:nvSpPr>
          <p:cNvPr id="85" name="Shape 83"/>
          <p:cNvSpPr/>
          <p:nvPr/>
        </p:nvSpPr>
        <p:spPr>
          <a:xfrm>
            <a:off x="6129338" y="2466380"/>
            <a:ext cx="2528888" cy="607219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6129338" y="2466380"/>
            <a:ext cx="21431" cy="60721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6236494" y="2523530"/>
            <a:ext cx="2336006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i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"Cash generation remains strong. We are well-positioned to fund both organic growth and targeted M&amp;A through 2027."</a:t>
            </a:r>
            <a:endParaRPr lang="en-US" sz="675" dirty="0"/>
          </a:p>
        </p:txBody>
      </p:sp>
      <p:sp>
        <p:nvSpPr>
          <p:cNvPr id="88" name="Text 86"/>
          <p:cNvSpPr/>
          <p:nvPr/>
        </p:nvSpPr>
        <p:spPr>
          <a:xfrm>
            <a:off x="6236494" y="2937867"/>
            <a:ext cx="2421731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David Park, CFO</a:t>
            </a:r>
            <a:endParaRPr lang="en-US" sz="506" dirty="0"/>
          </a:p>
        </p:txBody>
      </p:sp>
      <p:sp>
        <p:nvSpPr>
          <p:cNvPr id="89" name="Text 87"/>
          <p:cNvSpPr/>
          <p:nvPr/>
        </p:nvSpPr>
        <p:spPr>
          <a:xfrm>
            <a:off x="6129338" y="3173611"/>
            <a:ext cx="2528888" cy="4947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 revenue grew to $186M, providing strong forward visibility. International revenue now represents 34% of total, up from 28% a year ago. Currency headwinds reduced reported growth by approximately 2 percentage points.</a:t>
            </a:r>
            <a:endParaRPr lang="en-US" sz="59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record-slide_27-1781898610978</dc:title>
  <dc:subject>PptxGenJS Presentation</dc:subject>
  <dc:creator>PptxGenJS</dc:creator>
  <cp:lastModifiedBy>PptxGenJS</cp:lastModifiedBy>
  <cp:revision>1</cp:revision>
  <dcterms:created xsi:type="dcterms:W3CDTF">2026-06-19T19:50:13Z</dcterms:created>
  <dcterms:modified xsi:type="dcterms:W3CDTF">2026-06-19T19:50:13Z</dcterms:modified>
</cp:coreProperties>
</file>