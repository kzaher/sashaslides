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000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200025" y="0"/>
            <a:ext cx="4171950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Legacy Dashboard v1</a:t>
            </a:r>
            <a:endParaRPr lang="en-US" sz="619" dirty="0"/>
          </a:p>
        </p:txBody>
      </p:sp>
      <p:sp>
        <p:nvSpPr>
          <p:cNvPr id="4" name="Shape 2"/>
          <p:cNvSpPr/>
          <p:nvPr/>
        </p:nvSpPr>
        <p:spPr>
          <a:xfrm>
            <a:off x="0" y="400050"/>
            <a:ext cx="4572000" cy="474345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171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257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742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085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71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11" name="Text 9"/>
          <p:cNvSpPr/>
          <p:nvPr/>
        </p:nvSpPr>
        <p:spPr>
          <a:xfrm>
            <a:off x="278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4.2s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278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180% slower</a:t>
            </a:r>
            <a:endParaRPr lang="en-US" sz="619" dirty="0"/>
          </a:p>
        </p:txBody>
      </p:sp>
      <p:sp>
        <p:nvSpPr>
          <p:cNvPr id="13" name="Shape 11"/>
          <p:cNvSpPr/>
          <p:nvPr/>
        </p:nvSpPr>
        <p:spPr>
          <a:xfrm>
            <a:off x="1609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16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15" name="Text 13"/>
          <p:cNvSpPr/>
          <p:nvPr/>
        </p:nvSpPr>
        <p:spPr>
          <a:xfrm>
            <a:off x="1716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12.4%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1716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Critical</a:t>
            </a:r>
            <a:endParaRPr lang="en-US" sz="619" dirty="0"/>
          </a:p>
        </p:txBody>
      </p:sp>
      <p:sp>
        <p:nvSpPr>
          <p:cNvPr id="17" name="Shape 15"/>
          <p:cNvSpPr/>
          <p:nvPr/>
        </p:nvSpPr>
        <p:spPr>
          <a:xfrm>
            <a:off x="3048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5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19" name="Text 17"/>
          <p:cNvSpPr/>
          <p:nvPr/>
        </p:nvSpPr>
        <p:spPr>
          <a:xfrm>
            <a:off x="3155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2.1/5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3155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Declining</a:t>
            </a:r>
            <a:endParaRPr lang="en-US" sz="619" dirty="0"/>
          </a:p>
        </p:txBody>
      </p:sp>
      <p:sp>
        <p:nvSpPr>
          <p:cNvPr id="21" name="Shape 19"/>
          <p:cNvSpPr/>
          <p:nvPr/>
        </p:nvSpPr>
        <p:spPr>
          <a:xfrm>
            <a:off x="3400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93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3493294" y="2207419"/>
            <a:ext cx="57007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3493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3493294" y="2493169"/>
            <a:ext cx="40719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3493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3493294" y="2778919"/>
            <a:ext cx="48856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493294" y="2921794"/>
            <a:ext cx="610791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493294" y="3064669"/>
            <a:ext cx="32568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171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(Inconsistent)</a:t>
            </a:r>
            <a:endParaRPr lang="en-US" sz="619" dirty="0"/>
          </a:p>
        </p:txBody>
      </p:sp>
      <p:sp>
        <p:nvSpPr>
          <p:cNvPr id="32" name="Shape 30"/>
          <p:cNvSpPr/>
          <p:nvPr/>
        </p:nvSpPr>
        <p:spPr>
          <a:xfrm>
            <a:off x="278606" y="2596753"/>
            <a:ext cx="200025" cy="225028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3" name="Shape 31"/>
          <p:cNvSpPr/>
          <p:nvPr/>
        </p:nvSpPr>
        <p:spPr>
          <a:xfrm>
            <a:off x="521494" y="2721769"/>
            <a:ext cx="200025" cy="100013"/>
          </a:xfrm>
          <a:prstGeom prst="round2SameRect">
            <a:avLst>
              <a:gd name="adj" fmla="val 21428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764381" y="2471738"/>
            <a:ext cx="200025" cy="350044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1007269" y="2671763"/>
            <a:ext cx="200025" cy="150019"/>
          </a:xfrm>
          <a:prstGeom prst="round2SameRect">
            <a:avLst>
              <a:gd name="adj" fmla="val 14286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1250156" y="2546747"/>
            <a:ext cx="200025" cy="275034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1493044" y="2746772"/>
            <a:ext cx="200025" cy="75009"/>
          </a:xfrm>
          <a:prstGeom prst="round2SameRect">
            <a:avLst>
              <a:gd name="adj" fmla="val 28572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1735931" y="2521744"/>
            <a:ext cx="200025" cy="300038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171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594" y="4021931"/>
            <a:ext cx="4214813" cy="200025"/>
          </a:xfrm>
          <a:prstGeom prst="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264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42" name="Text 40"/>
          <p:cNvSpPr/>
          <p:nvPr/>
        </p:nvSpPr>
        <p:spPr>
          <a:xfrm>
            <a:off x="1310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43" name="Text 41"/>
          <p:cNvSpPr/>
          <p:nvPr/>
        </p:nvSpPr>
        <p:spPr>
          <a:xfrm>
            <a:off x="2357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44" name="Text 42"/>
          <p:cNvSpPr/>
          <p:nvPr/>
        </p:nvSpPr>
        <p:spPr>
          <a:xfrm>
            <a:off x="3403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45" name="Shape 43"/>
          <p:cNvSpPr/>
          <p:nvPr/>
        </p:nvSpPr>
        <p:spPr>
          <a:xfrm>
            <a:off x="178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6" name="Shape 44"/>
          <p:cNvSpPr/>
          <p:nvPr/>
        </p:nvSpPr>
        <p:spPr>
          <a:xfrm>
            <a:off x="178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7" name="Text 45"/>
          <p:cNvSpPr/>
          <p:nvPr/>
        </p:nvSpPr>
        <p:spPr>
          <a:xfrm>
            <a:off x="264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48" name="Text 46"/>
          <p:cNvSpPr/>
          <p:nvPr/>
        </p:nvSpPr>
        <p:spPr>
          <a:xfrm>
            <a:off x="1310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Degraded</a:t>
            </a:r>
            <a:endParaRPr lang="en-US" sz="563" dirty="0"/>
          </a:p>
        </p:txBody>
      </p:sp>
      <p:sp>
        <p:nvSpPr>
          <p:cNvPr id="49" name="Text 47"/>
          <p:cNvSpPr/>
          <p:nvPr/>
        </p:nvSpPr>
        <p:spPr>
          <a:xfrm>
            <a:off x="2357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820ms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3403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178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178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264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54" name="Text 52"/>
          <p:cNvSpPr/>
          <p:nvPr/>
        </p:nvSpPr>
        <p:spPr>
          <a:xfrm>
            <a:off x="1310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2357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3403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563" dirty="0"/>
          </a:p>
        </p:txBody>
      </p:sp>
      <p:sp>
        <p:nvSpPr>
          <p:cNvPr id="57" name="Shape 55"/>
          <p:cNvSpPr/>
          <p:nvPr/>
        </p:nvSpPr>
        <p:spPr>
          <a:xfrm>
            <a:off x="178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178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264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60" name="Text 58"/>
          <p:cNvSpPr/>
          <p:nvPr/>
        </p:nvSpPr>
        <p:spPr>
          <a:xfrm>
            <a:off x="1310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</a:t>
            </a:r>
            <a:endParaRPr lang="en-US" sz="563" dirty="0"/>
          </a:p>
        </p:txBody>
      </p:sp>
      <p:sp>
        <p:nvSpPr>
          <p:cNvPr id="61" name="Text 59"/>
          <p:cNvSpPr/>
          <p:nvPr/>
        </p:nvSpPr>
        <p:spPr>
          <a:xfrm>
            <a:off x="2357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2.4s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3403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563" dirty="0"/>
          </a:p>
        </p:txBody>
      </p:sp>
      <p:sp>
        <p:nvSpPr>
          <p:cNvPr id="63" name="Shape 61"/>
          <p:cNvSpPr/>
          <p:nvPr/>
        </p:nvSpPr>
        <p:spPr>
          <a:xfrm>
            <a:off x="4572000" y="0"/>
            <a:ext cx="4572000" cy="4000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4772025" y="0"/>
            <a:ext cx="4171950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Dashboard v2</a:t>
            </a:r>
            <a:endParaRPr lang="en-US" sz="619" dirty="0"/>
          </a:p>
        </p:txBody>
      </p:sp>
      <p:sp>
        <p:nvSpPr>
          <p:cNvPr id="65" name="Shape 63"/>
          <p:cNvSpPr/>
          <p:nvPr/>
        </p:nvSpPr>
        <p:spPr>
          <a:xfrm>
            <a:off x="4572000" y="400050"/>
            <a:ext cx="4572000" cy="474345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sp>
        <p:nvSpPr>
          <p:cNvPr id="66" name="Shape 64"/>
          <p:cNvSpPr/>
          <p:nvPr/>
        </p:nvSpPr>
        <p:spPr>
          <a:xfrm>
            <a:off x="4743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67" name="Shape 65"/>
          <p:cNvSpPr/>
          <p:nvPr/>
        </p:nvSpPr>
        <p:spPr>
          <a:xfrm>
            <a:off x="4829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5314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5657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4743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850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72" name="Text 70"/>
          <p:cNvSpPr/>
          <p:nvPr/>
        </p:nvSpPr>
        <p:spPr>
          <a:xfrm>
            <a:off x="4850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0.8s</a:t>
            </a:r>
            <a:endParaRPr lang="en-US" sz="1238" dirty="0"/>
          </a:p>
        </p:txBody>
      </p:sp>
      <p:sp>
        <p:nvSpPr>
          <p:cNvPr id="73" name="Text 71"/>
          <p:cNvSpPr/>
          <p:nvPr/>
        </p:nvSpPr>
        <p:spPr>
          <a:xfrm>
            <a:off x="4850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5x faster</a:t>
            </a:r>
            <a:endParaRPr lang="en-US" sz="619" dirty="0"/>
          </a:p>
        </p:txBody>
      </p:sp>
      <p:sp>
        <p:nvSpPr>
          <p:cNvPr id="74" name="Shape 72"/>
          <p:cNvSpPr/>
          <p:nvPr/>
        </p:nvSpPr>
        <p:spPr>
          <a:xfrm>
            <a:off x="6181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288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76" name="Text 74"/>
          <p:cNvSpPr/>
          <p:nvPr/>
        </p:nvSpPr>
        <p:spPr>
          <a:xfrm>
            <a:off x="6288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0.3%</a:t>
            </a:r>
            <a:endParaRPr lang="en-US" sz="1238" dirty="0"/>
          </a:p>
        </p:txBody>
      </p:sp>
      <p:sp>
        <p:nvSpPr>
          <p:cNvPr id="77" name="Text 75"/>
          <p:cNvSpPr/>
          <p:nvPr/>
        </p:nvSpPr>
        <p:spPr>
          <a:xfrm>
            <a:off x="6288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97% reduction</a:t>
            </a:r>
            <a:endParaRPr lang="en-US" sz="619" dirty="0"/>
          </a:p>
        </p:txBody>
      </p:sp>
      <p:sp>
        <p:nvSpPr>
          <p:cNvPr id="78" name="Shape 76"/>
          <p:cNvSpPr/>
          <p:nvPr/>
        </p:nvSpPr>
        <p:spPr>
          <a:xfrm>
            <a:off x="7620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7727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80" name="Text 78"/>
          <p:cNvSpPr/>
          <p:nvPr/>
        </p:nvSpPr>
        <p:spPr>
          <a:xfrm>
            <a:off x="7727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4.8/5</a:t>
            </a:r>
            <a:endParaRPr lang="en-US" sz="1238" dirty="0"/>
          </a:p>
        </p:txBody>
      </p:sp>
      <p:sp>
        <p:nvSpPr>
          <p:cNvPr id="81" name="Text 79"/>
          <p:cNvSpPr/>
          <p:nvPr/>
        </p:nvSpPr>
        <p:spPr>
          <a:xfrm>
            <a:off x="7727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+129% improvement</a:t>
            </a:r>
            <a:endParaRPr lang="en-US" sz="619" dirty="0"/>
          </a:p>
        </p:txBody>
      </p:sp>
      <p:sp>
        <p:nvSpPr>
          <p:cNvPr id="82" name="Shape 80"/>
          <p:cNvSpPr/>
          <p:nvPr/>
        </p:nvSpPr>
        <p:spPr>
          <a:xfrm>
            <a:off x="7972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5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4" name="Shape 82"/>
          <p:cNvSpPr/>
          <p:nvPr/>
        </p:nvSpPr>
        <p:spPr>
          <a:xfrm>
            <a:off x="8065294" y="2207419"/>
            <a:ext cx="77366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5" name="Shape 83"/>
          <p:cNvSpPr/>
          <p:nvPr/>
        </p:nvSpPr>
        <p:spPr>
          <a:xfrm>
            <a:off x="8065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8065294" y="2493169"/>
            <a:ext cx="69215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7" name="Shape 85"/>
          <p:cNvSpPr/>
          <p:nvPr/>
        </p:nvSpPr>
        <p:spPr>
          <a:xfrm>
            <a:off x="8065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8" name="Shape 86"/>
          <p:cNvSpPr/>
          <p:nvPr/>
        </p:nvSpPr>
        <p:spPr>
          <a:xfrm>
            <a:off x="8065294" y="2778919"/>
            <a:ext cx="610791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9" name="Shape 87"/>
          <p:cNvSpPr/>
          <p:nvPr/>
        </p:nvSpPr>
        <p:spPr>
          <a:xfrm>
            <a:off x="8065294" y="2921794"/>
            <a:ext cx="570071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0" name="Shape 88"/>
          <p:cNvSpPr/>
          <p:nvPr/>
        </p:nvSpPr>
        <p:spPr>
          <a:xfrm>
            <a:off x="8065294" y="3064669"/>
            <a:ext cx="529280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1" name="Shape 89"/>
          <p:cNvSpPr/>
          <p:nvPr/>
        </p:nvSpPr>
        <p:spPr>
          <a:xfrm>
            <a:off x="4743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50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(Stable)</a:t>
            </a:r>
            <a:endParaRPr lang="en-US" sz="619" dirty="0"/>
          </a:p>
        </p:txBody>
      </p:sp>
      <p:sp>
        <p:nvSpPr>
          <p:cNvPr id="93" name="Shape 91"/>
          <p:cNvSpPr/>
          <p:nvPr/>
        </p:nvSpPr>
        <p:spPr>
          <a:xfrm>
            <a:off x="4850606" y="2431804"/>
            <a:ext cx="200025" cy="389977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4" name="Shape 92"/>
          <p:cNvSpPr/>
          <p:nvPr/>
        </p:nvSpPr>
        <p:spPr>
          <a:xfrm>
            <a:off x="5093494" y="2411801"/>
            <a:ext cx="200025" cy="409980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5" name="Shape 93"/>
          <p:cNvSpPr/>
          <p:nvPr/>
        </p:nvSpPr>
        <p:spPr>
          <a:xfrm>
            <a:off x="5336381" y="2396728"/>
            <a:ext cx="200025" cy="425053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6" name="Shape 94"/>
          <p:cNvSpPr/>
          <p:nvPr/>
        </p:nvSpPr>
        <p:spPr>
          <a:xfrm>
            <a:off x="5579269" y="2421731"/>
            <a:ext cx="200025" cy="400050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7" name="Shape 95"/>
          <p:cNvSpPr/>
          <p:nvPr/>
        </p:nvSpPr>
        <p:spPr>
          <a:xfrm>
            <a:off x="5822156" y="2381798"/>
            <a:ext cx="200025" cy="439984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8" name="Shape 96"/>
          <p:cNvSpPr/>
          <p:nvPr/>
        </p:nvSpPr>
        <p:spPr>
          <a:xfrm>
            <a:off x="6065044" y="2371725"/>
            <a:ext cx="200025" cy="450056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9" name="Shape 97"/>
          <p:cNvSpPr/>
          <p:nvPr/>
        </p:nvSpPr>
        <p:spPr>
          <a:xfrm>
            <a:off x="6307931" y="2361795"/>
            <a:ext cx="200025" cy="459986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0" name="Shape 98"/>
          <p:cNvSpPr/>
          <p:nvPr/>
        </p:nvSpPr>
        <p:spPr>
          <a:xfrm>
            <a:off x="4743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0594" y="4021931"/>
            <a:ext cx="4214813" cy="200025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02" name="Text 100"/>
          <p:cNvSpPr/>
          <p:nvPr/>
        </p:nvSpPr>
        <p:spPr>
          <a:xfrm>
            <a:off x="4836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103" name="Text 101"/>
          <p:cNvSpPr/>
          <p:nvPr/>
        </p:nvSpPr>
        <p:spPr>
          <a:xfrm>
            <a:off x="5882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104" name="Text 102"/>
          <p:cNvSpPr/>
          <p:nvPr/>
        </p:nvSpPr>
        <p:spPr>
          <a:xfrm>
            <a:off x="6929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105" name="Text 103"/>
          <p:cNvSpPr/>
          <p:nvPr/>
        </p:nvSpPr>
        <p:spPr>
          <a:xfrm>
            <a:off x="7975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106" name="Shape 104"/>
          <p:cNvSpPr/>
          <p:nvPr/>
        </p:nvSpPr>
        <p:spPr>
          <a:xfrm>
            <a:off x="4750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7" name="Shape 105"/>
          <p:cNvSpPr/>
          <p:nvPr/>
        </p:nvSpPr>
        <p:spPr>
          <a:xfrm>
            <a:off x="4750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8" name="Text 106"/>
          <p:cNvSpPr/>
          <p:nvPr/>
        </p:nvSpPr>
        <p:spPr>
          <a:xfrm>
            <a:off x="4836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109" name="Text 107"/>
          <p:cNvSpPr/>
          <p:nvPr/>
        </p:nvSpPr>
        <p:spPr>
          <a:xfrm>
            <a:off x="5882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0" name="Text 108"/>
          <p:cNvSpPr/>
          <p:nvPr/>
        </p:nvSpPr>
        <p:spPr>
          <a:xfrm>
            <a:off x="6929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45ms</a:t>
            </a:r>
            <a:endParaRPr lang="en-US" sz="563" dirty="0"/>
          </a:p>
        </p:txBody>
      </p:sp>
      <p:sp>
        <p:nvSpPr>
          <p:cNvPr id="111" name="Text 109"/>
          <p:cNvSpPr/>
          <p:nvPr/>
        </p:nvSpPr>
        <p:spPr>
          <a:xfrm>
            <a:off x="7975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12" name="Shape 110"/>
          <p:cNvSpPr/>
          <p:nvPr/>
        </p:nvSpPr>
        <p:spPr>
          <a:xfrm>
            <a:off x="4750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3" name="Shape 111"/>
          <p:cNvSpPr/>
          <p:nvPr/>
        </p:nvSpPr>
        <p:spPr>
          <a:xfrm>
            <a:off x="4750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4" name="Text 112"/>
          <p:cNvSpPr/>
          <p:nvPr/>
        </p:nvSpPr>
        <p:spPr>
          <a:xfrm>
            <a:off x="4836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115" name="Text 113"/>
          <p:cNvSpPr/>
          <p:nvPr/>
        </p:nvSpPr>
        <p:spPr>
          <a:xfrm>
            <a:off x="5882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6" name="Text 114"/>
          <p:cNvSpPr/>
          <p:nvPr/>
        </p:nvSpPr>
        <p:spPr>
          <a:xfrm>
            <a:off x="6929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62ms</a:t>
            </a:r>
            <a:endParaRPr lang="en-US" sz="563" dirty="0"/>
          </a:p>
        </p:txBody>
      </p:sp>
      <p:sp>
        <p:nvSpPr>
          <p:cNvPr id="117" name="Text 115"/>
          <p:cNvSpPr/>
          <p:nvPr/>
        </p:nvSpPr>
        <p:spPr>
          <a:xfrm>
            <a:off x="7975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63" dirty="0"/>
          </a:p>
        </p:txBody>
      </p:sp>
      <p:sp>
        <p:nvSpPr>
          <p:cNvPr id="118" name="Shape 116"/>
          <p:cNvSpPr/>
          <p:nvPr/>
        </p:nvSpPr>
        <p:spPr>
          <a:xfrm>
            <a:off x="4750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9" name="Shape 117"/>
          <p:cNvSpPr/>
          <p:nvPr/>
        </p:nvSpPr>
        <p:spPr>
          <a:xfrm>
            <a:off x="4750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20" name="Text 118"/>
          <p:cNvSpPr/>
          <p:nvPr/>
        </p:nvSpPr>
        <p:spPr>
          <a:xfrm>
            <a:off x="4836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121" name="Text 119"/>
          <p:cNvSpPr/>
          <p:nvPr/>
        </p:nvSpPr>
        <p:spPr>
          <a:xfrm>
            <a:off x="5882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22" name="Text 120"/>
          <p:cNvSpPr/>
          <p:nvPr/>
        </p:nvSpPr>
        <p:spPr>
          <a:xfrm>
            <a:off x="6929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120ms</a:t>
            </a:r>
            <a:endParaRPr lang="en-US" sz="563" dirty="0"/>
          </a:p>
        </p:txBody>
      </p:sp>
      <p:sp>
        <p:nvSpPr>
          <p:cNvPr id="123" name="Text 121"/>
          <p:cNvSpPr/>
          <p:nvPr/>
        </p:nvSpPr>
        <p:spPr>
          <a:xfrm>
            <a:off x="7975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24" name="Shape 122"/>
          <p:cNvSpPr/>
          <p:nvPr/>
        </p:nvSpPr>
        <p:spPr>
          <a:xfrm>
            <a:off x="4557713" y="0"/>
            <a:ext cx="28575" cy="51435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125" name="Shape 123"/>
          <p:cNvSpPr/>
          <p:nvPr/>
        </p:nvSpPr>
        <p:spPr>
          <a:xfrm>
            <a:off x="4400550" y="2400300"/>
            <a:ext cx="342900" cy="342900"/>
          </a:xfrm>
          <a:prstGeom prst="ellipse">
            <a:avLst/>
          </a:prstGeom>
          <a:solidFill>
            <a:srgbClr val="374151"/>
          </a:solidFill>
          <a:ln>
            <a:noFill/>
          </a:ln>
          <a:effectLst>
            <a:outerShdw sx="100000" sy="100000" kx="0" ky="0" algn="bl" rotWithShape="0" blurRad="85725" dist="28575" dir="5400000">
              <a:srgbClr val="000000">
                <a:alpha val="20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4400550" y="2400300"/>
            <a:ext cx="342900" cy="3429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record-slide_16-1781898603921</dc:title>
  <dc:subject>PptxGenJS Presentation</dc:subject>
  <dc:creator>PptxGenJS</dc:creator>
  <cp:lastModifiedBy>PptxGenJS</cp:lastModifiedBy>
  <cp:revision>1</cp:revision>
  <dcterms:created xsi:type="dcterms:W3CDTF">2026-06-19T19:50:06Z</dcterms:created>
  <dcterms:modified xsi:type="dcterms:W3CDTF">2026-06-19T19:50:06Z</dcterms:modified>
</cp:coreProperties>
</file>