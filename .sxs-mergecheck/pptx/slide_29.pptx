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14325"/>
            <a:ext cx="8429625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List with Icon Indicators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400050" y="578644"/>
            <a:ext cx="842962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Flex-based list layout — no &lt;ul&gt; or &lt;ol&gt; elements used</a:t>
            </a:r>
            <a:endParaRPr lang="en-US" sz="731" dirty="0"/>
          </a:p>
        </p:txBody>
      </p:sp>
      <p:sp>
        <p:nvSpPr>
          <p:cNvPr id="4" name="Text 2"/>
          <p:cNvSpPr/>
          <p:nvPr/>
        </p:nvSpPr>
        <p:spPr>
          <a:xfrm>
            <a:off x="400050" y="892969"/>
            <a:ext cx="41433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PLATFORM</a:t>
            </a:r>
            <a:endParaRPr lang="en-US" sz="731" dirty="0"/>
          </a:p>
        </p:txBody>
      </p:sp>
      <p:sp>
        <p:nvSpPr>
          <p:cNvPr id="5" name="Shape 3"/>
          <p:cNvSpPr/>
          <p:nvPr/>
        </p:nvSpPr>
        <p:spPr>
          <a:xfrm>
            <a:off x="400050" y="1121569"/>
            <a:ext cx="4057650" cy="485775"/>
          </a:xfrm>
          <a:prstGeom prst="rect">
            <a:avLst/>
          </a:prstGeom>
          <a:solidFill>
            <a:srgbClr val="FAFBFC">
              <a:alpha val="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00050" y="1600200"/>
            <a:ext cx="4057650" cy="7144"/>
          </a:xfrm>
          <a:prstGeom prst="rect">
            <a:avLst/>
          </a:prstGeom>
          <a:solidFill>
            <a:srgbClr val="EDF2F7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400050" y="1221581"/>
            <a:ext cx="257175" cy="257175"/>
          </a:xfrm>
          <a:prstGeom prst="ellipse">
            <a:avLst/>
          </a:prstGeom>
          <a:solidFill>
            <a:srgbClr val="3182CE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400050" y="122158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57238" y="1221581"/>
            <a:ext cx="1091994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Analytics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757238" y="1371600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metrics with customizable widgets and export capabilities for team reporting.</a:t>
            </a:r>
            <a:endParaRPr lang="en-US" sz="675" dirty="0"/>
          </a:p>
        </p:txBody>
      </p:sp>
      <p:sp>
        <p:nvSpPr>
          <p:cNvPr id="11" name="Shape 9"/>
          <p:cNvSpPr/>
          <p:nvPr/>
        </p:nvSpPr>
        <p:spPr>
          <a:xfrm>
            <a:off x="400050" y="1607344"/>
            <a:ext cx="4057650" cy="485775"/>
          </a:xfrm>
          <a:prstGeom prst="rect">
            <a:avLst/>
          </a:prstGeom>
          <a:solidFill>
            <a:srgbClr val="FAFBFC">
              <a:alpha val="0"/>
            </a:srgbClr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400050" y="2085975"/>
            <a:ext cx="4057650" cy="7144"/>
          </a:xfrm>
          <a:prstGeom prst="rect">
            <a:avLst/>
          </a:prstGeom>
          <a:solidFill>
            <a:srgbClr val="EDF2F7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400050" y="1707356"/>
            <a:ext cx="257175" cy="257175"/>
          </a:xfrm>
          <a:prstGeom prst="ellipse">
            <a:avLst/>
          </a:prstGeom>
          <a:solidFill>
            <a:srgbClr val="38A169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400050" y="1707356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7238" y="1707356"/>
            <a:ext cx="655796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Gateway</a:t>
            </a:r>
            <a:endParaRPr lang="en-US" sz="788" dirty="0"/>
          </a:p>
        </p:txBody>
      </p:sp>
      <p:sp>
        <p:nvSpPr>
          <p:cNvPr id="16" name="Shape 14"/>
          <p:cNvSpPr/>
          <p:nvPr/>
        </p:nvSpPr>
        <p:spPr>
          <a:xfrm>
            <a:off x="1427321" y="1714500"/>
            <a:ext cx="279821" cy="107156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1384459" y="1714500"/>
            <a:ext cx="36554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0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</a:t>
            </a:r>
            <a:endParaRPr lang="en-US" sz="506" dirty="0"/>
          </a:p>
        </p:txBody>
      </p:sp>
      <p:sp>
        <p:nvSpPr>
          <p:cNvPr id="18" name="Text 16"/>
          <p:cNvSpPr/>
          <p:nvPr/>
        </p:nvSpPr>
        <p:spPr>
          <a:xfrm>
            <a:off x="757238" y="1857375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limiting, auth middleware, and request transformation in a unified gateway layer.</a:t>
            </a:r>
            <a:endParaRPr lang="en-US" sz="675" dirty="0"/>
          </a:p>
        </p:txBody>
      </p:sp>
      <p:sp>
        <p:nvSpPr>
          <p:cNvPr id="19" name="Shape 17"/>
          <p:cNvSpPr/>
          <p:nvPr/>
        </p:nvSpPr>
        <p:spPr>
          <a:xfrm>
            <a:off x="400050" y="2093119"/>
            <a:ext cx="4057650" cy="485775"/>
          </a:xfrm>
          <a:prstGeom prst="rect">
            <a:avLst/>
          </a:prstGeom>
          <a:solidFill>
            <a:srgbClr val="FAFBFC">
              <a:alpha val="0"/>
            </a:srgbClr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400050" y="2571750"/>
            <a:ext cx="4057650" cy="7144"/>
          </a:xfrm>
          <a:prstGeom prst="rect">
            <a:avLst/>
          </a:prstGeom>
          <a:solidFill>
            <a:srgbClr val="EDF2F7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400050" y="2193131"/>
            <a:ext cx="257175" cy="257175"/>
          </a:xfrm>
          <a:prstGeom prst="ellipse">
            <a:avLst/>
          </a:prstGeom>
          <a:solidFill>
            <a:srgbClr val="E53E3E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400050" y="219313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7238" y="2193131"/>
            <a:ext cx="844606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Center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757238" y="2343150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detection, vulnerability scanning, and compliance monitoring in one view.</a:t>
            </a:r>
            <a:endParaRPr lang="en-US" sz="675" dirty="0"/>
          </a:p>
        </p:txBody>
      </p:sp>
      <p:sp>
        <p:nvSpPr>
          <p:cNvPr id="25" name="Shape 23"/>
          <p:cNvSpPr/>
          <p:nvPr/>
        </p:nvSpPr>
        <p:spPr>
          <a:xfrm>
            <a:off x="400050" y="2578894"/>
            <a:ext cx="4057650" cy="485775"/>
          </a:xfrm>
          <a:prstGeom prst="rect">
            <a:avLst/>
          </a:prstGeom>
          <a:solidFill>
            <a:srgbClr val="FAFBFC">
              <a:alpha val="0"/>
            </a:srgbClr>
          </a:solidFill>
          <a:ln>
            <a:noFill/>
          </a:ln>
        </p:spPr>
      </p:sp>
      <p:sp>
        <p:nvSpPr>
          <p:cNvPr id="26" name="Shape 24"/>
          <p:cNvSpPr/>
          <p:nvPr/>
        </p:nvSpPr>
        <p:spPr>
          <a:xfrm>
            <a:off x="400050" y="3057525"/>
            <a:ext cx="4057650" cy="7144"/>
          </a:xfrm>
          <a:prstGeom prst="rect">
            <a:avLst/>
          </a:prstGeom>
          <a:solidFill>
            <a:srgbClr val="EDF2F7"/>
          </a:solidFill>
          <a:ln>
            <a:noFill/>
          </a:ln>
        </p:spPr>
      </p:sp>
      <p:sp>
        <p:nvSpPr>
          <p:cNvPr id="27" name="Shape 25"/>
          <p:cNvSpPr/>
          <p:nvPr/>
        </p:nvSpPr>
        <p:spPr>
          <a:xfrm>
            <a:off x="400050" y="2678906"/>
            <a:ext cx="257175" cy="257175"/>
          </a:xfrm>
          <a:prstGeom prst="ellipse">
            <a:avLst/>
          </a:prstGeom>
          <a:solidFill>
            <a:srgbClr val="DD6B20"/>
          </a:solidFill>
          <a:ln>
            <a:noFill/>
          </a:ln>
        </p:spPr>
      </p:sp>
      <p:sp>
        <p:nvSpPr>
          <p:cNvPr id="28" name="Text 26"/>
          <p:cNvSpPr/>
          <p:nvPr/>
        </p:nvSpPr>
        <p:spPr>
          <a:xfrm>
            <a:off x="400050" y="2678906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238" y="2678906"/>
            <a:ext cx="1092851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Automation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1864376" y="2686050"/>
            <a:ext cx="263533" cy="107156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>
            <a:noFill/>
          </a:ln>
        </p:spPr>
      </p:sp>
      <p:sp>
        <p:nvSpPr>
          <p:cNvPr id="31" name="Text 29"/>
          <p:cNvSpPr/>
          <p:nvPr/>
        </p:nvSpPr>
        <p:spPr>
          <a:xfrm>
            <a:off x="1821513" y="2686050"/>
            <a:ext cx="349258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0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</a:t>
            </a:r>
            <a:endParaRPr lang="en-US" sz="506" dirty="0"/>
          </a:p>
        </p:txBody>
      </p:sp>
      <p:sp>
        <p:nvSpPr>
          <p:cNvPr id="32" name="Text 30"/>
          <p:cNvSpPr/>
          <p:nvPr/>
        </p:nvSpPr>
        <p:spPr>
          <a:xfrm>
            <a:off x="757238" y="2828925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workflow builder with 200+ integrations and conditional branching logic.</a:t>
            </a:r>
            <a:endParaRPr lang="en-US" sz="675" dirty="0"/>
          </a:p>
        </p:txBody>
      </p:sp>
      <p:sp>
        <p:nvSpPr>
          <p:cNvPr id="33" name="Shape 31"/>
          <p:cNvSpPr/>
          <p:nvPr/>
        </p:nvSpPr>
        <p:spPr>
          <a:xfrm>
            <a:off x="400050" y="3164681"/>
            <a:ext cx="257175" cy="257175"/>
          </a:xfrm>
          <a:prstGeom prst="ellipse">
            <a:avLst/>
          </a:prstGeom>
          <a:solidFill>
            <a:srgbClr val="805AD5"/>
          </a:solidFill>
          <a:ln>
            <a:noFill/>
          </a:ln>
        </p:spPr>
      </p:sp>
      <p:sp>
        <p:nvSpPr>
          <p:cNvPr id="34" name="Text 32"/>
          <p:cNvSpPr/>
          <p:nvPr/>
        </p:nvSpPr>
        <p:spPr>
          <a:xfrm>
            <a:off x="400050" y="316468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7238" y="3164681"/>
            <a:ext cx="1024271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Collaboration</a:t>
            </a:r>
            <a:endParaRPr lang="en-US" sz="788" dirty="0"/>
          </a:p>
        </p:txBody>
      </p:sp>
      <p:sp>
        <p:nvSpPr>
          <p:cNvPr id="36" name="Text 34"/>
          <p:cNvSpPr/>
          <p:nvPr/>
        </p:nvSpPr>
        <p:spPr>
          <a:xfrm>
            <a:off x="757238" y="3314700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workspaces, commenting, and real-time co-editing for distributed teams.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4686300" y="892969"/>
            <a:ext cx="41433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FEATURES</a:t>
            </a:r>
            <a:endParaRPr lang="en-US" sz="731" dirty="0"/>
          </a:p>
        </p:txBody>
      </p:sp>
      <p:sp>
        <p:nvSpPr>
          <p:cNvPr id="38" name="Shape 36"/>
          <p:cNvSpPr/>
          <p:nvPr/>
        </p:nvSpPr>
        <p:spPr>
          <a:xfrm>
            <a:off x="4686300" y="1121569"/>
            <a:ext cx="4057650" cy="485775"/>
          </a:xfrm>
          <a:prstGeom prst="rect">
            <a:avLst/>
          </a:prstGeom>
          <a:solidFill>
            <a:srgbClr val="FAFBFC">
              <a:alpha val="0"/>
            </a:srgbClr>
          </a:solidFill>
          <a:ln>
            <a:noFill/>
          </a:ln>
        </p:spPr>
      </p:sp>
      <p:sp>
        <p:nvSpPr>
          <p:cNvPr id="39" name="Shape 37"/>
          <p:cNvSpPr/>
          <p:nvPr/>
        </p:nvSpPr>
        <p:spPr>
          <a:xfrm>
            <a:off x="4686300" y="1600200"/>
            <a:ext cx="4057650" cy="7144"/>
          </a:xfrm>
          <a:prstGeom prst="rect">
            <a:avLst/>
          </a:prstGeom>
          <a:solidFill>
            <a:srgbClr val="EDF2F7"/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4686300" y="1221581"/>
            <a:ext cx="257175" cy="257175"/>
          </a:xfrm>
          <a:prstGeom prst="ellipse">
            <a:avLst/>
          </a:prstGeom>
          <a:solidFill>
            <a:srgbClr val="319795"/>
          </a:solidFill>
          <a:ln>
            <a:noFill/>
          </a:ln>
        </p:spPr>
      </p:sp>
      <p:sp>
        <p:nvSpPr>
          <p:cNvPr id="41" name="Text 39"/>
          <p:cNvSpPr/>
          <p:nvPr/>
        </p:nvSpPr>
        <p:spPr>
          <a:xfrm>
            <a:off x="4686300" y="122158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43488" y="1221581"/>
            <a:ext cx="945190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Model Registry</a:t>
            </a:r>
            <a:endParaRPr lang="en-US" sz="788" dirty="0"/>
          </a:p>
        </p:txBody>
      </p:sp>
      <p:sp>
        <p:nvSpPr>
          <p:cNvPr id="43" name="Shape 41"/>
          <p:cNvSpPr/>
          <p:nvPr/>
        </p:nvSpPr>
        <p:spPr>
          <a:xfrm>
            <a:off x="6002965" y="1228725"/>
            <a:ext cx="295466" cy="107156"/>
          </a:xfrm>
          <a:prstGeom prst="roundRect">
            <a:avLst>
              <a:gd name="adj" fmla="val 50000"/>
            </a:avLst>
          </a:prstGeom>
          <a:solidFill>
            <a:srgbClr val="805AD5"/>
          </a:solidFill>
          <a:ln>
            <a:noFill/>
          </a:ln>
        </p:spPr>
      </p:sp>
      <p:sp>
        <p:nvSpPr>
          <p:cNvPr id="44" name="Text 42"/>
          <p:cNvSpPr/>
          <p:nvPr/>
        </p:nvSpPr>
        <p:spPr>
          <a:xfrm>
            <a:off x="5960102" y="1228725"/>
            <a:ext cx="381191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0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506" dirty="0"/>
          </a:p>
        </p:txBody>
      </p:sp>
      <p:sp>
        <p:nvSpPr>
          <p:cNvPr id="45" name="Text 43"/>
          <p:cNvSpPr/>
          <p:nvPr/>
        </p:nvSpPr>
        <p:spPr>
          <a:xfrm>
            <a:off x="5043488" y="1371600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Version, deploy, and monitor machine learning models with automated rollback.</a:t>
            </a:r>
            <a:endParaRPr lang="en-US" sz="675" dirty="0"/>
          </a:p>
        </p:txBody>
      </p:sp>
      <p:sp>
        <p:nvSpPr>
          <p:cNvPr id="46" name="Shape 44"/>
          <p:cNvSpPr/>
          <p:nvPr/>
        </p:nvSpPr>
        <p:spPr>
          <a:xfrm>
            <a:off x="4686300" y="1607344"/>
            <a:ext cx="4057650" cy="485775"/>
          </a:xfrm>
          <a:prstGeom prst="rect">
            <a:avLst/>
          </a:prstGeom>
          <a:solidFill>
            <a:srgbClr val="FAFBFC">
              <a:alpha val="0"/>
            </a:srgbClr>
          </a:solidFill>
          <a:ln>
            <a:noFill/>
          </a:ln>
        </p:spPr>
      </p:sp>
      <p:sp>
        <p:nvSpPr>
          <p:cNvPr id="47" name="Shape 45"/>
          <p:cNvSpPr/>
          <p:nvPr/>
        </p:nvSpPr>
        <p:spPr>
          <a:xfrm>
            <a:off x="4686300" y="2085975"/>
            <a:ext cx="4057650" cy="7144"/>
          </a:xfrm>
          <a:prstGeom prst="rect">
            <a:avLst/>
          </a:prstGeom>
          <a:solidFill>
            <a:srgbClr val="EDF2F7"/>
          </a:solidFill>
          <a:ln>
            <a:noFill/>
          </a:ln>
        </p:spPr>
      </p:sp>
      <p:sp>
        <p:nvSpPr>
          <p:cNvPr id="48" name="Shape 46"/>
          <p:cNvSpPr/>
          <p:nvPr/>
        </p:nvSpPr>
        <p:spPr>
          <a:xfrm>
            <a:off x="4686300" y="1707356"/>
            <a:ext cx="257175" cy="257175"/>
          </a:xfrm>
          <a:prstGeom prst="ellipse">
            <a:avLst/>
          </a:prstGeom>
          <a:solidFill>
            <a:srgbClr val="3182CE"/>
          </a:solidFill>
          <a:ln>
            <a:noFill/>
          </a:ln>
        </p:spPr>
      </p:sp>
      <p:sp>
        <p:nvSpPr>
          <p:cNvPr id="49" name="Text 47"/>
          <p:cNvSpPr/>
          <p:nvPr/>
        </p:nvSpPr>
        <p:spPr>
          <a:xfrm>
            <a:off x="4686300" y="1707356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43488" y="1707356"/>
            <a:ext cx="836462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Streaming</a:t>
            </a:r>
            <a:endParaRPr lang="en-US" sz="788" dirty="0"/>
          </a:p>
        </p:txBody>
      </p:sp>
      <p:sp>
        <p:nvSpPr>
          <p:cNvPr id="51" name="Shape 49"/>
          <p:cNvSpPr/>
          <p:nvPr/>
        </p:nvSpPr>
        <p:spPr>
          <a:xfrm>
            <a:off x="5894237" y="1714500"/>
            <a:ext cx="279821" cy="107156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>
            <a:noFill/>
          </a:ln>
        </p:spPr>
      </p:sp>
      <p:sp>
        <p:nvSpPr>
          <p:cNvPr id="52" name="Text 50"/>
          <p:cNvSpPr/>
          <p:nvPr/>
        </p:nvSpPr>
        <p:spPr>
          <a:xfrm>
            <a:off x="5851374" y="1714500"/>
            <a:ext cx="36554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0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</a:t>
            </a:r>
            <a:endParaRPr lang="en-US" sz="506" dirty="0"/>
          </a:p>
        </p:txBody>
      </p:sp>
      <p:sp>
        <p:nvSpPr>
          <p:cNvPr id="53" name="Text 51"/>
          <p:cNvSpPr/>
          <p:nvPr/>
        </p:nvSpPr>
        <p:spPr>
          <a:xfrm>
            <a:off x="5043488" y="1857375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Kafka-compatible event bus with schema registry and dead-letter queue handling.</a:t>
            </a:r>
            <a:endParaRPr lang="en-US" sz="675" dirty="0"/>
          </a:p>
        </p:txBody>
      </p:sp>
      <p:sp>
        <p:nvSpPr>
          <p:cNvPr id="54" name="Shape 52"/>
          <p:cNvSpPr/>
          <p:nvPr/>
        </p:nvSpPr>
        <p:spPr>
          <a:xfrm>
            <a:off x="4686300" y="2093119"/>
            <a:ext cx="4057650" cy="485775"/>
          </a:xfrm>
          <a:prstGeom prst="rect">
            <a:avLst/>
          </a:prstGeom>
          <a:solidFill>
            <a:srgbClr val="FAFBFC">
              <a:alpha val="0"/>
            </a:srgbClr>
          </a:solidFill>
          <a:ln>
            <a:noFill/>
          </a:ln>
        </p:spPr>
      </p:sp>
      <p:sp>
        <p:nvSpPr>
          <p:cNvPr id="55" name="Shape 53"/>
          <p:cNvSpPr/>
          <p:nvPr/>
        </p:nvSpPr>
        <p:spPr>
          <a:xfrm>
            <a:off x="4686300" y="2571750"/>
            <a:ext cx="4057650" cy="7144"/>
          </a:xfrm>
          <a:prstGeom prst="rect">
            <a:avLst/>
          </a:prstGeom>
          <a:solidFill>
            <a:srgbClr val="EDF2F7"/>
          </a:solidFill>
          <a:ln>
            <a:noFill/>
          </a:ln>
        </p:spPr>
      </p:sp>
      <p:sp>
        <p:nvSpPr>
          <p:cNvPr id="56" name="Shape 54"/>
          <p:cNvSpPr/>
          <p:nvPr/>
        </p:nvSpPr>
        <p:spPr>
          <a:xfrm>
            <a:off x="4686300" y="2193131"/>
            <a:ext cx="257175" cy="257175"/>
          </a:xfrm>
          <a:prstGeom prst="ellipse">
            <a:avLst/>
          </a:prstGeom>
          <a:solidFill>
            <a:srgbClr val="E53E3E"/>
          </a:solidFill>
          <a:ln>
            <a:noFill/>
          </a:ln>
        </p:spPr>
      </p:sp>
      <p:sp>
        <p:nvSpPr>
          <p:cNvPr id="57" name="Text 55"/>
          <p:cNvSpPr/>
          <p:nvPr/>
        </p:nvSpPr>
        <p:spPr>
          <a:xfrm>
            <a:off x="4686300" y="219313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43488" y="2193131"/>
            <a:ext cx="806458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Optimizer</a:t>
            </a:r>
            <a:endParaRPr lang="en-US" sz="788" dirty="0"/>
          </a:p>
        </p:txBody>
      </p:sp>
      <p:sp>
        <p:nvSpPr>
          <p:cNvPr id="59" name="Text 57"/>
          <p:cNvSpPr/>
          <p:nvPr/>
        </p:nvSpPr>
        <p:spPr>
          <a:xfrm>
            <a:off x="5043488" y="2343150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cloud spend analysis with automated rightsizing recommendations.</a:t>
            </a:r>
            <a:endParaRPr lang="en-US" sz="675" dirty="0"/>
          </a:p>
        </p:txBody>
      </p:sp>
      <p:sp>
        <p:nvSpPr>
          <p:cNvPr id="60" name="Shape 58"/>
          <p:cNvSpPr/>
          <p:nvPr/>
        </p:nvSpPr>
        <p:spPr>
          <a:xfrm>
            <a:off x="4686300" y="2578894"/>
            <a:ext cx="4057650" cy="485775"/>
          </a:xfrm>
          <a:prstGeom prst="rect">
            <a:avLst/>
          </a:prstGeom>
          <a:solidFill>
            <a:srgbClr val="FAFBFC">
              <a:alpha val="0"/>
            </a:srgbClr>
          </a:solidFill>
          <a:ln>
            <a:noFill/>
          </a:ln>
        </p:spPr>
      </p:sp>
      <p:sp>
        <p:nvSpPr>
          <p:cNvPr id="61" name="Shape 59"/>
          <p:cNvSpPr/>
          <p:nvPr/>
        </p:nvSpPr>
        <p:spPr>
          <a:xfrm>
            <a:off x="4686300" y="3057525"/>
            <a:ext cx="4057650" cy="7144"/>
          </a:xfrm>
          <a:prstGeom prst="rect">
            <a:avLst/>
          </a:prstGeom>
          <a:solidFill>
            <a:srgbClr val="EDF2F7"/>
          </a:solidFill>
          <a:ln>
            <a:noFill/>
          </a:ln>
        </p:spPr>
      </p:sp>
      <p:sp>
        <p:nvSpPr>
          <p:cNvPr id="62" name="Shape 60"/>
          <p:cNvSpPr/>
          <p:nvPr/>
        </p:nvSpPr>
        <p:spPr>
          <a:xfrm>
            <a:off x="4686300" y="2678906"/>
            <a:ext cx="257175" cy="257175"/>
          </a:xfrm>
          <a:prstGeom prst="ellipse">
            <a:avLst/>
          </a:prstGeom>
          <a:solidFill>
            <a:srgbClr val="38A169"/>
          </a:solidFill>
          <a:ln>
            <a:noFill/>
          </a:ln>
        </p:spPr>
      </p:sp>
      <p:sp>
        <p:nvSpPr>
          <p:cNvPr id="63" name="Text 61"/>
          <p:cNvSpPr/>
          <p:nvPr/>
        </p:nvSpPr>
        <p:spPr>
          <a:xfrm>
            <a:off x="4686300" y="2678906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043488" y="2678906"/>
            <a:ext cx="850678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GraphQL Studio</a:t>
            </a:r>
            <a:endParaRPr lang="en-US" sz="788" dirty="0"/>
          </a:p>
        </p:txBody>
      </p:sp>
      <p:sp>
        <p:nvSpPr>
          <p:cNvPr id="65" name="Text 63"/>
          <p:cNvSpPr/>
          <p:nvPr/>
        </p:nvSpPr>
        <p:spPr>
          <a:xfrm>
            <a:off x="5043488" y="2828925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explorer, query builder, and performance profiling for GraphQL endpoints.</a:t>
            </a:r>
            <a:endParaRPr lang="en-US" sz="675" dirty="0"/>
          </a:p>
        </p:txBody>
      </p:sp>
      <p:sp>
        <p:nvSpPr>
          <p:cNvPr id="66" name="Shape 64"/>
          <p:cNvSpPr/>
          <p:nvPr/>
        </p:nvSpPr>
        <p:spPr>
          <a:xfrm>
            <a:off x="4686300" y="3164681"/>
            <a:ext cx="257175" cy="257175"/>
          </a:xfrm>
          <a:prstGeom prst="ellipse">
            <a:avLst/>
          </a:prstGeom>
          <a:solidFill>
            <a:srgbClr val="DD6B20"/>
          </a:solidFill>
          <a:ln>
            <a:noFill/>
          </a:ln>
        </p:spPr>
      </p:sp>
      <p:sp>
        <p:nvSpPr>
          <p:cNvPr id="67" name="Text 65"/>
          <p:cNvSpPr/>
          <p:nvPr/>
        </p:nvSpPr>
        <p:spPr>
          <a:xfrm>
            <a:off x="4686300" y="316468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043488" y="3164681"/>
            <a:ext cx="961192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 Suite</a:t>
            </a:r>
            <a:endParaRPr lang="en-US" sz="788" dirty="0"/>
          </a:p>
        </p:txBody>
      </p:sp>
      <p:sp>
        <p:nvSpPr>
          <p:cNvPr id="69" name="Shape 67"/>
          <p:cNvSpPr/>
          <p:nvPr/>
        </p:nvSpPr>
        <p:spPr>
          <a:xfrm>
            <a:off x="6018967" y="3171825"/>
            <a:ext cx="263533" cy="107156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>
            <a:noFill/>
          </a:ln>
        </p:spPr>
      </p:sp>
      <p:sp>
        <p:nvSpPr>
          <p:cNvPr id="70" name="Text 68"/>
          <p:cNvSpPr/>
          <p:nvPr/>
        </p:nvSpPr>
        <p:spPr>
          <a:xfrm>
            <a:off x="5976104" y="3171825"/>
            <a:ext cx="349258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0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</a:t>
            </a:r>
            <a:endParaRPr lang="en-US" sz="506" dirty="0"/>
          </a:p>
        </p:txBody>
      </p:sp>
      <p:sp>
        <p:nvSpPr>
          <p:cNvPr id="71" name="Text 69"/>
          <p:cNvSpPr/>
          <p:nvPr/>
        </p:nvSpPr>
        <p:spPr>
          <a:xfrm>
            <a:off x="5043488" y="3314700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logs, metrics, and traces with correlation engine and anomaly detection.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record-slide_29-1781898612780</dc:title>
  <dc:subject>PptxGenJS Presentation</dc:subject>
  <dc:creator>PptxGenJS</dc:creator>
  <cp:lastModifiedBy>PptxGenJS</cp:lastModifiedBy>
  <cp:revision>1</cp:revision>
  <dcterms:created xsi:type="dcterms:W3CDTF">2026-06-19T19:50:15Z</dcterms:created>
  <dcterms:modified xsi:type="dcterms:W3CDTF">2026-06-19T19:50:15Z</dcterms:modified>
</cp:coreProperties>
</file>