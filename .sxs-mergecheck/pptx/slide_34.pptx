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57188"/>
            <a:ext cx="83724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MENTALWARD · P0 READINESS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428625" y="514350"/>
            <a:ext cx="8372475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blockers</a:t>
            </a:r>
            <a:endParaRPr lang="en-US" sz="2025" dirty="0"/>
          </a:p>
        </p:txBody>
      </p:sp>
      <p:sp>
        <p:nvSpPr>
          <p:cNvPr id="4" name="Shape 2"/>
          <p:cNvSpPr/>
          <p:nvPr/>
        </p:nvSpPr>
        <p:spPr>
          <a:xfrm>
            <a:off x="428625" y="1000125"/>
            <a:ext cx="4429125" cy="514350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0013" dist="28575" dir="5400000">
              <a:srgbClr val="0F172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114425"/>
            <a:ext cx="285750" cy="285750"/>
          </a:xfrm>
          <a:prstGeom prst="roundRect">
            <a:avLst>
              <a:gd name="adj" fmla="val 27500"/>
            </a:avLst>
          </a:prstGeom>
          <a:solidFill>
            <a:srgbClr val="FEE2E2"/>
          </a:solidFill>
          <a:ln>
            <a:noFill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63" y="1157288"/>
            <a:ext cx="200025" cy="200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1550" y="1123355"/>
            <a:ext cx="359052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Crisis-detection gaps</a:t>
            </a:r>
            <a:endParaRPr lang="en-US" sz="956" dirty="0"/>
          </a:p>
        </p:txBody>
      </p:sp>
      <p:sp>
        <p:nvSpPr>
          <p:cNvPr id="8" name="Text 5"/>
          <p:cNvSpPr/>
          <p:nvPr/>
        </p:nvSpPr>
        <p:spPr>
          <a:xfrm>
            <a:off x="971550" y="1266230"/>
            <a:ext cx="3590520" cy="1250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0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Misses some acute-risk phrasings — a fraction of high-risk prompts won't redirect.</a:t>
            </a:r>
            <a:endParaRPr lang="en-US" sz="703" dirty="0"/>
          </a:p>
        </p:txBody>
      </p:sp>
      <p:sp>
        <p:nvSpPr>
          <p:cNvPr id="9" name="Shape 6"/>
          <p:cNvSpPr/>
          <p:nvPr/>
        </p:nvSpPr>
        <p:spPr>
          <a:xfrm>
            <a:off x="428625" y="1614488"/>
            <a:ext cx="4429125" cy="514350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0013" dist="28575" dir="5400000">
              <a:srgbClr val="0F172A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" y="1728788"/>
            <a:ext cx="285750" cy="285750"/>
          </a:xfrm>
          <a:prstGeom prst="roundRect">
            <a:avLst>
              <a:gd name="adj" fmla="val 27500"/>
            </a:avLst>
          </a:prstGeom>
          <a:solidFill>
            <a:srgbClr val="FEF3C7"/>
          </a:solidFill>
          <a:ln>
            <a:noFill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71650"/>
            <a:ext cx="285750" cy="200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1550" y="1737717"/>
            <a:ext cx="320797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&amp; legal sign-off</a:t>
            </a:r>
            <a:endParaRPr lang="en-US" sz="956" dirty="0"/>
          </a:p>
        </p:txBody>
      </p:sp>
      <p:sp>
        <p:nvSpPr>
          <p:cNvPr id="13" name="Text 9"/>
          <p:cNvSpPr/>
          <p:nvPr/>
        </p:nvSpPr>
        <p:spPr>
          <a:xfrm>
            <a:off x="971550" y="1880592"/>
            <a:ext cx="3207972" cy="1250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0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 targets and disclaimers aren't reviewed by a clinician or legal yet.</a:t>
            </a:r>
            <a:endParaRPr lang="en-US" sz="703" dirty="0"/>
          </a:p>
        </p:txBody>
      </p:sp>
      <p:sp>
        <p:nvSpPr>
          <p:cNvPr id="14" name="Shape 10"/>
          <p:cNvSpPr/>
          <p:nvPr/>
        </p:nvSpPr>
        <p:spPr>
          <a:xfrm>
            <a:off x="428625" y="2228850"/>
            <a:ext cx="4429125" cy="514350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0013" dist="28575" dir="5400000">
              <a:srgbClr val="0F172A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1500" y="2343150"/>
            <a:ext cx="285750" cy="285750"/>
          </a:xfrm>
          <a:prstGeom prst="roundRect">
            <a:avLst>
              <a:gd name="adj" fmla="val 27500"/>
            </a:avLst>
          </a:prstGeom>
          <a:solidFill>
            <a:srgbClr val="CCFBF1"/>
          </a:solidFill>
          <a:ln>
            <a:noFill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2386013"/>
            <a:ext cx="200025" cy="2000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1550" y="2352080"/>
            <a:ext cx="3092387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 pipeline too slow</a:t>
            </a:r>
            <a:endParaRPr lang="en-US" sz="956" dirty="0"/>
          </a:p>
        </p:txBody>
      </p:sp>
      <p:sp>
        <p:nvSpPr>
          <p:cNvPr id="18" name="Text 13"/>
          <p:cNvSpPr/>
          <p:nvPr/>
        </p:nvSpPr>
        <p:spPr>
          <a:xfrm>
            <a:off x="971550" y="2494955"/>
            <a:ext cx="3092387" cy="1250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0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fixups need sub-second source lookups; the provider is rate-limited.</a:t>
            </a:r>
            <a:endParaRPr lang="en-US" sz="703" dirty="0"/>
          </a:p>
        </p:txBody>
      </p:sp>
      <p:sp>
        <p:nvSpPr>
          <p:cNvPr id="19" name="Shape 14"/>
          <p:cNvSpPr/>
          <p:nvPr/>
        </p:nvSpPr>
        <p:spPr>
          <a:xfrm>
            <a:off x="428625" y="2843213"/>
            <a:ext cx="4429125" cy="514350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0013" dist="28575" dir="5400000">
              <a:srgbClr val="0F172A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71500" y="2957513"/>
            <a:ext cx="285750" cy="285750"/>
          </a:xfrm>
          <a:prstGeom prst="roundRect">
            <a:avLst>
              <a:gd name="adj" fmla="val 27500"/>
            </a:avLst>
          </a:prstGeom>
          <a:solidFill>
            <a:srgbClr val="E0F2FE"/>
          </a:solidFill>
          <a:ln>
            <a:noFill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000375"/>
            <a:ext cx="200025" cy="2000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1550" y="2966442"/>
            <a:ext cx="3015234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geographic coverage</a:t>
            </a:r>
            <a:endParaRPr lang="en-US" sz="956" dirty="0"/>
          </a:p>
        </p:txBody>
      </p:sp>
      <p:sp>
        <p:nvSpPr>
          <p:cNvPr id="23" name="Text 17"/>
          <p:cNvSpPr/>
          <p:nvPr/>
        </p:nvSpPr>
        <p:spPr>
          <a:xfrm>
            <a:off x="971550" y="3109317"/>
            <a:ext cx="3015234" cy="1250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0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US hotlines are mapped; non-US users get no localized redirect.</a:t>
            </a:r>
            <a:endParaRPr lang="en-US" sz="703" dirty="0"/>
          </a:p>
        </p:txBody>
      </p:sp>
      <p:sp>
        <p:nvSpPr>
          <p:cNvPr id="24" name="Shape 18"/>
          <p:cNvSpPr/>
          <p:nvPr/>
        </p:nvSpPr>
        <p:spPr>
          <a:xfrm>
            <a:off x="5886450" y="1071563"/>
            <a:ext cx="2857500" cy="1735503"/>
          </a:xfrm>
          <a:prstGeom prst="roundRect">
            <a:avLst>
              <a:gd name="adj" fmla="val 6586"/>
            </a:avLst>
          </a:prstGeom>
          <a:solidFill>
            <a:srgbClr val="1E1B4B"/>
          </a:solidFill>
          <a:ln>
            <a:noFill/>
          </a:ln>
          <a:effectLst>
            <a:outerShdw sx="100000" sy="100000" kx="0" ky="0" algn="bl" rotWithShape="0" blurRad="381000" dist="157163" dir="5400000">
              <a:srgbClr val="1E1B4B">
                <a:alpha val="5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 rot="16200000">
            <a:off x="5740003" y="1382316"/>
            <a:ext cx="171450" cy="121444"/>
          </a:xfrm>
          <a:prstGeom prst="triangle">
            <a:avLst/>
          </a:prstGeom>
          <a:solidFill>
            <a:srgbClr val="1E1B4B"/>
          </a:solidFill>
          <a:ln>
            <a:noFill/>
          </a:ln>
        </p:spPr>
      </p:sp>
      <p:sp>
        <p:nvSpPr>
          <p:cNvPr id="26" name="Text 20"/>
          <p:cNvSpPr/>
          <p:nvPr/>
        </p:nvSpPr>
        <p:spPr>
          <a:xfrm>
            <a:off x="6100763" y="1228725"/>
            <a:ext cx="2557463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ACTIONS</a:t>
            </a:r>
            <a:endParaRPr lang="en-US" sz="788" dirty="0"/>
          </a:p>
        </p:txBody>
      </p:sp>
      <p:sp>
        <p:nvSpPr>
          <p:cNvPr id="27" name="Shape 21"/>
          <p:cNvSpPr/>
          <p:nvPr/>
        </p:nvSpPr>
        <p:spPr>
          <a:xfrm>
            <a:off x="6100763" y="1464469"/>
            <a:ext cx="2471738" cy="395621"/>
          </a:xfrm>
          <a:prstGeom prst="rect">
            <a:avLst/>
          </a:prstGeom>
          <a:solidFill>
            <a:srgbClr val="1E1B4B">
              <a:alpha val="0"/>
            </a:srgbClr>
          </a:solidFill>
          <a:ln>
            <a:noFill/>
          </a:ln>
        </p:spPr>
      </p:sp>
      <p:sp>
        <p:nvSpPr>
          <p:cNvPr id="28" name="Shape 22"/>
          <p:cNvSpPr/>
          <p:nvPr/>
        </p:nvSpPr>
        <p:spPr>
          <a:xfrm>
            <a:off x="6100763" y="1852946"/>
            <a:ext cx="2471738" cy="7144"/>
          </a:xfrm>
          <a:prstGeom prst="rect">
            <a:avLst/>
          </a:prstGeom>
          <a:solidFill>
            <a:srgbClr val="343367"/>
          </a:solidFill>
          <a:ln>
            <a:noFill/>
          </a:ln>
        </p:spPr>
      </p:sp>
      <p:sp>
        <p:nvSpPr>
          <p:cNvPr id="29" name="Text 23"/>
          <p:cNvSpPr/>
          <p:nvPr/>
        </p:nvSpPr>
        <p:spPr>
          <a:xfrm>
            <a:off x="6300788" y="1464469"/>
            <a:ext cx="2271713" cy="39562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31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red-team evals</a:t>
            </a:r>
            <a:pPr algn="l" indent="0" marL="0">
              <a:lnSpc>
                <a:spcPct val="120000"/>
              </a:lnSpc>
              <a:buNone/>
            </a:pPr>
            <a:r>
              <a:rPr lang="en-US" sz="731" u="none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add a keyword safety net.</a:t>
            </a:r>
            <a:endParaRPr lang="en-US" sz="731" dirty="0"/>
          </a:p>
        </p:txBody>
      </p:sp>
      <p:sp>
        <p:nvSpPr>
          <p:cNvPr id="30" name="Shape 24"/>
          <p:cNvSpPr/>
          <p:nvPr/>
        </p:nvSpPr>
        <p:spPr>
          <a:xfrm>
            <a:off x="6123166" y="1593669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 flipV="1">
            <a:off x="6123166" y="1558309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100763" y="1860090"/>
            <a:ext cx="2471738" cy="265676"/>
          </a:xfrm>
          <a:prstGeom prst="rect">
            <a:avLst/>
          </a:prstGeom>
          <a:solidFill>
            <a:srgbClr val="1E1B4B">
              <a:alpha val="0"/>
            </a:srgbClr>
          </a:solidFill>
          <a:ln>
            <a:noFill/>
          </a:ln>
        </p:spPr>
      </p:sp>
      <p:sp>
        <p:nvSpPr>
          <p:cNvPr id="33" name="Shape 27"/>
          <p:cNvSpPr/>
          <p:nvPr/>
        </p:nvSpPr>
        <p:spPr>
          <a:xfrm>
            <a:off x="6100763" y="2118622"/>
            <a:ext cx="2471738" cy="7144"/>
          </a:xfrm>
          <a:prstGeom prst="rect">
            <a:avLst/>
          </a:prstGeom>
          <a:solidFill>
            <a:srgbClr val="343367"/>
          </a:solidFill>
          <a:ln>
            <a:noFill/>
          </a:ln>
        </p:spPr>
      </p:sp>
      <p:sp>
        <p:nvSpPr>
          <p:cNvPr id="34" name="Text 28"/>
          <p:cNvSpPr/>
          <p:nvPr/>
        </p:nvSpPr>
        <p:spPr>
          <a:xfrm>
            <a:off x="6300788" y="1860090"/>
            <a:ext cx="2271713" cy="26567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31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clinician review</a:t>
            </a:r>
            <a:pPr algn="l" indent="0" marL="0">
              <a:lnSpc>
                <a:spcPct val="120000"/>
              </a:lnSpc>
              <a:buNone/>
            </a:pPr>
            <a:r>
              <a:rPr lang="en-US" sz="731" u="none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legal approves disclaimers.</a:t>
            </a:r>
            <a:endParaRPr lang="en-US" sz="731" dirty="0"/>
          </a:p>
        </p:txBody>
      </p:sp>
      <p:sp>
        <p:nvSpPr>
          <p:cNvPr id="35" name="Shape 29"/>
          <p:cNvSpPr/>
          <p:nvPr/>
        </p:nvSpPr>
        <p:spPr>
          <a:xfrm>
            <a:off x="6123166" y="1989290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 flipV="1">
            <a:off x="6123166" y="1953930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100763" y="2125694"/>
            <a:ext cx="2471738" cy="265676"/>
          </a:xfrm>
          <a:prstGeom prst="rect">
            <a:avLst/>
          </a:prstGeom>
          <a:solidFill>
            <a:srgbClr val="1E1B4B">
              <a:alpha val="0"/>
            </a:srgbClr>
          </a:solidFill>
          <a:ln>
            <a:noFill/>
          </a:ln>
        </p:spPr>
      </p:sp>
      <p:sp>
        <p:nvSpPr>
          <p:cNvPr id="38" name="Shape 32"/>
          <p:cNvSpPr/>
          <p:nvPr/>
        </p:nvSpPr>
        <p:spPr>
          <a:xfrm>
            <a:off x="6100763" y="2384227"/>
            <a:ext cx="2471738" cy="7144"/>
          </a:xfrm>
          <a:prstGeom prst="rect">
            <a:avLst/>
          </a:prstGeom>
          <a:solidFill>
            <a:srgbClr val="343367"/>
          </a:solidFill>
          <a:ln>
            <a:noFill/>
          </a:ln>
        </p:spPr>
      </p:sp>
      <p:sp>
        <p:nvSpPr>
          <p:cNvPr id="39" name="Text 33"/>
          <p:cNvSpPr/>
          <p:nvPr/>
        </p:nvSpPr>
        <p:spPr>
          <a:xfrm>
            <a:off x="6300788" y="2125694"/>
            <a:ext cx="2271713" cy="26567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31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trusted sources</a:t>
            </a:r>
            <a:pPr algn="l" indent="0" marL="0">
              <a:lnSpc>
                <a:spcPct val="120000"/>
              </a:lnSpc>
              <a:buNone/>
            </a:pPr>
            <a:r>
              <a:rPr lang="en-US" sz="731" u="none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add a fallback provider.</a:t>
            </a:r>
            <a:endParaRPr lang="en-US" sz="731" dirty="0"/>
          </a:p>
        </p:txBody>
      </p:sp>
      <p:sp>
        <p:nvSpPr>
          <p:cNvPr id="40" name="Shape 34"/>
          <p:cNvSpPr/>
          <p:nvPr/>
        </p:nvSpPr>
        <p:spPr>
          <a:xfrm>
            <a:off x="6123166" y="2254895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 flipV="1">
            <a:off x="6123166" y="2219535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300788" y="2391370"/>
            <a:ext cx="2271713" cy="25853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31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EU/UK/APAC</a:t>
            </a:r>
            <a:pPr algn="l" indent="0" marL="0">
              <a:lnSpc>
                <a:spcPct val="120000"/>
              </a:lnSpc>
              <a:buNone/>
            </a:pPr>
            <a:r>
              <a:rPr lang="en-US" sz="731" u="none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resources; add geo-routing.</a:t>
            </a:r>
            <a:endParaRPr lang="en-US" sz="731" dirty="0"/>
          </a:p>
        </p:txBody>
      </p:sp>
      <p:sp>
        <p:nvSpPr>
          <p:cNvPr id="43" name="Shape 37"/>
          <p:cNvSpPr/>
          <p:nvPr/>
        </p:nvSpPr>
        <p:spPr>
          <a:xfrm>
            <a:off x="6123166" y="2520571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 flipV="1">
            <a:off x="6123166" y="2485211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record-slide_34-1781898616040</dc:title>
  <dc:subject>PptxGenJS Presentation</dc:subject>
  <dc:creator>PptxGenJS</dc:creator>
  <cp:lastModifiedBy>PptxGenJS</cp:lastModifiedBy>
  <cp:revision>1</cp:revision>
  <dcterms:created xsi:type="dcterms:W3CDTF">2026-06-19T19:50:18Z</dcterms:created>
  <dcterms:modified xsi:type="dcterms:W3CDTF">2026-06-19T19:50:18Z</dcterms:modified>
</cp:coreProperties>
</file>