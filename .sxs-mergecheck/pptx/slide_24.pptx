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21631"/>
            <a:ext cx="6710196" cy="1900238"/>
          </a:xfrm>
          <a:prstGeom prst="roundRect">
            <a:avLst>
              <a:gd name="adj" fmla="val 4511"/>
            </a:avLst>
          </a:prstGeom>
          <a:solidFill>
            <a:srgbClr val="161B22"/>
          </a:solidFill>
          <a:ln w="7144" algn="in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1444" y="1743075"/>
            <a:ext cx="6467308" cy="1657350"/>
          </a:xfrm>
          <a:prstGeom prst="roundRect">
            <a:avLst>
              <a:gd name="adj" fmla="val 4310"/>
            </a:avLst>
          </a:prstGeom>
          <a:solidFill>
            <a:srgbClr val="1C2333"/>
          </a:solidFill>
          <a:ln w="7144" algn="in">
            <a:solidFill>
              <a:srgbClr val="3B44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2888" y="1864519"/>
            <a:ext cx="6224421" cy="1414463"/>
          </a:xfrm>
          <a:prstGeom prst="roundRect">
            <a:avLst>
              <a:gd name="adj" fmla="val 4040"/>
            </a:avLst>
          </a:prstGeom>
          <a:solidFill>
            <a:srgbClr val="243044"/>
          </a:solidFill>
          <a:ln w="7144" algn="in">
            <a:solidFill>
              <a:srgbClr val="4A60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4331" y="1985963"/>
            <a:ext cx="5981533" cy="1171575"/>
          </a:xfrm>
          <a:prstGeom prst="roundRect">
            <a:avLst>
              <a:gd name="adj" fmla="val 3659"/>
            </a:avLst>
          </a:prstGeom>
          <a:solidFill>
            <a:srgbClr val="2A4060"/>
          </a:solidFill>
          <a:ln w="7144" algn="in">
            <a:solidFill>
              <a:srgbClr val="5A80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5775" y="2107406"/>
            <a:ext cx="5738646" cy="928688"/>
          </a:xfrm>
          <a:prstGeom prst="roundRect">
            <a:avLst>
              <a:gd name="adj" fmla="val 3077"/>
            </a:avLst>
          </a:prstGeom>
          <a:solidFill>
            <a:srgbClr val="305080"/>
          </a:solidFill>
          <a:ln w="7144" algn="in">
            <a:solidFill>
              <a:srgbClr val="6A9A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7219" y="2228850"/>
            <a:ext cx="5495758" cy="6858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844" u="none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text lives inside </a:t>
            </a:r>
            <a:pPr algn="l" indent="0" marL="0">
              <a:lnSpc>
                <a:spcPct val="133333"/>
              </a:lnSpc>
              <a:buNone/>
            </a:pPr>
            <a:r>
              <a:rPr lang="en-US" sz="844" b="1" u="none" dirty="0">
                <a:solidFill>
                  <a:srgbClr val="58A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levels</a:t>
            </a:r>
            <a:pPr algn="l" indent="0" marL="0">
              <a:lnSpc>
                <a:spcPct val="133333"/>
              </a:lnSpc>
              <a:buNone/>
            </a:pPr>
            <a:r>
              <a:rPr lang="en-US" sz="844" u="none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nested containers.</a:t>
            </a:r>
            <a:pPr algn="l" indent="0" marL="0">
              <a:lnSpc>
                <a:spcPct val="133333"/>
              </a:lnSpc>
              <a:buNone/>
            </a:pPr>
            <a:r>
              <a:rPr lang="en-US" sz="844" u="none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l" indent="0" marL="0">
              <a:lnSpc>
                <a:spcPct val="133333"/>
              </a:lnSpc>
              <a:buNone/>
            </a:pPr>
            <a:r>
              <a:rPr lang="en-US" sz="844" u="none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l" indent="0" marL="0">
              <a:lnSpc>
                <a:spcPct val="133333"/>
              </a:lnSpc>
              <a:buNone/>
            </a:pPr>
            <a:r>
              <a:rPr lang="en-US" sz="844" u="none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Each level adds </a:t>
            </a:r>
            <a:pPr algn="l" indent="0" marL="0">
              <a:lnSpc>
                <a:spcPct val="133333"/>
              </a:lnSpc>
              <a:buNone/>
            </a:pPr>
            <a:r>
              <a:rPr lang="en-US" sz="844" b="1" u="none" dirty="0">
                <a:solidFill>
                  <a:srgbClr val="58A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16px padding</a:t>
            </a:r>
            <a:pPr algn="l" indent="0" marL="0">
              <a:lnSpc>
                <a:spcPct val="133333"/>
              </a:lnSpc>
              <a:buNone/>
            </a:pPr>
            <a:r>
              <a:rPr lang="en-US" sz="844" u="none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a </a:t>
            </a:r>
            <a:pPr algn="l" indent="0" marL="0">
              <a:lnSpc>
                <a:spcPct val="133333"/>
              </a:lnSpc>
              <a:buNone/>
            </a:pPr>
            <a:r>
              <a:rPr lang="en-US" sz="844" b="1" u="none" dirty="0">
                <a:solidFill>
                  <a:srgbClr val="58A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1px border</a:t>
            </a:r>
            <a:pPr algn="l" indent="0" marL="0">
              <a:lnSpc>
                <a:spcPct val="133333"/>
              </a:lnSpc>
              <a:buNone/>
            </a:pPr>
            <a:r>
              <a:rPr lang="en-US" sz="844" u="none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accumulating to 80px of padding and 10px of borders from the outermost edge to this content.</a:t>
            </a:r>
            <a:endParaRPr lang="en-US" sz="844" dirty="0"/>
          </a:p>
        </p:txBody>
      </p:sp>
      <p:sp>
        <p:nvSpPr>
          <p:cNvPr id="8" name="Text 6"/>
          <p:cNvSpPr/>
          <p:nvPr/>
        </p:nvSpPr>
        <p:spPr>
          <a:xfrm>
            <a:off x="7167396" y="1671638"/>
            <a:ext cx="2062329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Padding Nesting</a:t>
            </a:r>
            <a:endParaRPr lang="en-US" sz="1238" dirty="0"/>
          </a:p>
        </p:txBody>
      </p:sp>
      <p:sp>
        <p:nvSpPr>
          <p:cNvPr id="9" name="Shape 7"/>
          <p:cNvSpPr/>
          <p:nvPr/>
        </p:nvSpPr>
        <p:spPr>
          <a:xfrm>
            <a:off x="7167396" y="2028825"/>
            <a:ext cx="171450" cy="171450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7144" algn="in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24571" y="2057400"/>
            <a:ext cx="1362099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b="1" u="none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Level 0</a:t>
            </a:r>
            <a:pPr algn="l" indent="0" marL="0">
              <a:lnSpc>
                <a:spcPct val="100000"/>
              </a:lnSpc>
              <a:buNone/>
            </a:pPr>
            <a:r>
              <a:rPr lang="en-US" sz="731" u="none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#161b22, pad 16px</a:t>
            </a:r>
            <a:endParaRPr lang="en-US" sz="731" dirty="0"/>
          </a:p>
        </p:txBody>
      </p:sp>
      <p:sp>
        <p:nvSpPr>
          <p:cNvPr id="11" name="Shape 9"/>
          <p:cNvSpPr/>
          <p:nvPr/>
        </p:nvSpPr>
        <p:spPr>
          <a:xfrm>
            <a:off x="7167396" y="2257425"/>
            <a:ext cx="171450" cy="171450"/>
          </a:xfrm>
          <a:prstGeom prst="roundRect">
            <a:avLst>
              <a:gd name="adj" fmla="val 16667"/>
            </a:avLst>
          </a:prstGeom>
          <a:solidFill>
            <a:srgbClr val="1C2333"/>
          </a:solidFill>
          <a:ln w="7144" algn="in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24571" y="2286000"/>
            <a:ext cx="1354312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b="1" u="none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Level 1</a:t>
            </a:r>
            <a:pPr algn="l" indent="0" marL="0">
              <a:lnSpc>
                <a:spcPct val="100000"/>
              </a:lnSpc>
              <a:buNone/>
            </a:pPr>
            <a:r>
              <a:rPr lang="en-US" sz="731" u="none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#1c2333, pad 16px</a:t>
            </a:r>
            <a:endParaRPr lang="en-US" sz="731" dirty="0"/>
          </a:p>
        </p:txBody>
      </p:sp>
      <p:sp>
        <p:nvSpPr>
          <p:cNvPr id="13" name="Shape 11"/>
          <p:cNvSpPr/>
          <p:nvPr/>
        </p:nvSpPr>
        <p:spPr>
          <a:xfrm>
            <a:off x="7167396" y="2486025"/>
            <a:ext cx="171450" cy="171450"/>
          </a:xfrm>
          <a:prstGeom prst="roundRect">
            <a:avLst>
              <a:gd name="adj" fmla="val 16667"/>
            </a:avLst>
          </a:prstGeom>
          <a:solidFill>
            <a:srgbClr val="243044"/>
          </a:solidFill>
          <a:ln w="7144" algn="in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24571" y="2514600"/>
            <a:ext cx="1403318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b="1" u="none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Level 2</a:t>
            </a:r>
            <a:pPr algn="l" indent="0" marL="0">
              <a:lnSpc>
                <a:spcPct val="100000"/>
              </a:lnSpc>
              <a:buNone/>
            </a:pPr>
            <a:r>
              <a:rPr lang="en-US" sz="731" u="none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#243044, pad 16px</a:t>
            </a:r>
            <a:endParaRPr lang="en-US" sz="731" dirty="0"/>
          </a:p>
        </p:txBody>
      </p:sp>
      <p:sp>
        <p:nvSpPr>
          <p:cNvPr id="15" name="Shape 13"/>
          <p:cNvSpPr/>
          <p:nvPr/>
        </p:nvSpPr>
        <p:spPr>
          <a:xfrm>
            <a:off x="7167396" y="2714625"/>
            <a:ext cx="171450" cy="171450"/>
          </a:xfrm>
          <a:prstGeom prst="roundRect">
            <a:avLst>
              <a:gd name="adj" fmla="val 16667"/>
            </a:avLst>
          </a:prstGeom>
          <a:solidFill>
            <a:srgbClr val="2A4060"/>
          </a:solidFill>
          <a:ln w="7144" algn="in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24571" y="2743200"/>
            <a:ext cx="1397746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b="1" u="none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Level 3</a:t>
            </a:r>
            <a:pPr algn="l" indent="0" marL="0">
              <a:lnSpc>
                <a:spcPct val="100000"/>
              </a:lnSpc>
              <a:buNone/>
            </a:pPr>
            <a:r>
              <a:rPr lang="en-US" sz="731" u="none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#2a4060, pad 16px</a:t>
            </a:r>
            <a:endParaRPr lang="en-US" sz="731" dirty="0"/>
          </a:p>
        </p:txBody>
      </p:sp>
      <p:sp>
        <p:nvSpPr>
          <p:cNvPr id="17" name="Shape 15"/>
          <p:cNvSpPr/>
          <p:nvPr/>
        </p:nvSpPr>
        <p:spPr>
          <a:xfrm>
            <a:off x="7167396" y="2943225"/>
            <a:ext cx="171450" cy="171450"/>
          </a:xfrm>
          <a:prstGeom prst="roundRect">
            <a:avLst>
              <a:gd name="adj" fmla="val 16667"/>
            </a:avLst>
          </a:prstGeom>
          <a:solidFill>
            <a:srgbClr val="305080"/>
          </a:solidFill>
          <a:ln w="7144" algn="in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24571" y="2971800"/>
            <a:ext cx="1402604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b="1" u="none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Level 4</a:t>
            </a:r>
            <a:pPr algn="l" indent="0" marL="0">
              <a:lnSpc>
                <a:spcPct val="100000"/>
              </a:lnSpc>
              <a:buNone/>
            </a:pPr>
            <a:r>
              <a:rPr lang="en-US" sz="731" u="none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#305080, pad 16px</a:t>
            </a:r>
            <a:endParaRPr lang="en-US" sz="731" dirty="0"/>
          </a:p>
        </p:txBody>
      </p:sp>
      <p:sp>
        <p:nvSpPr>
          <p:cNvPr id="19" name="Text 17"/>
          <p:cNvSpPr/>
          <p:nvPr/>
        </p:nvSpPr>
        <p:spPr>
          <a:xfrm>
            <a:off x="7167396" y="3257550"/>
            <a:ext cx="1976604" cy="2143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i="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accumulated: 80px padding + 10px borders = 90px inset</a:t>
            </a:r>
            <a:endParaRPr lang="en-US" sz="6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record-slide_24-1781898609210</dc:title>
  <dc:subject>PptxGenJS Presentation</dc:subject>
  <dc:creator>PptxGenJS</dc:creator>
  <cp:lastModifiedBy>PptxGenJS</cp:lastModifiedBy>
  <cp:revision>1</cp:revision>
  <dcterms:created xsi:type="dcterms:W3CDTF">2026-06-19T19:50:11Z</dcterms:created>
  <dcterms:modified xsi:type="dcterms:W3CDTF">2026-06-19T19:50:11Z</dcterms:modified>
</cp:coreProperties>
</file>