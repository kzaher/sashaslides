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7175" y="200025"/>
            <a:ext cx="4056864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Positioning Map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257175" y="457200"/>
            <a:ext cx="4056864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 landscape analysis by feature completeness vs. ease of use (bubble size = market share)</a:t>
            </a:r>
            <a:endParaRPr lang="en-US" sz="731" dirty="0"/>
          </a:p>
        </p:txBody>
      </p:sp>
      <p:sp>
        <p:nvSpPr>
          <p:cNvPr id="4" name="Text 2"/>
          <p:cNvSpPr/>
          <p:nvPr/>
        </p:nvSpPr>
        <p:spPr>
          <a:xfrm>
            <a:off x="6558177" y="467916"/>
            <a:ext cx="503992" cy="928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u="none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Product</a:t>
            </a:r>
            <a:endParaRPr lang="en-US" sz="619" dirty="0"/>
          </a:p>
        </p:txBody>
      </p:sp>
      <p:sp>
        <p:nvSpPr>
          <p:cNvPr id="5" name="Shape 3"/>
          <p:cNvSpPr/>
          <p:nvPr/>
        </p:nvSpPr>
        <p:spPr>
          <a:xfrm>
            <a:off x="6429589" y="464344"/>
            <a:ext cx="100013" cy="100013"/>
          </a:xfrm>
          <a:prstGeom prst="ellipse">
            <a:avLst/>
          </a:prstGeom>
          <a:solidFill>
            <a:srgbClr val="6366F1">
              <a:alpha val="30000"/>
            </a:srgbClr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6443877" y="478631"/>
            <a:ext cx="71438" cy="7143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7190756" y="467916"/>
            <a:ext cx="518279" cy="928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u="none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Competitors</a:t>
            </a:r>
            <a:endParaRPr lang="en-US" sz="619" dirty="0"/>
          </a:p>
        </p:txBody>
      </p:sp>
      <p:sp>
        <p:nvSpPr>
          <p:cNvPr id="8" name="Shape 6"/>
          <p:cNvSpPr/>
          <p:nvPr/>
        </p:nvSpPr>
        <p:spPr>
          <a:xfrm>
            <a:off x="7076456" y="478631"/>
            <a:ext cx="71438" cy="71438"/>
          </a:xfrm>
          <a:prstGeom prst="ellipse">
            <a:avLst/>
          </a:prstGeom>
          <a:solidFill>
            <a:srgbClr val="94A3B8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7866197" y="464344"/>
            <a:ext cx="49613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u="none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 share</a:t>
            </a:r>
            <a:endParaRPr lang="en-US" sz="619" dirty="0"/>
          </a:p>
        </p:txBody>
      </p:sp>
      <p:sp>
        <p:nvSpPr>
          <p:cNvPr id="10" name="Shape 8"/>
          <p:cNvSpPr/>
          <p:nvPr/>
        </p:nvSpPr>
        <p:spPr>
          <a:xfrm>
            <a:off x="7723322" y="464344"/>
            <a:ext cx="100013" cy="100013"/>
          </a:xfrm>
          <a:prstGeom prst="ellipse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8476631" y="467916"/>
            <a:ext cx="495919" cy="928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u="none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Small share</a:t>
            </a:r>
            <a:endParaRPr lang="en-US" sz="619" dirty="0"/>
          </a:p>
        </p:txBody>
      </p:sp>
      <p:sp>
        <p:nvSpPr>
          <p:cNvPr id="12" name="Shape 10"/>
          <p:cNvSpPr/>
          <p:nvPr/>
        </p:nvSpPr>
        <p:spPr>
          <a:xfrm>
            <a:off x="8376618" y="485775"/>
            <a:ext cx="57150" cy="57150"/>
          </a:xfrm>
          <a:prstGeom prst="ellipse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257175" y="4471988"/>
            <a:ext cx="2781276" cy="471488"/>
          </a:xfrm>
          <a:prstGeom prst="roundRect">
            <a:avLst>
              <a:gd name="adj" fmla="val 1515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257175" y="4471988"/>
            <a:ext cx="2781276" cy="471488"/>
          </a:xfrm>
          <a:prstGeom prst="roundRect">
            <a:avLst>
              <a:gd name="adj" fmla="val 15151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15" name="Shape 13"/>
          <p:cNvSpPr/>
          <p:nvPr/>
        </p:nvSpPr>
        <p:spPr>
          <a:xfrm>
            <a:off x="278606" y="4471988"/>
            <a:ext cx="2759845" cy="471488"/>
          </a:xfrm>
          <a:prstGeom prst="roundRect">
            <a:avLst>
              <a:gd name="adj" fmla="val 1515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392906" y="4557713"/>
            <a:ext cx="261697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Positioning Advantage</a:t>
            </a:r>
            <a:endParaRPr lang="en-US" sz="619" dirty="0"/>
          </a:p>
        </p:txBody>
      </p:sp>
      <p:sp>
        <p:nvSpPr>
          <p:cNvPr id="17" name="Text 15"/>
          <p:cNvSpPr/>
          <p:nvPr/>
        </p:nvSpPr>
        <p:spPr>
          <a:xfrm>
            <a:off x="392906" y="4672013"/>
            <a:ext cx="2531245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product in the "Leaders" quadrant with high ease-of-use AND feature completeness.</a:t>
            </a:r>
            <a:endParaRPr lang="en-US" sz="619" dirty="0"/>
          </a:p>
        </p:txBody>
      </p:sp>
      <p:sp>
        <p:nvSpPr>
          <p:cNvPr id="18" name="Shape 16"/>
          <p:cNvSpPr/>
          <p:nvPr/>
        </p:nvSpPr>
        <p:spPr>
          <a:xfrm>
            <a:off x="3181326" y="4471988"/>
            <a:ext cx="2781348" cy="471488"/>
          </a:xfrm>
          <a:prstGeom prst="roundRect">
            <a:avLst>
              <a:gd name="adj" fmla="val 1515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9" name="Shape 17"/>
          <p:cNvSpPr/>
          <p:nvPr/>
        </p:nvSpPr>
        <p:spPr>
          <a:xfrm>
            <a:off x="3181326" y="4471988"/>
            <a:ext cx="2781348" cy="471488"/>
          </a:xfrm>
          <a:prstGeom prst="roundRect">
            <a:avLst>
              <a:gd name="adj" fmla="val 15151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3202757" y="4471988"/>
            <a:ext cx="2759916" cy="471488"/>
          </a:xfrm>
          <a:prstGeom prst="roundRect">
            <a:avLst>
              <a:gd name="adj" fmla="val 1515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1" name="Text 19"/>
          <p:cNvSpPr/>
          <p:nvPr/>
        </p:nvSpPr>
        <p:spPr>
          <a:xfrm>
            <a:off x="3317057" y="4557713"/>
            <a:ext cx="261704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 Gap</a:t>
            </a:r>
            <a:endParaRPr lang="en-US" sz="619" dirty="0"/>
          </a:p>
        </p:txBody>
      </p:sp>
      <p:sp>
        <p:nvSpPr>
          <p:cNvPr id="22" name="Text 20"/>
          <p:cNvSpPr/>
          <p:nvPr/>
        </p:nvSpPr>
        <p:spPr>
          <a:xfrm>
            <a:off x="3317057" y="4672013"/>
            <a:ext cx="2531316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competitor effectively serves the mid-market segment with 5-7 ease-of-use scores.</a:t>
            </a:r>
            <a:endParaRPr lang="en-US" sz="619" dirty="0"/>
          </a:p>
        </p:txBody>
      </p:sp>
      <p:sp>
        <p:nvSpPr>
          <p:cNvPr id="23" name="Shape 21"/>
          <p:cNvSpPr/>
          <p:nvPr/>
        </p:nvSpPr>
        <p:spPr>
          <a:xfrm>
            <a:off x="6105549" y="4471988"/>
            <a:ext cx="2781276" cy="471488"/>
          </a:xfrm>
          <a:prstGeom prst="roundRect">
            <a:avLst>
              <a:gd name="adj" fmla="val 1515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6105549" y="4471988"/>
            <a:ext cx="2781276" cy="471488"/>
          </a:xfrm>
          <a:prstGeom prst="roundRect">
            <a:avLst>
              <a:gd name="adj" fmla="val 15151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25" name="Shape 23"/>
          <p:cNvSpPr/>
          <p:nvPr/>
        </p:nvSpPr>
        <p:spPr>
          <a:xfrm>
            <a:off x="6126980" y="4471988"/>
            <a:ext cx="2759845" cy="471488"/>
          </a:xfrm>
          <a:prstGeom prst="roundRect">
            <a:avLst>
              <a:gd name="adj" fmla="val 1515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6" name="Text 24"/>
          <p:cNvSpPr/>
          <p:nvPr/>
        </p:nvSpPr>
        <p:spPr>
          <a:xfrm>
            <a:off x="6241280" y="4557713"/>
            <a:ext cx="261697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Out</a:t>
            </a:r>
            <a:endParaRPr lang="en-US" sz="619" dirty="0"/>
          </a:p>
        </p:txBody>
      </p:sp>
      <p:sp>
        <p:nvSpPr>
          <p:cNvPr id="27" name="Text 25"/>
          <p:cNvSpPr/>
          <p:nvPr/>
        </p:nvSpPr>
        <p:spPr>
          <a:xfrm>
            <a:off x="6241280" y="4672013"/>
            <a:ext cx="2531245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Enterprise Pro (SAP) is investing heavily in UX redesign expected to launch Q3 2026.</a:t>
            </a:r>
            <a:endParaRPr lang="en-US" sz="619" dirty="0"/>
          </a:p>
        </p:txBody>
      </p:sp>
      <p:sp>
        <p:nvSpPr>
          <p:cNvPr id="28" name="Shape 26"/>
          <p:cNvSpPr/>
          <p:nvPr/>
        </p:nvSpPr>
        <p:spPr>
          <a:xfrm>
            <a:off x="542925" y="678656"/>
            <a:ext cx="8201025" cy="35361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29" name="Shape 27"/>
          <p:cNvSpPr/>
          <p:nvPr/>
        </p:nvSpPr>
        <p:spPr>
          <a:xfrm>
            <a:off x="542925" y="4200525"/>
            <a:ext cx="8201025" cy="14288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30" name="Shape 28"/>
          <p:cNvSpPr/>
          <p:nvPr/>
        </p:nvSpPr>
        <p:spPr>
          <a:xfrm>
            <a:off x="542925" y="678656"/>
            <a:ext cx="14288" cy="3536156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31" name="Shape 29"/>
          <p:cNvSpPr/>
          <p:nvPr/>
        </p:nvSpPr>
        <p:spPr>
          <a:xfrm>
            <a:off x="557213" y="3489079"/>
            <a:ext cx="8186738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2" name="Shape 30"/>
          <p:cNvSpPr/>
          <p:nvPr/>
        </p:nvSpPr>
        <p:spPr>
          <a:xfrm>
            <a:off x="557213" y="3492651"/>
            <a:ext cx="8186738" cy="0"/>
          </a:xfrm>
          <a:prstGeom prst="line">
            <a:avLst/>
          </a:prstGeom>
          <a:noFill/>
          <a:ln w="7144" algn="in">
            <a:solidFill>
              <a:srgbClr val="F1F5F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7213" y="2784705"/>
            <a:ext cx="8186738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4" name="Shape 32"/>
          <p:cNvSpPr/>
          <p:nvPr/>
        </p:nvSpPr>
        <p:spPr>
          <a:xfrm>
            <a:off x="557213" y="2788277"/>
            <a:ext cx="8186738" cy="0"/>
          </a:xfrm>
          <a:prstGeom prst="line">
            <a:avLst/>
          </a:prstGeom>
          <a:noFill/>
          <a:ln w="7144" algn="in">
            <a:solidFill>
              <a:srgbClr val="F1F5F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7213" y="2080260"/>
            <a:ext cx="8186738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6" name="Shape 34"/>
          <p:cNvSpPr/>
          <p:nvPr/>
        </p:nvSpPr>
        <p:spPr>
          <a:xfrm>
            <a:off x="557213" y="2083832"/>
            <a:ext cx="8186738" cy="0"/>
          </a:xfrm>
          <a:prstGeom prst="line">
            <a:avLst/>
          </a:prstGeom>
          <a:noFill/>
          <a:ln w="7144" algn="in">
            <a:solidFill>
              <a:srgbClr val="F1F5F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213" y="1375958"/>
            <a:ext cx="8186738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8" name="Shape 36"/>
          <p:cNvSpPr/>
          <p:nvPr/>
        </p:nvSpPr>
        <p:spPr>
          <a:xfrm>
            <a:off x="557213" y="1379530"/>
            <a:ext cx="8186738" cy="0"/>
          </a:xfrm>
          <a:prstGeom prst="line">
            <a:avLst/>
          </a:prstGeom>
          <a:noFill/>
          <a:ln w="7144" algn="in">
            <a:solidFill>
              <a:srgbClr val="F1F5F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94489" y="678656"/>
            <a:ext cx="7144" cy="3521869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40" name="Shape 38"/>
          <p:cNvSpPr/>
          <p:nvPr/>
        </p:nvSpPr>
        <p:spPr>
          <a:xfrm>
            <a:off x="3831836" y="678656"/>
            <a:ext cx="7144" cy="3521869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41" name="Shape 39"/>
          <p:cNvSpPr/>
          <p:nvPr/>
        </p:nvSpPr>
        <p:spPr>
          <a:xfrm>
            <a:off x="5469184" y="678656"/>
            <a:ext cx="7144" cy="3521869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42" name="Shape 40"/>
          <p:cNvSpPr/>
          <p:nvPr/>
        </p:nvSpPr>
        <p:spPr>
          <a:xfrm>
            <a:off x="7106603" y="678656"/>
            <a:ext cx="7144" cy="3521869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43" name="Text 41"/>
          <p:cNvSpPr/>
          <p:nvPr/>
        </p:nvSpPr>
        <p:spPr>
          <a:xfrm>
            <a:off x="242888" y="4061222"/>
            <a:ext cx="231958" cy="928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</a:t>
            </a:r>
            <a:endParaRPr lang="en-US" sz="619" dirty="0"/>
          </a:p>
        </p:txBody>
      </p:sp>
      <p:sp>
        <p:nvSpPr>
          <p:cNvPr id="44" name="Text 42"/>
          <p:cNvSpPr/>
          <p:nvPr/>
        </p:nvSpPr>
        <p:spPr>
          <a:xfrm>
            <a:off x="242888" y="3180755"/>
            <a:ext cx="129945" cy="928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619" dirty="0"/>
          </a:p>
        </p:txBody>
      </p:sp>
      <p:sp>
        <p:nvSpPr>
          <p:cNvPr id="45" name="Text 43"/>
          <p:cNvSpPr/>
          <p:nvPr/>
        </p:nvSpPr>
        <p:spPr>
          <a:xfrm>
            <a:off x="242888" y="2300288"/>
            <a:ext cx="129945" cy="928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619" dirty="0"/>
          </a:p>
        </p:txBody>
      </p:sp>
      <p:sp>
        <p:nvSpPr>
          <p:cNvPr id="46" name="Text 44"/>
          <p:cNvSpPr/>
          <p:nvPr/>
        </p:nvSpPr>
        <p:spPr>
          <a:xfrm>
            <a:off x="242888" y="1419820"/>
            <a:ext cx="129945" cy="928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619" dirty="0"/>
          </a:p>
        </p:txBody>
      </p:sp>
      <p:sp>
        <p:nvSpPr>
          <p:cNvPr id="47" name="Text 45"/>
          <p:cNvSpPr/>
          <p:nvPr/>
        </p:nvSpPr>
        <p:spPr>
          <a:xfrm>
            <a:off x="242888" y="645081"/>
            <a:ext cx="174165" cy="928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619" dirty="0"/>
          </a:p>
        </p:txBody>
      </p:sp>
      <p:sp>
        <p:nvSpPr>
          <p:cNvPr id="48" name="Text 46"/>
          <p:cNvSpPr/>
          <p:nvPr/>
        </p:nvSpPr>
        <p:spPr>
          <a:xfrm>
            <a:off x="484132" y="4307681"/>
            <a:ext cx="231958" cy="928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</a:t>
            </a:r>
            <a:endParaRPr lang="en-US" sz="619" dirty="0"/>
          </a:p>
        </p:txBody>
      </p:sp>
      <p:sp>
        <p:nvSpPr>
          <p:cNvPr id="49" name="Text 47"/>
          <p:cNvSpPr/>
          <p:nvPr/>
        </p:nvSpPr>
        <p:spPr>
          <a:xfrm>
            <a:off x="2581823" y="4307681"/>
            <a:ext cx="129945" cy="928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619" dirty="0"/>
          </a:p>
        </p:txBody>
      </p:sp>
      <p:sp>
        <p:nvSpPr>
          <p:cNvPr id="50" name="Text 48"/>
          <p:cNvSpPr/>
          <p:nvPr/>
        </p:nvSpPr>
        <p:spPr>
          <a:xfrm>
            <a:off x="4628507" y="4307681"/>
            <a:ext cx="129945" cy="928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619" dirty="0"/>
          </a:p>
        </p:txBody>
      </p:sp>
      <p:sp>
        <p:nvSpPr>
          <p:cNvPr id="51" name="Text 49"/>
          <p:cNvSpPr/>
          <p:nvPr/>
        </p:nvSpPr>
        <p:spPr>
          <a:xfrm>
            <a:off x="6675191" y="4307681"/>
            <a:ext cx="129945" cy="928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619" dirty="0"/>
          </a:p>
        </p:txBody>
      </p:sp>
      <p:sp>
        <p:nvSpPr>
          <p:cNvPr id="52" name="Text 50"/>
          <p:cNvSpPr/>
          <p:nvPr/>
        </p:nvSpPr>
        <p:spPr>
          <a:xfrm>
            <a:off x="8454057" y="4307681"/>
            <a:ext cx="174165" cy="928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619" dirty="0"/>
          </a:p>
        </p:txBody>
      </p:sp>
      <p:sp>
        <p:nvSpPr>
          <p:cNvPr id="53" name="Text 51"/>
          <p:cNvSpPr/>
          <p:nvPr/>
        </p:nvSpPr>
        <p:spPr>
          <a:xfrm rot="16200000">
            <a:off x="12573" y="2386013"/>
            <a:ext cx="1128713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Completeness →</a:t>
            </a:r>
            <a:endParaRPr lang="en-US" sz="675" dirty="0"/>
          </a:p>
        </p:txBody>
      </p:sp>
      <p:sp>
        <p:nvSpPr>
          <p:cNvPr id="54" name="Text 52"/>
          <p:cNvSpPr/>
          <p:nvPr/>
        </p:nvSpPr>
        <p:spPr>
          <a:xfrm>
            <a:off x="4352687" y="4464844"/>
            <a:ext cx="681585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Ease of Use →</a:t>
            </a:r>
            <a:endParaRPr lang="en-US" sz="675" dirty="0"/>
          </a:p>
        </p:txBody>
      </p:sp>
      <p:sp>
        <p:nvSpPr>
          <p:cNvPr id="55" name="Text 53"/>
          <p:cNvSpPr/>
          <p:nvPr/>
        </p:nvSpPr>
        <p:spPr>
          <a:xfrm>
            <a:off x="671513" y="764381"/>
            <a:ext cx="1322808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FEATURE-RICH, COMPLEX</a:t>
            </a:r>
            <a:endParaRPr lang="en-US" sz="619" dirty="0"/>
          </a:p>
        </p:txBody>
      </p:sp>
      <p:sp>
        <p:nvSpPr>
          <p:cNvPr id="56" name="Text 54"/>
          <p:cNvSpPr/>
          <p:nvPr/>
        </p:nvSpPr>
        <p:spPr>
          <a:xfrm>
            <a:off x="8198668" y="764381"/>
            <a:ext cx="516707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</a:t>
            </a:r>
            <a:endParaRPr lang="en-US" sz="619" dirty="0"/>
          </a:p>
        </p:txBody>
      </p:sp>
      <p:sp>
        <p:nvSpPr>
          <p:cNvPr id="57" name="Text 55"/>
          <p:cNvSpPr/>
          <p:nvPr/>
        </p:nvSpPr>
        <p:spPr>
          <a:xfrm>
            <a:off x="671513" y="4014788"/>
            <a:ext cx="601718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LAGGARDS</a:t>
            </a:r>
            <a:endParaRPr lang="en-US" sz="619" dirty="0"/>
          </a:p>
        </p:txBody>
      </p:sp>
      <p:sp>
        <p:nvSpPr>
          <p:cNvPr id="58" name="Text 56"/>
          <p:cNvSpPr/>
          <p:nvPr/>
        </p:nvSpPr>
        <p:spPr>
          <a:xfrm>
            <a:off x="7820978" y="4014788"/>
            <a:ext cx="894398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SIMPLE, LIMITED</a:t>
            </a:r>
            <a:endParaRPr lang="en-US" sz="619" dirty="0"/>
          </a:p>
        </p:txBody>
      </p:sp>
      <p:sp>
        <p:nvSpPr>
          <p:cNvPr id="59" name="Shape 57"/>
          <p:cNvSpPr/>
          <p:nvPr/>
        </p:nvSpPr>
        <p:spPr>
          <a:xfrm>
            <a:off x="2318147" y="807601"/>
            <a:ext cx="571500" cy="571500"/>
          </a:xfrm>
          <a:prstGeom prst="ellipse">
            <a:avLst/>
          </a:prstGeom>
          <a:solidFill>
            <a:srgbClr val="94A3B8">
              <a:alpha val="12000"/>
            </a:srgbClr>
          </a:solidFill>
          <a:ln w="14288" algn="in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23958" y="1043345"/>
            <a:ext cx="245602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</a:t>
            </a:r>
            <a:endParaRPr lang="en-US" sz="619" dirty="0"/>
          </a:p>
        </p:txBody>
      </p:sp>
      <p:sp>
        <p:nvSpPr>
          <p:cNvPr id="61" name="Text 59"/>
          <p:cNvSpPr/>
          <p:nvPr/>
        </p:nvSpPr>
        <p:spPr>
          <a:xfrm>
            <a:off x="2333935" y="1407676"/>
            <a:ext cx="62565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Pro</a:t>
            </a:r>
            <a:endParaRPr lang="en-US" sz="619" dirty="0"/>
          </a:p>
        </p:txBody>
      </p:sp>
      <p:sp>
        <p:nvSpPr>
          <p:cNvPr id="62" name="Text 60"/>
          <p:cNvSpPr/>
          <p:nvPr/>
        </p:nvSpPr>
        <p:spPr>
          <a:xfrm>
            <a:off x="2456807" y="1507688"/>
            <a:ext cx="379976" cy="714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22% share</a:t>
            </a:r>
            <a:endParaRPr lang="en-US" sz="506" dirty="0"/>
          </a:p>
        </p:txBody>
      </p:sp>
      <p:sp>
        <p:nvSpPr>
          <p:cNvPr id="63" name="Shape 61"/>
          <p:cNvSpPr/>
          <p:nvPr/>
        </p:nvSpPr>
        <p:spPr>
          <a:xfrm>
            <a:off x="3208187" y="1972818"/>
            <a:ext cx="428625" cy="428625"/>
          </a:xfrm>
          <a:prstGeom prst="ellipse">
            <a:avLst/>
          </a:prstGeom>
          <a:solidFill>
            <a:srgbClr val="94A3B8">
              <a:alpha val="12000"/>
            </a:srgbClr>
          </a:solidFill>
          <a:ln w="14288" algn="in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15129" y="2137124"/>
            <a:ext cx="300466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ORCL</a:t>
            </a:r>
            <a:endParaRPr lang="en-US" sz="619" dirty="0"/>
          </a:p>
        </p:txBody>
      </p:sp>
      <p:sp>
        <p:nvSpPr>
          <p:cNvPr id="65" name="Text 63"/>
          <p:cNvSpPr/>
          <p:nvPr/>
        </p:nvSpPr>
        <p:spPr>
          <a:xfrm>
            <a:off x="3186398" y="2430018"/>
            <a:ext cx="557998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OracleCloud</a:t>
            </a:r>
            <a:endParaRPr lang="en-US" sz="619" dirty="0"/>
          </a:p>
        </p:txBody>
      </p:sp>
      <p:sp>
        <p:nvSpPr>
          <p:cNvPr id="66" name="Text 64"/>
          <p:cNvSpPr/>
          <p:nvPr/>
        </p:nvSpPr>
        <p:spPr>
          <a:xfrm>
            <a:off x="3275409" y="2530031"/>
            <a:ext cx="379976" cy="714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14% share</a:t>
            </a:r>
            <a:endParaRPr lang="en-US" sz="506" dirty="0"/>
          </a:p>
        </p:txBody>
      </p:sp>
      <p:sp>
        <p:nvSpPr>
          <p:cNvPr id="67" name="Shape 65"/>
          <p:cNvSpPr/>
          <p:nvPr/>
        </p:nvSpPr>
        <p:spPr>
          <a:xfrm>
            <a:off x="5454396" y="2432090"/>
            <a:ext cx="357188" cy="357188"/>
          </a:xfrm>
          <a:prstGeom prst="ellipse">
            <a:avLst/>
          </a:prstGeom>
          <a:solidFill>
            <a:srgbClr val="94A3B8">
              <a:alpha val="12000"/>
            </a:srgbClr>
          </a:solidFill>
          <a:ln w="14288" algn="in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551837" y="2560677"/>
            <a:ext cx="247888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HBS</a:t>
            </a:r>
            <a:endParaRPr lang="en-US" sz="619" dirty="0"/>
          </a:p>
        </p:txBody>
      </p:sp>
      <p:sp>
        <p:nvSpPr>
          <p:cNvPr id="69" name="Text 67"/>
          <p:cNvSpPr/>
          <p:nvPr/>
        </p:nvSpPr>
        <p:spPr>
          <a:xfrm>
            <a:off x="5461754" y="2817852"/>
            <a:ext cx="428054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HubBase</a:t>
            </a:r>
            <a:endParaRPr lang="en-US" sz="619" dirty="0"/>
          </a:p>
        </p:txBody>
      </p:sp>
      <p:sp>
        <p:nvSpPr>
          <p:cNvPr id="70" name="Text 68"/>
          <p:cNvSpPr/>
          <p:nvPr/>
        </p:nvSpPr>
        <p:spPr>
          <a:xfrm>
            <a:off x="5503902" y="2917865"/>
            <a:ext cx="343829" cy="714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8% share</a:t>
            </a:r>
            <a:endParaRPr lang="en-US" sz="506" dirty="0"/>
          </a:p>
        </p:txBody>
      </p:sp>
      <p:sp>
        <p:nvSpPr>
          <p:cNvPr id="71" name="Shape 69"/>
          <p:cNvSpPr/>
          <p:nvPr/>
        </p:nvSpPr>
        <p:spPr>
          <a:xfrm>
            <a:off x="6785705" y="2038683"/>
            <a:ext cx="314325" cy="314325"/>
          </a:xfrm>
          <a:prstGeom prst="ellipse">
            <a:avLst/>
          </a:prstGeom>
          <a:solidFill>
            <a:srgbClr val="94A3B8">
              <a:alpha val="12000"/>
            </a:srgbClr>
          </a:solidFill>
          <a:ln w="14288" algn="in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858357" y="2145840"/>
            <a:ext cx="233958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ZND</a:t>
            </a:r>
            <a:endParaRPr lang="en-US" sz="619" dirty="0"/>
          </a:p>
        </p:txBody>
      </p:sp>
      <p:sp>
        <p:nvSpPr>
          <p:cNvPr id="73" name="Text 71"/>
          <p:cNvSpPr/>
          <p:nvPr/>
        </p:nvSpPr>
        <p:spPr>
          <a:xfrm>
            <a:off x="6778204" y="2381583"/>
            <a:ext cx="41498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Zendesk</a:t>
            </a:r>
            <a:endParaRPr lang="en-US" sz="619" dirty="0"/>
          </a:p>
        </p:txBody>
      </p:sp>
      <p:sp>
        <p:nvSpPr>
          <p:cNvPr id="74" name="Text 72"/>
          <p:cNvSpPr/>
          <p:nvPr/>
        </p:nvSpPr>
        <p:spPr>
          <a:xfrm>
            <a:off x="6813780" y="2481596"/>
            <a:ext cx="278535" cy="714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7% share</a:t>
            </a:r>
            <a:endParaRPr lang="en-US" sz="506" dirty="0"/>
          </a:p>
        </p:txBody>
      </p:sp>
      <p:sp>
        <p:nvSpPr>
          <p:cNvPr id="75" name="Shape 73"/>
          <p:cNvSpPr/>
          <p:nvPr/>
        </p:nvSpPr>
        <p:spPr>
          <a:xfrm>
            <a:off x="4112585" y="3180898"/>
            <a:ext cx="257175" cy="257175"/>
          </a:xfrm>
          <a:prstGeom prst="ellipse">
            <a:avLst/>
          </a:prstGeom>
          <a:solidFill>
            <a:srgbClr val="94A3B8">
              <a:alpha val="12000"/>
            </a:srgbClr>
          </a:solidFill>
          <a:ln w="14288" algn="in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162877" y="3259479"/>
            <a:ext cx="242245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FRH</a:t>
            </a:r>
            <a:endParaRPr lang="en-US" sz="619" dirty="0"/>
          </a:p>
        </p:txBody>
      </p:sp>
      <p:sp>
        <p:nvSpPr>
          <p:cNvPr id="77" name="Text 75"/>
          <p:cNvSpPr/>
          <p:nvPr/>
        </p:nvSpPr>
        <p:spPr>
          <a:xfrm>
            <a:off x="4101584" y="3466648"/>
            <a:ext cx="36490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Freshly</a:t>
            </a:r>
            <a:endParaRPr lang="en-US" sz="619" dirty="0"/>
          </a:p>
        </p:txBody>
      </p:sp>
      <p:sp>
        <p:nvSpPr>
          <p:cNvPr id="78" name="Text 76"/>
          <p:cNvSpPr/>
          <p:nvPr/>
        </p:nvSpPr>
        <p:spPr>
          <a:xfrm>
            <a:off x="4112157" y="3566660"/>
            <a:ext cx="343829" cy="714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4% share</a:t>
            </a:r>
            <a:endParaRPr lang="en-US" sz="506" dirty="0"/>
          </a:p>
        </p:txBody>
      </p:sp>
      <p:sp>
        <p:nvSpPr>
          <p:cNvPr id="79" name="Shape 77"/>
          <p:cNvSpPr/>
          <p:nvPr/>
        </p:nvSpPr>
        <p:spPr>
          <a:xfrm>
            <a:off x="6397228" y="639151"/>
            <a:ext cx="600075" cy="600075"/>
          </a:xfrm>
          <a:prstGeom prst="ellipse">
            <a:avLst/>
          </a:prstGeom>
          <a:solidFill>
            <a:srgbClr val="6366F1">
              <a:alpha val="10000"/>
            </a:srgbClr>
          </a:solidFill>
          <a:ln>
            <a:noFill/>
          </a:ln>
        </p:spPr>
      </p:sp>
      <p:sp>
        <p:nvSpPr>
          <p:cNvPr id="80" name="Shape 78"/>
          <p:cNvSpPr/>
          <p:nvPr/>
        </p:nvSpPr>
        <p:spPr>
          <a:xfrm>
            <a:off x="6440091" y="682014"/>
            <a:ext cx="514350" cy="514350"/>
          </a:xfrm>
          <a:prstGeom prst="ellipse">
            <a:avLst/>
          </a:prstGeom>
          <a:solidFill>
            <a:srgbClr val="6366F1">
              <a:alpha val="15000"/>
            </a:srgbClr>
          </a:solidFill>
          <a:ln w="21431" algn="in">
            <a:solidFill>
              <a:srgbClr val="6366F1"/>
            </a:solidFill>
            <a:prstDash val="solid"/>
          </a:ln>
          <a:effectLst>
            <a:outerShdw sx="100000" sy="100000" kx="0" ky="0" algn="bl" rotWithShape="0" blurRad="142875" dist="50800" dir="5400000">
              <a:srgbClr val="6366F1">
                <a:alpha val="20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6632829" y="882039"/>
            <a:ext cx="214527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</a:t>
            </a:r>
            <a:endParaRPr lang="en-US" sz="731" dirty="0"/>
          </a:p>
        </p:txBody>
      </p:sp>
      <p:sp>
        <p:nvSpPr>
          <p:cNvPr id="82" name="Text 80"/>
          <p:cNvSpPr/>
          <p:nvPr/>
        </p:nvSpPr>
        <p:spPr>
          <a:xfrm>
            <a:off x="6465880" y="1217795"/>
            <a:ext cx="548497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Product</a:t>
            </a:r>
            <a:endParaRPr lang="en-US" sz="619" dirty="0"/>
          </a:p>
        </p:txBody>
      </p:sp>
      <p:sp>
        <p:nvSpPr>
          <p:cNvPr id="83" name="Text 81"/>
          <p:cNvSpPr/>
          <p:nvPr/>
        </p:nvSpPr>
        <p:spPr>
          <a:xfrm>
            <a:off x="6550176" y="1317808"/>
            <a:ext cx="379976" cy="714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18% share</a:t>
            </a:r>
            <a:endParaRPr lang="en-US" sz="50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record-slide_20-1781898606577</dc:title>
  <dc:subject>PptxGenJS Presentation</dc:subject>
  <dc:creator>PptxGenJS</dc:creator>
  <cp:lastModifiedBy>PptxGenJS</cp:lastModifiedBy>
  <cp:revision>1</cp:revision>
  <dcterms:created xsi:type="dcterms:W3CDTF">2026-06-19T19:50:09Z</dcterms:created>
  <dcterms:modified xsi:type="dcterms:W3CDTF">2026-06-19T19:50:09Z</dcterms:modified>
</cp:coreProperties>
</file>