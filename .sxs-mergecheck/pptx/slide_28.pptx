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429625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b="1" dirty="0">
                <a:solidFill>
                  <a:srgbClr val="E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Backgrounds &amp; Opacity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400050" y="621506"/>
            <a:ext cx="84296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gradient rendering, semi-transparent overlays, text-shadow, and opacity levels</a:t>
            </a:r>
            <a:endParaRPr lang="en-US" sz="731" dirty="0"/>
          </a:p>
        </p:txBody>
      </p:sp>
      <p:sp>
        <p:nvSpPr>
          <p:cNvPr id="4" name="GRAD_0"/>
          <p:cNvSpPr/>
          <p:nvPr/>
        </p:nvSpPr>
        <p:spPr>
          <a:xfrm>
            <a:off x="400050" y="935831"/>
            <a:ext cx="2686050" cy="14287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4A6CF7"/>
              </a:gs>
              <a:gs pos="100000">
                <a:srgbClr val="805AD5"/>
              </a:gs>
            </a:gsLst>
            <a:lin ang="2700000" scaled="0"/>
          </a:gra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571500" y="1107281"/>
            <a:ext cx="242887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→ Purple Gradient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321594"/>
            <a:ext cx="2343150" cy="4456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gradient at 135 degrees from #4a6cf7 to #805ad5. The converter should either reproduce the gradient or pick a representative solid color.</a:t>
            </a:r>
            <a:endParaRPr lang="en-US" sz="731" dirty="0"/>
          </a:p>
        </p:txBody>
      </p:sp>
      <p:sp>
        <p:nvSpPr>
          <p:cNvPr id="7" name="GRAD_1"/>
          <p:cNvSpPr/>
          <p:nvPr/>
        </p:nvSpPr>
        <p:spPr>
          <a:xfrm>
            <a:off x="3228975" y="935831"/>
            <a:ext cx="2686050" cy="14287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E94560"/>
              </a:gs>
              <a:gs pos="50000">
                <a:srgbClr val="FF6B6B"/>
              </a:gs>
              <a:gs pos="100000">
                <a:srgbClr val="FFD93D"/>
              </a:gs>
            </a:gsLst>
            <a:lin ang="5400000" scaled="0"/>
          </a:gra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3400425" y="1107281"/>
            <a:ext cx="242887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Three-Stop Gradient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00425" y="1321594"/>
            <a:ext cx="2343150" cy="4456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→ coral → yellow with three color stops. Multi-stop gradients are harder to approximate with a single solid fallback color.</a:t>
            </a:r>
            <a:endParaRPr lang="en-US" sz="731" dirty="0"/>
          </a:p>
        </p:txBody>
      </p:sp>
      <p:sp>
        <p:nvSpPr>
          <p:cNvPr id="10" name="Shape 8"/>
          <p:cNvSpPr/>
          <p:nvPr/>
        </p:nvSpPr>
        <p:spPr>
          <a:xfrm>
            <a:off x="6057900" y="935831"/>
            <a:ext cx="2686050" cy="1428750"/>
          </a:xfrm>
          <a:prstGeom prst="roundRect">
            <a:avLst>
              <a:gd name="adj" fmla="val 7000"/>
            </a:avLst>
          </a:prstGeom>
          <a:solidFill>
            <a:srgbClr val="2D2D5E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6057900" y="935831"/>
            <a:ext cx="2686050" cy="1428750"/>
          </a:xfrm>
          <a:prstGeom prst="roundRect">
            <a:avLst>
              <a:gd name="adj" fmla="val 7000"/>
            </a:avLst>
          </a:prstGeom>
          <a:solidFill>
            <a:srgbClr val="36408C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6229350" y="1107281"/>
            <a:ext cx="242887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Semi-Transparent Overlay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29350" y="1321594"/>
            <a:ext cx="2343150" cy="4456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C0C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card has a ::before pseudo-element with rgba(74,108,247,0.3) overlaid on a solid #2d2d5e background. The visual result is a tinted composite.</a:t>
            </a:r>
            <a:endParaRPr lang="en-US" sz="731" dirty="0"/>
          </a:p>
        </p:txBody>
      </p:sp>
      <p:sp>
        <p:nvSpPr>
          <p:cNvPr id="14" name="Shape 12"/>
          <p:cNvSpPr/>
          <p:nvPr/>
        </p:nvSpPr>
        <p:spPr>
          <a:xfrm>
            <a:off x="400050" y="2536031"/>
            <a:ext cx="2658118" cy="1092994"/>
          </a:xfrm>
          <a:prstGeom prst="roundRect">
            <a:avLst>
              <a:gd name="adj" fmla="val 9150"/>
            </a:avLst>
          </a:prstGeom>
          <a:solidFill>
            <a:srgbClr val="16213E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71500" y="2825353"/>
            <a:ext cx="2400943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Glowing Text Shadow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71500" y="3125391"/>
            <a:ext cx="2315218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text-shadow: 0 0 20px rgba(blue, 0.8). Should fallback to plain text.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201043" y="2536031"/>
            <a:ext cx="2741771" cy="1092994"/>
          </a:xfrm>
          <a:prstGeom prst="roundRect">
            <a:avLst>
              <a:gd name="adj" fmla="val 9150"/>
            </a:avLst>
          </a:prstGeom>
          <a:solidFill>
            <a:srgbClr val="16213E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3372493" y="2796778"/>
            <a:ext cx="571500" cy="5715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3372493" y="2796778"/>
            <a:ext cx="571500" cy="571500"/>
          </a:xfrm>
          <a:prstGeom prst="rect">
            <a:avLst/>
          </a:prstGeom>
          <a:ln>
            <a:noFill/>
          </a:ln>
        </p:spPr>
        <p:txBody>
          <a:bodyPr wrap="square" lIns="0" tIns="3429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4058293" y="2796778"/>
            <a:ext cx="571500" cy="571500"/>
          </a:xfrm>
          <a:prstGeom prst="ellipse">
            <a:avLst/>
          </a:prstGeom>
          <a:solidFill>
            <a:srgbClr val="E94560">
              <a:alpha val="50000"/>
            </a:srgbClr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4058293" y="2796778"/>
            <a:ext cx="571500" cy="571500"/>
          </a:xfrm>
          <a:prstGeom prst="rect">
            <a:avLst/>
          </a:prstGeom>
          <a:ln>
            <a:noFill/>
          </a:ln>
        </p:spPr>
        <p:txBody>
          <a:bodyPr wrap="square" lIns="0" tIns="3429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4744093" y="2796778"/>
            <a:ext cx="571500" cy="571500"/>
          </a:xfrm>
          <a:prstGeom prst="ellipse">
            <a:avLst/>
          </a:prstGeom>
          <a:solidFill>
            <a:srgbClr val="E94560">
              <a:alpha val="25000"/>
            </a:srgbClr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4744093" y="2796778"/>
            <a:ext cx="571500" cy="571500"/>
          </a:xfrm>
          <a:prstGeom prst="rect">
            <a:avLst/>
          </a:prstGeom>
          <a:ln>
            <a:noFill/>
          </a:ln>
        </p:spPr>
        <p:txBody>
          <a:bodyPr wrap="square" lIns="0" tIns="3429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429893" y="2707481"/>
            <a:ext cx="341471" cy="7500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identical badges at</a:t>
            </a:r>
            <a:endParaRPr lang="en-US" sz="675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opacity levels</a:t>
            </a:r>
            <a:endParaRPr lang="en-US" sz="675" dirty="0"/>
          </a:p>
        </p:txBody>
      </p:sp>
      <p:sp>
        <p:nvSpPr>
          <p:cNvPr id="25" name="GRAD_2"/>
          <p:cNvSpPr/>
          <p:nvPr/>
        </p:nvSpPr>
        <p:spPr>
          <a:xfrm>
            <a:off x="6085689" y="2536031"/>
            <a:ext cx="2658261" cy="1092994"/>
          </a:xfrm>
          <a:prstGeom prst="roundRect">
            <a:avLst>
              <a:gd name="adj" fmla="val 9150"/>
            </a:avLst>
          </a:prstGeom>
          <a:gradFill rotWithShape="1">
            <a:gsLst>
              <a:gs pos="0">
                <a:srgbClr val="38B2AC"/>
              </a:gs>
              <a:gs pos="33333">
                <a:srgbClr val="4A6CF7"/>
              </a:gs>
              <a:gs pos="66667">
                <a:srgbClr val="805AD5"/>
              </a:gs>
              <a:gs pos="100000">
                <a:srgbClr val="E94560"/>
              </a:gs>
            </a:gsLst>
            <a:lin ang="0" scaled="0"/>
          </a:gra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6257139" y="2536031"/>
            <a:ext cx="2315361" cy="10929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4-color horizontal gradient bar →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record-slide_28-1781898611747</dc:title>
  <dc:subject>PptxGenJS Presentation</dc:subject>
  <dc:creator>PptxGenJS</dc:creator>
  <cp:lastModifiedBy>PptxGenJS</cp:lastModifiedBy>
  <cp:revision>1</cp:revision>
  <dcterms:created xsi:type="dcterms:W3CDTF">2026-06-19T19:50:14Z</dcterms:created>
  <dcterms:modified xsi:type="dcterms:W3CDTF">2026-06-19T19:50:14Z</dcterms:modified>
</cp:coreProperties>
</file>