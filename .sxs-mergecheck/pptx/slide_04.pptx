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D_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8FAFC"/>
              </a:gs>
              <a:gs pos="100000">
                <a:srgbClr val="E2E8F0"/>
              </a:gs>
            </a:gsLst>
            <a:lin ang="5400000" scaled="0"/>
          </a:gradFill>
          <a:ln>
            <a:noFill/>
          </a:ln>
        </p:spPr>
      </p:sp>
      <p:sp>
        <p:nvSpPr>
          <p:cNvPr id="3" name="GRAD_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8FAFC"/>
              </a:gs>
              <a:gs pos="100000">
                <a:srgbClr val="E2E8F0"/>
              </a:gs>
            </a:gsLst>
            <a:lin ang="5400000" scaled="0"/>
          </a:gradFill>
          <a:ln>
            <a:noFill/>
          </a:ln>
        </p:spPr>
      </p:sp>
      <p:sp>
        <p:nvSpPr>
          <p:cNvPr id="4" name="Text 2"/>
          <p:cNvSpPr/>
          <p:nvPr/>
        </p:nvSpPr>
        <p:spPr>
          <a:xfrm>
            <a:off x="3091815" y="342900"/>
            <a:ext cx="3046024" cy="3143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25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Roadmap 2026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3589949" y="685800"/>
            <a:ext cx="2049828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milestones and delivery timeline</a:t>
            </a:r>
            <a:endParaRPr lang="en-US" sz="900" dirty="0"/>
          </a:p>
        </p:txBody>
      </p:sp>
      <p:sp>
        <p:nvSpPr>
          <p:cNvPr id="6" name="GRAD_2"/>
          <p:cNvSpPr/>
          <p:nvPr/>
        </p:nvSpPr>
        <p:spPr>
          <a:xfrm>
            <a:off x="928688" y="2457450"/>
            <a:ext cx="7286625" cy="28575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25000">
                <a:srgbClr val="60A5FA"/>
              </a:gs>
              <a:gs pos="50000">
                <a:srgbClr val="93C5FD"/>
              </a:gs>
              <a:gs pos="75000">
                <a:srgbClr val="CBD5E1"/>
              </a:gs>
              <a:gs pos="100000">
                <a:srgbClr val="E2E8F0"/>
              </a:gs>
            </a:gsLst>
            <a:lin ang="0" scaled="0"/>
          </a:gradFill>
          <a:ln>
            <a:noFill/>
          </a:ln>
        </p:spPr>
      </p:sp>
      <p:sp>
        <p:nvSpPr>
          <p:cNvPr id="7" name="Text 5"/>
          <p:cNvSpPr/>
          <p:nvPr/>
        </p:nvSpPr>
        <p:spPr>
          <a:xfrm>
            <a:off x="1785938" y="2421731"/>
            <a:ext cx="214313" cy="15716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13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013" dirty="0"/>
          </a:p>
        </p:txBody>
      </p:sp>
      <p:sp>
        <p:nvSpPr>
          <p:cNvPr id="8" name="Text 6"/>
          <p:cNvSpPr/>
          <p:nvPr/>
        </p:nvSpPr>
        <p:spPr>
          <a:xfrm>
            <a:off x="3500438" y="2421731"/>
            <a:ext cx="214313" cy="15716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13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013" dirty="0"/>
          </a:p>
        </p:txBody>
      </p:sp>
      <p:sp>
        <p:nvSpPr>
          <p:cNvPr id="9" name="Text 7"/>
          <p:cNvSpPr/>
          <p:nvPr/>
        </p:nvSpPr>
        <p:spPr>
          <a:xfrm>
            <a:off x="5214938" y="2421731"/>
            <a:ext cx="214313" cy="15716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13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013" dirty="0"/>
          </a:p>
        </p:txBody>
      </p:sp>
      <p:sp>
        <p:nvSpPr>
          <p:cNvPr id="10" name="Text 8"/>
          <p:cNvSpPr/>
          <p:nvPr/>
        </p:nvSpPr>
        <p:spPr>
          <a:xfrm>
            <a:off x="6929438" y="2421731"/>
            <a:ext cx="214313" cy="15716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13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013" dirty="0"/>
          </a:p>
        </p:txBody>
      </p:sp>
      <p:sp>
        <p:nvSpPr>
          <p:cNvPr id="11" name="Text 9"/>
          <p:cNvSpPr/>
          <p:nvPr/>
        </p:nvSpPr>
        <p:spPr>
          <a:xfrm>
            <a:off x="828604" y="1507331"/>
            <a:ext cx="485918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</a:t>
            </a:r>
            <a:endParaRPr lang="en-US" sz="731" dirty="0"/>
          </a:p>
        </p:txBody>
      </p:sp>
      <p:sp>
        <p:nvSpPr>
          <p:cNvPr id="12" name="Text 10"/>
          <p:cNvSpPr/>
          <p:nvPr/>
        </p:nvSpPr>
        <p:spPr>
          <a:xfrm>
            <a:off x="828604" y="1635919"/>
            <a:ext cx="485918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Jan 2026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342900" y="2543175"/>
            <a:ext cx="1371600" cy="135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44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</a:t>
            </a:r>
            <a:endParaRPr lang="en-US" sz="844" dirty="0"/>
          </a:p>
        </p:txBody>
      </p:sp>
      <p:sp>
        <p:nvSpPr>
          <p:cNvPr id="14" name="Text 12"/>
          <p:cNvSpPr/>
          <p:nvPr/>
        </p:nvSpPr>
        <p:spPr>
          <a:xfrm>
            <a:off x="385763" y="2707481"/>
            <a:ext cx="128587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platform rebuild with new architecture and CI/CD pipeline</a:t>
            </a:r>
            <a:endParaRPr lang="en-US" sz="675" dirty="0"/>
          </a:p>
        </p:txBody>
      </p:sp>
      <p:sp>
        <p:nvSpPr>
          <p:cNvPr id="15" name="Shape 13"/>
          <p:cNvSpPr/>
          <p:nvPr/>
        </p:nvSpPr>
        <p:spPr>
          <a:xfrm>
            <a:off x="748879" y="3021806"/>
            <a:ext cx="559570" cy="1143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</p:spPr>
      </p:sp>
      <p:sp>
        <p:nvSpPr>
          <p:cNvPr id="16" name="Text 14"/>
          <p:cNvSpPr/>
          <p:nvPr/>
        </p:nvSpPr>
        <p:spPr>
          <a:xfrm>
            <a:off x="634579" y="3021806"/>
            <a:ext cx="788170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COMPLETED</a:t>
            </a:r>
            <a:endParaRPr lang="en-US" sz="563" dirty="0"/>
          </a:p>
        </p:txBody>
      </p:sp>
      <p:sp>
        <p:nvSpPr>
          <p:cNvPr id="17" name="Shape 15"/>
          <p:cNvSpPr/>
          <p:nvPr/>
        </p:nvSpPr>
        <p:spPr>
          <a:xfrm>
            <a:off x="928688" y="2171700"/>
            <a:ext cx="200025" cy="200025"/>
          </a:xfrm>
          <a:prstGeom prst="ellipse">
            <a:avLst/>
          </a:prstGeom>
          <a:solidFill>
            <a:srgbClr val="3B82F6"/>
          </a:solidFill>
          <a:ln>
            <a:noFill/>
          </a:ln>
          <a:effectLst>
            <a:outerShdw sx="100000" sy="100000" kx="0" ky="0" algn="bl" rotWithShape="0" blurRad="57150" dist="14288" dir="5400000">
              <a:srgbClr val="3B82F6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28688" y="2171700"/>
            <a:ext cx="200025" cy="2000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88" b="1" u="none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788" dirty="0"/>
          </a:p>
        </p:txBody>
      </p:sp>
      <p:sp>
        <p:nvSpPr>
          <p:cNvPr id="19" name="Text 17"/>
          <p:cNvSpPr/>
          <p:nvPr/>
        </p:nvSpPr>
        <p:spPr>
          <a:xfrm>
            <a:off x="2533888" y="1507331"/>
            <a:ext cx="504420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2</a:t>
            </a:r>
            <a:endParaRPr lang="en-US" sz="731" dirty="0"/>
          </a:p>
        </p:txBody>
      </p:sp>
      <p:sp>
        <p:nvSpPr>
          <p:cNvPr id="20" name="Text 18"/>
          <p:cNvSpPr/>
          <p:nvPr/>
        </p:nvSpPr>
        <p:spPr>
          <a:xfrm>
            <a:off x="2533888" y="1635919"/>
            <a:ext cx="504420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 2026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2057400" y="2543175"/>
            <a:ext cx="1371600" cy="135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44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 Launch</a:t>
            </a:r>
            <a:endParaRPr lang="en-US" sz="844" dirty="0"/>
          </a:p>
        </p:txBody>
      </p:sp>
      <p:sp>
        <p:nvSpPr>
          <p:cNvPr id="22" name="Text 20"/>
          <p:cNvSpPr/>
          <p:nvPr/>
        </p:nvSpPr>
        <p:spPr>
          <a:xfrm>
            <a:off x="2100263" y="2707481"/>
            <a:ext cx="1285875" cy="38576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Private beta with 50 design partners, feedback loops established</a:t>
            </a:r>
            <a:endParaRPr lang="en-US" sz="675" dirty="0"/>
          </a:p>
        </p:txBody>
      </p:sp>
      <p:sp>
        <p:nvSpPr>
          <p:cNvPr id="23" name="Shape 21"/>
          <p:cNvSpPr/>
          <p:nvPr/>
        </p:nvSpPr>
        <p:spPr>
          <a:xfrm>
            <a:off x="2463379" y="3150394"/>
            <a:ext cx="559570" cy="1143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</p:spPr>
      </p:sp>
      <p:sp>
        <p:nvSpPr>
          <p:cNvPr id="24" name="Text 22"/>
          <p:cNvSpPr/>
          <p:nvPr/>
        </p:nvSpPr>
        <p:spPr>
          <a:xfrm>
            <a:off x="2349079" y="3150394"/>
            <a:ext cx="788170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COMPLETED</a:t>
            </a:r>
            <a:endParaRPr lang="en-US" sz="563" dirty="0"/>
          </a:p>
        </p:txBody>
      </p:sp>
      <p:sp>
        <p:nvSpPr>
          <p:cNvPr id="25" name="Shape 23"/>
          <p:cNvSpPr/>
          <p:nvPr/>
        </p:nvSpPr>
        <p:spPr>
          <a:xfrm>
            <a:off x="2643188" y="2171700"/>
            <a:ext cx="200025" cy="200025"/>
          </a:xfrm>
          <a:prstGeom prst="ellipse">
            <a:avLst/>
          </a:prstGeom>
          <a:solidFill>
            <a:srgbClr val="3B82F6"/>
          </a:solidFill>
          <a:ln>
            <a:noFill/>
          </a:ln>
          <a:effectLst>
            <a:outerShdw sx="100000" sy="100000" kx="0" ky="0" algn="bl" rotWithShape="0" blurRad="57150" dist="14288" dir="5400000">
              <a:srgbClr val="3B82F6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643188" y="2171700"/>
            <a:ext cx="200025" cy="2000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88" b="1" u="none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788" dirty="0"/>
          </a:p>
        </p:txBody>
      </p:sp>
      <p:sp>
        <p:nvSpPr>
          <p:cNvPr id="27" name="Text 25"/>
          <p:cNvSpPr/>
          <p:nvPr/>
        </p:nvSpPr>
        <p:spPr>
          <a:xfrm>
            <a:off x="4247745" y="1507331"/>
            <a:ext cx="505635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3</a:t>
            </a:r>
            <a:endParaRPr lang="en-US" sz="731" dirty="0"/>
          </a:p>
        </p:txBody>
      </p:sp>
      <p:sp>
        <p:nvSpPr>
          <p:cNvPr id="28" name="Text 26"/>
          <p:cNvSpPr/>
          <p:nvPr/>
        </p:nvSpPr>
        <p:spPr>
          <a:xfrm>
            <a:off x="4247745" y="1635919"/>
            <a:ext cx="505635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 2026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3771900" y="2543175"/>
            <a:ext cx="1371600" cy="135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44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 Release</a:t>
            </a:r>
            <a:endParaRPr lang="en-US" sz="844" dirty="0"/>
          </a:p>
        </p:txBody>
      </p:sp>
      <p:sp>
        <p:nvSpPr>
          <p:cNvPr id="30" name="Text 28"/>
          <p:cNvSpPr/>
          <p:nvPr/>
        </p:nvSpPr>
        <p:spPr>
          <a:xfrm>
            <a:off x="3814763" y="2707481"/>
            <a:ext cx="128587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launch with self-serve onboarding and documentation</a:t>
            </a:r>
            <a:endParaRPr lang="en-US" sz="675" dirty="0"/>
          </a:p>
        </p:txBody>
      </p:sp>
      <p:sp>
        <p:nvSpPr>
          <p:cNvPr id="31" name="Shape 29"/>
          <p:cNvSpPr/>
          <p:nvPr/>
        </p:nvSpPr>
        <p:spPr>
          <a:xfrm>
            <a:off x="4162592" y="3021806"/>
            <a:ext cx="590288" cy="1143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</p:sp>
      <p:sp>
        <p:nvSpPr>
          <p:cNvPr id="32" name="Text 30"/>
          <p:cNvSpPr/>
          <p:nvPr/>
        </p:nvSpPr>
        <p:spPr>
          <a:xfrm>
            <a:off x="4041148" y="3021806"/>
            <a:ext cx="833176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PROGRESS</a:t>
            </a:r>
            <a:endParaRPr lang="en-US" sz="563" dirty="0"/>
          </a:p>
        </p:txBody>
      </p:sp>
      <p:sp>
        <p:nvSpPr>
          <p:cNvPr id="33" name="Shape 31"/>
          <p:cNvSpPr/>
          <p:nvPr/>
        </p:nvSpPr>
        <p:spPr>
          <a:xfrm>
            <a:off x="4271963" y="2085975"/>
            <a:ext cx="371475" cy="371475"/>
          </a:xfrm>
          <a:prstGeom prst="ellipse">
            <a:avLst/>
          </a:prstGeom>
          <a:solidFill>
            <a:srgbClr val="3B82F6">
              <a:alpha val="8000"/>
            </a:srgbClr>
          </a:solidFill>
          <a:ln>
            <a:noFill/>
          </a:ln>
        </p:spPr>
      </p:sp>
      <p:sp>
        <p:nvSpPr>
          <p:cNvPr id="34" name="Shape 32"/>
          <p:cNvSpPr/>
          <p:nvPr/>
        </p:nvSpPr>
        <p:spPr>
          <a:xfrm>
            <a:off x="4314825" y="2128838"/>
            <a:ext cx="285750" cy="285750"/>
          </a:xfrm>
          <a:prstGeom prst="ellipse">
            <a:avLst/>
          </a:prstGeom>
          <a:solidFill>
            <a:srgbClr val="3B82F6">
              <a:alpha val="20000"/>
            </a:srgbClr>
          </a:solidFill>
          <a:ln>
            <a:noFill/>
          </a:ln>
        </p:spPr>
      </p:sp>
      <p:sp>
        <p:nvSpPr>
          <p:cNvPr id="35" name="Shape 33"/>
          <p:cNvSpPr/>
          <p:nvPr/>
        </p:nvSpPr>
        <p:spPr>
          <a:xfrm>
            <a:off x="4357688" y="2171700"/>
            <a:ext cx="200025" cy="200025"/>
          </a:xfrm>
          <a:prstGeom prst="ellipse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36" name="Shape 34"/>
          <p:cNvSpPr/>
          <p:nvPr/>
        </p:nvSpPr>
        <p:spPr>
          <a:xfrm>
            <a:off x="4414838" y="2228850"/>
            <a:ext cx="85725" cy="85725"/>
          </a:xfrm>
          <a:prstGeom prst="ellipse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37" name="Shape 35"/>
          <p:cNvSpPr/>
          <p:nvPr/>
        </p:nvSpPr>
        <p:spPr>
          <a:xfrm>
            <a:off x="4386263" y="2200275"/>
            <a:ext cx="142875" cy="14287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8" name="Text 36"/>
          <p:cNvSpPr/>
          <p:nvPr/>
        </p:nvSpPr>
        <p:spPr>
          <a:xfrm>
            <a:off x="5960816" y="1507331"/>
            <a:ext cx="508421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4</a:t>
            </a:r>
            <a:endParaRPr lang="en-US" sz="731" dirty="0"/>
          </a:p>
        </p:txBody>
      </p:sp>
      <p:sp>
        <p:nvSpPr>
          <p:cNvPr id="39" name="Text 37"/>
          <p:cNvSpPr/>
          <p:nvPr/>
        </p:nvSpPr>
        <p:spPr>
          <a:xfrm>
            <a:off x="5960816" y="1635919"/>
            <a:ext cx="508421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 2026</a:t>
            </a:r>
            <a:endParaRPr lang="en-US" sz="675" dirty="0"/>
          </a:p>
        </p:txBody>
      </p:sp>
      <p:sp>
        <p:nvSpPr>
          <p:cNvPr id="40" name="Text 38"/>
          <p:cNvSpPr/>
          <p:nvPr/>
        </p:nvSpPr>
        <p:spPr>
          <a:xfrm>
            <a:off x="5486400" y="2543175"/>
            <a:ext cx="1371600" cy="135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44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</a:t>
            </a:r>
            <a:endParaRPr lang="en-US" sz="844" dirty="0"/>
          </a:p>
        </p:txBody>
      </p:sp>
      <p:sp>
        <p:nvSpPr>
          <p:cNvPr id="41" name="Text 39"/>
          <p:cNvSpPr/>
          <p:nvPr/>
        </p:nvSpPr>
        <p:spPr>
          <a:xfrm>
            <a:off x="5529263" y="2707481"/>
            <a:ext cx="128587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SSO, RBAC, audit logs, SOC 2 compliance certification</a:t>
            </a:r>
            <a:endParaRPr lang="en-US" sz="675" dirty="0"/>
          </a:p>
        </p:txBody>
      </p:sp>
      <p:sp>
        <p:nvSpPr>
          <p:cNvPr id="42" name="Shape 40"/>
          <p:cNvSpPr/>
          <p:nvPr/>
        </p:nvSpPr>
        <p:spPr>
          <a:xfrm>
            <a:off x="5944172" y="3021806"/>
            <a:ext cx="456057" cy="1143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43" name="Text 41"/>
          <p:cNvSpPr/>
          <p:nvPr/>
        </p:nvSpPr>
        <p:spPr>
          <a:xfrm>
            <a:off x="5851303" y="3021806"/>
            <a:ext cx="641795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PLANNED</a:t>
            </a:r>
            <a:endParaRPr lang="en-US" sz="563" dirty="0"/>
          </a:p>
        </p:txBody>
      </p:sp>
      <p:sp>
        <p:nvSpPr>
          <p:cNvPr id="44" name="Shape 42"/>
          <p:cNvSpPr/>
          <p:nvPr/>
        </p:nvSpPr>
        <p:spPr>
          <a:xfrm>
            <a:off x="6072188" y="2171700"/>
            <a:ext cx="200025" cy="200025"/>
          </a:xfrm>
          <a:prstGeom prst="ellipse">
            <a:avLst/>
          </a:prstGeom>
          <a:solidFill>
            <a:srgbClr val="FFFFFF"/>
          </a:solidFill>
          <a:ln w="21431" algn="in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77888" y="1507331"/>
            <a:ext cx="503420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5</a:t>
            </a:r>
            <a:endParaRPr lang="en-US" sz="731" dirty="0"/>
          </a:p>
        </p:txBody>
      </p:sp>
      <p:sp>
        <p:nvSpPr>
          <p:cNvPr id="46" name="Text 44"/>
          <p:cNvSpPr/>
          <p:nvPr/>
        </p:nvSpPr>
        <p:spPr>
          <a:xfrm>
            <a:off x="7677888" y="1635919"/>
            <a:ext cx="503420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Oct 2026</a:t>
            </a:r>
            <a:endParaRPr lang="en-US" sz="675" dirty="0"/>
          </a:p>
        </p:txBody>
      </p:sp>
      <p:sp>
        <p:nvSpPr>
          <p:cNvPr id="47" name="Text 45"/>
          <p:cNvSpPr/>
          <p:nvPr/>
        </p:nvSpPr>
        <p:spPr>
          <a:xfrm>
            <a:off x="7200900" y="2543175"/>
            <a:ext cx="1371600" cy="135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44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Features</a:t>
            </a:r>
            <a:endParaRPr lang="en-US" sz="844" dirty="0"/>
          </a:p>
        </p:txBody>
      </p:sp>
      <p:sp>
        <p:nvSpPr>
          <p:cNvPr id="48" name="Text 46"/>
          <p:cNvSpPr/>
          <p:nvPr/>
        </p:nvSpPr>
        <p:spPr>
          <a:xfrm>
            <a:off x="7243763" y="2707481"/>
            <a:ext cx="1285875" cy="38576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ML-powered insights, predictive analytics, smart automation</a:t>
            </a:r>
            <a:endParaRPr lang="en-US" sz="675" dirty="0"/>
          </a:p>
        </p:txBody>
      </p:sp>
      <p:sp>
        <p:nvSpPr>
          <p:cNvPr id="49" name="Shape 47"/>
          <p:cNvSpPr/>
          <p:nvPr/>
        </p:nvSpPr>
        <p:spPr>
          <a:xfrm>
            <a:off x="7658671" y="3150394"/>
            <a:ext cx="456057" cy="1143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50" name="Text 48"/>
          <p:cNvSpPr/>
          <p:nvPr/>
        </p:nvSpPr>
        <p:spPr>
          <a:xfrm>
            <a:off x="7565803" y="3150394"/>
            <a:ext cx="641795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PLANNED</a:t>
            </a:r>
            <a:endParaRPr lang="en-US" sz="563" dirty="0"/>
          </a:p>
        </p:txBody>
      </p:sp>
      <p:sp>
        <p:nvSpPr>
          <p:cNvPr id="51" name="Shape 49"/>
          <p:cNvSpPr/>
          <p:nvPr/>
        </p:nvSpPr>
        <p:spPr>
          <a:xfrm>
            <a:off x="7786688" y="2171700"/>
            <a:ext cx="200025" cy="200025"/>
          </a:xfrm>
          <a:prstGeom prst="ellipse">
            <a:avLst/>
          </a:prstGeom>
          <a:solidFill>
            <a:srgbClr val="FFFFFF"/>
          </a:solidFill>
          <a:ln w="21431" algn="in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record-slide_04-1781898593915</dc:title>
  <dc:subject>PptxGenJS Presentation</dc:subject>
  <dc:creator>PptxGenJS</dc:creator>
  <cp:lastModifiedBy>PptxGenJS</cp:lastModifiedBy>
  <cp:revision>1</cp:revision>
  <dcterms:created xsi:type="dcterms:W3CDTF">2026-06-19T19:49:56Z</dcterms:created>
  <dcterms:modified xsi:type="dcterms:W3CDTF">2026-06-19T19:49:56Z</dcterms:modified>
</cp:coreProperties>
</file>