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28600"/>
            <a:ext cx="865822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242888" y="714375"/>
            <a:ext cx="865822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Planning Framework — Q2 2026 Review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85750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8F5E9"/>
          </a:solidFill>
          <a:ln w="14288" algn="in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063" y="1235869"/>
            <a:ext cx="257175" cy="257175"/>
          </a:xfrm>
          <a:prstGeom prst="ellipse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500063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842963" y="1278731"/>
            <a:ext cx="772311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00063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Market-leading product with 98% uptime SLA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brand recognition in enterprise segment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Experienced engineering team (avg 8yr tenure)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ML pipeline with 3 patents filed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4643438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EBEE"/>
          </a:solidFill>
          <a:ln w="14288" algn="in">
            <a:solidFill>
              <a:srgbClr val="E539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57750" y="1235869"/>
            <a:ext cx="257175" cy="257175"/>
          </a:xfrm>
          <a:prstGeom prst="ellipse">
            <a:avLst/>
          </a:prstGeom>
          <a:solidFill>
            <a:srgbClr val="E53935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4857750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200650" y="1278731"/>
            <a:ext cx="978479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Weaknesses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857750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customer acquisition cost ($420 CAC)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presence in APAC markets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 codebase slowing feature velocity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Dependency on single cloud provider (AWS)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285750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3F2FD"/>
          </a:solidFill>
          <a:ln w="14288" algn="in">
            <a:solidFill>
              <a:srgbClr val="1E8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063" y="3239691"/>
            <a:ext cx="257175" cy="257175"/>
          </a:xfrm>
          <a:prstGeom prst="ellipse">
            <a:avLst/>
          </a:prstGeom>
          <a:solidFill>
            <a:srgbClr val="1E88E5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500063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842963" y="3282553"/>
            <a:ext cx="1049703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00063" y="3596878"/>
            <a:ext cx="3786188" cy="621506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AI/ML integration demand growing 34% YoY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 exit from mid-market opens gap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partnership with Salesforce ecosystem</a:t>
            </a:r>
            <a:endParaRPr lang="en-US" sz="788" dirty="0"/>
          </a:p>
        </p:txBody>
      </p:sp>
      <p:sp>
        <p:nvSpPr>
          <p:cNvPr id="19" name="Shape 17"/>
          <p:cNvSpPr/>
          <p:nvPr/>
        </p:nvSpPr>
        <p:spPr>
          <a:xfrm>
            <a:off x="4643438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F3E0"/>
          </a:solidFill>
          <a:ln w="14288" algn="in">
            <a:solidFill>
              <a:srgbClr val="FB8C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57750" y="3239691"/>
            <a:ext cx="257175" cy="257175"/>
          </a:xfrm>
          <a:prstGeom prst="ellipse">
            <a:avLst/>
          </a:prstGeom>
          <a:solidFill>
            <a:srgbClr val="FB8C00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4857750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5200650" y="3282553"/>
            <a:ext cx="625507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E651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857750" y="3596878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entrant with $50M Series B funding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changes in EU data sovereignty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Economic downturn reducing enterprise budgets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alternatives gaining traction</a:t>
            </a:r>
            <a:endParaRPr lang="en-US" sz="78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76152" y="285750"/>
            <a:ext cx="991624" cy="192881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3876127" y="285750"/>
            <a:ext cx="1391674" cy="1928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spc="84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PROOF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2682121" y="578644"/>
            <a:ext cx="3779687" cy="3786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Trusted by 500+ Companies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700909" y="1000125"/>
            <a:ext cx="3742111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startups to Fortune 500, teams rely on us to power their workflows</a:t>
            </a:r>
            <a:endParaRPr lang="en-US" sz="844" dirty="0"/>
          </a:p>
        </p:txBody>
      </p:sp>
      <p:sp>
        <p:nvSpPr>
          <p:cNvPr id="6" name="Shape 4"/>
          <p:cNvSpPr/>
          <p:nvPr/>
        </p:nvSpPr>
        <p:spPr>
          <a:xfrm>
            <a:off x="1357313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7313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Corp</a:t>
            </a:r>
            <a:endParaRPr lang="en-US" sz="844" dirty="0"/>
          </a:p>
        </p:txBody>
      </p:sp>
      <p:sp>
        <p:nvSpPr>
          <p:cNvPr id="8" name="Shape 6"/>
          <p:cNvSpPr/>
          <p:nvPr/>
        </p:nvSpPr>
        <p:spPr>
          <a:xfrm>
            <a:off x="2993231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3231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DA1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</a:t>
            </a:r>
            <a:endParaRPr lang="en-US" sz="844" dirty="0"/>
          </a:p>
        </p:txBody>
      </p:sp>
      <p:sp>
        <p:nvSpPr>
          <p:cNvPr id="10" name="Shape 8"/>
          <p:cNvSpPr/>
          <p:nvPr/>
        </p:nvSpPr>
        <p:spPr>
          <a:xfrm>
            <a:off x="4629150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150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F6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NovaTech</a:t>
            </a:r>
            <a:endParaRPr lang="en-US" sz="844" dirty="0"/>
          </a:p>
        </p:txBody>
      </p:sp>
      <p:sp>
        <p:nvSpPr>
          <p:cNvPr id="12" name="Shape 10"/>
          <p:cNvSpPr/>
          <p:nvPr/>
        </p:nvSpPr>
        <p:spPr>
          <a:xfrm>
            <a:off x="6265069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5069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A6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BlueShift</a:t>
            </a:r>
            <a:endParaRPr lang="en-US" sz="844" dirty="0"/>
          </a:p>
        </p:txBody>
      </p:sp>
      <p:sp>
        <p:nvSpPr>
          <p:cNvPr id="14" name="Shape 12"/>
          <p:cNvSpPr/>
          <p:nvPr/>
        </p:nvSpPr>
        <p:spPr>
          <a:xfrm>
            <a:off x="1357313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7313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7B6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Quantum AI</a:t>
            </a:r>
            <a:endParaRPr lang="en-US" sz="844" dirty="0"/>
          </a:p>
        </p:txBody>
      </p:sp>
      <p:sp>
        <p:nvSpPr>
          <p:cNvPr id="16" name="Shape 14"/>
          <p:cNvSpPr/>
          <p:nvPr/>
        </p:nvSpPr>
        <p:spPr>
          <a:xfrm>
            <a:off x="2993231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3231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RedPanda</a:t>
            </a:r>
            <a:endParaRPr lang="en-US" sz="844" dirty="0"/>
          </a:p>
        </p:txBody>
      </p:sp>
      <p:sp>
        <p:nvSpPr>
          <p:cNvPr id="18" name="Shape 16"/>
          <p:cNvSpPr/>
          <p:nvPr/>
        </p:nvSpPr>
        <p:spPr>
          <a:xfrm>
            <a:off x="4629150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9150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EverGreen</a:t>
            </a:r>
            <a:endParaRPr lang="en-US" sz="844" dirty="0"/>
          </a:p>
        </p:txBody>
      </p:sp>
      <p:sp>
        <p:nvSpPr>
          <p:cNvPr id="20" name="Shape 18"/>
          <p:cNvSpPr/>
          <p:nvPr/>
        </p:nvSpPr>
        <p:spPr>
          <a:xfrm>
            <a:off x="6265069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5069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VioletLab</a:t>
            </a:r>
            <a:endParaRPr lang="en-US" sz="844" dirty="0"/>
          </a:p>
        </p:txBody>
      </p:sp>
      <p:sp>
        <p:nvSpPr>
          <p:cNvPr id="22" name="Shape 20"/>
          <p:cNvSpPr/>
          <p:nvPr/>
        </p:nvSpPr>
        <p:spPr>
          <a:xfrm>
            <a:off x="1357313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7313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SunForge</a:t>
            </a:r>
            <a:endParaRPr lang="en-US" sz="844" dirty="0"/>
          </a:p>
        </p:txBody>
      </p:sp>
      <p:sp>
        <p:nvSpPr>
          <p:cNvPr id="24" name="Shape 22"/>
          <p:cNvSpPr/>
          <p:nvPr/>
        </p:nvSpPr>
        <p:spPr>
          <a:xfrm>
            <a:off x="2993231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3231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AquaFlow</a:t>
            </a:r>
            <a:endParaRPr lang="en-US" sz="844" dirty="0"/>
          </a:p>
        </p:txBody>
      </p:sp>
      <p:sp>
        <p:nvSpPr>
          <p:cNvPr id="26" name="Shape 24"/>
          <p:cNvSpPr/>
          <p:nvPr/>
        </p:nvSpPr>
        <p:spPr>
          <a:xfrm>
            <a:off x="4629150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9150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PinkCloud</a:t>
            </a:r>
            <a:endParaRPr lang="en-US" sz="844" dirty="0"/>
          </a:p>
        </p:txBody>
      </p:sp>
      <p:sp>
        <p:nvSpPr>
          <p:cNvPr id="28" name="Shape 26"/>
          <p:cNvSpPr/>
          <p:nvPr/>
        </p:nvSpPr>
        <p:spPr>
          <a:xfrm>
            <a:off x="6265069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5069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TealStack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1465612" y="3321844"/>
            <a:ext cx="1200150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1463" dirty="0"/>
          </a:p>
        </p:txBody>
      </p:sp>
      <p:sp>
        <p:nvSpPr>
          <p:cNvPr id="31" name="Text 29"/>
          <p:cNvSpPr/>
          <p:nvPr/>
        </p:nvSpPr>
        <p:spPr>
          <a:xfrm>
            <a:off x="1207151" y="3564731"/>
            <a:ext cx="171692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 / 5 average rating</a:t>
            </a:r>
            <a:endParaRPr lang="en-US" sz="1238" dirty="0"/>
          </a:p>
        </p:txBody>
      </p:sp>
      <p:sp>
        <p:nvSpPr>
          <p:cNvPr id="32" name="Text 30"/>
          <p:cNvSpPr/>
          <p:nvPr/>
        </p:nvSpPr>
        <p:spPr>
          <a:xfrm>
            <a:off x="1238083" y="3764756"/>
            <a:ext cx="1654993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verified customer reviews</a:t>
            </a:r>
            <a:endParaRPr lang="en-US" sz="731" dirty="0"/>
          </a:p>
        </p:txBody>
      </p:sp>
      <p:sp>
        <p:nvSpPr>
          <p:cNvPr id="33" name="Shape 31"/>
          <p:cNvSpPr/>
          <p:nvPr/>
        </p:nvSpPr>
        <p:spPr>
          <a:xfrm>
            <a:off x="3181326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3488507" y="3396853"/>
            <a:ext cx="1042630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10,000+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488507" y="3689747"/>
            <a:ext cx="10426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Reviews</a:t>
            </a:r>
            <a:endParaRPr lang="en-US" sz="731" dirty="0"/>
          </a:p>
        </p:txBody>
      </p:sp>
      <p:sp>
        <p:nvSpPr>
          <p:cNvPr id="36" name="Shape 34"/>
          <p:cNvSpPr/>
          <p:nvPr/>
        </p:nvSpPr>
        <p:spPr>
          <a:xfrm>
            <a:off x="4831175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5181219" y="3493294"/>
            <a:ext cx="918972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5395532" y="3493294"/>
            <a:ext cx="704659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Certified</a:t>
            </a:r>
            <a:endParaRPr lang="en-US" sz="619" dirty="0"/>
          </a:p>
        </p:txBody>
      </p:sp>
      <p:sp>
        <p:nvSpPr>
          <p:cNvPr id="39" name="Shape 37"/>
          <p:cNvSpPr/>
          <p:nvPr/>
        </p:nvSpPr>
        <p:spPr>
          <a:xfrm>
            <a:off x="5295519" y="3571875"/>
            <a:ext cx="57150" cy="5715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6185916" y="3493294"/>
            <a:ext cx="953548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6400229" y="3493294"/>
            <a:ext cx="739235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Compliant</a:t>
            </a:r>
            <a:endParaRPr lang="en-US" sz="619" dirty="0"/>
          </a:p>
        </p:txBody>
      </p:sp>
      <p:sp>
        <p:nvSpPr>
          <p:cNvPr id="42" name="Shape 40"/>
          <p:cNvSpPr/>
          <p:nvPr/>
        </p:nvSpPr>
        <p:spPr>
          <a:xfrm>
            <a:off x="6300216" y="3571875"/>
            <a:ext cx="57150" cy="571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3" name="Shape 41"/>
          <p:cNvSpPr/>
          <p:nvPr/>
        </p:nvSpPr>
        <p:spPr>
          <a:xfrm>
            <a:off x="7225260" y="3493294"/>
            <a:ext cx="711589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4" name="Text 42"/>
          <p:cNvSpPr/>
          <p:nvPr/>
        </p:nvSpPr>
        <p:spPr>
          <a:xfrm>
            <a:off x="7439573" y="3493294"/>
            <a:ext cx="497276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</a:t>
            </a:r>
            <a:endParaRPr lang="en-US" sz="619" dirty="0"/>
          </a:p>
        </p:txBody>
      </p:sp>
      <p:sp>
        <p:nvSpPr>
          <p:cNvPr id="45" name="Shape 43"/>
          <p:cNvSpPr/>
          <p:nvPr/>
        </p:nvSpPr>
        <p:spPr>
          <a:xfrm>
            <a:off x="7339560" y="3571875"/>
            <a:ext cx="57150" cy="571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71563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15123" y="400050"/>
            <a:ext cx="3269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478631" y="678656"/>
            <a:ext cx="114300" cy="3564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spc="169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· PRIORITY</a:t>
            </a:r>
            <a:endParaRPr lang="en-US" sz="731" dirty="0"/>
          </a:p>
        </p:txBody>
      </p:sp>
      <p:sp>
        <p:nvSpPr>
          <p:cNvPr id="5" name="Text 3"/>
          <p:cNvSpPr/>
          <p:nvPr/>
        </p:nvSpPr>
        <p:spPr>
          <a:xfrm>
            <a:off x="458343" y="4414838"/>
            <a:ext cx="240673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249031" y="4636294"/>
            <a:ext cx="6592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71613" y="357188"/>
            <a:ext cx="7358063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spc="113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ROADMAP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1471613" y="521494"/>
            <a:ext cx="7358063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top to bottom</a:t>
            </a:r>
            <a:endParaRPr lang="en-US" sz="1913" dirty="0"/>
          </a:p>
        </p:txBody>
      </p:sp>
      <p:sp>
        <p:nvSpPr>
          <p:cNvPr id="9" name="Shape 7"/>
          <p:cNvSpPr/>
          <p:nvPr/>
        </p:nvSpPr>
        <p:spPr>
          <a:xfrm>
            <a:off x="1471613" y="971550"/>
            <a:ext cx="7272338" cy="657225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0" name="GRAD_0"/>
          <p:cNvSpPr/>
          <p:nvPr/>
        </p:nvSpPr>
        <p:spPr>
          <a:xfrm rot="16200000">
            <a:off x="1471613" y="971550"/>
            <a:ext cx="657225" cy="657225"/>
          </a:xfrm>
          <a:prstGeom prst="round2SameRect">
            <a:avLst>
              <a:gd name="adj" fmla="val 15217"/>
            </a:avLst>
          </a:prstGeom>
          <a:gradFill rotWithShape="1">
            <a:gsLst>
              <a:gs pos="0">
                <a:srgbClr val="F87171"/>
              </a:gs>
              <a:gs pos="100000">
                <a:srgbClr val="DC2626"/>
              </a:gs>
            </a:gsLst>
            <a:lin ang="9600000" scaled="0"/>
          </a:gra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1694640" y="1157288"/>
            <a:ext cx="29689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1561267" y="1364456"/>
            <a:ext cx="477845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1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NEXT</a:t>
            </a:r>
            <a:endParaRPr lang="en-US" sz="534" dirty="0"/>
          </a:p>
        </p:txBody>
      </p:sp>
      <p:sp>
        <p:nvSpPr>
          <p:cNvPr id="13" name="Text 11"/>
          <p:cNvSpPr/>
          <p:nvPr/>
        </p:nvSpPr>
        <p:spPr>
          <a:xfrm>
            <a:off x="2400300" y="1140000"/>
            <a:ext cx="4998696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2400300" y="1325737"/>
            <a:ext cx="4998696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mental-health prompts to official, vetted resources.</a:t>
            </a:r>
            <a:endParaRPr lang="en-US" sz="731" dirty="0"/>
          </a:p>
        </p:txBody>
      </p:sp>
      <p:sp>
        <p:nvSpPr>
          <p:cNvPr id="15" name="Shape 13"/>
          <p:cNvSpPr/>
          <p:nvPr/>
        </p:nvSpPr>
        <p:spPr>
          <a:xfrm>
            <a:off x="7584734" y="1189434"/>
            <a:ext cx="1030629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7377565" y="1189434"/>
            <a:ext cx="144496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external redirects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1471613" y="1743075"/>
            <a:ext cx="7272338" cy="785813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8" name="GRAD_1"/>
          <p:cNvSpPr/>
          <p:nvPr/>
        </p:nvSpPr>
        <p:spPr>
          <a:xfrm rot="16200000">
            <a:off x="1407319" y="1807369"/>
            <a:ext cx="785813" cy="657225"/>
          </a:xfrm>
          <a:prstGeom prst="round2SameRect">
            <a:avLst>
              <a:gd name="adj" fmla="val 15217"/>
            </a:avLst>
          </a:prstGeom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9600000" scaled="0"/>
          </a:gra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714286" y="1993106"/>
            <a:ext cx="25760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1572197" y="2200275"/>
            <a:ext cx="456057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7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534" dirty="0"/>
          </a:p>
        </p:txBody>
      </p:sp>
      <p:sp>
        <p:nvSpPr>
          <p:cNvPr id="21" name="Text 19"/>
          <p:cNvSpPr/>
          <p:nvPr/>
        </p:nvSpPr>
        <p:spPr>
          <a:xfrm>
            <a:off x="2400300" y="1975818"/>
            <a:ext cx="503234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fixups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2400300" y="2161556"/>
            <a:ext cx="503234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&amp; rewrite wrongly-transcribed medical sources online.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7618381" y="2025253"/>
            <a:ext cx="99698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7418356" y="2025253"/>
            <a:ext cx="1397032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citation-style refs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1471613" y="2643188"/>
            <a:ext cx="7272338" cy="942975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26" name="GRAD_2"/>
          <p:cNvSpPr/>
          <p:nvPr/>
        </p:nvSpPr>
        <p:spPr>
          <a:xfrm rot="16200000">
            <a:off x="1328738" y="2786063"/>
            <a:ext cx="942975" cy="657225"/>
          </a:xfrm>
          <a:prstGeom prst="round2SameRect">
            <a:avLst>
              <a:gd name="adj" fmla="val 15217"/>
            </a:avLst>
          </a:prstGeom>
          <a:gradFill rotWithShape="1">
            <a:gsLst>
              <a:gs pos="0">
                <a:srgbClr val="2DD4BF"/>
              </a:gs>
              <a:gs pos="100000">
                <a:srgbClr val="0D9488"/>
              </a:gs>
            </a:gsLst>
            <a:lin ang="9600000" scaled="0"/>
          </a:gra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1698855" y="2932509"/>
            <a:ext cx="28846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1471613" y="3139678"/>
            <a:ext cx="657225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EDF9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· ONGOING</a:t>
            </a:r>
            <a:endParaRPr lang="en-US" sz="534" dirty="0"/>
          </a:p>
        </p:txBody>
      </p:sp>
      <p:sp>
        <p:nvSpPr>
          <p:cNvPr id="29" name="Text 27"/>
          <p:cNvSpPr/>
          <p:nvPr/>
        </p:nvSpPr>
        <p:spPr>
          <a:xfrm>
            <a:off x="2400300" y="2954512"/>
            <a:ext cx="535288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Upstreaming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2400300" y="3140250"/>
            <a:ext cx="535288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losses back to Claude &amp; Codex — the full-mode fix.</a:t>
            </a:r>
            <a:endParaRPr lang="en-US" sz="731" dirty="0"/>
          </a:p>
        </p:txBody>
      </p:sp>
      <p:sp>
        <p:nvSpPr>
          <p:cNvPr id="31" name="Shape 29"/>
          <p:cNvSpPr/>
          <p:nvPr/>
        </p:nvSpPr>
        <p:spPr>
          <a:xfrm>
            <a:off x="7938921" y="3003947"/>
            <a:ext cx="67644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7803190" y="3003947"/>
            <a:ext cx="947904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full mode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post-merge-master</dc:title>
  <dc:subject>PptxGenJS Presentation</dc:subject>
  <dc:creator>PptxGenJS</dc:creator>
  <cp:lastModifiedBy>PptxGenJS</cp:lastModifiedBy>
  <cp:revision>1</cp:revision>
  <dcterms:created xsi:type="dcterms:W3CDTF">2026-06-20T15:35:38Z</dcterms:created>
  <dcterms:modified xsi:type="dcterms:W3CDTF">2026-06-20T15:35:38Z</dcterms:modified>
</cp:coreProperties>
</file>