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563" y="532209"/>
            <a:ext cx="3560802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Transparent Pricing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3123819" y="903684"/>
            <a:ext cx="289636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plan that fits your team. No hidden fees.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400175" y="1275159"/>
            <a:ext cx="2000250" cy="333613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5913" y="1489472"/>
            <a:ext cx="1628775" cy="6643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1585913" y="2146697"/>
            <a:ext cx="1628775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543050" y="1489472"/>
            <a:ext cx="171450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1543050" y="1668066"/>
            <a:ext cx="1714500" cy="3643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9" name="Shape 7"/>
          <p:cNvSpPr/>
          <p:nvPr/>
        </p:nvSpPr>
        <p:spPr>
          <a:xfrm>
            <a:off x="1585913" y="2611041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1585913" y="2353866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 team members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1585913" y="2618184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5913" y="2875359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585913" y="2618184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 GB storage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1585913" y="2882503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5913" y="3139678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1585913" y="2882503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Basic analytics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1585913" y="3146822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5913" y="3403997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585913" y="3146822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1585913" y="3411141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5913" y="3668316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1585913" y="3411141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support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1585913" y="3675459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5913" y="3675459"/>
            <a:ext cx="16287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access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1585913" y="4075509"/>
            <a:ext cx="1628775" cy="321469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5913" y="4075509"/>
            <a:ext cx="1628775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844" dirty="0"/>
          </a:p>
        </p:txBody>
      </p:sp>
      <p:sp>
        <p:nvSpPr>
          <p:cNvPr id="27" name="Shape 25"/>
          <p:cNvSpPr/>
          <p:nvPr/>
        </p:nvSpPr>
        <p:spPr>
          <a:xfrm>
            <a:off x="3531870" y="1208437"/>
            <a:ext cx="2080260" cy="3469577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  <a:effectLst>
            <a:outerShdw sx="100000" sy="100000" kx="0" ky="0" algn="bl" rotWithShape="0" blurRad="228600" dist="57150" dir="5400000">
              <a:srgbClr val="6366F1">
                <a:alpha val="18000"/>
              </a:srgbClr>
            </a:outerShdw>
          </a:effectLst>
        </p:spPr>
      </p:sp>
      <p:sp>
        <p:nvSpPr>
          <p:cNvPr id="28" name="GRAD_0"/>
          <p:cNvSpPr/>
          <p:nvPr/>
        </p:nvSpPr>
        <p:spPr>
          <a:xfrm>
            <a:off x="3725037" y="1223296"/>
            <a:ext cx="1693926" cy="898970"/>
          </a:xfrm>
          <a:prstGeom prst="round2SameRect">
            <a:avLst>
              <a:gd name="adj1" fmla="val 7947"/>
              <a:gd name="adj2" fmla="val 0"/>
            </a:avLst>
          </a:prstGeom>
          <a:gradFill rotWithShape="1">
            <a:gsLst>
              <a:gs pos="0">
                <a:srgbClr val="EEF2FF"/>
              </a:gs>
              <a:gs pos="100000">
                <a:srgbClr val="E0E7FF"/>
              </a:gs>
            </a:gsLst>
            <a:lin ang="2700000" scaled="0"/>
          </a:gra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725037" y="2115122"/>
            <a:ext cx="1693926" cy="7144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3860483" y="1431322"/>
            <a:ext cx="1423035" cy="15602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3860483" y="1617059"/>
            <a:ext cx="1423035" cy="3789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32" name="Shape 30"/>
          <p:cNvSpPr/>
          <p:nvPr/>
        </p:nvSpPr>
        <p:spPr>
          <a:xfrm>
            <a:off x="3725037" y="2598039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3725037" y="2330291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25 team members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3725037" y="2605183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5037" y="2872931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3725037" y="2605183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100 GB storage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3725037" y="2880074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5037" y="3147822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3725037" y="2880074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Advanced analytics</a:t>
            </a:r>
            <a:endParaRPr lang="en-US" sz="788" dirty="0"/>
          </a:p>
        </p:txBody>
      </p:sp>
      <p:sp>
        <p:nvSpPr>
          <p:cNvPr id="40" name="Shape 38"/>
          <p:cNvSpPr/>
          <p:nvPr/>
        </p:nvSpPr>
        <p:spPr>
          <a:xfrm>
            <a:off x="3725037" y="3154966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5037" y="3422714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3725037" y="3154966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3725037" y="3429857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5037" y="3697605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3725037" y="3429857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support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3725037" y="3704749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25037" y="3704749"/>
            <a:ext cx="1693926" cy="26746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access</a:t>
            </a:r>
            <a:endParaRPr lang="en-US" sz="788" dirty="0"/>
          </a:p>
        </p:txBody>
      </p:sp>
      <p:sp>
        <p:nvSpPr>
          <p:cNvPr id="48" name="GRAD_1"/>
          <p:cNvSpPr/>
          <p:nvPr/>
        </p:nvSpPr>
        <p:spPr>
          <a:xfrm>
            <a:off x="3725037" y="4150519"/>
            <a:ext cx="1693926" cy="304610"/>
          </a:xfrm>
          <a:prstGeom prst="roundRect">
            <a:avLst>
              <a:gd name="adj" fmla="val 18762"/>
            </a:avLst>
          </a:prstGeom>
          <a:gradFill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3725037" y="4150519"/>
            <a:ext cx="1693926" cy="30461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844" dirty="0"/>
          </a:p>
        </p:txBody>
      </p:sp>
      <p:sp>
        <p:nvSpPr>
          <p:cNvPr id="50" name="GRAD_2"/>
          <p:cNvSpPr/>
          <p:nvPr/>
        </p:nvSpPr>
        <p:spPr>
          <a:xfrm>
            <a:off x="4074795" y="1119283"/>
            <a:ext cx="994410" cy="17087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3874770" y="1119283"/>
            <a:ext cx="1394460" cy="17087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spc="2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5743575" y="1275159"/>
            <a:ext cx="2000250" cy="333613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29313" y="1489472"/>
            <a:ext cx="1628775" cy="6643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5929313" y="2146697"/>
            <a:ext cx="1628775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886450" y="1489472"/>
            <a:ext cx="171450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013" dirty="0"/>
          </a:p>
        </p:txBody>
      </p:sp>
      <p:sp>
        <p:nvSpPr>
          <p:cNvPr id="56" name="Text 54"/>
          <p:cNvSpPr/>
          <p:nvPr/>
        </p:nvSpPr>
        <p:spPr>
          <a:xfrm>
            <a:off x="5886450" y="1668066"/>
            <a:ext cx="1714500" cy="3643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57" name="Shape 55"/>
          <p:cNvSpPr/>
          <p:nvPr/>
        </p:nvSpPr>
        <p:spPr>
          <a:xfrm>
            <a:off x="5929313" y="2611041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5929313" y="2353866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Unlimited members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5929313" y="2618184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29313" y="2875359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5929313" y="2618184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TB storage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5929313" y="2882503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29313" y="3139678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5929313" y="2882503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analytics</a:t>
            </a:r>
            <a:endParaRPr lang="en-US" sz="788" dirty="0"/>
          </a:p>
        </p:txBody>
      </p:sp>
      <p:sp>
        <p:nvSpPr>
          <p:cNvPr id="65" name="Shape 63"/>
          <p:cNvSpPr/>
          <p:nvPr/>
        </p:nvSpPr>
        <p:spPr>
          <a:xfrm>
            <a:off x="5929313" y="3146822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29313" y="3403997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5929313" y="3146822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5929313" y="3411141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29313" y="3668316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70" name="Text 68"/>
          <p:cNvSpPr/>
          <p:nvPr/>
        </p:nvSpPr>
        <p:spPr>
          <a:xfrm>
            <a:off x="5929313" y="3411141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Dedicated support</a:t>
            </a:r>
            <a:endParaRPr lang="en-US" sz="788" dirty="0"/>
          </a:p>
        </p:txBody>
      </p:sp>
      <p:sp>
        <p:nvSpPr>
          <p:cNvPr id="71" name="Shape 69"/>
          <p:cNvSpPr/>
          <p:nvPr/>
        </p:nvSpPr>
        <p:spPr>
          <a:xfrm>
            <a:off x="5929313" y="3675459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29313" y="3675459"/>
            <a:ext cx="16287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API access</a:t>
            </a:r>
            <a:endParaRPr lang="en-US" sz="788" dirty="0"/>
          </a:p>
        </p:txBody>
      </p:sp>
      <p:sp>
        <p:nvSpPr>
          <p:cNvPr id="73" name="Shape 71"/>
          <p:cNvSpPr/>
          <p:nvPr/>
        </p:nvSpPr>
        <p:spPr>
          <a:xfrm>
            <a:off x="5929313" y="4075509"/>
            <a:ext cx="1628775" cy="321469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29313" y="4075509"/>
            <a:ext cx="1628775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Sales</a:t>
            </a:r>
            <a:endParaRPr lang="en-US" sz="84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85750"/>
            <a:ext cx="213462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Overview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7600950" y="357188"/>
            <a:ext cx="1285875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2026-04-13 09:42 UTC</a:t>
            </a:r>
            <a:endParaRPr lang="en-US" sz="788" dirty="0"/>
          </a:p>
        </p:txBody>
      </p:sp>
      <p:sp>
        <p:nvSpPr>
          <p:cNvPr id="4" name="Shape 2"/>
          <p:cNvSpPr/>
          <p:nvPr/>
        </p:nvSpPr>
        <p:spPr>
          <a:xfrm>
            <a:off x="342900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42900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71475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542925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spc="2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542925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$284K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542925" y="1435894"/>
            <a:ext cx="535781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435769" y="1435894"/>
            <a:ext cx="750094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12.5%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42925" y="1828800"/>
            <a:ext cx="57150" cy="12858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621506" y="1808798"/>
            <a:ext cx="57150" cy="14859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700088" y="1820299"/>
            <a:ext cx="57150" cy="137089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778669" y="1785938"/>
            <a:ext cx="57150" cy="1714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857250" y="1800225"/>
            <a:ext cx="57150" cy="157163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935831" y="1757363"/>
            <a:ext cx="57150" cy="2000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1014413" y="1771650"/>
            <a:ext cx="57150" cy="1857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1092994" y="1734574"/>
            <a:ext cx="57150" cy="222814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1171575" y="1723073"/>
            <a:ext cx="57150" cy="23431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1250156" y="1700213"/>
            <a:ext cx="57150" cy="2571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1328738" y="1705999"/>
            <a:ext cx="57150" cy="251389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1407319" y="1671638"/>
            <a:ext cx="57150" cy="2857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2493169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2493169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2521744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2693194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spc="2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2693194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18.2K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2693194" y="1435894"/>
            <a:ext cx="493919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2593181" y="1435894"/>
            <a:ext cx="693944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8.3%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2693194" y="1785938"/>
            <a:ext cx="57150" cy="1714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771775" y="1800225"/>
            <a:ext cx="57150" cy="15716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2850356" y="1771650"/>
            <a:ext cx="57150" cy="18573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Shape 31"/>
          <p:cNvSpPr/>
          <p:nvPr/>
        </p:nvSpPr>
        <p:spPr>
          <a:xfrm>
            <a:off x="2928938" y="1791724"/>
            <a:ext cx="57150" cy="165664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3007519" y="1757363"/>
            <a:ext cx="57150" cy="20002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3086100" y="1751648"/>
            <a:ext cx="57150" cy="20574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3164681" y="1763149"/>
            <a:ext cx="57150" cy="194239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3243263" y="1728788"/>
            <a:ext cx="5715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3321844" y="1743075"/>
            <a:ext cx="57150" cy="21431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3400425" y="1714500"/>
            <a:ext cx="57150" cy="2428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3479006" y="1700213"/>
            <a:ext cx="57150" cy="2571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1" name="Shape 39"/>
          <p:cNvSpPr/>
          <p:nvPr/>
        </p:nvSpPr>
        <p:spPr>
          <a:xfrm>
            <a:off x="3557588" y="1685925"/>
            <a:ext cx="57150" cy="27146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4643438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4643438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4672013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4843463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spc="2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4843463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3.8%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4843463" y="1435894"/>
            <a:ext cx="525066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4736306" y="1435894"/>
            <a:ext cx="739378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0.4pp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4843463" y="1757363"/>
            <a:ext cx="57150" cy="20002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0" name="Shape 48"/>
          <p:cNvSpPr/>
          <p:nvPr/>
        </p:nvSpPr>
        <p:spPr>
          <a:xfrm>
            <a:off x="4922044" y="1763149"/>
            <a:ext cx="57150" cy="194239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1" name="Shape 49"/>
          <p:cNvSpPr/>
          <p:nvPr/>
        </p:nvSpPr>
        <p:spPr>
          <a:xfrm>
            <a:off x="5000625" y="1751648"/>
            <a:ext cx="57150" cy="2057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5079206" y="1743075"/>
            <a:ext cx="57150" cy="214313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5157788" y="1746004"/>
            <a:ext cx="57150" cy="21138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5236369" y="1734574"/>
            <a:ext cx="57150" cy="22281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5" name="Shape 53"/>
          <p:cNvSpPr/>
          <p:nvPr/>
        </p:nvSpPr>
        <p:spPr>
          <a:xfrm>
            <a:off x="5314950" y="1728788"/>
            <a:ext cx="5715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5393531" y="1723073"/>
            <a:ext cx="57150" cy="23431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7" name="Shape 55"/>
          <p:cNvSpPr/>
          <p:nvPr/>
        </p:nvSpPr>
        <p:spPr>
          <a:xfrm>
            <a:off x="5472113" y="1714500"/>
            <a:ext cx="57150" cy="24288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5550694" y="1720286"/>
            <a:ext cx="57150" cy="237101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9" name="Shape 57"/>
          <p:cNvSpPr/>
          <p:nvPr/>
        </p:nvSpPr>
        <p:spPr>
          <a:xfrm>
            <a:off x="5629275" y="1705999"/>
            <a:ext cx="57150" cy="251389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0" name="Shape 58"/>
          <p:cNvSpPr/>
          <p:nvPr/>
        </p:nvSpPr>
        <p:spPr>
          <a:xfrm>
            <a:off x="5707856" y="1694498"/>
            <a:ext cx="57150" cy="26289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6793706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6793706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63" name="Shape 61"/>
          <p:cNvSpPr/>
          <p:nvPr/>
        </p:nvSpPr>
        <p:spPr>
          <a:xfrm>
            <a:off x="6822281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6993731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spc="2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CHURN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6993731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2.1%</a:t>
            </a:r>
            <a:endParaRPr lang="en-US" sz="2025" dirty="0"/>
          </a:p>
        </p:txBody>
      </p:sp>
      <p:sp>
        <p:nvSpPr>
          <p:cNvPr id="66" name="Shape 64"/>
          <p:cNvSpPr/>
          <p:nvPr/>
        </p:nvSpPr>
        <p:spPr>
          <a:xfrm>
            <a:off x="6993731" y="1435894"/>
            <a:ext cx="519565" cy="150019"/>
          </a:xfrm>
          <a:prstGeom prst="roundRect">
            <a:avLst>
              <a:gd name="adj" fmla="val 19048"/>
            </a:avLst>
          </a:prstGeom>
          <a:solidFill>
            <a:srgbClr val="EF4444">
              <a:alpha val="10000"/>
            </a:srgbClr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6886575" y="1435894"/>
            <a:ext cx="733877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0.3pp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6993731" y="1700213"/>
            <a:ext cx="57150" cy="25717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7072313" y="1714500"/>
            <a:ext cx="57150" cy="24288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7150894" y="1723073"/>
            <a:ext cx="57150" cy="23431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1" name="Shape 69"/>
          <p:cNvSpPr/>
          <p:nvPr/>
        </p:nvSpPr>
        <p:spPr>
          <a:xfrm>
            <a:off x="7229475" y="1734574"/>
            <a:ext cx="57150" cy="222814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2" name="Shape 70"/>
          <p:cNvSpPr/>
          <p:nvPr/>
        </p:nvSpPr>
        <p:spPr>
          <a:xfrm>
            <a:off x="7308056" y="1728788"/>
            <a:ext cx="5715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3" name="Shape 71"/>
          <p:cNvSpPr/>
          <p:nvPr/>
        </p:nvSpPr>
        <p:spPr>
          <a:xfrm>
            <a:off x="7386638" y="1743075"/>
            <a:ext cx="57150" cy="214313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4" name="Shape 72"/>
          <p:cNvSpPr/>
          <p:nvPr/>
        </p:nvSpPr>
        <p:spPr>
          <a:xfrm>
            <a:off x="7465219" y="1757363"/>
            <a:ext cx="57150" cy="2000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5" name="Shape 73"/>
          <p:cNvSpPr/>
          <p:nvPr/>
        </p:nvSpPr>
        <p:spPr>
          <a:xfrm>
            <a:off x="7543800" y="1763149"/>
            <a:ext cx="57150" cy="194239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6" name="Shape 74"/>
          <p:cNvSpPr/>
          <p:nvPr/>
        </p:nvSpPr>
        <p:spPr>
          <a:xfrm>
            <a:off x="7622381" y="1771650"/>
            <a:ext cx="57150" cy="18573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7" name="Shape 75"/>
          <p:cNvSpPr/>
          <p:nvPr/>
        </p:nvSpPr>
        <p:spPr>
          <a:xfrm>
            <a:off x="7700963" y="1785938"/>
            <a:ext cx="57150" cy="1714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8" name="Shape 76"/>
          <p:cNvSpPr/>
          <p:nvPr/>
        </p:nvSpPr>
        <p:spPr>
          <a:xfrm>
            <a:off x="7779544" y="1800225"/>
            <a:ext cx="57150" cy="157163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9" name="Shape 77"/>
          <p:cNvSpPr/>
          <p:nvPr/>
        </p:nvSpPr>
        <p:spPr>
          <a:xfrm>
            <a:off x="7858125" y="1814513"/>
            <a:ext cx="57150" cy="14287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80" name="Shape 78"/>
          <p:cNvSpPr/>
          <p:nvPr/>
        </p:nvSpPr>
        <p:spPr>
          <a:xfrm>
            <a:off x="342900" y="2300288"/>
            <a:ext cx="5448324" cy="2557463"/>
          </a:xfrm>
          <a:prstGeom prst="roundRect">
            <a:avLst>
              <a:gd name="adj" fmla="val 335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1" name="Text 79"/>
          <p:cNvSpPr/>
          <p:nvPr/>
        </p:nvSpPr>
        <p:spPr>
          <a:xfrm>
            <a:off x="485775" y="2443163"/>
            <a:ext cx="5248299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vs Expenses (Quarterly)</a:t>
            </a:r>
            <a:endParaRPr lang="en-US" sz="844" dirty="0"/>
          </a:p>
        </p:txBody>
      </p:sp>
      <p:sp>
        <p:nvSpPr>
          <p:cNvPr id="82" name="GRAD_3"/>
          <p:cNvSpPr/>
          <p:nvPr/>
        </p:nvSpPr>
        <p:spPr>
          <a:xfrm>
            <a:off x="870537" y="3193256"/>
            <a:ext cx="128588" cy="642938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3" name="GRAD_4"/>
          <p:cNvSpPr/>
          <p:nvPr/>
        </p:nvSpPr>
        <p:spPr>
          <a:xfrm>
            <a:off x="1027700" y="3300413"/>
            <a:ext cx="128588" cy="535781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84" name="Text 82"/>
          <p:cNvSpPr/>
          <p:nvPr/>
        </p:nvSpPr>
        <p:spPr>
          <a:xfrm>
            <a:off x="897326" y="3879056"/>
            <a:ext cx="31804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'25</a:t>
            </a:r>
            <a:endParaRPr lang="en-US" sz="619" dirty="0"/>
          </a:p>
        </p:txBody>
      </p:sp>
      <p:sp>
        <p:nvSpPr>
          <p:cNvPr id="85" name="GRAD_5"/>
          <p:cNvSpPr/>
          <p:nvPr/>
        </p:nvSpPr>
        <p:spPr>
          <a:xfrm>
            <a:off x="1897309" y="3107531"/>
            <a:ext cx="128588" cy="728663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6" name="GRAD_6"/>
          <p:cNvSpPr/>
          <p:nvPr/>
        </p:nvSpPr>
        <p:spPr>
          <a:xfrm>
            <a:off x="2054471" y="3278981"/>
            <a:ext cx="128588" cy="557213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87" name="Text 85"/>
          <p:cNvSpPr/>
          <p:nvPr/>
        </p:nvSpPr>
        <p:spPr>
          <a:xfrm>
            <a:off x="1916097" y="3879056"/>
            <a:ext cx="33397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'25</a:t>
            </a:r>
            <a:endParaRPr lang="en-US" sz="619" dirty="0"/>
          </a:p>
        </p:txBody>
      </p:sp>
      <p:sp>
        <p:nvSpPr>
          <p:cNvPr id="88" name="GRAD_7"/>
          <p:cNvSpPr/>
          <p:nvPr/>
        </p:nvSpPr>
        <p:spPr>
          <a:xfrm>
            <a:off x="2924151" y="3032522"/>
            <a:ext cx="128588" cy="803672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9" name="GRAD_8"/>
          <p:cNvSpPr/>
          <p:nvPr/>
        </p:nvSpPr>
        <p:spPr>
          <a:xfrm>
            <a:off x="3081314" y="3246834"/>
            <a:ext cx="128588" cy="589359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0" name="Text 88"/>
          <p:cNvSpPr/>
          <p:nvPr/>
        </p:nvSpPr>
        <p:spPr>
          <a:xfrm>
            <a:off x="2942582" y="3879056"/>
            <a:ext cx="33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'25</a:t>
            </a:r>
            <a:endParaRPr lang="en-US" sz="619" dirty="0"/>
          </a:p>
        </p:txBody>
      </p:sp>
      <p:sp>
        <p:nvSpPr>
          <p:cNvPr id="91" name="GRAD_9"/>
          <p:cNvSpPr/>
          <p:nvPr/>
        </p:nvSpPr>
        <p:spPr>
          <a:xfrm>
            <a:off x="3950922" y="2925366"/>
            <a:ext cx="128588" cy="910828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92" name="GRAD_10"/>
          <p:cNvSpPr/>
          <p:nvPr/>
        </p:nvSpPr>
        <p:spPr>
          <a:xfrm>
            <a:off x="4108085" y="3214688"/>
            <a:ext cx="128588" cy="621506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3" name="Text 91"/>
          <p:cNvSpPr/>
          <p:nvPr/>
        </p:nvSpPr>
        <p:spPr>
          <a:xfrm>
            <a:off x="3968210" y="3879056"/>
            <a:ext cx="33689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'25</a:t>
            </a:r>
            <a:endParaRPr lang="en-US" sz="619" dirty="0"/>
          </a:p>
        </p:txBody>
      </p:sp>
      <p:sp>
        <p:nvSpPr>
          <p:cNvPr id="94" name="GRAD_11"/>
          <p:cNvSpPr/>
          <p:nvPr/>
        </p:nvSpPr>
        <p:spPr>
          <a:xfrm>
            <a:off x="4977765" y="2850356"/>
            <a:ext cx="128588" cy="985838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95" name="GRAD_12"/>
          <p:cNvSpPr/>
          <p:nvPr/>
        </p:nvSpPr>
        <p:spPr>
          <a:xfrm>
            <a:off x="5134928" y="3193256"/>
            <a:ext cx="128588" cy="642938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6" name="Text 94"/>
          <p:cNvSpPr/>
          <p:nvPr/>
        </p:nvSpPr>
        <p:spPr>
          <a:xfrm>
            <a:off x="5003411" y="3879056"/>
            <a:ext cx="32011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'26</a:t>
            </a:r>
            <a:endParaRPr lang="en-US" sz="619" dirty="0"/>
          </a:p>
        </p:txBody>
      </p:sp>
      <p:sp>
        <p:nvSpPr>
          <p:cNvPr id="97" name="Text 95"/>
          <p:cNvSpPr/>
          <p:nvPr/>
        </p:nvSpPr>
        <p:spPr>
          <a:xfrm>
            <a:off x="600075" y="4064794"/>
            <a:ext cx="4357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675" dirty="0"/>
          </a:p>
        </p:txBody>
      </p:sp>
      <p:sp>
        <p:nvSpPr>
          <p:cNvPr id="98" name="Shape 96"/>
          <p:cNvSpPr/>
          <p:nvPr/>
        </p:nvSpPr>
        <p:spPr>
          <a:xfrm>
            <a:off x="485775" y="4082653"/>
            <a:ext cx="71438" cy="714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99" name="Text 97"/>
          <p:cNvSpPr/>
          <p:nvPr/>
        </p:nvSpPr>
        <p:spPr>
          <a:xfrm>
            <a:off x="1178719" y="4064794"/>
            <a:ext cx="47777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Expenses</a:t>
            </a:r>
            <a:endParaRPr lang="en-US" sz="675" dirty="0"/>
          </a:p>
        </p:txBody>
      </p:sp>
      <p:sp>
        <p:nvSpPr>
          <p:cNvPr id="100" name="Shape 98"/>
          <p:cNvSpPr/>
          <p:nvPr/>
        </p:nvSpPr>
        <p:spPr>
          <a:xfrm>
            <a:off x="1064419" y="4082653"/>
            <a:ext cx="71438" cy="71438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01" name="Shape 99"/>
          <p:cNvSpPr/>
          <p:nvPr/>
        </p:nvSpPr>
        <p:spPr>
          <a:xfrm>
            <a:off x="5934099" y="2300288"/>
            <a:ext cx="2867001" cy="2557463"/>
          </a:xfrm>
          <a:prstGeom prst="roundRect">
            <a:avLst>
              <a:gd name="adj" fmla="val 335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02" name="Text 100"/>
          <p:cNvSpPr/>
          <p:nvPr/>
        </p:nvSpPr>
        <p:spPr>
          <a:xfrm>
            <a:off x="6076974" y="2443163"/>
            <a:ext cx="2666976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Activity</a:t>
            </a:r>
            <a:endParaRPr lang="en-US" sz="844" dirty="0"/>
          </a:p>
        </p:txBody>
      </p:sp>
      <p:sp>
        <p:nvSpPr>
          <p:cNvPr id="103" name="Shape 101"/>
          <p:cNvSpPr/>
          <p:nvPr/>
        </p:nvSpPr>
        <p:spPr>
          <a:xfrm>
            <a:off x="6076974" y="2693194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04" name="Shape 102"/>
          <p:cNvSpPr/>
          <p:nvPr/>
        </p:nvSpPr>
        <p:spPr>
          <a:xfrm>
            <a:off x="6076974" y="3080314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05" name="Shape 103"/>
          <p:cNvSpPr/>
          <p:nvPr/>
        </p:nvSpPr>
        <p:spPr>
          <a:xfrm>
            <a:off x="6076974" y="2800350"/>
            <a:ext cx="57150" cy="571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6" name="Text 104"/>
          <p:cNvSpPr/>
          <p:nvPr/>
        </p:nvSpPr>
        <p:spPr>
          <a:xfrm>
            <a:off x="6219849" y="2764631"/>
            <a:ext cx="2471523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enterprise deal closed — Acme Corp ($48K ARR)</a:t>
            </a:r>
            <a:endParaRPr lang="en-US" sz="731" dirty="0"/>
          </a:p>
        </p:txBody>
      </p:sp>
      <p:sp>
        <p:nvSpPr>
          <p:cNvPr id="107" name="Text 105"/>
          <p:cNvSpPr/>
          <p:nvPr/>
        </p:nvSpPr>
        <p:spPr>
          <a:xfrm>
            <a:off x="6219849" y="2908864"/>
            <a:ext cx="247152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hours ago</a:t>
            </a:r>
            <a:endParaRPr lang="en-US" sz="619" dirty="0"/>
          </a:p>
        </p:txBody>
      </p:sp>
      <p:sp>
        <p:nvSpPr>
          <p:cNvPr id="108" name="Shape 106"/>
          <p:cNvSpPr/>
          <p:nvPr/>
        </p:nvSpPr>
        <p:spPr>
          <a:xfrm>
            <a:off x="6076974" y="3087457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09" name="Shape 107"/>
          <p:cNvSpPr/>
          <p:nvPr/>
        </p:nvSpPr>
        <p:spPr>
          <a:xfrm>
            <a:off x="6076974" y="3474577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10" name="Shape 108"/>
          <p:cNvSpPr/>
          <p:nvPr/>
        </p:nvSpPr>
        <p:spPr>
          <a:xfrm>
            <a:off x="6076974" y="3194614"/>
            <a:ext cx="57150" cy="571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11" name="Text 109"/>
          <p:cNvSpPr/>
          <p:nvPr/>
        </p:nvSpPr>
        <p:spPr>
          <a:xfrm>
            <a:off x="6219849" y="3158895"/>
            <a:ext cx="2279213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launch: Advanced analytics dashboard v2</a:t>
            </a:r>
            <a:endParaRPr lang="en-US" sz="731" dirty="0"/>
          </a:p>
        </p:txBody>
      </p:sp>
      <p:sp>
        <p:nvSpPr>
          <p:cNvPr id="112" name="Text 110"/>
          <p:cNvSpPr/>
          <p:nvPr/>
        </p:nvSpPr>
        <p:spPr>
          <a:xfrm>
            <a:off x="6219849" y="3303127"/>
            <a:ext cx="22792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hours ago</a:t>
            </a:r>
            <a:endParaRPr lang="en-US" sz="619" dirty="0"/>
          </a:p>
        </p:txBody>
      </p:sp>
      <p:sp>
        <p:nvSpPr>
          <p:cNvPr id="113" name="Shape 111"/>
          <p:cNvSpPr/>
          <p:nvPr/>
        </p:nvSpPr>
        <p:spPr>
          <a:xfrm>
            <a:off x="6076974" y="3481721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14" name="Shape 112"/>
          <p:cNvSpPr/>
          <p:nvPr/>
        </p:nvSpPr>
        <p:spPr>
          <a:xfrm>
            <a:off x="6076974" y="3868841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15" name="Shape 113"/>
          <p:cNvSpPr/>
          <p:nvPr/>
        </p:nvSpPr>
        <p:spPr>
          <a:xfrm>
            <a:off x="6076974" y="3588877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6" name="Text 114"/>
          <p:cNvSpPr/>
          <p:nvPr/>
        </p:nvSpPr>
        <p:spPr>
          <a:xfrm>
            <a:off x="6219849" y="3553158"/>
            <a:ext cx="2350651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Warning: API latency spike detected (p99 &gt; 800ms)</a:t>
            </a:r>
            <a:endParaRPr lang="en-US" sz="731" dirty="0"/>
          </a:p>
        </p:txBody>
      </p:sp>
      <p:sp>
        <p:nvSpPr>
          <p:cNvPr id="117" name="Text 115"/>
          <p:cNvSpPr/>
          <p:nvPr/>
        </p:nvSpPr>
        <p:spPr>
          <a:xfrm>
            <a:off x="6219849" y="3697319"/>
            <a:ext cx="235065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hours ago</a:t>
            </a:r>
            <a:endParaRPr lang="en-US" sz="619" dirty="0"/>
          </a:p>
        </p:txBody>
      </p:sp>
      <p:sp>
        <p:nvSpPr>
          <p:cNvPr id="118" name="Shape 116"/>
          <p:cNvSpPr/>
          <p:nvPr/>
        </p:nvSpPr>
        <p:spPr>
          <a:xfrm>
            <a:off x="6076974" y="3875913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19" name="Shape 117"/>
          <p:cNvSpPr/>
          <p:nvPr/>
        </p:nvSpPr>
        <p:spPr>
          <a:xfrm>
            <a:off x="6076974" y="4263033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20" name="Shape 118"/>
          <p:cNvSpPr/>
          <p:nvPr/>
        </p:nvSpPr>
        <p:spPr>
          <a:xfrm>
            <a:off x="6076974" y="3983069"/>
            <a:ext cx="57150" cy="5715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21" name="Text 119"/>
          <p:cNvSpPr/>
          <p:nvPr/>
        </p:nvSpPr>
        <p:spPr>
          <a:xfrm>
            <a:off x="6219849" y="3947350"/>
            <a:ext cx="2030968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milestone: 500th customer onboarded</a:t>
            </a:r>
            <a:endParaRPr lang="en-US" sz="731" dirty="0"/>
          </a:p>
        </p:txBody>
      </p:sp>
      <p:sp>
        <p:nvSpPr>
          <p:cNvPr id="122" name="Text 120"/>
          <p:cNvSpPr/>
          <p:nvPr/>
        </p:nvSpPr>
        <p:spPr>
          <a:xfrm>
            <a:off x="6219849" y="4091583"/>
            <a:ext cx="203096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 ago</a:t>
            </a:r>
            <a:endParaRPr lang="en-US" sz="619" dirty="0"/>
          </a:p>
        </p:txBody>
      </p:sp>
      <p:sp>
        <p:nvSpPr>
          <p:cNvPr id="123" name="Shape 121"/>
          <p:cNvSpPr/>
          <p:nvPr/>
        </p:nvSpPr>
        <p:spPr>
          <a:xfrm>
            <a:off x="6076974" y="4377333"/>
            <a:ext cx="57150" cy="571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24" name="Text 122"/>
          <p:cNvSpPr/>
          <p:nvPr/>
        </p:nvSpPr>
        <p:spPr>
          <a:xfrm>
            <a:off x="6219849" y="4341614"/>
            <a:ext cx="1910310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alert: 3 accounts flagged as at-risk</a:t>
            </a:r>
            <a:endParaRPr lang="en-US" sz="731" dirty="0"/>
          </a:p>
        </p:txBody>
      </p:sp>
      <p:sp>
        <p:nvSpPr>
          <p:cNvPr id="125" name="Text 123"/>
          <p:cNvSpPr/>
          <p:nvPr/>
        </p:nvSpPr>
        <p:spPr>
          <a:xfrm>
            <a:off x="6219849" y="4485846"/>
            <a:ext cx="19103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 ago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38" y="1045916"/>
            <a:ext cx="480060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spc="113" kern="0" dirty="0">
                <a:solidFill>
                  <a:srgbClr val="667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071938" y="1245941"/>
            <a:ext cx="4800600" cy="3085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Modern Teams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71938" y="1611559"/>
            <a:ext cx="480060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you need to track, analyze, and grow your business in one beautiful dashboard.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71938" y="20401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71938" y="20401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7" name="GRAD_13"/>
          <p:cNvSpPr/>
          <p:nvPr/>
        </p:nvSpPr>
        <p:spPr>
          <a:xfrm>
            <a:off x="4236244" y="21687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395" y="2235922"/>
            <a:ext cx="180023" cy="1800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9156" y="2168771"/>
            <a:ext cx="354944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4679156" y="2340221"/>
            <a:ext cx="3549444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update every second with zero-lag streaming from all data sources.</a:t>
            </a:r>
            <a:endParaRPr lang="en-US" sz="731" dirty="0"/>
          </a:p>
        </p:txBody>
      </p:sp>
      <p:sp>
        <p:nvSpPr>
          <p:cNvPr id="11" name="Shape 8"/>
          <p:cNvSpPr/>
          <p:nvPr/>
        </p:nvSpPr>
        <p:spPr>
          <a:xfrm>
            <a:off x="4071938" y="27259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4071938" y="27259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3" name="GRAD_14"/>
          <p:cNvSpPr/>
          <p:nvPr/>
        </p:nvSpPr>
        <p:spPr>
          <a:xfrm>
            <a:off x="4236244" y="28545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95" y="2921722"/>
            <a:ext cx="180023" cy="180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9156" y="2854571"/>
            <a:ext cx="344493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4679156" y="3026021"/>
            <a:ext cx="344493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 Type II certified with end-to-end encryption and role-based access controls.</a:t>
            </a:r>
            <a:endParaRPr lang="en-US" sz="731" dirty="0"/>
          </a:p>
        </p:txBody>
      </p:sp>
      <p:sp>
        <p:nvSpPr>
          <p:cNvPr id="17" name="Shape 13"/>
          <p:cNvSpPr/>
          <p:nvPr/>
        </p:nvSpPr>
        <p:spPr>
          <a:xfrm>
            <a:off x="4071938" y="34117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4071938" y="34117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9" name="GRAD_15"/>
          <p:cNvSpPr/>
          <p:nvPr/>
        </p:nvSpPr>
        <p:spPr>
          <a:xfrm>
            <a:off x="4236244" y="35403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5" y="3607522"/>
            <a:ext cx="180023" cy="1800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79156" y="3540371"/>
            <a:ext cx="363974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Predictions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679156" y="3711821"/>
            <a:ext cx="363974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forecasting identifies trends and anomalies before they impact your KPIs.</a:t>
            </a:r>
            <a:endParaRPr lang="en-US" sz="731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4" name="Shape 19"/>
          <p:cNvSpPr/>
          <p:nvPr/>
        </p:nvSpPr>
        <p:spPr>
          <a:xfrm>
            <a:off x="842963" y="557213"/>
            <a:ext cx="2028825" cy="4029075"/>
          </a:xfrm>
          <a:prstGeom prst="roundRect">
            <a:avLst>
              <a:gd name="adj" fmla="val 11972"/>
            </a:avLst>
          </a:prstGeom>
          <a:solidFill>
            <a:srgbClr val="333333"/>
          </a:solidFill>
          <a:ln>
            <a:noFill/>
          </a:ln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71500"/>
            <a:ext cx="2000250" cy="31432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57250" y="571500"/>
            <a:ext cx="2000250" cy="4000500"/>
          </a:xfrm>
          <a:prstGeom prst="roundRect">
            <a:avLst>
              <a:gd name="adj" fmla="val 11429"/>
            </a:avLst>
          </a:prstGeom>
          <a:noFill/>
          <a:ln w="28575" algn="in">
            <a:solidFill>
              <a:srgbClr val="33333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28700" y="667941"/>
            <a:ext cx="28732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9:41</a:t>
            </a:r>
            <a:endParaRPr lang="en-US" sz="788" dirty="0"/>
          </a:p>
        </p:txBody>
      </p:sp>
      <p:sp>
        <p:nvSpPr>
          <p:cNvPr id="28" name="GRAD_16"/>
          <p:cNvSpPr/>
          <p:nvPr/>
        </p:nvSpPr>
        <p:spPr>
          <a:xfrm flipV="1">
            <a:off x="857250" y="885825"/>
            <a:ext cx="2000250" cy="3686175"/>
          </a:xfrm>
          <a:prstGeom prst="round2SameRect">
            <a:avLst>
              <a:gd name="adj1" fmla="val 11429"/>
              <a:gd name="adj2" fmla="val 0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18900000" scaled="0"/>
          </a:gradFill>
          <a:ln>
            <a:noFill/>
          </a:ln>
        </p:spPr>
      </p:sp>
      <p:sp>
        <p:nvSpPr>
          <p:cNvPr id="29" name="Shape 23"/>
          <p:cNvSpPr/>
          <p:nvPr/>
        </p:nvSpPr>
        <p:spPr>
          <a:xfrm>
            <a:off x="1000125" y="1028700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0" name="Text 24"/>
          <p:cNvSpPr/>
          <p:nvPr/>
        </p:nvSpPr>
        <p:spPr>
          <a:xfrm>
            <a:off x="1100138" y="112871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619" dirty="0"/>
          </a:p>
        </p:txBody>
      </p:sp>
      <p:sp>
        <p:nvSpPr>
          <p:cNvPr id="31" name="Text 25"/>
          <p:cNvSpPr/>
          <p:nvPr/>
        </p:nvSpPr>
        <p:spPr>
          <a:xfrm>
            <a:off x="1100138" y="127158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$48,290</a:t>
            </a:r>
            <a:endParaRPr lang="en-US" sz="1238" dirty="0"/>
          </a:p>
        </p:txBody>
      </p:sp>
      <p:sp>
        <p:nvSpPr>
          <p:cNvPr id="32" name="Shape 26"/>
          <p:cNvSpPr/>
          <p:nvPr/>
        </p:nvSpPr>
        <p:spPr>
          <a:xfrm>
            <a:off x="1100138" y="1514475"/>
            <a:ext cx="30068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1429393" y="1514475"/>
            <a:ext cx="526423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Shape 28"/>
          <p:cNvSpPr/>
          <p:nvPr/>
        </p:nvSpPr>
        <p:spPr>
          <a:xfrm>
            <a:off x="1984391" y="1514475"/>
            <a:ext cx="376047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Shape 29"/>
          <p:cNvSpPr/>
          <p:nvPr/>
        </p:nvSpPr>
        <p:spPr>
          <a:xfrm>
            <a:off x="2389013" y="1514475"/>
            <a:ext cx="225600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36" name="Shape 30"/>
          <p:cNvSpPr/>
          <p:nvPr/>
        </p:nvSpPr>
        <p:spPr>
          <a:xfrm>
            <a:off x="1000125" y="1743075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7" name="Text 31"/>
          <p:cNvSpPr/>
          <p:nvPr/>
        </p:nvSpPr>
        <p:spPr>
          <a:xfrm>
            <a:off x="1100138" y="1843088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619" dirty="0"/>
          </a:p>
        </p:txBody>
      </p:sp>
      <p:sp>
        <p:nvSpPr>
          <p:cNvPr id="38" name="Text 32"/>
          <p:cNvSpPr/>
          <p:nvPr/>
        </p:nvSpPr>
        <p:spPr>
          <a:xfrm>
            <a:off x="1100138" y="1985963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12,847</a:t>
            </a:r>
            <a:endParaRPr lang="en-US" sz="1238" dirty="0"/>
          </a:p>
        </p:txBody>
      </p:sp>
      <p:sp>
        <p:nvSpPr>
          <p:cNvPr id="39" name="Shape 33"/>
          <p:cNvSpPr/>
          <p:nvPr/>
        </p:nvSpPr>
        <p:spPr>
          <a:xfrm>
            <a:off x="1100138" y="2228850"/>
            <a:ext cx="60579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1734503" y="2228850"/>
            <a:ext cx="454271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Shape 35"/>
          <p:cNvSpPr/>
          <p:nvPr/>
        </p:nvSpPr>
        <p:spPr>
          <a:xfrm>
            <a:off x="2217349" y="2228850"/>
            <a:ext cx="302824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2" name="Shape 36"/>
          <p:cNvSpPr/>
          <p:nvPr/>
        </p:nvSpPr>
        <p:spPr>
          <a:xfrm>
            <a:off x="1000125" y="2457450"/>
            <a:ext cx="1714500" cy="528638"/>
          </a:xfrm>
          <a:prstGeom prst="roundRect">
            <a:avLst>
              <a:gd name="adj" fmla="val 1621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1100138" y="255746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619" dirty="0"/>
          </a:p>
        </p:txBody>
      </p:sp>
      <p:sp>
        <p:nvSpPr>
          <p:cNvPr id="44" name="Text 38"/>
          <p:cNvSpPr/>
          <p:nvPr/>
        </p:nvSpPr>
        <p:spPr>
          <a:xfrm>
            <a:off x="1100138" y="270033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238" dirty="0"/>
          </a:p>
        </p:txBody>
      </p:sp>
      <p:sp>
        <p:nvSpPr>
          <p:cNvPr id="45" name="Shape 39"/>
          <p:cNvSpPr/>
          <p:nvPr/>
        </p:nvSpPr>
        <p:spPr>
          <a:xfrm>
            <a:off x="1171575" y="4286250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Shape 40"/>
          <p:cNvSpPr/>
          <p:nvPr/>
        </p:nvSpPr>
        <p:spPr>
          <a:xfrm>
            <a:off x="16859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7" name="Shape 41"/>
          <p:cNvSpPr/>
          <p:nvPr/>
        </p:nvSpPr>
        <p:spPr>
          <a:xfrm>
            <a:off x="208597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8" name="Shape 42"/>
          <p:cNvSpPr/>
          <p:nvPr/>
        </p:nvSpPr>
        <p:spPr>
          <a:xfrm>
            <a:off x="24860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9" name="Shape 43"/>
          <p:cNvSpPr/>
          <p:nvPr/>
        </p:nvSpPr>
        <p:spPr>
          <a:xfrm>
            <a:off x="3714750" y="428625"/>
            <a:ext cx="7144" cy="428625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000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62011" y="0"/>
            <a:ext cx="3909989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Dashboard v1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200025" y="150019"/>
            <a:ext cx="44769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spc="113" kern="0" dirty="0">
                <a:solidFill>
                  <a:srgbClr val="F8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619" dirty="0"/>
          </a:p>
        </p:txBody>
      </p:sp>
      <p:sp>
        <p:nvSpPr>
          <p:cNvPr id="5" name="Shape 3"/>
          <p:cNvSpPr/>
          <p:nvPr/>
        </p:nvSpPr>
        <p:spPr>
          <a:xfrm>
            <a:off x="0" y="400050"/>
            <a:ext cx="4572000" cy="474345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171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257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742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085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171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12" name="Text 10"/>
          <p:cNvSpPr/>
          <p:nvPr/>
        </p:nvSpPr>
        <p:spPr>
          <a:xfrm>
            <a:off x="278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4.2s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278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180% slower</a:t>
            </a:r>
            <a:endParaRPr lang="en-US" sz="619" dirty="0"/>
          </a:p>
        </p:txBody>
      </p:sp>
      <p:sp>
        <p:nvSpPr>
          <p:cNvPr id="14" name="Shape 12"/>
          <p:cNvSpPr/>
          <p:nvPr/>
        </p:nvSpPr>
        <p:spPr>
          <a:xfrm>
            <a:off x="1609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16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16" name="Text 14"/>
          <p:cNvSpPr/>
          <p:nvPr/>
        </p:nvSpPr>
        <p:spPr>
          <a:xfrm>
            <a:off x="1716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12.4%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716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Critical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3048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5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20" name="Text 18"/>
          <p:cNvSpPr/>
          <p:nvPr/>
        </p:nvSpPr>
        <p:spPr>
          <a:xfrm>
            <a:off x="3155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2.1/5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3155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Declining</a:t>
            </a:r>
            <a:endParaRPr lang="en-US" sz="619" dirty="0"/>
          </a:p>
        </p:txBody>
      </p:sp>
      <p:sp>
        <p:nvSpPr>
          <p:cNvPr id="22" name="Shape 20"/>
          <p:cNvSpPr/>
          <p:nvPr/>
        </p:nvSpPr>
        <p:spPr>
          <a:xfrm>
            <a:off x="3400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93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3493294" y="2207419"/>
            <a:ext cx="57007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3493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3493294" y="2493169"/>
            <a:ext cx="40719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3493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493294" y="2778919"/>
            <a:ext cx="48856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493294" y="2921794"/>
            <a:ext cx="610791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3493294" y="3064669"/>
            <a:ext cx="32568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171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(Inconsistent)</a:t>
            </a:r>
            <a:endParaRPr lang="en-US" sz="619" dirty="0"/>
          </a:p>
        </p:txBody>
      </p:sp>
      <p:sp>
        <p:nvSpPr>
          <p:cNvPr id="33" name="Shape 31"/>
          <p:cNvSpPr/>
          <p:nvPr/>
        </p:nvSpPr>
        <p:spPr>
          <a:xfrm>
            <a:off x="278606" y="2596753"/>
            <a:ext cx="200025" cy="225028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521494" y="2721769"/>
            <a:ext cx="200025" cy="100013"/>
          </a:xfrm>
          <a:prstGeom prst="round2SameRect">
            <a:avLst>
              <a:gd name="adj1" fmla="val 21428"/>
              <a:gd name="adj2" fmla="val 0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764381" y="2471738"/>
            <a:ext cx="200025" cy="350044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1007269" y="2671763"/>
            <a:ext cx="200025" cy="150019"/>
          </a:xfrm>
          <a:prstGeom prst="round2SameRect">
            <a:avLst>
              <a:gd name="adj1" fmla="val 14286"/>
              <a:gd name="adj2" fmla="val 0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1250156" y="2546747"/>
            <a:ext cx="200025" cy="275034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1493044" y="2746772"/>
            <a:ext cx="200025" cy="75009"/>
          </a:xfrm>
          <a:prstGeom prst="round2SameRect">
            <a:avLst>
              <a:gd name="adj1" fmla="val 28572"/>
              <a:gd name="adj2" fmla="val 0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1735931" y="2521744"/>
            <a:ext cx="200025" cy="300038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171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594" y="4021931"/>
            <a:ext cx="4214813" cy="200025"/>
          </a:xfrm>
          <a:prstGeom prst="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264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43" name="Text 41"/>
          <p:cNvSpPr/>
          <p:nvPr/>
        </p:nvSpPr>
        <p:spPr>
          <a:xfrm>
            <a:off x="1310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44" name="Text 42"/>
          <p:cNvSpPr/>
          <p:nvPr/>
        </p:nvSpPr>
        <p:spPr>
          <a:xfrm>
            <a:off x="2357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45" name="Text 43"/>
          <p:cNvSpPr/>
          <p:nvPr/>
        </p:nvSpPr>
        <p:spPr>
          <a:xfrm>
            <a:off x="3403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46" name="Shape 44"/>
          <p:cNvSpPr/>
          <p:nvPr/>
        </p:nvSpPr>
        <p:spPr>
          <a:xfrm>
            <a:off x="178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178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264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49" name="Text 47"/>
          <p:cNvSpPr/>
          <p:nvPr/>
        </p:nvSpPr>
        <p:spPr>
          <a:xfrm>
            <a:off x="1310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Degraded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2357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820ms</a:t>
            </a:r>
            <a:endParaRPr lang="en-US" sz="563" dirty="0"/>
          </a:p>
        </p:txBody>
      </p:sp>
      <p:sp>
        <p:nvSpPr>
          <p:cNvPr id="51" name="Text 49"/>
          <p:cNvSpPr/>
          <p:nvPr/>
        </p:nvSpPr>
        <p:spPr>
          <a:xfrm>
            <a:off x="3403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563" dirty="0"/>
          </a:p>
        </p:txBody>
      </p:sp>
      <p:sp>
        <p:nvSpPr>
          <p:cNvPr id="52" name="Shape 50"/>
          <p:cNvSpPr/>
          <p:nvPr/>
        </p:nvSpPr>
        <p:spPr>
          <a:xfrm>
            <a:off x="178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178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4" name="Text 52"/>
          <p:cNvSpPr/>
          <p:nvPr/>
        </p:nvSpPr>
        <p:spPr>
          <a:xfrm>
            <a:off x="264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1310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2357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</a:t>
            </a:r>
            <a:endParaRPr lang="en-US" sz="563" dirty="0"/>
          </a:p>
        </p:txBody>
      </p:sp>
      <p:sp>
        <p:nvSpPr>
          <p:cNvPr id="57" name="Text 55"/>
          <p:cNvSpPr/>
          <p:nvPr/>
        </p:nvSpPr>
        <p:spPr>
          <a:xfrm>
            <a:off x="3403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563" dirty="0"/>
          </a:p>
        </p:txBody>
      </p:sp>
      <p:sp>
        <p:nvSpPr>
          <p:cNvPr id="58" name="Shape 56"/>
          <p:cNvSpPr/>
          <p:nvPr/>
        </p:nvSpPr>
        <p:spPr>
          <a:xfrm>
            <a:off x="178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9" name="Shape 57"/>
          <p:cNvSpPr/>
          <p:nvPr/>
        </p:nvSpPr>
        <p:spPr>
          <a:xfrm>
            <a:off x="178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264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61" name="Text 59"/>
          <p:cNvSpPr/>
          <p:nvPr/>
        </p:nvSpPr>
        <p:spPr>
          <a:xfrm>
            <a:off x="1310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2357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2.4s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3403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563" dirty="0"/>
          </a:p>
        </p:txBody>
      </p:sp>
      <p:sp>
        <p:nvSpPr>
          <p:cNvPr id="64" name="Shape 62"/>
          <p:cNvSpPr/>
          <p:nvPr/>
        </p:nvSpPr>
        <p:spPr>
          <a:xfrm>
            <a:off x="4572000" y="0"/>
            <a:ext cx="4572000" cy="4000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5169075" y="0"/>
            <a:ext cx="3974925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Dashboard v2</a:t>
            </a:r>
            <a:endParaRPr lang="en-US" sz="1013" dirty="0"/>
          </a:p>
        </p:txBody>
      </p:sp>
      <p:sp>
        <p:nvSpPr>
          <p:cNvPr id="66" name="Text 64"/>
          <p:cNvSpPr/>
          <p:nvPr/>
        </p:nvSpPr>
        <p:spPr>
          <a:xfrm>
            <a:off x="4772025" y="150019"/>
            <a:ext cx="382762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spc="113" kern="0" dirty="0">
                <a:solidFill>
                  <a:srgbClr val="D0ED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619" dirty="0"/>
          </a:p>
        </p:txBody>
      </p:sp>
      <p:sp>
        <p:nvSpPr>
          <p:cNvPr id="67" name="Shape 65"/>
          <p:cNvSpPr/>
          <p:nvPr/>
        </p:nvSpPr>
        <p:spPr>
          <a:xfrm>
            <a:off x="4572000" y="400050"/>
            <a:ext cx="4572000" cy="474345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4743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4829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5314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1" name="Shape 69"/>
          <p:cNvSpPr/>
          <p:nvPr/>
        </p:nvSpPr>
        <p:spPr>
          <a:xfrm>
            <a:off x="5657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2" name="Shape 70"/>
          <p:cNvSpPr/>
          <p:nvPr/>
        </p:nvSpPr>
        <p:spPr>
          <a:xfrm>
            <a:off x="4743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850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74" name="Text 72"/>
          <p:cNvSpPr/>
          <p:nvPr/>
        </p:nvSpPr>
        <p:spPr>
          <a:xfrm>
            <a:off x="4850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0.8s</a:t>
            </a:r>
            <a:endParaRPr lang="en-US" sz="1238" dirty="0"/>
          </a:p>
        </p:txBody>
      </p:sp>
      <p:sp>
        <p:nvSpPr>
          <p:cNvPr id="75" name="Text 73"/>
          <p:cNvSpPr/>
          <p:nvPr/>
        </p:nvSpPr>
        <p:spPr>
          <a:xfrm>
            <a:off x="4850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5x faster</a:t>
            </a:r>
            <a:endParaRPr lang="en-US" sz="619" dirty="0"/>
          </a:p>
        </p:txBody>
      </p:sp>
      <p:sp>
        <p:nvSpPr>
          <p:cNvPr id="76" name="Shape 74"/>
          <p:cNvSpPr/>
          <p:nvPr/>
        </p:nvSpPr>
        <p:spPr>
          <a:xfrm>
            <a:off x="6181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288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78" name="Text 76"/>
          <p:cNvSpPr/>
          <p:nvPr/>
        </p:nvSpPr>
        <p:spPr>
          <a:xfrm>
            <a:off x="6288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0.3%</a:t>
            </a:r>
            <a:endParaRPr lang="en-US" sz="1238" dirty="0"/>
          </a:p>
        </p:txBody>
      </p:sp>
      <p:sp>
        <p:nvSpPr>
          <p:cNvPr id="79" name="Text 77"/>
          <p:cNvSpPr/>
          <p:nvPr/>
        </p:nvSpPr>
        <p:spPr>
          <a:xfrm>
            <a:off x="6288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97% reduction</a:t>
            </a:r>
            <a:endParaRPr lang="en-US" sz="619" dirty="0"/>
          </a:p>
        </p:txBody>
      </p:sp>
      <p:sp>
        <p:nvSpPr>
          <p:cNvPr id="80" name="Shape 78"/>
          <p:cNvSpPr/>
          <p:nvPr/>
        </p:nvSpPr>
        <p:spPr>
          <a:xfrm>
            <a:off x="7620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727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82" name="Text 80"/>
          <p:cNvSpPr/>
          <p:nvPr/>
        </p:nvSpPr>
        <p:spPr>
          <a:xfrm>
            <a:off x="7727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4.8/5</a:t>
            </a:r>
            <a:endParaRPr lang="en-US" sz="1238" dirty="0"/>
          </a:p>
        </p:txBody>
      </p:sp>
      <p:sp>
        <p:nvSpPr>
          <p:cNvPr id="83" name="Text 81"/>
          <p:cNvSpPr/>
          <p:nvPr/>
        </p:nvSpPr>
        <p:spPr>
          <a:xfrm>
            <a:off x="7727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+129% improvement</a:t>
            </a:r>
            <a:endParaRPr lang="en-US" sz="619" dirty="0"/>
          </a:p>
        </p:txBody>
      </p:sp>
      <p:sp>
        <p:nvSpPr>
          <p:cNvPr id="84" name="Shape 82"/>
          <p:cNvSpPr/>
          <p:nvPr/>
        </p:nvSpPr>
        <p:spPr>
          <a:xfrm>
            <a:off x="7972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65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8065294" y="2207419"/>
            <a:ext cx="77366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7" name="Shape 85"/>
          <p:cNvSpPr/>
          <p:nvPr/>
        </p:nvSpPr>
        <p:spPr>
          <a:xfrm>
            <a:off x="8065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8" name="Shape 86"/>
          <p:cNvSpPr/>
          <p:nvPr/>
        </p:nvSpPr>
        <p:spPr>
          <a:xfrm>
            <a:off x="8065294" y="2493169"/>
            <a:ext cx="69215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9" name="Shape 87"/>
          <p:cNvSpPr/>
          <p:nvPr/>
        </p:nvSpPr>
        <p:spPr>
          <a:xfrm>
            <a:off x="8065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0" name="Shape 88"/>
          <p:cNvSpPr/>
          <p:nvPr/>
        </p:nvSpPr>
        <p:spPr>
          <a:xfrm>
            <a:off x="8065294" y="2778919"/>
            <a:ext cx="610791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1" name="Shape 89"/>
          <p:cNvSpPr/>
          <p:nvPr/>
        </p:nvSpPr>
        <p:spPr>
          <a:xfrm>
            <a:off x="8065294" y="2921794"/>
            <a:ext cx="570071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2" name="Shape 90"/>
          <p:cNvSpPr/>
          <p:nvPr/>
        </p:nvSpPr>
        <p:spPr>
          <a:xfrm>
            <a:off x="8065294" y="3064669"/>
            <a:ext cx="529280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3" name="Shape 91"/>
          <p:cNvSpPr/>
          <p:nvPr/>
        </p:nvSpPr>
        <p:spPr>
          <a:xfrm>
            <a:off x="4743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50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(Stable)</a:t>
            </a:r>
            <a:endParaRPr lang="en-US" sz="619" dirty="0"/>
          </a:p>
        </p:txBody>
      </p:sp>
      <p:sp>
        <p:nvSpPr>
          <p:cNvPr id="95" name="Shape 93"/>
          <p:cNvSpPr/>
          <p:nvPr/>
        </p:nvSpPr>
        <p:spPr>
          <a:xfrm>
            <a:off x="4850606" y="2431804"/>
            <a:ext cx="200025" cy="389977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6" name="Shape 94"/>
          <p:cNvSpPr/>
          <p:nvPr/>
        </p:nvSpPr>
        <p:spPr>
          <a:xfrm>
            <a:off x="5093494" y="2411801"/>
            <a:ext cx="200025" cy="409980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7" name="Shape 95"/>
          <p:cNvSpPr/>
          <p:nvPr/>
        </p:nvSpPr>
        <p:spPr>
          <a:xfrm>
            <a:off x="5336381" y="2396728"/>
            <a:ext cx="200025" cy="425053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8" name="Shape 96"/>
          <p:cNvSpPr/>
          <p:nvPr/>
        </p:nvSpPr>
        <p:spPr>
          <a:xfrm>
            <a:off x="5579269" y="2421731"/>
            <a:ext cx="200025" cy="400050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9" name="Shape 97"/>
          <p:cNvSpPr/>
          <p:nvPr/>
        </p:nvSpPr>
        <p:spPr>
          <a:xfrm>
            <a:off x="5822156" y="2381798"/>
            <a:ext cx="200025" cy="439984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0" name="Shape 98"/>
          <p:cNvSpPr/>
          <p:nvPr/>
        </p:nvSpPr>
        <p:spPr>
          <a:xfrm>
            <a:off x="6065044" y="2371725"/>
            <a:ext cx="200025" cy="450056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101" name="Shape 99"/>
          <p:cNvSpPr/>
          <p:nvPr/>
        </p:nvSpPr>
        <p:spPr>
          <a:xfrm>
            <a:off x="6307931" y="2361795"/>
            <a:ext cx="200025" cy="459986"/>
          </a:xfrm>
          <a:prstGeom prst="round2SameRect">
            <a:avLst>
              <a:gd name="adj1" fmla="val 10714"/>
              <a:gd name="adj2" fmla="val 0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2" name="Shape 100"/>
          <p:cNvSpPr/>
          <p:nvPr/>
        </p:nvSpPr>
        <p:spPr>
          <a:xfrm>
            <a:off x="4743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0594" y="4021931"/>
            <a:ext cx="4214813" cy="200025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04" name="Text 102"/>
          <p:cNvSpPr/>
          <p:nvPr/>
        </p:nvSpPr>
        <p:spPr>
          <a:xfrm>
            <a:off x="4836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105" name="Text 103"/>
          <p:cNvSpPr/>
          <p:nvPr/>
        </p:nvSpPr>
        <p:spPr>
          <a:xfrm>
            <a:off x="5882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106" name="Text 104"/>
          <p:cNvSpPr/>
          <p:nvPr/>
        </p:nvSpPr>
        <p:spPr>
          <a:xfrm>
            <a:off x="6929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107" name="Text 105"/>
          <p:cNvSpPr/>
          <p:nvPr/>
        </p:nvSpPr>
        <p:spPr>
          <a:xfrm>
            <a:off x="7975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108" name="Shape 106"/>
          <p:cNvSpPr/>
          <p:nvPr/>
        </p:nvSpPr>
        <p:spPr>
          <a:xfrm>
            <a:off x="4750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9" name="Shape 107"/>
          <p:cNvSpPr/>
          <p:nvPr/>
        </p:nvSpPr>
        <p:spPr>
          <a:xfrm>
            <a:off x="4750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0" name="Text 108"/>
          <p:cNvSpPr/>
          <p:nvPr/>
        </p:nvSpPr>
        <p:spPr>
          <a:xfrm>
            <a:off x="4836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111" name="Text 109"/>
          <p:cNvSpPr/>
          <p:nvPr/>
        </p:nvSpPr>
        <p:spPr>
          <a:xfrm>
            <a:off x="5882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2" name="Text 110"/>
          <p:cNvSpPr/>
          <p:nvPr/>
        </p:nvSpPr>
        <p:spPr>
          <a:xfrm>
            <a:off x="6929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45ms</a:t>
            </a:r>
            <a:endParaRPr lang="en-US" sz="563" dirty="0"/>
          </a:p>
        </p:txBody>
      </p:sp>
      <p:sp>
        <p:nvSpPr>
          <p:cNvPr id="113" name="Text 111"/>
          <p:cNvSpPr/>
          <p:nvPr/>
        </p:nvSpPr>
        <p:spPr>
          <a:xfrm>
            <a:off x="7975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14" name="Shape 112"/>
          <p:cNvSpPr/>
          <p:nvPr/>
        </p:nvSpPr>
        <p:spPr>
          <a:xfrm>
            <a:off x="4750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5" name="Shape 113"/>
          <p:cNvSpPr/>
          <p:nvPr/>
        </p:nvSpPr>
        <p:spPr>
          <a:xfrm>
            <a:off x="4750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6" name="Text 114"/>
          <p:cNvSpPr/>
          <p:nvPr/>
        </p:nvSpPr>
        <p:spPr>
          <a:xfrm>
            <a:off x="4836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117" name="Text 115"/>
          <p:cNvSpPr/>
          <p:nvPr/>
        </p:nvSpPr>
        <p:spPr>
          <a:xfrm>
            <a:off x="5882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8" name="Text 116"/>
          <p:cNvSpPr/>
          <p:nvPr/>
        </p:nvSpPr>
        <p:spPr>
          <a:xfrm>
            <a:off x="6929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62ms</a:t>
            </a:r>
            <a:endParaRPr lang="en-US" sz="563" dirty="0"/>
          </a:p>
        </p:txBody>
      </p:sp>
      <p:sp>
        <p:nvSpPr>
          <p:cNvPr id="119" name="Text 117"/>
          <p:cNvSpPr/>
          <p:nvPr/>
        </p:nvSpPr>
        <p:spPr>
          <a:xfrm>
            <a:off x="7975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63" dirty="0"/>
          </a:p>
        </p:txBody>
      </p:sp>
      <p:sp>
        <p:nvSpPr>
          <p:cNvPr id="120" name="Shape 118"/>
          <p:cNvSpPr/>
          <p:nvPr/>
        </p:nvSpPr>
        <p:spPr>
          <a:xfrm>
            <a:off x="4750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1" name="Shape 119"/>
          <p:cNvSpPr/>
          <p:nvPr/>
        </p:nvSpPr>
        <p:spPr>
          <a:xfrm>
            <a:off x="4750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22" name="Text 120"/>
          <p:cNvSpPr/>
          <p:nvPr/>
        </p:nvSpPr>
        <p:spPr>
          <a:xfrm>
            <a:off x="4836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123" name="Text 121"/>
          <p:cNvSpPr/>
          <p:nvPr/>
        </p:nvSpPr>
        <p:spPr>
          <a:xfrm>
            <a:off x="5882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24" name="Text 122"/>
          <p:cNvSpPr/>
          <p:nvPr/>
        </p:nvSpPr>
        <p:spPr>
          <a:xfrm>
            <a:off x="6929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120ms</a:t>
            </a:r>
            <a:endParaRPr lang="en-US" sz="563" dirty="0"/>
          </a:p>
        </p:txBody>
      </p:sp>
      <p:sp>
        <p:nvSpPr>
          <p:cNvPr id="125" name="Text 123"/>
          <p:cNvSpPr/>
          <p:nvPr/>
        </p:nvSpPr>
        <p:spPr>
          <a:xfrm>
            <a:off x="7975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26" name="Shape 124"/>
          <p:cNvSpPr/>
          <p:nvPr/>
        </p:nvSpPr>
        <p:spPr>
          <a:xfrm>
            <a:off x="4557713" y="0"/>
            <a:ext cx="28575" cy="51435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127" name="Shape 125"/>
          <p:cNvSpPr/>
          <p:nvPr/>
        </p:nvSpPr>
        <p:spPr>
          <a:xfrm>
            <a:off x="4400550" y="2400300"/>
            <a:ext cx="342900" cy="342900"/>
          </a:xfrm>
          <a:prstGeom prst="ellipse">
            <a:avLst/>
          </a:prstGeom>
          <a:solidFill>
            <a:srgbClr val="374151"/>
          </a:solidFill>
          <a:ln>
            <a:noFill/>
          </a:ln>
          <a:effectLst>
            <a:outerShdw sx="100000" sy="100000" kx="0" ky="0" algn="bl" rotWithShape="0" blurRad="85725" dist="28575" dir="5400000">
              <a:srgbClr val="000000">
                <a:alpha val="20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4400550" y="2400300"/>
            <a:ext cx="342900" cy="3429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3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7313" y="1135856"/>
            <a:ext cx="6429375" cy="2871788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14288" algn="in">
            <a:solidFill>
              <a:srgbClr val="D1D9E6"/>
            </a:solidFill>
            <a:prstDash val="solid"/>
          </a:ln>
          <a:effectLst>
            <a:outerShdw sx="100000" sy="100000" kx="0" ky="0" algn="bl" rotWithShape="0" blurRad="228600" dist="5715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00200" y="1378744"/>
            <a:ext cx="602932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Rounded Corners Test</a:t>
            </a:r>
            <a:endParaRPr lang="en-US" sz="1238" dirty="0"/>
          </a:p>
        </p:txBody>
      </p:sp>
      <p:sp>
        <p:nvSpPr>
          <p:cNvPr id="4" name="Shape 2"/>
          <p:cNvSpPr/>
          <p:nvPr/>
        </p:nvSpPr>
        <p:spPr>
          <a:xfrm>
            <a:off x="1600200" y="1707356"/>
            <a:ext cx="5943600" cy="1678781"/>
          </a:xfrm>
          <a:prstGeom prst="roundRect">
            <a:avLst>
              <a:gd name="adj" fmla="val 5106"/>
            </a:avLst>
          </a:prstGeom>
          <a:solidFill>
            <a:srgbClr val="F7FAFC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7344" y="1714500"/>
            <a:ext cx="5929313" cy="371475"/>
          </a:xfrm>
          <a:prstGeom prst="round2SameRect">
            <a:avLst>
              <a:gd name="adj1" fmla="val 23077"/>
              <a:gd name="adj2" fmla="val 0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1778794" y="1714500"/>
            <a:ext cx="6700838" cy="3714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Alpha — Status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78794" y="2257425"/>
            <a:ext cx="4929188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4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inner card is nested inside the outer card, each with its own border-radius. The header section clips to the inner card's top corners. The badge on the right is a perfect circle (border-radius: 50%).</a:t>
            </a:r>
            <a:endParaRPr lang="en-US" sz="844" dirty="0"/>
          </a:p>
        </p:txBody>
      </p:sp>
      <p:sp>
        <p:nvSpPr>
          <p:cNvPr id="8" name="GRAD_17"/>
          <p:cNvSpPr/>
          <p:nvPr/>
        </p:nvSpPr>
        <p:spPr>
          <a:xfrm>
            <a:off x="6850856" y="2257425"/>
            <a:ext cx="514350" cy="514350"/>
          </a:xfrm>
          <a:prstGeom prst="ellipse">
            <a:avLst/>
          </a:prstGeom>
          <a:gradFill rotWithShape="1">
            <a:gsLst>
              <a:gs pos="0">
                <a:srgbClr val="FF6B6B"/>
              </a:gs>
              <a:gs pos="100000">
                <a:srgbClr val="EE5A24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85725" dist="28575" dir="5400000">
              <a:srgbClr val="EE5A2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0856" y="2257425"/>
            <a:ext cx="514350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A+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778794" y="3057525"/>
            <a:ext cx="473916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5931" y="3057525"/>
            <a:ext cx="559641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2309860" y="3057525"/>
            <a:ext cx="557070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6998" y="3057525"/>
            <a:ext cx="642795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2924151" y="3057525"/>
            <a:ext cx="627293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1289" y="3057525"/>
            <a:ext cx="713018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3608594" y="3057525"/>
            <a:ext cx="482346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5731" y="3057525"/>
            <a:ext cx="568071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600200" y="3589734"/>
            <a:ext cx="1233297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updated: 2 hours ago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6660404" y="3529013"/>
            <a:ext cx="883396" cy="235744"/>
          </a:xfrm>
          <a:prstGeom prst="roundRect">
            <a:avLst>
              <a:gd name="adj" fmla="val 24242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6481810" y="3529013"/>
            <a:ext cx="1240584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Details</a:t>
            </a:r>
            <a:endParaRPr lang="en-US" sz="7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1563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15123" y="400050"/>
            <a:ext cx="3269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478631" y="678656"/>
            <a:ext cx="114300" cy="3564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spc="169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· PRIORITY</a:t>
            </a:r>
            <a:endParaRPr lang="en-US" sz="731" dirty="0"/>
          </a:p>
        </p:txBody>
      </p:sp>
      <p:sp>
        <p:nvSpPr>
          <p:cNvPr id="5" name="Text 3"/>
          <p:cNvSpPr/>
          <p:nvPr/>
        </p:nvSpPr>
        <p:spPr>
          <a:xfrm>
            <a:off x="458343" y="4414838"/>
            <a:ext cx="24067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49031" y="4636294"/>
            <a:ext cx="6592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1613" y="357188"/>
            <a:ext cx="73580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spc="113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1471613" y="521494"/>
            <a:ext cx="7358063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top to bottom</a:t>
            </a:r>
            <a:endParaRPr lang="en-US" sz="1913" dirty="0"/>
          </a:p>
        </p:txBody>
      </p:sp>
      <p:sp>
        <p:nvSpPr>
          <p:cNvPr id="9" name="Shape 7"/>
          <p:cNvSpPr/>
          <p:nvPr/>
        </p:nvSpPr>
        <p:spPr>
          <a:xfrm>
            <a:off x="1471613" y="971550"/>
            <a:ext cx="7272338" cy="657225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GRAD_18"/>
          <p:cNvSpPr/>
          <p:nvPr/>
        </p:nvSpPr>
        <p:spPr>
          <a:xfrm rot="16200000">
            <a:off x="1471613" y="971550"/>
            <a:ext cx="657225" cy="657225"/>
          </a:xfrm>
          <a:prstGeom prst="round2SameRect">
            <a:avLst>
              <a:gd name="adj1" fmla="val 15217"/>
              <a:gd name="adj2" fmla="val 0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9600000" scaled="0"/>
          </a:gra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1694640" y="1157288"/>
            <a:ext cx="29689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1561267" y="1364456"/>
            <a:ext cx="477845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1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NEXT</a:t>
            </a:r>
            <a:endParaRPr lang="en-US" sz="534" dirty="0"/>
          </a:p>
        </p:txBody>
      </p:sp>
      <p:sp>
        <p:nvSpPr>
          <p:cNvPr id="13" name="Text 11"/>
          <p:cNvSpPr/>
          <p:nvPr/>
        </p:nvSpPr>
        <p:spPr>
          <a:xfrm>
            <a:off x="2400300" y="1140000"/>
            <a:ext cx="4998696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2400300" y="1325737"/>
            <a:ext cx="4998696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5" name="Shape 13"/>
          <p:cNvSpPr/>
          <p:nvPr/>
        </p:nvSpPr>
        <p:spPr>
          <a:xfrm>
            <a:off x="7584734" y="1189434"/>
            <a:ext cx="1030629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7377565" y="1189434"/>
            <a:ext cx="144496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external redirects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1471613" y="1743075"/>
            <a:ext cx="7272338" cy="785813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8" name="GRAD_19"/>
          <p:cNvSpPr/>
          <p:nvPr/>
        </p:nvSpPr>
        <p:spPr>
          <a:xfrm rot="16200000">
            <a:off x="1407319" y="1807369"/>
            <a:ext cx="785813" cy="657225"/>
          </a:xfrm>
          <a:prstGeom prst="round2SameRect">
            <a:avLst>
              <a:gd name="adj1" fmla="val 15217"/>
              <a:gd name="adj2" fmla="val 0"/>
            </a:avLst>
          </a:pr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9600000" scaled="0"/>
          </a:gra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714286" y="1993106"/>
            <a:ext cx="25760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1572197" y="2200275"/>
            <a:ext cx="456057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7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534" dirty="0"/>
          </a:p>
        </p:txBody>
      </p:sp>
      <p:sp>
        <p:nvSpPr>
          <p:cNvPr id="21" name="Text 19"/>
          <p:cNvSpPr/>
          <p:nvPr/>
        </p:nvSpPr>
        <p:spPr>
          <a:xfrm>
            <a:off x="2400300" y="1975818"/>
            <a:ext cx="503234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2400300" y="2161556"/>
            <a:ext cx="503234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&amp; rewrite wrongly-transcribed medical sources online.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7618381" y="2025253"/>
            <a:ext cx="99698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7418356" y="2025253"/>
            <a:ext cx="1397032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citation-style refs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1471613" y="2643188"/>
            <a:ext cx="7272338" cy="942975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26" name="GRAD_20"/>
          <p:cNvSpPr/>
          <p:nvPr/>
        </p:nvSpPr>
        <p:spPr>
          <a:xfrm rot="16200000">
            <a:off x="1328738" y="2786063"/>
            <a:ext cx="942975" cy="657225"/>
          </a:xfrm>
          <a:prstGeom prst="round2SameRect">
            <a:avLst>
              <a:gd name="adj1" fmla="val 15217"/>
              <a:gd name="adj2" fmla="val 0"/>
            </a:avLst>
          </a:prstGeom>
          <a:gradFill rotWithShape="1">
            <a:gsLst>
              <a:gs pos="0">
                <a:srgbClr val="2DD4BF"/>
              </a:gs>
              <a:gs pos="100000">
                <a:srgbClr val="0D9488"/>
              </a:gs>
            </a:gsLst>
            <a:lin ang="9600000" scaled="0"/>
          </a:gra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698855" y="2932509"/>
            <a:ext cx="28846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1471613" y="3139678"/>
            <a:ext cx="657225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EDF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· ONGOING</a:t>
            </a:r>
            <a:endParaRPr lang="en-US" sz="534" dirty="0"/>
          </a:p>
        </p:txBody>
      </p:sp>
      <p:sp>
        <p:nvSpPr>
          <p:cNvPr id="29" name="Text 27"/>
          <p:cNvSpPr/>
          <p:nvPr/>
        </p:nvSpPr>
        <p:spPr>
          <a:xfrm>
            <a:off x="2400300" y="2954512"/>
            <a:ext cx="535288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2400300" y="3140250"/>
            <a:ext cx="535288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to Claude &amp; Codex — the full-mode fix.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7938921" y="3003947"/>
            <a:ext cx="67644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7803190" y="3003947"/>
            <a:ext cx="94790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bug_solving-1781997850360</dc:title>
  <dc:subject>PptxGenJS Presentation</dc:subject>
  <dc:creator>PptxGenJS</dc:creator>
  <cp:lastModifiedBy>PptxGenJS</cp:lastModifiedBy>
  <cp:revision>1</cp:revision>
  <dcterms:created xsi:type="dcterms:W3CDTF">2026-06-20T23:24:32Z</dcterms:created>
  <dcterms:modified xsi:type="dcterms:W3CDTF">2026-06-20T23:24:32Z</dcterms:modified>
</cp:coreProperties>
</file>