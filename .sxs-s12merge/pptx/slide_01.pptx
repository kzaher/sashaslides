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91563" y="532209"/>
            <a:ext cx="3560802" cy="3143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25" b="1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Simple, Transparent Pricing</a:t>
            </a:r>
            <a:endParaRPr lang="en-US" sz="2025" dirty="0"/>
          </a:p>
        </p:txBody>
      </p:sp>
      <p:sp>
        <p:nvSpPr>
          <p:cNvPr id="3" name="Text 1"/>
          <p:cNvSpPr/>
          <p:nvPr/>
        </p:nvSpPr>
        <p:spPr>
          <a:xfrm>
            <a:off x="3123819" y="903684"/>
            <a:ext cx="2896362" cy="1428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Choose the plan that fits your team. No hidden fees.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400175" y="1275159"/>
            <a:ext cx="2000250" cy="3336131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142875" dist="28575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85913" y="1489472"/>
            <a:ext cx="1628775" cy="66436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6" name="Shape 4"/>
          <p:cNvSpPr/>
          <p:nvPr/>
        </p:nvSpPr>
        <p:spPr>
          <a:xfrm>
            <a:off x="1585913" y="2146697"/>
            <a:ext cx="1628775" cy="7144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7" name="Text 5"/>
          <p:cNvSpPr/>
          <p:nvPr/>
        </p:nvSpPr>
        <p:spPr>
          <a:xfrm>
            <a:off x="1543050" y="1489472"/>
            <a:ext cx="1714500" cy="15001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13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Starter</a:t>
            </a:r>
            <a:endParaRPr lang="en-US" sz="1013" dirty="0"/>
          </a:p>
        </p:txBody>
      </p:sp>
      <p:sp>
        <p:nvSpPr>
          <p:cNvPr id="8" name="Text 6"/>
          <p:cNvSpPr/>
          <p:nvPr/>
        </p:nvSpPr>
        <p:spPr>
          <a:xfrm>
            <a:off x="1543050" y="1668066"/>
            <a:ext cx="1714500" cy="36433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63" b="1" u="none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$19</a:t>
            </a:r>
            <a:pPr algn="ctr" indent="0" marL="0">
              <a:lnSpc>
                <a:spcPct val="100000"/>
              </a:lnSpc>
              <a:buNone/>
            </a:pPr>
            <a:r>
              <a:rPr lang="en-US" sz="900" u="none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/mo</a:t>
            </a:r>
            <a:endParaRPr lang="en-US" sz="2363" dirty="0"/>
          </a:p>
        </p:txBody>
      </p:sp>
      <p:sp>
        <p:nvSpPr>
          <p:cNvPr id="9" name="Shape 7"/>
          <p:cNvSpPr/>
          <p:nvPr/>
        </p:nvSpPr>
        <p:spPr>
          <a:xfrm>
            <a:off x="1585913" y="2611041"/>
            <a:ext cx="1628775" cy="7144"/>
          </a:xfrm>
          <a:prstGeom prst="rect">
            <a:avLst/>
          </a:prstGeom>
          <a:solidFill>
            <a:srgbClr val="F3F4F6"/>
          </a:solidFill>
          <a:ln>
            <a:noFill/>
          </a:ln>
        </p:spPr>
      </p:sp>
      <p:sp>
        <p:nvSpPr>
          <p:cNvPr id="10" name="Text 8"/>
          <p:cNvSpPr/>
          <p:nvPr/>
        </p:nvSpPr>
        <p:spPr>
          <a:xfrm>
            <a:off x="1585913" y="2353866"/>
            <a:ext cx="1628775" cy="26431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pPr algn="l" indent="0" marL="0">
              <a:buNone/>
            </a:pPr>
            <a:r>
              <a:rPr lang="en-US" sz="788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5 team members</a:t>
            </a:r>
            <a:endParaRPr lang="en-US" sz="788" dirty="0"/>
          </a:p>
        </p:txBody>
      </p:sp>
      <p:sp>
        <p:nvSpPr>
          <p:cNvPr id="11" name="Shape 9"/>
          <p:cNvSpPr/>
          <p:nvPr/>
        </p:nvSpPr>
        <p:spPr>
          <a:xfrm>
            <a:off x="1585913" y="2618184"/>
            <a:ext cx="1628775" cy="0"/>
          </a:xfrm>
          <a:prstGeom prst="line">
            <a:avLst/>
          </a:prstGeom>
          <a:noFill/>
          <a:ln w="6350" algn="in">
            <a:solidFill>
              <a:srgbClr val="F3F4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85913" y="2875359"/>
            <a:ext cx="1628775" cy="7144"/>
          </a:xfrm>
          <a:prstGeom prst="rect">
            <a:avLst/>
          </a:prstGeom>
          <a:solidFill>
            <a:srgbClr val="F3F4F6"/>
          </a:solidFill>
          <a:ln>
            <a:noFill/>
          </a:ln>
        </p:spPr>
      </p:sp>
      <p:sp>
        <p:nvSpPr>
          <p:cNvPr id="13" name="Text 11"/>
          <p:cNvSpPr/>
          <p:nvPr/>
        </p:nvSpPr>
        <p:spPr>
          <a:xfrm>
            <a:off x="1585913" y="2618184"/>
            <a:ext cx="1628775" cy="26431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pPr algn="l" indent="0" marL="0">
              <a:buNone/>
            </a:pPr>
            <a:r>
              <a:rPr lang="en-US" sz="788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10 GB storage</a:t>
            </a:r>
            <a:endParaRPr lang="en-US" sz="788" dirty="0"/>
          </a:p>
        </p:txBody>
      </p:sp>
      <p:sp>
        <p:nvSpPr>
          <p:cNvPr id="14" name="Shape 12"/>
          <p:cNvSpPr/>
          <p:nvPr/>
        </p:nvSpPr>
        <p:spPr>
          <a:xfrm>
            <a:off x="1585913" y="2882503"/>
            <a:ext cx="1628775" cy="0"/>
          </a:xfrm>
          <a:prstGeom prst="line">
            <a:avLst/>
          </a:prstGeom>
          <a:noFill/>
          <a:ln w="6350" algn="in">
            <a:solidFill>
              <a:srgbClr val="F3F4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5913" y="3139678"/>
            <a:ext cx="1628775" cy="7144"/>
          </a:xfrm>
          <a:prstGeom prst="rect">
            <a:avLst/>
          </a:prstGeom>
          <a:solidFill>
            <a:srgbClr val="F3F4F6"/>
          </a:solidFill>
          <a:ln>
            <a:noFill/>
          </a:ln>
        </p:spPr>
      </p:sp>
      <p:sp>
        <p:nvSpPr>
          <p:cNvPr id="16" name="Text 14"/>
          <p:cNvSpPr/>
          <p:nvPr/>
        </p:nvSpPr>
        <p:spPr>
          <a:xfrm>
            <a:off x="1585913" y="2882503"/>
            <a:ext cx="1628775" cy="26431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pPr algn="l" indent="0" marL="0">
              <a:buNone/>
            </a:pPr>
            <a:r>
              <a:rPr lang="en-US" sz="788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Basic analytics</a:t>
            </a:r>
            <a:endParaRPr lang="en-US" sz="788" dirty="0"/>
          </a:p>
        </p:txBody>
      </p:sp>
      <p:sp>
        <p:nvSpPr>
          <p:cNvPr id="17" name="Shape 15"/>
          <p:cNvSpPr/>
          <p:nvPr/>
        </p:nvSpPr>
        <p:spPr>
          <a:xfrm>
            <a:off x="1585913" y="3146822"/>
            <a:ext cx="1628775" cy="0"/>
          </a:xfrm>
          <a:prstGeom prst="line">
            <a:avLst/>
          </a:prstGeom>
          <a:noFill/>
          <a:ln w="6350" algn="in">
            <a:solidFill>
              <a:srgbClr val="F3F4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85913" y="3403997"/>
            <a:ext cx="1628775" cy="7144"/>
          </a:xfrm>
          <a:prstGeom prst="rect">
            <a:avLst/>
          </a:prstGeom>
          <a:solidFill>
            <a:srgbClr val="F3F4F6"/>
          </a:solidFill>
          <a:ln>
            <a:noFill/>
          </a:ln>
        </p:spPr>
      </p:sp>
      <p:sp>
        <p:nvSpPr>
          <p:cNvPr id="19" name="Text 17"/>
          <p:cNvSpPr/>
          <p:nvPr/>
        </p:nvSpPr>
        <p:spPr>
          <a:xfrm>
            <a:off x="1585913" y="3146822"/>
            <a:ext cx="1628775" cy="26431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</a:t>
            </a:r>
            <a:pPr algn="l" indent="0" marL="0">
              <a:buNone/>
            </a:pPr>
            <a:r>
              <a:rPr lang="en-US" sz="788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Custom domains</a:t>
            </a:r>
            <a:endParaRPr lang="en-US" sz="788" dirty="0"/>
          </a:p>
        </p:txBody>
      </p:sp>
      <p:sp>
        <p:nvSpPr>
          <p:cNvPr id="20" name="Shape 18"/>
          <p:cNvSpPr/>
          <p:nvPr/>
        </p:nvSpPr>
        <p:spPr>
          <a:xfrm>
            <a:off x="1585913" y="3411141"/>
            <a:ext cx="1628775" cy="0"/>
          </a:xfrm>
          <a:prstGeom prst="line">
            <a:avLst/>
          </a:prstGeom>
          <a:noFill/>
          <a:ln w="6350" algn="in">
            <a:solidFill>
              <a:srgbClr val="F3F4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85913" y="3668316"/>
            <a:ext cx="1628775" cy="7144"/>
          </a:xfrm>
          <a:prstGeom prst="rect">
            <a:avLst/>
          </a:prstGeom>
          <a:solidFill>
            <a:srgbClr val="F3F4F6"/>
          </a:solidFill>
          <a:ln>
            <a:noFill/>
          </a:ln>
        </p:spPr>
      </p:sp>
      <p:sp>
        <p:nvSpPr>
          <p:cNvPr id="22" name="Text 20"/>
          <p:cNvSpPr/>
          <p:nvPr/>
        </p:nvSpPr>
        <p:spPr>
          <a:xfrm>
            <a:off x="1585913" y="3411141"/>
            <a:ext cx="1628775" cy="26431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</a:t>
            </a:r>
            <a:pPr algn="l" indent="0" marL="0">
              <a:buNone/>
            </a:pPr>
            <a:r>
              <a:rPr lang="en-US" sz="788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Priority support</a:t>
            </a:r>
            <a:endParaRPr lang="en-US" sz="788" dirty="0"/>
          </a:p>
        </p:txBody>
      </p:sp>
      <p:sp>
        <p:nvSpPr>
          <p:cNvPr id="23" name="Shape 21"/>
          <p:cNvSpPr/>
          <p:nvPr/>
        </p:nvSpPr>
        <p:spPr>
          <a:xfrm>
            <a:off x="1585913" y="3675459"/>
            <a:ext cx="1628775" cy="0"/>
          </a:xfrm>
          <a:prstGeom prst="line">
            <a:avLst/>
          </a:prstGeom>
          <a:noFill/>
          <a:ln w="6350" algn="in">
            <a:solidFill>
              <a:srgbClr val="F3F4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585913" y="3675459"/>
            <a:ext cx="1628775" cy="2571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</a:t>
            </a:r>
            <a:pPr algn="l" indent="0" marL="0">
              <a:buNone/>
            </a:pPr>
            <a:r>
              <a:rPr lang="en-US" sz="788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API access</a:t>
            </a:r>
            <a:endParaRPr lang="en-US" sz="788" dirty="0"/>
          </a:p>
        </p:txBody>
      </p:sp>
      <p:sp>
        <p:nvSpPr>
          <p:cNvPr id="25" name="Shape 23"/>
          <p:cNvSpPr/>
          <p:nvPr/>
        </p:nvSpPr>
        <p:spPr>
          <a:xfrm>
            <a:off x="1585913" y="4075509"/>
            <a:ext cx="1628775" cy="321469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4288" algn="in">
            <a:solidFill>
              <a:srgbClr val="6366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585913" y="4075509"/>
            <a:ext cx="1628775" cy="32146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44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Started</a:t>
            </a:r>
            <a:endParaRPr lang="en-US" sz="844" dirty="0"/>
          </a:p>
        </p:txBody>
      </p:sp>
      <p:sp>
        <p:nvSpPr>
          <p:cNvPr id="27" name="Shape 25"/>
          <p:cNvSpPr/>
          <p:nvPr/>
        </p:nvSpPr>
        <p:spPr>
          <a:xfrm>
            <a:off x="3531870" y="1208437"/>
            <a:ext cx="2080260" cy="3469577"/>
          </a:xfrm>
          <a:prstGeom prst="roundRect">
            <a:avLst>
              <a:gd name="adj" fmla="val 4121"/>
            </a:avLst>
          </a:prstGeom>
          <a:solidFill>
            <a:srgbClr val="FFFFFF"/>
          </a:solidFill>
          <a:ln w="14288" algn="in">
            <a:solidFill>
              <a:srgbClr val="6366F1"/>
            </a:solidFill>
            <a:prstDash val="solid"/>
          </a:ln>
          <a:effectLst>
            <a:outerShdw sx="100000" sy="100000" kx="0" ky="0" algn="bl" rotWithShape="0" blurRad="228600" dist="57150" dir="5400000">
              <a:srgbClr val="6366F1">
                <a:alpha val="18000"/>
              </a:srgbClr>
            </a:outerShdw>
          </a:effectLst>
        </p:spPr>
      </p:sp>
      <p:sp>
        <p:nvSpPr>
          <p:cNvPr id="28" name="GRAD_0"/>
          <p:cNvSpPr/>
          <p:nvPr/>
        </p:nvSpPr>
        <p:spPr>
          <a:xfrm>
            <a:off x="3725037" y="1223296"/>
            <a:ext cx="1693926" cy="898970"/>
          </a:xfrm>
          <a:prstGeom prst="round2SameRect">
            <a:avLst>
              <a:gd name="adj1" fmla="val 7947"/>
              <a:gd name="adj2" fmla="val 0"/>
            </a:avLst>
          </a:prstGeom>
          <a:gradFill rotWithShape="1">
            <a:gsLst>
              <a:gs pos="0">
                <a:srgbClr val="EEF2FF"/>
              </a:gs>
              <a:gs pos="100000">
                <a:srgbClr val="E0E7FF"/>
              </a:gs>
            </a:gsLst>
            <a:lin ang="2700000" scaled="0"/>
          </a:gradFill>
          <a:ln>
            <a:noFill/>
          </a:ln>
        </p:spPr>
      </p:sp>
      <p:sp>
        <p:nvSpPr>
          <p:cNvPr id="29" name="Shape 27"/>
          <p:cNvSpPr/>
          <p:nvPr/>
        </p:nvSpPr>
        <p:spPr>
          <a:xfrm>
            <a:off x="3725037" y="2115122"/>
            <a:ext cx="1693926" cy="7144"/>
          </a:xfrm>
          <a:prstGeom prst="rect">
            <a:avLst/>
          </a:prstGeom>
          <a:solidFill>
            <a:srgbClr val="C7D2FE"/>
          </a:solidFill>
          <a:ln>
            <a:noFill/>
          </a:ln>
        </p:spPr>
      </p:sp>
      <p:sp>
        <p:nvSpPr>
          <p:cNvPr id="30" name="Text 28"/>
          <p:cNvSpPr/>
          <p:nvPr/>
        </p:nvSpPr>
        <p:spPr>
          <a:xfrm>
            <a:off x="3860483" y="1431322"/>
            <a:ext cx="1423035" cy="15602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13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Professional</a:t>
            </a:r>
            <a:endParaRPr lang="en-US" sz="1013" dirty="0"/>
          </a:p>
        </p:txBody>
      </p:sp>
      <p:sp>
        <p:nvSpPr>
          <p:cNvPr id="31" name="Text 29"/>
          <p:cNvSpPr/>
          <p:nvPr/>
        </p:nvSpPr>
        <p:spPr>
          <a:xfrm>
            <a:off x="3860483" y="1617059"/>
            <a:ext cx="1423035" cy="3789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63" b="1" u="none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$49</a:t>
            </a:r>
            <a:pPr algn="ctr" indent="0" marL="0">
              <a:lnSpc>
                <a:spcPct val="100000"/>
              </a:lnSpc>
              <a:buNone/>
            </a:pPr>
            <a:r>
              <a:rPr lang="en-US" sz="900" u="none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/mo</a:t>
            </a:r>
            <a:endParaRPr lang="en-US" sz="2363" dirty="0"/>
          </a:p>
        </p:txBody>
      </p:sp>
      <p:sp>
        <p:nvSpPr>
          <p:cNvPr id="32" name="Shape 30"/>
          <p:cNvSpPr/>
          <p:nvPr/>
        </p:nvSpPr>
        <p:spPr>
          <a:xfrm>
            <a:off x="3725037" y="2598039"/>
            <a:ext cx="1693926" cy="7144"/>
          </a:xfrm>
          <a:prstGeom prst="rect">
            <a:avLst/>
          </a:prstGeom>
          <a:solidFill>
            <a:srgbClr val="F3F4F6"/>
          </a:solidFill>
          <a:ln>
            <a:noFill/>
          </a:ln>
        </p:spPr>
      </p:sp>
      <p:sp>
        <p:nvSpPr>
          <p:cNvPr id="33" name="Text 31"/>
          <p:cNvSpPr/>
          <p:nvPr/>
        </p:nvSpPr>
        <p:spPr>
          <a:xfrm>
            <a:off x="3725037" y="2330291"/>
            <a:ext cx="1693926" cy="274892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pPr algn="l" indent="0" marL="0">
              <a:buNone/>
            </a:pPr>
            <a:r>
              <a:rPr lang="en-US" sz="788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25 team members</a:t>
            </a:r>
            <a:endParaRPr lang="en-US" sz="788" dirty="0"/>
          </a:p>
        </p:txBody>
      </p:sp>
      <p:sp>
        <p:nvSpPr>
          <p:cNvPr id="34" name="Shape 32"/>
          <p:cNvSpPr/>
          <p:nvPr/>
        </p:nvSpPr>
        <p:spPr>
          <a:xfrm>
            <a:off x="3725037" y="2605183"/>
            <a:ext cx="1693926" cy="0"/>
          </a:xfrm>
          <a:prstGeom prst="line">
            <a:avLst/>
          </a:prstGeom>
          <a:noFill/>
          <a:ln w="6350" algn="in">
            <a:solidFill>
              <a:srgbClr val="F3F4F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725037" y="2872931"/>
            <a:ext cx="1693926" cy="7144"/>
          </a:xfrm>
          <a:prstGeom prst="rect">
            <a:avLst/>
          </a:prstGeom>
          <a:solidFill>
            <a:srgbClr val="F3F4F6"/>
          </a:solidFill>
          <a:ln>
            <a:noFill/>
          </a:ln>
        </p:spPr>
      </p:sp>
      <p:sp>
        <p:nvSpPr>
          <p:cNvPr id="36" name="Text 34"/>
          <p:cNvSpPr/>
          <p:nvPr/>
        </p:nvSpPr>
        <p:spPr>
          <a:xfrm>
            <a:off x="3725037" y="2605183"/>
            <a:ext cx="1693926" cy="274892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pPr algn="l" indent="0" marL="0">
              <a:buNone/>
            </a:pPr>
            <a:r>
              <a:rPr lang="en-US" sz="788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100 GB storage</a:t>
            </a:r>
            <a:endParaRPr lang="en-US" sz="788" dirty="0"/>
          </a:p>
        </p:txBody>
      </p:sp>
      <p:sp>
        <p:nvSpPr>
          <p:cNvPr id="37" name="Shape 35"/>
          <p:cNvSpPr/>
          <p:nvPr/>
        </p:nvSpPr>
        <p:spPr>
          <a:xfrm>
            <a:off x="3725037" y="2880074"/>
            <a:ext cx="1693926" cy="0"/>
          </a:xfrm>
          <a:prstGeom prst="line">
            <a:avLst/>
          </a:prstGeom>
          <a:noFill/>
          <a:ln w="6350" algn="in">
            <a:solidFill>
              <a:srgbClr val="F3F4F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725037" y="3147822"/>
            <a:ext cx="1693926" cy="7144"/>
          </a:xfrm>
          <a:prstGeom prst="rect">
            <a:avLst/>
          </a:prstGeom>
          <a:solidFill>
            <a:srgbClr val="F3F4F6"/>
          </a:solidFill>
          <a:ln>
            <a:noFill/>
          </a:ln>
        </p:spPr>
      </p:sp>
      <p:sp>
        <p:nvSpPr>
          <p:cNvPr id="39" name="Text 37"/>
          <p:cNvSpPr/>
          <p:nvPr/>
        </p:nvSpPr>
        <p:spPr>
          <a:xfrm>
            <a:off x="3725037" y="2880074"/>
            <a:ext cx="1693926" cy="274892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pPr algn="l" indent="0" marL="0">
              <a:buNone/>
            </a:pPr>
            <a:r>
              <a:rPr lang="en-US" sz="788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Advanced analytics</a:t>
            </a:r>
            <a:endParaRPr lang="en-US" sz="788" dirty="0"/>
          </a:p>
        </p:txBody>
      </p:sp>
      <p:sp>
        <p:nvSpPr>
          <p:cNvPr id="40" name="Shape 38"/>
          <p:cNvSpPr/>
          <p:nvPr/>
        </p:nvSpPr>
        <p:spPr>
          <a:xfrm>
            <a:off x="3725037" y="3154966"/>
            <a:ext cx="1693926" cy="0"/>
          </a:xfrm>
          <a:prstGeom prst="line">
            <a:avLst/>
          </a:prstGeom>
          <a:noFill/>
          <a:ln w="6350" algn="in">
            <a:solidFill>
              <a:srgbClr val="F3F4F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25037" y="3422714"/>
            <a:ext cx="1693926" cy="7144"/>
          </a:xfrm>
          <a:prstGeom prst="rect">
            <a:avLst/>
          </a:prstGeom>
          <a:solidFill>
            <a:srgbClr val="F3F4F6"/>
          </a:solidFill>
          <a:ln>
            <a:noFill/>
          </a:ln>
        </p:spPr>
      </p:sp>
      <p:sp>
        <p:nvSpPr>
          <p:cNvPr id="42" name="Text 40"/>
          <p:cNvSpPr/>
          <p:nvPr/>
        </p:nvSpPr>
        <p:spPr>
          <a:xfrm>
            <a:off x="3725037" y="3154966"/>
            <a:ext cx="1693926" cy="274892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pPr algn="l" indent="0" marL="0">
              <a:buNone/>
            </a:pPr>
            <a:r>
              <a:rPr lang="en-US" sz="788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Custom domains</a:t>
            </a:r>
            <a:endParaRPr lang="en-US" sz="788" dirty="0"/>
          </a:p>
        </p:txBody>
      </p:sp>
      <p:sp>
        <p:nvSpPr>
          <p:cNvPr id="43" name="Shape 41"/>
          <p:cNvSpPr/>
          <p:nvPr/>
        </p:nvSpPr>
        <p:spPr>
          <a:xfrm>
            <a:off x="3725037" y="3429857"/>
            <a:ext cx="1693926" cy="0"/>
          </a:xfrm>
          <a:prstGeom prst="line">
            <a:avLst/>
          </a:prstGeom>
          <a:noFill/>
          <a:ln w="6350" algn="in">
            <a:solidFill>
              <a:srgbClr val="F3F4F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725037" y="3697605"/>
            <a:ext cx="1693926" cy="7144"/>
          </a:xfrm>
          <a:prstGeom prst="rect">
            <a:avLst/>
          </a:prstGeom>
          <a:solidFill>
            <a:srgbClr val="F3F4F6"/>
          </a:solidFill>
          <a:ln>
            <a:noFill/>
          </a:ln>
        </p:spPr>
      </p:sp>
      <p:sp>
        <p:nvSpPr>
          <p:cNvPr id="45" name="Text 43"/>
          <p:cNvSpPr/>
          <p:nvPr/>
        </p:nvSpPr>
        <p:spPr>
          <a:xfrm>
            <a:off x="3725037" y="3429857"/>
            <a:ext cx="1693926" cy="274892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pPr algn="l" indent="0" marL="0">
              <a:buNone/>
            </a:pPr>
            <a:r>
              <a:rPr lang="en-US" sz="788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Priority support</a:t>
            </a:r>
            <a:endParaRPr lang="en-US" sz="788" dirty="0"/>
          </a:p>
        </p:txBody>
      </p:sp>
      <p:sp>
        <p:nvSpPr>
          <p:cNvPr id="46" name="Shape 44"/>
          <p:cNvSpPr/>
          <p:nvPr/>
        </p:nvSpPr>
        <p:spPr>
          <a:xfrm>
            <a:off x="3725037" y="3704749"/>
            <a:ext cx="1693926" cy="0"/>
          </a:xfrm>
          <a:prstGeom prst="line">
            <a:avLst/>
          </a:prstGeom>
          <a:noFill/>
          <a:ln w="6350" algn="in">
            <a:solidFill>
              <a:srgbClr val="F3F4F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725037" y="3704749"/>
            <a:ext cx="1693926" cy="267462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</a:t>
            </a:r>
            <a:pPr algn="l" indent="0" marL="0">
              <a:buNone/>
            </a:pPr>
            <a:r>
              <a:rPr lang="en-US" sz="788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API access</a:t>
            </a:r>
            <a:endParaRPr lang="en-US" sz="788" dirty="0"/>
          </a:p>
        </p:txBody>
      </p:sp>
      <p:sp>
        <p:nvSpPr>
          <p:cNvPr id="48" name="GRAD_1"/>
          <p:cNvSpPr/>
          <p:nvPr/>
        </p:nvSpPr>
        <p:spPr>
          <a:xfrm>
            <a:off x="3725037" y="4150519"/>
            <a:ext cx="1693926" cy="304610"/>
          </a:xfrm>
          <a:prstGeom prst="roundRect">
            <a:avLst>
              <a:gd name="adj" fmla="val 18762"/>
            </a:avLst>
          </a:prstGeom>
          <a:gradFill rotWithShape="1">
            <a:gsLst>
              <a:gs pos="0">
                <a:srgbClr val="6366F1"/>
              </a:gs>
              <a:gs pos="100000">
                <a:srgbClr val="8B5CF6"/>
              </a:gs>
            </a:gsLst>
            <a:lin ang="2700000" scaled="0"/>
          </a:gradFill>
          <a:ln>
            <a:noFill/>
          </a:ln>
        </p:spPr>
      </p:sp>
      <p:sp>
        <p:nvSpPr>
          <p:cNvPr id="49" name="Text 47"/>
          <p:cNvSpPr/>
          <p:nvPr/>
        </p:nvSpPr>
        <p:spPr>
          <a:xfrm>
            <a:off x="3725037" y="4150519"/>
            <a:ext cx="1693926" cy="30461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4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Started</a:t>
            </a:r>
            <a:endParaRPr lang="en-US" sz="844" dirty="0"/>
          </a:p>
        </p:txBody>
      </p:sp>
      <p:sp>
        <p:nvSpPr>
          <p:cNvPr id="50" name="GRAD_2"/>
          <p:cNvSpPr/>
          <p:nvPr/>
        </p:nvSpPr>
        <p:spPr>
          <a:xfrm>
            <a:off x="4074795" y="1119283"/>
            <a:ext cx="994410" cy="17087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6366F1"/>
              </a:gs>
              <a:gs pos="100000">
                <a:srgbClr val="8B5CF6"/>
              </a:gs>
            </a:gsLst>
            <a:lin ang="2700000" scaled="0"/>
          </a:gradFill>
          <a:ln>
            <a:noFill/>
          </a:ln>
        </p:spPr>
      </p:sp>
      <p:sp>
        <p:nvSpPr>
          <p:cNvPr id="51" name="Text 49"/>
          <p:cNvSpPr/>
          <p:nvPr/>
        </p:nvSpPr>
        <p:spPr>
          <a:xfrm>
            <a:off x="3874770" y="1119283"/>
            <a:ext cx="1394460" cy="17087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75" b="1" spc="28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 POPULAR</a:t>
            </a:r>
            <a:endParaRPr lang="en-US" sz="675" dirty="0"/>
          </a:p>
        </p:txBody>
      </p:sp>
      <p:sp>
        <p:nvSpPr>
          <p:cNvPr id="52" name="Shape 50"/>
          <p:cNvSpPr/>
          <p:nvPr/>
        </p:nvSpPr>
        <p:spPr>
          <a:xfrm>
            <a:off x="5743575" y="1275159"/>
            <a:ext cx="2000250" cy="3336131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142875" dist="28575" dir="5400000">
              <a:srgbClr val="000000">
                <a:alpha val="8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5929313" y="1489472"/>
            <a:ext cx="1628775" cy="66436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54" name="Shape 52"/>
          <p:cNvSpPr/>
          <p:nvPr/>
        </p:nvSpPr>
        <p:spPr>
          <a:xfrm>
            <a:off x="5929313" y="2146697"/>
            <a:ext cx="1628775" cy="7144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55" name="Text 53"/>
          <p:cNvSpPr/>
          <p:nvPr/>
        </p:nvSpPr>
        <p:spPr>
          <a:xfrm>
            <a:off x="5886450" y="1489472"/>
            <a:ext cx="1714500" cy="15001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13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</a:t>
            </a:r>
            <a:endParaRPr lang="en-US" sz="1013" dirty="0"/>
          </a:p>
        </p:txBody>
      </p:sp>
      <p:sp>
        <p:nvSpPr>
          <p:cNvPr id="56" name="Text 54"/>
          <p:cNvSpPr/>
          <p:nvPr/>
        </p:nvSpPr>
        <p:spPr>
          <a:xfrm>
            <a:off x="5886450" y="1668066"/>
            <a:ext cx="1714500" cy="36433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63" b="1" u="none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$99</a:t>
            </a:r>
            <a:pPr algn="ctr" indent="0" marL="0">
              <a:lnSpc>
                <a:spcPct val="100000"/>
              </a:lnSpc>
              <a:buNone/>
            </a:pPr>
            <a:r>
              <a:rPr lang="en-US" sz="900" u="none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/mo</a:t>
            </a:r>
            <a:endParaRPr lang="en-US" sz="2363" dirty="0"/>
          </a:p>
        </p:txBody>
      </p:sp>
      <p:sp>
        <p:nvSpPr>
          <p:cNvPr id="57" name="Shape 55"/>
          <p:cNvSpPr/>
          <p:nvPr/>
        </p:nvSpPr>
        <p:spPr>
          <a:xfrm>
            <a:off x="5929313" y="2611041"/>
            <a:ext cx="1628775" cy="7144"/>
          </a:xfrm>
          <a:prstGeom prst="rect">
            <a:avLst/>
          </a:prstGeom>
          <a:solidFill>
            <a:srgbClr val="F3F4F6"/>
          </a:solidFill>
          <a:ln>
            <a:noFill/>
          </a:ln>
        </p:spPr>
      </p:sp>
      <p:sp>
        <p:nvSpPr>
          <p:cNvPr id="58" name="Text 56"/>
          <p:cNvSpPr/>
          <p:nvPr/>
        </p:nvSpPr>
        <p:spPr>
          <a:xfrm>
            <a:off x="5929313" y="2353866"/>
            <a:ext cx="1628775" cy="26431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pPr algn="l" indent="0" marL="0">
              <a:buNone/>
            </a:pPr>
            <a:r>
              <a:rPr lang="en-US" sz="788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Unlimited members</a:t>
            </a:r>
            <a:endParaRPr lang="en-US" sz="788" dirty="0"/>
          </a:p>
        </p:txBody>
      </p:sp>
      <p:sp>
        <p:nvSpPr>
          <p:cNvPr id="59" name="Shape 57"/>
          <p:cNvSpPr/>
          <p:nvPr/>
        </p:nvSpPr>
        <p:spPr>
          <a:xfrm>
            <a:off x="5929313" y="2618184"/>
            <a:ext cx="1628775" cy="0"/>
          </a:xfrm>
          <a:prstGeom prst="line">
            <a:avLst/>
          </a:prstGeom>
          <a:noFill/>
          <a:ln w="6350" algn="in">
            <a:solidFill>
              <a:srgbClr val="F3F4F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929313" y="2875359"/>
            <a:ext cx="1628775" cy="7144"/>
          </a:xfrm>
          <a:prstGeom prst="rect">
            <a:avLst/>
          </a:prstGeom>
          <a:solidFill>
            <a:srgbClr val="F3F4F6"/>
          </a:solidFill>
          <a:ln>
            <a:noFill/>
          </a:ln>
        </p:spPr>
      </p:sp>
      <p:sp>
        <p:nvSpPr>
          <p:cNvPr id="61" name="Text 59"/>
          <p:cNvSpPr/>
          <p:nvPr/>
        </p:nvSpPr>
        <p:spPr>
          <a:xfrm>
            <a:off x="5929313" y="2618184"/>
            <a:ext cx="1628775" cy="26431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pPr algn="l" indent="0" marL="0">
              <a:buNone/>
            </a:pPr>
            <a:r>
              <a:rPr lang="en-US" sz="788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1 TB storage</a:t>
            </a:r>
            <a:endParaRPr lang="en-US" sz="788" dirty="0"/>
          </a:p>
        </p:txBody>
      </p:sp>
      <p:sp>
        <p:nvSpPr>
          <p:cNvPr id="62" name="Shape 60"/>
          <p:cNvSpPr/>
          <p:nvPr/>
        </p:nvSpPr>
        <p:spPr>
          <a:xfrm>
            <a:off x="5929313" y="2882503"/>
            <a:ext cx="1628775" cy="0"/>
          </a:xfrm>
          <a:prstGeom prst="line">
            <a:avLst/>
          </a:prstGeom>
          <a:noFill/>
          <a:ln w="6350" algn="in">
            <a:solidFill>
              <a:srgbClr val="F3F4F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929313" y="3139678"/>
            <a:ext cx="1628775" cy="7144"/>
          </a:xfrm>
          <a:prstGeom prst="rect">
            <a:avLst/>
          </a:prstGeom>
          <a:solidFill>
            <a:srgbClr val="F3F4F6"/>
          </a:solidFill>
          <a:ln>
            <a:noFill/>
          </a:ln>
        </p:spPr>
      </p:sp>
      <p:sp>
        <p:nvSpPr>
          <p:cNvPr id="64" name="Text 62"/>
          <p:cNvSpPr/>
          <p:nvPr/>
        </p:nvSpPr>
        <p:spPr>
          <a:xfrm>
            <a:off x="5929313" y="2882503"/>
            <a:ext cx="1628775" cy="26431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pPr algn="l" indent="0" marL="0">
              <a:buNone/>
            </a:pPr>
            <a:r>
              <a:rPr lang="en-US" sz="788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Custom analytics</a:t>
            </a:r>
            <a:endParaRPr lang="en-US" sz="788" dirty="0"/>
          </a:p>
        </p:txBody>
      </p:sp>
      <p:sp>
        <p:nvSpPr>
          <p:cNvPr id="65" name="Shape 63"/>
          <p:cNvSpPr/>
          <p:nvPr/>
        </p:nvSpPr>
        <p:spPr>
          <a:xfrm>
            <a:off x="5929313" y="3146822"/>
            <a:ext cx="1628775" cy="0"/>
          </a:xfrm>
          <a:prstGeom prst="line">
            <a:avLst/>
          </a:prstGeom>
          <a:noFill/>
          <a:ln w="6350" algn="in">
            <a:solidFill>
              <a:srgbClr val="F3F4F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929313" y="3403997"/>
            <a:ext cx="1628775" cy="7144"/>
          </a:xfrm>
          <a:prstGeom prst="rect">
            <a:avLst/>
          </a:prstGeom>
          <a:solidFill>
            <a:srgbClr val="F3F4F6"/>
          </a:solidFill>
          <a:ln>
            <a:noFill/>
          </a:ln>
        </p:spPr>
      </p:sp>
      <p:sp>
        <p:nvSpPr>
          <p:cNvPr id="67" name="Text 65"/>
          <p:cNvSpPr/>
          <p:nvPr/>
        </p:nvSpPr>
        <p:spPr>
          <a:xfrm>
            <a:off x="5929313" y="3146822"/>
            <a:ext cx="1628775" cy="26431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pPr algn="l" indent="0" marL="0">
              <a:buNone/>
            </a:pPr>
            <a:r>
              <a:rPr lang="en-US" sz="788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Custom domains</a:t>
            </a:r>
            <a:endParaRPr lang="en-US" sz="788" dirty="0"/>
          </a:p>
        </p:txBody>
      </p:sp>
      <p:sp>
        <p:nvSpPr>
          <p:cNvPr id="68" name="Shape 66"/>
          <p:cNvSpPr/>
          <p:nvPr/>
        </p:nvSpPr>
        <p:spPr>
          <a:xfrm>
            <a:off x="5929313" y="3411141"/>
            <a:ext cx="1628775" cy="0"/>
          </a:xfrm>
          <a:prstGeom prst="line">
            <a:avLst/>
          </a:prstGeom>
          <a:noFill/>
          <a:ln w="6350" algn="in">
            <a:solidFill>
              <a:srgbClr val="F3F4F6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929313" y="3668316"/>
            <a:ext cx="1628775" cy="7144"/>
          </a:xfrm>
          <a:prstGeom prst="rect">
            <a:avLst/>
          </a:prstGeom>
          <a:solidFill>
            <a:srgbClr val="F3F4F6"/>
          </a:solidFill>
          <a:ln>
            <a:noFill/>
          </a:ln>
        </p:spPr>
      </p:sp>
      <p:sp>
        <p:nvSpPr>
          <p:cNvPr id="70" name="Text 68"/>
          <p:cNvSpPr/>
          <p:nvPr/>
        </p:nvSpPr>
        <p:spPr>
          <a:xfrm>
            <a:off x="5929313" y="3411141"/>
            <a:ext cx="1628775" cy="26431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pPr algn="l" indent="0" marL="0">
              <a:buNone/>
            </a:pPr>
            <a:r>
              <a:rPr lang="en-US" sz="788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Dedicated support</a:t>
            </a:r>
            <a:endParaRPr lang="en-US" sz="788" dirty="0"/>
          </a:p>
        </p:txBody>
      </p:sp>
      <p:sp>
        <p:nvSpPr>
          <p:cNvPr id="71" name="Shape 69"/>
          <p:cNvSpPr/>
          <p:nvPr/>
        </p:nvSpPr>
        <p:spPr>
          <a:xfrm>
            <a:off x="5929313" y="3675459"/>
            <a:ext cx="1628775" cy="0"/>
          </a:xfrm>
          <a:prstGeom prst="line">
            <a:avLst/>
          </a:prstGeom>
          <a:noFill/>
          <a:ln w="6350" algn="in">
            <a:solidFill>
              <a:srgbClr val="F3F4F6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929313" y="3675459"/>
            <a:ext cx="1628775" cy="2571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pPr algn="l" indent="0" marL="0">
              <a:buNone/>
            </a:pPr>
            <a:r>
              <a:rPr lang="en-US" sz="788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Full API access</a:t>
            </a:r>
            <a:endParaRPr lang="en-US" sz="788" dirty="0"/>
          </a:p>
        </p:txBody>
      </p:sp>
      <p:sp>
        <p:nvSpPr>
          <p:cNvPr id="73" name="Shape 71"/>
          <p:cNvSpPr/>
          <p:nvPr/>
        </p:nvSpPr>
        <p:spPr>
          <a:xfrm>
            <a:off x="5929313" y="4075509"/>
            <a:ext cx="1628775" cy="321469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4288" algn="in">
            <a:solidFill>
              <a:srgbClr val="6366F1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929313" y="4075509"/>
            <a:ext cx="1628775" cy="32146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44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Sales</a:t>
            </a:r>
            <a:endParaRPr lang="en-US" sz="844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record-slide_01-1781997850362</dc:title>
  <dc:subject>PptxGenJS Presentation</dc:subject>
  <dc:creator>PptxGenJS</dc:creator>
  <cp:lastModifiedBy>PptxGenJS</cp:lastModifiedBy>
  <cp:revision>1</cp:revision>
  <dcterms:created xsi:type="dcterms:W3CDTF">2026-06-20T23:24:12Z</dcterms:created>
  <dcterms:modified xsi:type="dcterms:W3CDTF">2026-06-20T23:24:13Z</dcterms:modified>
</cp:coreProperties>
</file>