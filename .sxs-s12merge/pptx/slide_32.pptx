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71563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415123" y="400050"/>
            <a:ext cx="326969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b="1" spc="56" kern="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NOW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478631" y="678656"/>
            <a:ext cx="114300" cy="3564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31" b="1" spc="169" kern="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· PRIORITY</a:t>
            </a:r>
            <a:endParaRPr lang="en-US" sz="731" dirty="0"/>
          </a:p>
        </p:txBody>
      </p:sp>
      <p:sp>
        <p:nvSpPr>
          <p:cNvPr id="5" name="Text 3"/>
          <p:cNvSpPr/>
          <p:nvPr/>
        </p:nvSpPr>
        <p:spPr>
          <a:xfrm>
            <a:off x="458343" y="4414838"/>
            <a:ext cx="240673" cy="2214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63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463" dirty="0"/>
          </a:p>
        </p:txBody>
      </p:sp>
      <p:sp>
        <p:nvSpPr>
          <p:cNvPr id="6" name="Text 4"/>
          <p:cNvSpPr/>
          <p:nvPr/>
        </p:nvSpPr>
        <p:spPr>
          <a:xfrm>
            <a:off x="249031" y="4636294"/>
            <a:ext cx="659225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b="1" spc="56" kern="0" dirty="0">
                <a:solidFill>
                  <a:srgbClr val="2DD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 TERM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1471613" y="357188"/>
            <a:ext cx="7358063" cy="1214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b="1" spc="113" kern="0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MENTALWARD · ROADMAP</a:t>
            </a:r>
            <a:endParaRPr lang="en-US" sz="788" dirty="0"/>
          </a:p>
        </p:txBody>
      </p:sp>
      <p:sp>
        <p:nvSpPr>
          <p:cNvPr id="8" name="Text 6"/>
          <p:cNvSpPr/>
          <p:nvPr/>
        </p:nvSpPr>
        <p:spPr>
          <a:xfrm>
            <a:off x="1471613" y="521494"/>
            <a:ext cx="7358063" cy="29289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13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Prioritized top to bottom</a:t>
            </a:r>
            <a:endParaRPr lang="en-US" sz="1913" dirty="0"/>
          </a:p>
        </p:txBody>
      </p:sp>
      <p:sp>
        <p:nvSpPr>
          <p:cNvPr id="9" name="Shape 7"/>
          <p:cNvSpPr/>
          <p:nvPr/>
        </p:nvSpPr>
        <p:spPr>
          <a:xfrm>
            <a:off x="1471613" y="971550"/>
            <a:ext cx="7272338" cy="657225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14300" dist="28575" dir="5400000">
              <a:srgbClr val="0F172A">
                <a:alpha val="6000"/>
              </a:srgbClr>
            </a:outerShdw>
          </a:effectLst>
        </p:spPr>
      </p:sp>
      <p:sp>
        <p:nvSpPr>
          <p:cNvPr id="10" name="GRAD_0"/>
          <p:cNvSpPr/>
          <p:nvPr/>
        </p:nvSpPr>
        <p:spPr>
          <a:xfrm rot="16200000">
            <a:off x="1471613" y="971550"/>
            <a:ext cx="657225" cy="657225"/>
          </a:xfrm>
          <a:prstGeom prst="round2SameRect">
            <a:avLst>
              <a:gd name="adj1" fmla="val 15217"/>
              <a:gd name="adj2" fmla="val 0"/>
            </a:avLst>
          </a:prstGeom>
          <a:gradFill rotWithShape="1">
            <a:gsLst>
              <a:gs pos="0">
                <a:srgbClr val="F87171"/>
              </a:gs>
              <a:gs pos="100000">
                <a:srgbClr val="DC2626"/>
              </a:gs>
            </a:gsLst>
            <a:lin ang="9600000" scaled="0"/>
          </a:gradFill>
          <a:ln>
            <a:noFill/>
          </a:ln>
        </p:spPr>
      </p:sp>
      <p:sp>
        <p:nvSpPr>
          <p:cNvPr id="11" name="Text 9"/>
          <p:cNvSpPr/>
          <p:nvPr/>
        </p:nvSpPr>
        <p:spPr>
          <a:xfrm>
            <a:off x="1694640" y="1157288"/>
            <a:ext cx="296894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P0</a:t>
            </a:r>
            <a:endParaRPr lang="en-US" sz="1238" dirty="0"/>
          </a:p>
        </p:txBody>
      </p:sp>
      <p:sp>
        <p:nvSpPr>
          <p:cNvPr id="12" name="Text 10"/>
          <p:cNvSpPr/>
          <p:nvPr/>
        </p:nvSpPr>
        <p:spPr>
          <a:xfrm>
            <a:off x="1561267" y="1364456"/>
            <a:ext cx="477845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34" b="1" spc="28" kern="0" dirty="0">
                <a:solidFill>
                  <a:srgbClr val="FDF1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 NEXT</a:t>
            </a:r>
            <a:endParaRPr lang="en-US" sz="534" dirty="0"/>
          </a:p>
        </p:txBody>
      </p:sp>
      <p:sp>
        <p:nvSpPr>
          <p:cNvPr id="13" name="Text 11"/>
          <p:cNvSpPr/>
          <p:nvPr/>
        </p:nvSpPr>
        <p:spPr>
          <a:xfrm>
            <a:off x="2400300" y="1140000"/>
            <a:ext cx="4998696" cy="16430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69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Redirects</a:t>
            </a:r>
            <a:endParaRPr lang="en-US" sz="1069" dirty="0"/>
          </a:p>
        </p:txBody>
      </p:sp>
      <p:sp>
        <p:nvSpPr>
          <p:cNvPr id="14" name="Text 12"/>
          <p:cNvSpPr/>
          <p:nvPr/>
        </p:nvSpPr>
        <p:spPr>
          <a:xfrm>
            <a:off x="2400300" y="1325737"/>
            <a:ext cx="4998696" cy="134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73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 mental-health prompts to official, vetted resources.</a:t>
            </a:r>
            <a:endParaRPr lang="en-US" sz="731" dirty="0"/>
          </a:p>
        </p:txBody>
      </p:sp>
      <p:sp>
        <p:nvSpPr>
          <p:cNvPr id="15" name="Shape 13"/>
          <p:cNvSpPr/>
          <p:nvPr/>
        </p:nvSpPr>
        <p:spPr>
          <a:xfrm>
            <a:off x="7584734" y="1189434"/>
            <a:ext cx="1030629" cy="22145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16" name="Text 14"/>
          <p:cNvSpPr/>
          <p:nvPr/>
        </p:nvSpPr>
        <p:spPr>
          <a:xfrm>
            <a:off x="7377565" y="1189434"/>
            <a:ext cx="1444966" cy="2214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↗ external redirects</a:t>
            </a:r>
            <a:endParaRPr lang="en-US" sz="675" dirty="0"/>
          </a:p>
        </p:txBody>
      </p:sp>
      <p:sp>
        <p:nvSpPr>
          <p:cNvPr id="17" name="Shape 15"/>
          <p:cNvSpPr/>
          <p:nvPr/>
        </p:nvSpPr>
        <p:spPr>
          <a:xfrm>
            <a:off x="1471613" y="1743075"/>
            <a:ext cx="7272338" cy="785813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14300" dist="28575" dir="5400000">
              <a:srgbClr val="0F172A">
                <a:alpha val="6000"/>
              </a:srgbClr>
            </a:outerShdw>
          </a:effectLst>
        </p:spPr>
      </p:sp>
      <p:sp>
        <p:nvSpPr>
          <p:cNvPr id="18" name="GRAD_1"/>
          <p:cNvSpPr/>
          <p:nvPr/>
        </p:nvSpPr>
        <p:spPr>
          <a:xfrm rot="16200000">
            <a:off x="1407319" y="1807369"/>
            <a:ext cx="785813" cy="657225"/>
          </a:xfrm>
          <a:prstGeom prst="round2SameRect">
            <a:avLst>
              <a:gd name="adj1" fmla="val 15217"/>
              <a:gd name="adj2" fmla="val 0"/>
            </a:avLst>
          </a:prstGeom>
          <a:gradFill rotWithShape="1">
            <a:gsLst>
              <a:gs pos="0">
                <a:srgbClr val="FBBF24"/>
              </a:gs>
              <a:gs pos="100000">
                <a:srgbClr val="D97706"/>
              </a:gs>
            </a:gsLst>
            <a:lin ang="9600000" scaled="0"/>
          </a:gradFill>
          <a:ln>
            <a:noFill/>
          </a:ln>
        </p:spPr>
      </p:sp>
      <p:sp>
        <p:nvSpPr>
          <p:cNvPr id="19" name="Text 17"/>
          <p:cNvSpPr/>
          <p:nvPr/>
        </p:nvSpPr>
        <p:spPr>
          <a:xfrm>
            <a:off x="1714286" y="1993106"/>
            <a:ext cx="257604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P1</a:t>
            </a:r>
            <a:endParaRPr lang="en-US" sz="1238" dirty="0"/>
          </a:p>
        </p:txBody>
      </p:sp>
      <p:sp>
        <p:nvSpPr>
          <p:cNvPr id="20" name="Text 18"/>
          <p:cNvSpPr/>
          <p:nvPr/>
        </p:nvSpPr>
        <p:spPr>
          <a:xfrm>
            <a:off x="1572197" y="2200275"/>
            <a:ext cx="456057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34" b="1" spc="28" kern="0" dirty="0">
                <a:solidFill>
                  <a:srgbClr val="FDF7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 TERM</a:t>
            </a:r>
            <a:endParaRPr lang="en-US" sz="534" dirty="0"/>
          </a:p>
        </p:txBody>
      </p:sp>
      <p:sp>
        <p:nvSpPr>
          <p:cNvPr id="21" name="Text 19"/>
          <p:cNvSpPr/>
          <p:nvPr/>
        </p:nvSpPr>
        <p:spPr>
          <a:xfrm>
            <a:off x="2400300" y="1975818"/>
            <a:ext cx="5032343" cy="16430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69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 fixups</a:t>
            </a:r>
            <a:endParaRPr lang="en-US" sz="1069" dirty="0"/>
          </a:p>
        </p:txBody>
      </p:sp>
      <p:sp>
        <p:nvSpPr>
          <p:cNvPr id="22" name="Text 20"/>
          <p:cNvSpPr/>
          <p:nvPr/>
        </p:nvSpPr>
        <p:spPr>
          <a:xfrm>
            <a:off x="2400300" y="2161556"/>
            <a:ext cx="5032343" cy="134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73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 &amp; rewrite wrongly-transcribed medical sources online.</a:t>
            </a:r>
            <a:endParaRPr lang="en-US" sz="731" dirty="0"/>
          </a:p>
        </p:txBody>
      </p:sp>
      <p:sp>
        <p:nvSpPr>
          <p:cNvPr id="23" name="Shape 21"/>
          <p:cNvSpPr/>
          <p:nvPr/>
        </p:nvSpPr>
        <p:spPr>
          <a:xfrm>
            <a:off x="7618381" y="2025253"/>
            <a:ext cx="996982" cy="22145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24" name="Text 22"/>
          <p:cNvSpPr/>
          <p:nvPr/>
        </p:nvSpPr>
        <p:spPr>
          <a:xfrm>
            <a:off x="7418356" y="2025253"/>
            <a:ext cx="1397032" cy="2214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¹ citation-style refs</a:t>
            </a:r>
            <a:endParaRPr lang="en-US" sz="675" dirty="0"/>
          </a:p>
        </p:txBody>
      </p:sp>
      <p:sp>
        <p:nvSpPr>
          <p:cNvPr id="25" name="Shape 23"/>
          <p:cNvSpPr/>
          <p:nvPr/>
        </p:nvSpPr>
        <p:spPr>
          <a:xfrm>
            <a:off x="1471613" y="2643188"/>
            <a:ext cx="7272338" cy="942975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14300" dist="28575" dir="5400000">
              <a:srgbClr val="0F172A">
                <a:alpha val="6000"/>
              </a:srgbClr>
            </a:outerShdw>
          </a:effectLst>
        </p:spPr>
      </p:sp>
      <p:sp>
        <p:nvSpPr>
          <p:cNvPr id="26" name="GRAD_2"/>
          <p:cNvSpPr/>
          <p:nvPr/>
        </p:nvSpPr>
        <p:spPr>
          <a:xfrm rot="16200000">
            <a:off x="1328738" y="2786063"/>
            <a:ext cx="942975" cy="657225"/>
          </a:xfrm>
          <a:prstGeom prst="round2SameRect">
            <a:avLst>
              <a:gd name="adj1" fmla="val 15217"/>
              <a:gd name="adj2" fmla="val 0"/>
            </a:avLst>
          </a:prstGeom>
          <a:gradFill rotWithShape="1">
            <a:gsLst>
              <a:gs pos="0">
                <a:srgbClr val="2DD4BF"/>
              </a:gs>
              <a:gs pos="100000">
                <a:srgbClr val="0D9488"/>
              </a:gs>
            </a:gsLst>
            <a:lin ang="9600000" scaled="0"/>
          </a:gradFill>
          <a:ln>
            <a:noFill/>
          </a:ln>
        </p:spPr>
      </p:sp>
      <p:sp>
        <p:nvSpPr>
          <p:cNvPr id="27" name="Text 25"/>
          <p:cNvSpPr/>
          <p:nvPr/>
        </p:nvSpPr>
        <p:spPr>
          <a:xfrm>
            <a:off x="1698855" y="2932509"/>
            <a:ext cx="288465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P2</a:t>
            </a:r>
            <a:endParaRPr lang="en-US" sz="1238" dirty="0"/>
          </a:p>
        </p:txBody>
      </p:sp>
      <p:sp>
        <p:nvSpPr>
          <p:cNvPr id="28" name="Text 26"/>
          <p:cNvSpPr/>
          <p:nvPr/>
        </p:nvSpPr>
        <p:spPr>
          <a:xfrm>
            <a:off x="1471613" y="3139678"/>
            <a:ext cx="657225" cy="15716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34" b="1" spc="28" kern="0" dirty="0">
                <a:solidFill>
                  <a:srgbClr val="EDF9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PARALLEL · ONGOING</a:t>
            </a:r>
            <a:endParaRPr lang="en-US" sz="534" dirty="0"/>
          </a:p>
        </p:txBody>
      </p:sp>
      <p:sp>
        <p:nvSpPr>
          <p:cNvPr id="29" name="Text 27"/>
          <p:cNvSpPr/>
          <p:nvPr/>
        </p:nvSpPr>
        <p:spPr>
          <a:xfrm>
            <a:off x="2400300" y="2954512"/>
            <a:ext cx="5352883" cy="16430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69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Upstreaming</a:t>
            </a:r>
            <a:endParaRPr lang="en-US" sz="1069" dirty="0"/>
          </a:p>
        </p:txBody>
      </p:sp>
      <p:sp>
        <p:nvSpPr>
          <p:cNvPr id="30" name="Text 28"/>
          <p:cNvSpPr/>
          <p:nvPr/>
        </p:nvSpPr>
        <p:spPr>
          <a:xfrm>
            <a:off x="2400300" y="3140250"/>
            <a:ext cx="5352883" cy="134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73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 losses back to Claude &amp; Codex — the full-mode fix.</a:t>
            </a:r>
            <a:endParaRPr lang="en-US" sz="731" dirty="0"/>
          </a:p>
        </p:txBody>
      </p:sp>
      <p:sp>
        <p:nvSpPr>
          <p:cNvPr id="31" name="Shape 29"/>
          <p:cNvSpPr/>
          <p:nvPr/>
        </p:nvSpPr>
        <p:spPr>
          <a:xfrm>
            <a:off x="7938921" y="3003947"/>
            <a:ext cx="676442" cy="22145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32" name="Text 30"/>
          <p:cNvSpPr/>
          <p:nvPr/>
        </p:nvSpPr>
        <p:spPr>
          <a:xfrm>
            <a:off x="7803190" y="3003947"/>
            <a:ext cx="947904" cy="2214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 full mode</a:t>
            </a:r>
            <a:endParaRPr lang="en-US" sz="6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record-slide_32-1781997863953</dc:title>
  <dc:subject>PptxGenJS Presentation</dc:subject>
  <dc:creator>PptxGenJS</dc:creator>
  <cp:lastModifiedBy>PptxGenJS</cp:lastModifiedBy>
  <cp:revision>1</cp:revision>
  <dcterms:created xsi:type="dcterms:W3CDTF">2026-06-20T23:24:26Z</dcterms:created>
  <dcterms:modified xsi:type="dcterms:W3CDTF">2026-06-20T23:24:26Z</dcterms:modified>
</cp:coreProperties>
</file>