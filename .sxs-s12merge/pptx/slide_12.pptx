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71938" y="1045916"/>
            <a:ext cx="4800600" cy="11430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31" b="1" spc="113" kern="0" dirty="0">
                <a:solidFill>
                  <a:srgbClr val="667E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 FEATURES</a:t>
            </a:r>
            <a:endParaRPr lang="en-US" sz="731" dirty="0"/>
          </a:p>
        </p:txBody>
      </p:sp>
      <p:sp>
        <p:nvSpPr>
          <p:cNvPr id="3" name="Text 1"/>
          <p:cNvSpPr/>
          <p:nvPr/>
        </p:nvSpPr>
        <p:spPr>
          <a:xfrm>
            <a:off x="4071938" y="1245941"/>
            <a:ext cx="4800600" cy="308539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25" b="1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Built for Modern Teams</a:t>
            </a:r>
            <a:endParaRPr lang="en-US" sz="2025" dirty="0"/>
          </a:p>
        </p:txBody>
      </p:sp>
      <p:sp>
        <p:nvSpPr>
          <p:cNvPr id="4" name="Text 2"/>
          <p:cNvSpPr/>
          <p:nvPr/>
        </p:nvSpPr>
        <p:spPr>
          <a:xfrm>
            <a:off x="4071938" y="1611559"/>
            <a:ext cx="4800600" cy="17145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6C7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Everything you need to track, analyze, and grow your business in one beautiful dashboard.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071938" y="2040184"/>
            <a:ext cx="4714875" cy="5715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</p:sp>
      <p:sp>
        <p:nvSpPr>
          <p:cNvPr id="6" name="Shape 4"/>
          <p:cNvSpPr/>
          <p:nvPr/>
        </p:nvSpPr>
        <p:spPr>
          <a:xfrm>
            <a:off x="4071938" y="2040184"/>
            <a:ext cx="21431" cy="571500"/>
          </a:xfrm>
          <a:prstGeom prst="rect">
            <a:avLst/>
          </a:prstGeom>
          <a:solidFill>
            <a:srgbClr val="667EEA"/>
          </a:solidFill>
          <a:ln>
            <a:noFill/>
          </a:ln>
        </p:spPr>
      </p:sp>
      <p:sp>
        <p:nvSpPr>
          <p:cNvPr id="7" name="GRAD_0"/>
          <p:cNvSpPr/>
          <p:nvPr/>
        </p:nvSpPr>
        <p:spPr>
          <a:xfrm>
            <a:off x="4236244" y="2168771"/>
            <a:ext cx="314325" cy="314325"/>
          </a:xfrm>
          <a:prstGeom prst="ellipse">
            <a:avLst/>
          </a:prstGeom>
          <a:gradFill rotWithShape="1">
            <a:gsLst>
              <a:gs pos="0">
                <a:srgbClr val="667EEA"/>
              </a:gs>
              <a:gs pos="100000">
                <a:srgbClr val="764BA2"/>
              </a:gs>
            </a:gsLst>
            <a:lin ang="2700000" scaled="0"/>
          </a:gradFill>
          <a:ln>
            <a:noFill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03395" y="2235922"/>
            <a:ext cx="180023" cy="180023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679156" y="2168771"/>
            <a:ext cx="3549444" cy="14287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6" b="1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Real-time Analytics</a:t>
            </a:r>
            <a:endParaRPr lang="en-US" sz="956" dirty="0"/>
          </a:p>
        </p:txBody>
      </p:sp>
      <p:sp>
        <p:nvSpPr>
          <p:cNvPr id="10" name="Text 7"/>
          <p:cNvSpPr/>
          <p:nvPr/>
        </p:nvSpPr>
        <p:spPr>
          <a:xfrm>
            <a:off x="4679156" y="2340221"/>
            <a:ext cx="3549444" cy="13930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731" dirty="0">
                <a:solidFill>
                  <a:srgbClr val="6C7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Live dashboards update every second with zero-lag streaming from all data sources.</a:t>
            </a:r>
            <a:endParaRPr lang="en-US" sz="731" dirty="0"/>
          </a:p>
        </p:txBody>
      </p:sp>
      <p:sp>
        <p:nvSpPr>
          <p:cNvPr id="11" name="Shape 8"/>
          <p:cNvSpPr/>
          <p:nvPr/>
        </p:nvSpPr>
        <p:spPr>
          <a:xfrm>
            <a:off x="4071938" y="2725984"/>
            <a:ext cx="4714875" cy="5715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</p:sp>
      <p:sp>
        <p:nvSpPr>
          <p:cNvPr id="12" name="Shape 9"/>
          <p:cNvSpPr/>
          <p:nvPr/>
        </p:nvSpPr>
        <p:spPr>
          <a:xfrm>
            <a:off x="4071938" y="2725984"/>
            <a:ext cx="21431" cy="571500"/>
          </a:xfrm>
          <a:prstGeom prst="rect">
            <a:avLst/>
          </a:prstGeom>
          <a:solidFill>
            <a:srgbClr val="667EEA"/>
          </a:solidFill>
          <a:ln>
            <a:noFill/>
          </a:ln>
        </p:spPr>
      </p:sp>
      <p:sp>
        <p:nvSpPr>
          <p:cNvPr id="13" name="GRAD_1"/>
          <p:cNvSpPr/>
          <p:nvPr/>
        </p:nvSpPr>
        <p:spPr>
          <a:xfrm>
            <a:off x="4236244" y="2854571"/>
            <a:ext cx="314325" cy="314325"/>
          </a:xfrm>
          <a:prstGeom prst="ellipse">
            <a:avLst/>
          </a:prstGeom>
          <a:gradFill rotWithShape="1">
            <a:gsLst>
              <a:gs pos="0">
                <a:srgbClr val="667EEA"/>
              </a:gs>
              <a:gs pos="100000">
                <a:srgbClr val="764BA2"/>
              </a:gs>
            </a:gsLst>
            <a:lin ang="2700000" scaled="0"/>
          </a:gradFill>
          <a:ln>
            <a:noFill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3395" y="2921722"/>
            <a:ext cx="180023" cy="180023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679156" y="2854571"/>
            <a:ext cx="3444931" cy="14287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6" b="1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Enterprise Security</a:t>
            </a:r>
            <a:endParaRPr lang="en-US" sz="956" dirty="0"/>
          </a:p>
        </p:txBody>
      </p:sp>
      <p:sp>
        <p:nvSpPr>
          <p:cNvPr id="16" name="Text 12"/>
          <p:cNvSpPr/>
          <p:nvPr/>
        </p:nvSpPr>
        <p:spPr>
          <a:xfrm>
            <a:off x="4679156" y="3026021"/>
            <a:ext cx="3444931" cy="13930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731" dirty="0">
                <a:solidFill>
                  <a:srgbClr val="6C7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SOC 2 Type II certified with end-to-end encryption and role-based access controls.</a:t>
            </a:r>
            <a:endParaRPr lang="en-US" sz="731" dirty="0"/>
          </a:p>
        </p:txBody>
      </p:sp>
      <p:sp>
        <p:nvSpPr>
          <p:cNvPr id="17" name="Shape 13"/>
          <p:cNvSpPr/>
          <p:nvPr/>
        </p:nvSpPr>
        <p:spPr>
          <a:xfrm>
            <a:off x="4071938" y="3411784"/>
            <a:ext cx="4714875" cy="5715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</p:sp>
      <p:sp>
        <p:nvSpPr>
          <p:cNvPr id="18" name="Shape 14"/>
          <p:cNvSpPr/>
          <p:nvPr/>
        </p:nvSpPr>
        <p:spPr>
          <a:xfrm>
            <a:off x="4071938" y="3411784"/>
            <a:ext cx="21431" cy="571500"/>
          </a:xfrm>
          <a:prstGeom prst="rect">
            <a:avLst/>
          </a:prstGeom>
          <a:solidFill>
            <a:srgbClr val="667EEA"/>
          </a:solidFill>
          <a:ln>
            <a:noFill/>
          </a:ln>
        </p:spPr>
      </p:sp>
      <p:sp>
        <p:nvSpPr>
          <p:cNvPr id="19" name="GRAD_2"/>
          <p:cNvSpPr/>
          <p:nvPr/>
        </p:nvSpPr>
        <p:spPr>
          <a:xfrm>
            <a:off x="4236244" y="3540371"/>
            <a:ext cx="314325" cy="314325"/>
          </a:xfrm>
          <a:prstGeom prst="ellipse">
            <a:avLst/>
          </a:prstGeom>
          <a:gradFill rotWithShape="1">
            <a:gsLst>
              <a:gs pos="0">
                <a:srgbClr val="667EEA"/>
              </a:gs>
              <a:gs pos="100000">
                <a:srgbClr val="764BA2"/>
              </a:gs>
            </a:gsLst>
            <a:lin ang="2700000" scaled="0"/>
          </a:gradFill>
          <a:ln>
            <a:noFill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3395" y="3607522"/>
            <a:ext cx="180023" cy="180023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4679156" y="3540371"/>
            <a:ext cx="3639741" cy="14287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6" b="1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Smart Predictions</a:t>
            </a:r>
            <a:endParaRPr lang="en-US" sz="956" dirty="0"/>
          </a:p>
        </p:txBody>
      </p:sp>
      <p:sp>
        <p:nvSpPr>
          <p:cNvPr id="22" name="Text 17"/>
          <p:cNvSpPr/>
          <p:nvPr/>
        </p:nvSpPr>
        <p:spPr>
          <a:xfrm>
            <a:off x="4679156" y="3711821"/>
            <a:ext cx="3639741" cy="13930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731" dirty="0">
                <a:solidFill>
                  <a:srgbClr val="6C7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ML-powered forecasting identifies trends and anomalies before they impact your KPIs.</a:t>
            </a:r>
            <a:endParaRPr lang="en-US" sz="731" dirty="0"/>
          </a:p>
        </p:txBody>
      </p:sp>
      <p:sp>
        <p:nvSpPr>
          <p:cNvPr id="23" name="Shape 18"/>
          <p:cNvSpPr/>
          <p:nvPr/>
        </p:nvSpPr>
        <p:spPr>
          <a:xfrm>
            <a:off x="0" y="0"/>
            <a:ext cx="3714750" cy="5143500"/>
          </a:xfrm>
          <a:prstGeom prst="rect">
            <a:avLst/>
          </a:prstGeom>
          <a:solidFill>
            <a:srgbClr val="F0F4FF"/>
          </a:solidFill>
          <a:ln>
            <a:noFill/>
          </a:ln>
        </p:spPr>
      </p:sp>
      <p:sp>
        <p:nvSpPr>
          <p:cNvPr id="24" name="Shape 19"/>
          <p:cNvSpPr/>
          <p:nvPr/>
        </p:nvSpPr>
        <p:spPr>
          <a:xfrm>
            <a:off x="842963" y="557213"/>
            <a:ext cx="2028825" cy="4029075"/>
          </a:xfrm>
          <a:prstGeom prst="roundRect">
            <a:avLst>
              <a:gd name="adj" fmla="val 11972"/>
            </a:avLst>
          </a:prstGeom>
          <a:solidFill>
            <a:srgbClr val="333333"/>
          </a:solidFill>
          <a:ln>
            <a:noFill/>
          </a:ln>
          <a:effectLst>
            <a:outerShdw sx="100000" sy="100000" kx="0" ky="0" algn="bl" rotWithShape="0" blurRad="381000" dist="142875" dir="5400000">
              <a:srgbClr val="000000">
                <a:alpha val="20000"/>
              </a:srgbClr>
            </a:outerShdw>
          </a:effectLst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571500"/>
            <a:ext cx="2000250" cy="314325"/>
          </a:xfrm>
          <a:prstGeom prst="rect">
            <a:avLst/>
          </a:prstGeom>
        </p:spPr>
      </p:pic>
      <p:sp>
        <p:nvSpPr>
          <p:cNvPr id="26" name="Shape 20"/>
          <p:cNvSpPr/>
          <p:nvPr/>
        </p:nvSpPr>
        <p:spPr>
          <a:xfrm>
            <a:off x="857250" y="571500"/>
            <a:ext cx="2000250" cy="4000500"/>
          </a:xfrm>
          <a:prstGeom prst="roundRect">
            <a:avLst>
              <a:gd name="adj" fmla="val 11429"/>
            </a:avLst>
          </a:prstGeom>
          <a:noFill/>
          <a:ln w="28575" algn="in">
            <a:solidFill>
              <a:srgbClr val="333333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1028700" y="667941"/>
            <a:ext cx="287322" cy="121444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88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9:41</a:t>
            </a:r>
            <a:endParaRPr lang="en-US" sz="788" dirty="0"/>
          </a:p>
        </p:txBody>
      </p:sp>
      <p:sp>
        <p:nvSpPr>
          <p:cNvPr id="28" name="GRAD_3"/>
          <p:cNvSpPr/>
          <p:nvPr/>
        </p:nvSpPr>
        <p:spPr>
          <a:xfrm flipV="1">
            <a:off x="857250" y="885825"/>
            <a:ext cx="2000250" cy="3686175"/>
          </a:xfrm>
          <a:prstGeom prst="round2SameRect">
            <a:avLst>
              <a:gd name="adj1" fmla="val 11429"/>
              <a:gd name="adj2" fmla="val 0"/>
            </a:avLst>
          </a:prstGeom>
          <a:gradFill rotWithShape="1">
            <a:gsLst>
              <a:gs pos="0">
                <a:srgbClr val="667EEA"/>
              </a:gs>
              <a:gs pos="100000">
                <a:srgbClr val="764BA2"/>
              </a:gs>
            </a:gsLst>
            <a:lin ang="18900000" scaled="0"/>
          </a:gradFill>
          <a:ln>
            <a:noFill/>
          </a:ln>
        </p:spPr>
      </p:sp>
      <p:sp>
        <p:nvSpPr>
          <p:cNvPr id="29" name="Shape 23"/>
          <p:cNvSpPr/>
          <p:nvPr/>
        </p:nvSpPr>
        <p:spPr>
          <a:xfrm>
            <a:off x="1000125" y="1028700"/>
            <a:ext cx="1714500" cy="628650"/>
          </a:xfrm>
          <a:prstGeom prst="roundRect">
            <a:avLst>
              <a:gd name="adj" fmla="val 13636"/>
            </a:avLst>
          </a:prstGeom>
          <a:solidFill>
            <a:srgbClr val="FFFFFF">
              <a:alpha val="15000"/>
            </a:srgbClr>
          </a:solidFill>
          <a:ln>
            <a:noFill/>
          </a:ln>
        </p:spPr>
      </p:sp>
      <p:sp>
        <p:nvSpPr>
          <p:cNvPr id="30" name="Text 24"/>
          <p:cNvSpPr/>
          <p:nvPr/>
        </p:nvSpPr>
        <p:spPr>
          <a:xfrm>
            <a:off x="1100138" y="1128713"/>
            <a:ext cx="1600200" cy="10001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19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Monthly Revenue</a:t>
            </a:r>
            <a:endParaRPr lang="en-US" sz="619" dirty="0"/>
          </a:p>
        </p:txBody>
      </p:sp>
      <p:sp>
        <p:nvSpPr>
          <p:cNvPr id="31" name="Text 25"/>
          <p:cNvSpPr/>
          <p:nvPr/>
        </p:nvSpPr>
        <p:spPr>
          <a:xfrm>
            <a:off x="1100138" y="1271588"/>
            <a:ext cx="1600200" cy="185738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38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$48,290</a:t>
            </a:r>
            <a:endParaRPr lang="en-US" sz="1238" dirty="0"/>
          </a:p>
        </p:txBody>
      </p:sp>
      <p:sp>
        <p:nvSpPr>
          <p:cNvPr id="32" name="Shape 26"/>
          <p:cNvSpPr/>
          <p:nvPr/>
        </p:nvSpPr>
        <p:spPr>
          <a:xfrm>
            <a:off x="1100138" y="1514475"/>
            <a:ext cx="300680" cy="42863"/>
          </a:xfrm>
          <a:prstGeom prst="roundRect">
            <a:avLst>
              <a:gd name="adj" fmla="val 49999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33" name="Shape 27"/>
          <p:cNvSpPr/>
          <p:nvPr/>
        </p:nvSpPr>
        <p:spPr>
          <a:xfrm>
            <a:off x="1429393" y="1514475"/>
            <a:ext cx="526423" cy="42863"/>
          </a:xfrm>
          <a:prstGeom prst="roundRect">
            <a:avLst>
              <a:gd name="adj" fmla="val 49999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34" name="Shape 28"/>
          <p:cNvSpPr/>
          <p:nvPr/>
        </p:nvSpPr>
        <p:spPr>
          <a:xfrm>
            <a:off x="1984391" y="1514475"/>
            <a:ext cx="376047" cy="42863"/>
          </a:xfrm>
          <a:prstGeom prst="roundRect">
            <a:avLst>
              <a:gd name="adj" fmla="val 49999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35" name="Shape 29"/>
          <p:cNvSpPr/>
          <p:nvPr/>
        </p:nvSpPr>
        <p:spPr>
          <a:xfrm>
            <a:off x="2389013" y="1514475"/>
            <a:ext cx="225600" cy="42863"/>
          </a:xfrm>
          <a:prstGeom prst="roundRect">
            <a:avLst>
              <a:gd name="adj" fmla="val 49999"/>
            </a:avLst>
          </a:prstGeom>
          <a:solidFill>
            <a:srgbClr val="FFFFFF">
              <a:alpha val="30000"/>
            </a:srgbClr>
          </a:solidFill>
          <a:ln>
            <a:noFill/>
          </a:ln>
        </p:spPr>
      </p:sp>
      <p:sp>
        <p:nvSpPr>
          <p:cNvPr id="36" name="Shape 30"/>
          <p:cNvSpPr/>
          <p:nvPr/>
        </p:nvSpPr>
        <p:spPr>
          <a:xfrm>
            <a:off x="1000125" y="1743075"/>
            <a:ext cx="1714500" cy="628650"/>
          </a:xfrm>
          <a:prstGeom prst="roundRect">
            <a:avLst>
              <a:gd name="adj" fmla="val 13636"/>
            </a:avLst>
          </a:prstGeom>
          <a:solidFill>
            <a:srgbClr val="FFFFFF">
              <a:alpha val="15000"/>
            </a:srgbClr>
          </a:solidFill>
          <a:ln>
            <a:noFill/>
          </a:ln>
        </p:spPr>
      </p:sp>
      <p:sp>
        <p:nvSpPr>
          <p:cNvPr id="37" name="Text 31"/>
          <p:cNvSpPr/>
          <p:nvPr/>
        </p:nvSpPr>
        <p:spPr>
          <a:xfrm>
            <a:off x="1100138" y="1843088"/>
            <a:ext cx="1600200" cy="10001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19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Active Users</a:t>
            </a:r>
            <a:endParaRPr lang="en-US" sz="619" dirty="0"/>
          </a:p>
        </p:txBody>
      </p:sp>
      <p:sp>
        <p:nvSpPr>
          <p:cNvPr id="38" name="Text 32"/>
          <p:cNvSpPr/>
          <p:nvPr/>
        </p:nvSpPr>
        <p:spPr>
          <a:xfrm>
            <a:off x="1100138" y="1985963"/>
            <a:ext cx="1600200" cy="185738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38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12,847</a:t>
            </a:r>
            <a:endParaRPr lang="en-US" sz="1238" dirty="0"/>
          </a:p>
        </p:txBody>
      </p:sp>
      <p:sp>
        <p:nvSpPr>
          <p:cNvPr id="39" name="Shape 33"/>
          <p:cNvSpPr/>
          <p:nvPr/>
        </p:nvSpPr>
        <p:spPr>
          <a:xfrm>
            <a:off x="1100138" y="2228850"/>
            <a:ext cx="605790" cy="42863"/>
          </a:xfrm>
          <a:prstGeom prst="roundRect">
            <a:avLst>
              <a:gd name="adj" fmla="val 49999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40" name="Shape 34"/>
          <p:cNvSpPr/>
          <p:nvPr/>
        </p:nvSpPr>
        <p:spPr>
          <a:xfrm>
            <a:off x="1734503" y="2228850"/>
            <a:ext cx="454271" cy="42863"/>
          </a:xfrm>
          <a:prstGeom prst="roundRect">
            <a:avLst>
              <a:gd name="adj" fmla="val 49999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41" name="Shape 35"/>
          <p:cNvSpPr/>
          <p:nvPr/>
        </p:nvSpPr>
        <p:spPr>
          <a:xfrm>
            <a:off x="2217349" y="2228850"/>
            <a:ext cx="302824" cy="42863"/>
          </a:xfrm>
          <a:prstGeom prst="roundRect">
            <a:avLst>
              <a:gd name="adj" fmla="val 49999"/>
            </a:avLst>
          </a:prstGeom>
          <a:solidFill>
            <a:srgbClr val="FFFFFF">
              <a:alpha val="30000"/>
            </a:srgbClr>
          </a:solidFill>
          <a:ln>
            <a:noFill/>
          </a:ln>
        </p:spPr>
      </p:sp>
      <p:sp>
        <p:nvSpPr>
          <p:cNvPr id="42" name="Shape 36"/>
          <p:cNvSpPr/>
          <p:nvPr/>
        </p:nvSpPr>
        <p:spPr>
          <a:xfrm>
            <a:off x="1000125" y="2457450"/>
            <a:ext cx="1714500" cy="528638"/>
          </a:xfrm>
          <a:prstGeom prst="roundRect">
            <a:avLst>
              <a:gd name="adj" fmla="val 16216"/>
            </a:avLst>
          </a:prstGeom>
          <a:solidFill>
            <a:srgbClr val="FFFFFF">
              <a:alpha val="15000"/>
            </a:srgbClr>
          </a:solidFill>
          <a:ln>
            <a:noFill/>
          </a:ln>
        </p:spPr>
      </p:sp>
      <p:sp>
        <p:nvSpPr>
          <p:cNvPr id="43" name="Text 37"/>
          <p:cNvSpPr/>
          <p:nvPr/>
        </p:nvSpPr>
        <p:spPr>
          <a:xfrm>
            <a:off x="1100138" y="2557463"/>
            <a:ext cx="1600200" cy="10001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19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Conversion Rate</a:t>
            </a:r>
            <a:endParaRPr lang="en-US" sz="619" dirty="0"/>
          </a:p>
        </p:txBody>
      </p:sp>
      <p:sp>
        <p:nvSpPr>
          <p:cNvPr id="44" name="Text 38"/>
          <p:cNvSpPr/>
          <p:nvPr/>
        </p:nvSpPr>
        <p:spPr>
          <a:xfrm>
            <a:off x="1100138" y="2700338"/>
            <a:ext cx="1600200" cy="185738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38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4.2%</a:t>
            </a:r>
            <a:endParaRPr lang="en-US" sz="1238" dirty="0"/>
          </a:p>
        </p:txBody>
      </p:sp>
      <p:sp>
        <p:nvSpPr>
          <p:cNvPr id="45" name="Shape 39"/>
          <p:cNvSpPr/>
          <p:nvPr/>
        </p:nvSpPr>
        <p:spPr>
          <a:xfrm>
            <a:off x="1171575" y="4286250"/>
            <a:ext cx="171450" cy="571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46" name="Shape 40"/>
          <p:cNvSpPr/>
          <p:nvPr/>
        </p:nvSpPr>
        <p:spPr>
          <a:xfrm>
            <a:off x="1685925" y="4286250"/>
            <a:ext cx="57150" cy="57150"/>
          </a:xfrm>
          <a:prstGeom prst="ellipse">
            <a:avLst/>
          </a:prstGeom>
          <a:solidFill>
            <a:srgbClr val="FFFFFF">
              <a:alpha val="40000"/>
            </a:srgbClr>
          </a:solidFill>
          <a:ln>
            <a:noFill/>
          </a:ln>
        </p:spPr>
      </p:sp>
      <p:sp>
        <p:nvSpPr>
          <p:cNvPr id="47" name="Shape 41"/>
          <p:cNvSpPr/>
          <p:nvPr/>
        </p:nvSpPr>
        <p:spPr>
          <a:xfrm>
            <a:off x="2085975" y="4286250"/>
            <a:ext cx="57150" cy="57150"/>
          </a:xfrm>
          <a:prstGeom prst="ellipse">
            <a:avLst/>
          </a:prstGeom>
          <a:solidFill>
            <a:srgbClr val="FFFFFF">
              <a:alpha val="40000"/>
            </a:srgbClr>
          </a:solidFill>
          <a:ln>
            <a:noFill/>
          </a:ln>
        </p:spPr>
      </p:sp>
      <p:sp>
        <p:nvSpPr>
          <p:cNvPr id="48" name="Shape 42"/>
          <p:cNvSpPr/>
          <p:nvPr/>
        </p:nvSpPr>
        <p:spPr>
          <a:xfrm>
            <a:off x="2486025" y="4286250"/>
            <a:ext cx="57150" cy="57150"/>
          </a:xfrm>
          <a:prstGeom prst="ellipse">
            <a:avLst/>
          </a:prstGeom>
          <a:solidFill>
            <a:srgbClr val="FFFFFF">
              <a:alpha val="40000"/>
            </a:srgbClr>
          </a:solidFill>
          <a:ln>
            <a:noFill/>
          </a:ln>
        </p:spPr>
      </p:sp>
      <p:sp>
        <p:nvSpPr>
          <p:cNvPr id="49" name="Shape 43"/>
          <p:cNvSpPr/>
          <p:nvPr/>
        </p:nvSpPr>
        <p:spPr>
          <a:xfrm>
            <a:off x="3714750" y="428625"/>
            <a:ext cx="7144" cy="4286250"/>
          </a:xfrm>
          <a:prstGeom prst="rect">
            <a:avLst/>
          </a:prstGeom>
          <a:solidFill>
            <a:srgbClr val="E9ECEF"/>
          </a:solidFill>
          <a:ln>
            <a:noFill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record-slide_12-1781997855798</dc:title>
  <dc:subject>PptxGenJS Presentation</dc:subject>
  <dc:creator>PptxGenJS</dc:creator>
  <cp:lastModifiedBy>PptxGenJS</cp:lastModifiedBy>
  <cp:revision>1</cp:revision>
  <dcterms:created xsi:type="dcterms:W3CDTF">2026-06-20T23:24:18Z</dcterms:created>
  <dcterms:modified xsi:type="dcterms:W3CDTF">2026-06-20T23:24:18Z</dcterms:modified>
</cp:coreProperties>
</file>