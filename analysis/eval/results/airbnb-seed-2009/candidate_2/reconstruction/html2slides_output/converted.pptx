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2654" y="2823667"/>
            <a:ext cx="7205472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1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AirBed&amp;Breakfast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3303727" y="3699662"/>
            <a:ext cx="5585155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rooms with locals, rather than hotels.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767328" y="6305702"/>
            <a:ext cx="465612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airbedandbreakfast.com  ·  joe@airbedandbreakfast.com  ·  2008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062326"/>
            <a:ext cx="10362895" cy="1790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is an important concern for customers booking travel online.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Hotels leave you disconnected from the city and its culture.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easy way exists to book a room with a local or become a host.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005279"/>
            <a:ext cx="11277295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277295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Already Exists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4051"/>
            <a:ext cx="6476695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Travelers are already solving this problem with inferior tools. The market is proven — the infrastructure is not.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527402"/>
            <a:ext cx="5738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660K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862572" y="2527402"/>
            <a:ext cx="5329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3594506"/>
            <a:ext cx="573877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COUCHSURFING.COM TOTAL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62572" y="3594506"/>
            <a:ext cx="532912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CRAIGSLIST TEMP HOUSING LISTINGS / WEEK (US)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879799"/>
            <a:ext cx="4000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Travelers already willing to stay with strangers — with zero financial incentive for hosts. Demand is there; the business model is missing.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62572" y="3879799"/>
            <a:ext cx="4000500" cy="426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supply posted through a tool with no booking, no trust layer, and no transaction infrastructure whatsoever.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6438290"/>
            <a:ext cx="56820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Couchsurfing.com public stats; Craigslist US temporary housing category — 2008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356409"/>
            <a:ext cx="3250692" cy="3815791"/>
          </a:xfrm>
          <a:prstGeom prst="rect">
            <a:avLst/>
          </a:prstGeom>
          <a:solidFill>
            <a:srgbClr val="D6EEFB"/>
          </a:solidFill>
          <a:ln/>
        </p:spPr>
      </p:sp>
      <p:sp>
        <p:nvSpPr>
          <p:cNvPr id="3" name="Shape 1"/>
          <p:cNvSpPr/>
          <p:nvPr/>
        </p:nvSpPr>
        <p:spPr>
          <a:xfrm>
            <a:off x="4470502" y="2356409"/>
            <a:ext cx="3251606" cy="3815791"/>
          </a:xfrm>
          <a:prstGeom prst="rect">
            <a:avLst/>
          </a:prstGeom>
          <a:solidFill>
            <a:srgbClr val="D6EEFB"/>
          </a:solidFill>
          <a:ln/>
        </p:spPr>
      </p:sp>
      <p:sp>
        <p:nvSpPr>
          <p:cNvPr id="4" name="Shape 2"/>
          <p:cNvSpPr/>
          <p:nvPr/>
        </p:nvSpPr>
        <p:spPr>
          <a:xfrm>
            <a:off x="8026603" y="2356409"/>
            <a:ext cx="3250692" cy="3815791"/>
          </a:xfrm>
          <a:prstGeom prst="rect">
            <a:avLst/>
          </a:prstGeom>
          <a:solidFill>
            <a:srgbClr val="D6EE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85800"/>
            <a:ext cx="11277295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304849"/>
            <a:ext cx="685800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 platform where users rent out their space to host travelers — creating value on both sides of every transaction.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8895" y="2699309"/>
            <a:ext cx="34335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MONEY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74997" y="2699309"/>
            <a:ext cx="34344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MONEY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31098" y="2699309"/>
            <a:ext cx="34335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CULTURE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18895" y="3051353"/>
            <a:ext cx="2641702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Travelers access affordable, local alternatives to hotels at a fraction of the standard nightly rate.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4997" y="3051353"/>
            <a:ext cx="2641702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Hosts earn income from unused space. The first platform to give hosts a financial reason to participate.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31098" y="3051353"/>
            <a:ext cx="2641702" cy="70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booking creates a genuine local connection that the hotel model structurally cannot provide.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898" y="1623974"/>
            <a:ext cx="10629900" cy="43799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1505102" y="1719072"/>
            <a:ext cx="9752990" cy="237744"/>
          </a:xfrm>
          <a:prstGeom prst="rect">
            <a:avLst>
              <a:gd name="adj" fmla="val 16025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602" y="1790395"/>
            <a:ext cx="95098" cy="95098"/>
          </a:xfrm>
          <a:prstGeom prst="rect">
            <a:avLst>
              <a:gd name="adj" fmla="val 500787"/>
            </a:avLst>
          </a:prstGeom>
          <a:solidFill>
            <a:srgbClr val="FFCDD2"/>
          </a:solidFill>
          <a:ln/>
        </p:spPr>
      </p:sp>
      <p:sp>
        <p:nvSpPr>
          <p:cNvPr id="5" name="Shape 3"/>
          <p:cNvSpPr/>
          <p:nvPr/>
        </p:nvSpPr>
        <p:spPr>
          <a:xfrm>
            <a:off x="1123798" y="1790395"/>
            <a:ext cx="95098" cy="95098"/>
          </a:xfrm>
          <a:prstGeom prst="rect">
            <a:avLst>
              <a:gd name="adj" fmla="val 500787"/>
            </a:avLst>
          </a:prstGeom>
          <a:solidFill>
            <a:srgbClr val="FFF9C4"/>
          </a:solidFill>
          <a:ln/>
        </p:spPr>
      </p:sp>
      <p:sp>
        <p:nvSpPr>
          <p:cNvPr id="6" name="Shape 4"/>
          <p:cNvSpPr/>
          <p:nvPr/>
        </p:nvSpPr>
        <p:spPr>
          <a:xfrm>
            <a:off x="1313993" y="1790395"/>
            <a:ext cx="95098" cy="95098"/>
          </a:xfrm>
          <a:prstGeom prst="rect">
            <a:avLst>
              <a:gd name="adj" fmla="val 500787"/>
            </a:avLst>
          </a:prstGeom>
          <a:solidFill>
            <a:srgbClr val="DCEDC8"/>
          </a:solidFill>
          <a:ln/>
        </p:spPr>
      </p:sp>
      <p:sp>
        <p:nvSpPr>
          <p:cNvPr id="7" name="Shape 5"/>
          <p:cNvSpPr/>
          <p:nvPr/>
        </p:nvSpPr>
        <p:spPr>
          <a:xfrm>
            <a:off x="780898" y="2061972"/>
            <a:ext cx="10629900" cy="42812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228478" y="2309774"/>
            <a:ext cx="915314" cy="352044"/>
          </a:xfrm>
          <a:prstGeom prst="rect">
            <a:avLst>
              <a:gd name="adj" fmla="val 10822"/>
            </a:avLst>
          </a:prstGeom>
          <a:solidFill>
            <a:srgbClr val="29B6F6"/>
          </a:solidFill>
          <a:ln/>
        </p:spPr>
      </p:sp>
      <p:sp>
        <p:nvSpPr>
          <p:cNvPr id="9" name="Shape 7"/>
          <p:cNvSpPr/>
          <p:nvPr/>
        </p:nvSpPr>
        <p:spPr>
          <a:xfrm>
            <a:off x="1057046" y="2881274"/>
            <a:ext cx="3244291" cy="104790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Shape 8"/>
          <p:cNvSpPr/>
          <p:nvPr/>
        </p:nvSpPr>
        <p:spPr>
          <a:xfrm>
            <a:off x="4473245" y="2881274"/>
            <a:ext cx="3245206" cy="1047902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1" name="Shape 9"/>
          <p:cNvSpPr/>
          <p:nvPr/>
        </p:nvSpPr>
        <p:spPr>
          <a:xfrm>
            <a:off x="7889443" y="2881274"/>
            <a:ext cx="3245206" cy="104790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06747" y="5676595"/>
            <a:ext cx="2978201" cy="314554"/>
          </a:xfrm>
          <a:prstGeom prst="rect">
            <a:avLst>
              <a:gd name="adj" fmla="val 12112"/>
            </a:avLst>
          </a:prstGeom>
          <a:solidFill>
            <a:srgbClr val="FFFFFF"/>
          </a:solidFill>
          <a:ln w="9525">
            <a:solidFill>
              <a:srgbClr val="29B6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2946" y="5676595"/>
            <a:ext cx="2978201" cy="314554"/>
          </a:xfrm>
          <a:prstGeom prst="rect">
            <a:avLst>
              <a:gd name="adj" fmla="val 12112"/>
            </a:avLst>
          </a:prstGeom>
          <a:solidFill>
            <a:srgbClr val="FFFFFF"/>
          </a:solidFill>
          <a:ln w="9525">
            <a:solidFill>
              <a:srgbClr val="29B6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0549" y="5695798"/>
            <a:ext cx="2978201" cy="295351"/>
          </a:xfrm>
          <a:prstGeom prst="rect">
            <a:avLst>
              <a:gd name="adj" fmla="val 12900"/>
            </a:avLst>
          </a:prstGeom>
          <a:solidFill>
            <a:srgbClr val="29B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61695" y="1604772"/>
            <a:ext cx="1066739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1695" y="1604772"/>
            <a:ext cx="0" cy="4757623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0" y="1604772"/>
            <a:ext cx="0" cy="4757623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5102" y="1719072"/>
            <a:ext cx="975299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5102" y="1719072"/>
            <a:ext cx="0" cy="23774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58093" y="1719072"/>
            <a:ext cx="0" cy="23774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5102" y="1957730"/>
            <a:ext cx="975299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0898" y="2061972"/>
            <a:ext cx="106299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7902" y="2290572"/>
            <a:ext cx="9085478" cy="0"/>
          </a:xfrm>
          <a:prstGeom prst="line">
            <a:avLst/>
          </a:prstGeom>
          <a:noFill/>
          <a:ln w="19050">
            <a:solidFill>
              <a:srgbClr val="29B6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7902" y="2290572"/>
            <a:ext cx="0" cy="390449"/>
          </a:xfrm>
          <a:prstGeom prst="line">
            <a:avLst/>
          </a:prstGeom>
          <a:noFill/>
          <a:ln w="19050">
            <a:solidFill>
              <a:srgbClr val="29B6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33381" y="2290572"/>
            <a:ext cx="0" cy="390449"/>
          </a:xfrm>
          <a:prstGeom prst="line">
            <a:avLst/>
          </a:prstGeom>
          <a:noFill/>
          <a:ln w="19050">
            <a:solidFill>
              <a:srgbClr val="29B6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7902" y="2681021"/>
            <a:ext cx="9085478" cy="0"/>
          </a:xfrm>
          <a:prstGeom prst="line">
            <a:avLst/>
          </a:prstGeom>
          <a:noFill/>
          <a:ln w="19050">
            <a:solidFill>
              <a:srgbClr val="29B6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7902" y="2872130"/>
            <a:ext cx="326349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7902" y="2872130"/>
            <a:ext cx="0" cy="324337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11396" y="2872130"/>
            <a:ext cx="0" cy="324337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64101" y="2872130"/>
            <a:ext cx="326349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64101" y="2872130"/>
            <a:ext cx="0" cy="324337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27594" y="2872130"/>
            <a:ext cx="0" cy="324337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80299" y="2872130"/>
            <a:ext cx="326349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80299" y="2872130"/>
            <a:ext cx="0" cy="324337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43793" y="2872130"/>
            <a:ext cx="0" cy="3243377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06747" y="5676595"/>
            <a:ext cx="2978201" cy="0"/>
          </a:xfrm>
          <a:prstGeom prst="line">
            <a:avLst/>
          </a:prstGeom>
          <a:noFill/>
          <a:ln w="9525">
            <a:solidFill>
              <a:srgbClr val="29B6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06747" y="5676595"/>
            <a:ext cx="0" cy="314554"/>
          </a:xfrm>
          <a:prstGeom prst="line">
            <a:avLst/>
          </a:prstGeom>
          <a:noFill/>
          <a:ln w="9525">
            <a:solidFill>
              <a:srgbClr val="29B6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4948" y="5676595"/>
            <a:ext cx="0" cy="314554"/>
          </a:xfrm>
          <a:prstGeom prst="line">
            <a:avLst/>
          </a:prstGeom>
          <a:noFill/>
          <a:ln w="9525">
            <a:solidFill>
              <a:srgbClr val="29B6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22946" y="5676595"/>
            <a:ext cx="2978201" cy="0"/>
          </a:xfrm>
          <a:prstGeom prst="line">
            <a:avLst/>
          </a:prstGeom>
          <a:noFill/>
          <a:ln w="9525">
            <a:solidFill>
              <a:srgbClr val="29B6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22946" y="5676595"/>
            <a:ext cx="0" cy="314554"/>
          </a:xfrm>
          <a:prstGeom prst="line">
            <a:avLst/>
          </a:prstGeom>
          <a:noFill/>
          <a:ln w="9525">
            <a:solidFill>
              <a:srgbClr val="29B6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001146" y="5676595"/>
            <a:ext cx="0" cy="314554"/>
          </a:xfrm>
          <a:prstGeom prst="line">
            <a:avLst/>
          </a:prstGeom>
          <a:noFill/>
          <a:ln w="9525">
            <a:solidFill>
              <a:srgbClr val="29B6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06747" y="5991149"/>
            <a:ext cx="2978201" cy="0"/>
          </a:xfrm>
          <a:prstGeom prst="line">
            <a:avLst/>
          </a:prstGeom>
          <a:noFill/>
          <a:ln w="9525">
            <a:solidFill>
              <a:srgbClr val="29B6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22946" y="5991149"/>
            <a:ext cx="2978201" cy="0"/>
          </a:xfrm>
          <a:prstGeom prst="line">
            <a:avLst/>
          </a:prstGeom>
          <a:noFill/>
          <a:ln w="9525">
            <a:solidFill>
              <a:srgbClr val="29B6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7902" y="6114593"/>
            <a:ext cx="326349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4101" y="6114593"/>
            <a:ext cx="326349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80299" y="6114593"/>
            <a:ext cx="326349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1695" y="6362395"/>
            <a:ext cx="10667390" cy="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695" y="571500"/>
            <a:ext cx="1143000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</a:t>
            </a:r>
            <a:endParaRPr lang="en-US" sz="2700" dirty="0"/>
          </a:p>
        </p:txBody>
      </p:sp>
      <p:sp>
        <p:nvSpPr>
          <p:cNvPr id="49" name="Text 47"/>
          <p:cNvSpPr/>
          <p:nvPr/>
        </p:nvSpPr>
        <p:spPr>
          <a:xfrm>
            <a:off x="761695" y="1085393"/>
            <a:ext cx="11430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city. Review host listings. Book in 3 clicks. Stay with a local.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505102" y="1719072"/>
            <a:ext cx="97529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airbedandbreakfast.com/search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47902" y="2290572"/>
            <a:ext cx="9085478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Denver, CO  ·  Aug 24–26  ·  1 guest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228478" y="2309774"/>
            <a:ext cx="91531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57046" y="2881274"/>
            <a:ext cx="3244291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473245" y="2881274"/>
            <a:ext cx="3245206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89443" y="2881274"/>
            <a:ext cx="3245206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90549" y="4043477"/>
            <a:ext cx="38715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Room, Capitol Hill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06747" y="4043477"/>
            <a:ext cx="38715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Space, LoDo District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22946" y="4043477"/>
            <a:ext cx="38715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 Studio, Five Points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190549" y="4233672"/>
            <a:ext cx="38715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Denver, CO · Hosted by Sarah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606747" y="4233672"/>
            <a:ext cx="38715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Denver, CO · Hosted by Marcus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022946" y="4233672"/>
            <a:ext cx="387157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Denver, CO · Hosted by Priya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190549" y="4443070"/>
            <a:ext cx="38715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 / night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606747" y="4443070"/>
            <a:ext cx="38715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$45 / night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022946" y="4443070"/>
            <a:ext cx="38715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 / night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4606747" y="5676595"/>
            <a:ext cx="297820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Now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022946" y="5676595"/>
            <a:ext cx="297820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Now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90549" y="5695798"/>
            <a:ext cx="297820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Now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19042" y="2432304"/>
            <a:ext cx="0" cy="174650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81798" y="2432304"/>
            <a:ext cx="0" cy="174650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85800"/>
            <a:ext cx="11277295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304849"/>
            <a:ext cx="6095390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take a 10% commission on each completed transaction. No subscription fees. No listing fees. Revenue is earned only when a booking is made.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32304"/>
            <a:ext cx="3689604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676242" y="2432304"/>
            <a:ext cx="3689604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438998" y="2432304"/>
            <a:ext cx="3689604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$2.1B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14400" y="3327502"/>
            <a:ext cx="36896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 PER TRANSACTION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76242" y="3327502"/>
            <a:ext cx="36896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FEE PER BOOKING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38998" y="3327502"/>
            <a:ext cx="36896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REVENUE BY 2011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585362"/>
            <a:ext cx="2838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Charged to the traveler at checkout. Zero friction for hosts — they list once and receive payment minus our fee.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76242" y="3585362"/>
            <a:ext cx="2838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$80/night average over 3 nights = $240 booking value. 10% = $24, rounded to $25 blended average.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38998" y="3585362"/>
            <a:ext cx="283829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84 million trips × $25 average fee across the serviceable market within 3 years of launch.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6438290"/>
            <a:ext cx="62069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model: 84M trips × $25 avg commission = $2.1B. See market size slide for trip count assumptions.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19042" y="2135124"/>
            <a:ext cx="0" cy="175839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81798" y="2135124"/>
            <a:ext cx="0" cy="195590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85800"/>
            <a:ext cx="11277295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Size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304849"/>
            <a:ext cx="8419795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 from worldwide trip volume, we narrow to the segment we can actually win.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35124"/>
            <a:ext cx="368960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76242" y="2135124"/>
            <a:ext cx="368960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38998" y="2135124"/>
            <a:ext cx="368960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402129"/>
            <a:ext cx="3689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2B+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76242" y="2402129"/>
            <a:ext cx="3689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560M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438998" y="2402129"/>
            <a:ext cx="3689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87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84M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326941" y="2687422"/>
            <a:ext cx="95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89697" y="2687422"/>
            <a:ext cx="95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240634"/>
            <a:ext cx="36896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TRIPS BOOKED WORLDWIDE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6242" y="3240634"/>
            <a:ext cx="36896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&amp; ONLINE TRIPS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38998" y="3240634"/>
            <a:ext cx="368960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TRIPS WITH AIRBED&amp;BREAKFAST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497580"/>
            <a:ext cx="2838298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global market for accommodation bookings — all price tiers, all channels.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6242" y="3497580"/>
            <a:ext cx="2838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Travelers who book online and are price-sensitive — the segment that has a reason to switch.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38998" y="3497580"/>
            <a:ext cx="2838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 of the available market — consistent with Couchsurfing's penetration of the same audience.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6438290"/>
            <a:ext cx="73371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World Tourism Organization, 2007; Phocuswright online travel research, 2007; Couchsurfing user penetration model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268066"/>
            <a:ext cx="10362895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4486046"/>
            <a:ext cx="10362895" cy="0"/>
          </a:xfrm>
          <a:prstGeom prst="line">
            <a:avLst/>
          </a:prstGeom>
          <a:noFill/>
          <a:ln w="9525">
            <a:solidFill>
              <a:srgbClr val="F0F0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85800"/>
            <a:ext cx="11277295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Strategy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304849"/>
            <a:ext cx="6476695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channels that reach budget-conscious travelers where they are already concentrated.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24505" y="2318004"/>
            <a:ext cx="906719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high-density events with a listing widget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37206"/>
            <a:ext cx="2476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24505" y="2565806"/>
            <a:ext cx="8152790" cy="426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Octoberfest (6M attendees), CeBIT (700K), Summerfest (1M), Euro Cup (3M+), Mardi Gras (800K). Hotel capacity collapses at these events — we deploy the widget 8 weeks prior to capture demand at its peak.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24505" y="3535070"/>
            <a:ext cx="906719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 and alternative travel platforms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554273"/>
            <a:ext cx="2476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24505" y="3782873"/>
            <a:ext cx="8152790" cy="426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GoLoCo, KAYAK, Orbitz — distribution partnerships that embed our inventory inside platforms travelers are already using to find budget options.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24505" y="4752137"/>
            <a:ext cx="906719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Dual-posting feature leverages 50K weekly listings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771339"/>
            <a:ext cx="2476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CRAIGSLIST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4505" y="4999939"/>
            <a:ext cx="8152790" cy="426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Hosts who post on Craigslist can cross-list on AirBed&amp;Breakfast in one click — converting existing supply with zero acquisition cost.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91156" y="1640434"/>
            <a:ext cx="7990942" cy="2286000"/>
          </a:xfrm>
          <a:prstGeom prst="rect">
            <a:avLst/>
          </a:prstGeom>
          <a:solidFill>
            <a:srgbClr val="F9FDFF"/>
          </a:solidFill>
          <a:ln/>
        </p:spPr>
      </p:sp>
      <p:sp>
        <p:nvSpPr>
          <p:cNvPr id="3" name="Shape 1"/>
          <p:cNvSpPr/>
          <p:nvPr/>
        </p:nvSpPr>
        <p:spPr>
          <a:xfrm>
            <a:off x="9362542" y="1916582"/>
            <a:ext cx="152705" cy="152705"/>
          </a:xfrm>
          <a:prstGeom prst="rect">
            <a:avLst>
              <a:gd name="adj" fmla="val 311868"/>
            </a:avLst>
          </a:prstGeom>
          <a:solidFill>
            <a:srgbClr val="29B6F6"/>
          </a:solidFill>
          <a:ln/>
        </p:spPr>
      </p:sp>
      <p:sp>
        <p:nvSpPr>
          <p:cNvPr id="4" name="Shape 2"/>
          <p:cNvSpPr/>
          <p:nvPr/>
        </p:nvSpPr>
        <p:spPr>
          <a:xfrm>
            <a:off x="1809598" y="5669280"/>
            <a:ext cx="85725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695" y="533095"/>
            <a:ext cx="11430000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61695" y="1047902"/>
            <a:ext cx="114300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dimensions define the market: price and whether transactions happen online. One quadrant is empty.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09598" y="1602943"/>
            <a:ext cx="105156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AFFORDABLE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12403" y="2125980"/>
            <a:ext cx="14529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AirBed&amp;Breakfast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36822" y="2344522"/>
            <a:ext cx="7461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CouchSurfing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44545" y="2801722"/>
            <a:ext cx="502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Craigslist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46213" y="2893162"/>
            <a:ext cx="67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Hostels.com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34679" y="3258922"/>
            <a:ext cx="408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Rentobi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99502" y="4173322"/>
            <a:ext cx="11932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BedandBreakfast.com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76542" y="4539082"/>
            <a:ext cx="6108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Rentahome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33181" y="4813402"/>
            <a:ext cx="611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Hotels.com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09598" y="5039258"/>
            <a:ext cx="105156" cy="678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52614" y="5087722"/>
            <a:ext cx="314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VRBO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7891" y="5179162"/>
            <a:ext cx="330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Orbitz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56993" y="5850331"/>
            <a:ext cx="65379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932213" y="5850331"/>
            <a:ext cx="58521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705149"/>
            <a:ext cx="3149194" cy="0"/>
          </a:xfrm>
          <a:prstGeom prst="line">
            <a:avLst/>
          </a:prstGeom>
          <a:noFill/>
          <a:ln w="19050">
            <a:solidFill>
              <a:srgbClr val="D6EE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20794" y="3705149"/>
            <a:ext cx="3149194" cy="0"/>
          </a:xfrm>
          <a:prstGeom prst="line">
            <a:avLst/>
          </a:prstGeom>
          <a:noFill/>
          <a:ln w="19050">
            <a:solidFill>
              <a:srgbClr val="D6EE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102" y="3705149"/>
            <a:ext cx="3149194" cy="0"/>
          </a:xfrm>
          <a:prstGeom prst="line">
            <a:avLst/>
          </a:prstGeom>
          <a:noFill/>
          <a:ln w="19050">
            <a:solidFill>
              <a:srgbClr val="D6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6248095"/>
            <a:ext cx="3149194" cy="0"/>
          </a:xfrm>
          <a:prstGeom prst="line">
            <a:avLst/>
          </a:prstGeom>
          <a:noFill/>
          <a:ln w="19050">
            <a:solidFill>
              <a:srgbClr val="D6EE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0794" y="6248095"/>
            <a:ext cx="3149194" cy="0"/>
          </a:xfrm>
          <a:prstGeom prst="line">
            <a:avLst/>
          </a:prstGeom>
          <a:noFill/>
          <a:ln w="19050">
            <a:solidFill>
              <a:srgbClr val="D6EE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28102" y="6248095"/>
            <a:ext cx="3149194" cy="0"/>
          </a:xfrm>
          <a:prstGeom prst="line">
            <a:avLst/>
          </a:prstGeom>
          <a:noFill/>
          <a:ln w="19050">
            <a:solidFill>
              <a:srgbClr val="D6EE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6099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Advantages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14400" y="1428293"/>
            <a:ext cx="4094683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TO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0794" y="1428293"/>
            <a:ext cx="4094683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INCENTIVE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28102" y="1428293"/>
            <a:ext cx="4063594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ONCE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686154"/>
            <a:ext cx="3149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competitor offers a transaction-based, peer-to-peer temporary housing marketplace. We define the category.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0794" y="1686154"/>
            <a:ext cx="3149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Hosts earn money — unlike Couchsurfing. Financial motivation converts passive inventory into active supply.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28102" y="1686154"/>
            <a:ext cx="3149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persistent listing vs. Craigslist's daily re-posting. Lower host effort means more active, better-maintained listings.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972154"/>
            <a:ext cx="4094683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EASE OF 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0794" y="3972154"/>
            <a:ext cx="4094683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28102" y="3972154"/>
            <a:ext cx="4063594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&amp; TIMING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29100"/>
            <a:ext cx="3149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price, location, and check-in/check-out dates in a single interface. No email chains, no phone calls.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0794" y="4229100"/>
            <a:ext cx="3149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host profiles with photos and reviews. Book in 3 clicks. Trust is built into the product, not appended.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28102" y="4229100"/>
            <a:ext cx="31491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Memorable name. Launching at the DNC — a high-density event that creates national share of mind from day one.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09851"/>
            <a:ext cx="4876495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–Entrepreneur and product designer; holds a patent for CritBuns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–RISD graduate — dual BFAs in graphic design and industrial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0" y="2009851"/>
            <a:ext cx="4876495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–Founder, Brian Chesky Inc — industrial design consultancy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–RISD graduate — BFA in industrial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4591202"/>
            <a:ext cx="4876495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–Built Facebook Apps "Your Neighbors" (75K users) and "Rolodextrous"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–Harvard CS graduate; worked at Microsoft, OPNET Technologies, Batiq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4591202"/>
            <a:ext cx="4876495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–CEO &amp; co-founder of justin.tv — live video platform with millions of viewers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–Advising on product-market fit and consumer growth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6099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14400" y="1428293"/>
            <a:ext cx="633953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 &amp; PR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1428293"/>
            <a:ext cx="579089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DEVELOPMENT &amp; BRAND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628546"/>
            <a:ext cx="6339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Joe Gebbia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1628546"/>
            <a:ext cx="579089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Brian Chesky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009644"/>
            <a:ext cx="633953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4009644"/>
            <a:ext cx="5790895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209898"/>
            <a:ext cx="6339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Nathan Blecharczyk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4209898"/>
            <a:ext cx="579089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Michael Seibel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38274"/>
            <a:ext cx="0" cy="763524"/>
          </a:xfrm>
          <a:prstGeom prst="line">
            <a:avLst/>
          </a:prstGeom>
          <a:noFill/>
          <a:ln w="28575">
            <a:solidFill>
              <a:srgbClr val="E91E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730398"/>
            <a:ext cx="0" cy="763524"/>
          </a:xfrm>
          <a:prstGeom prst="line">
            <a:avLst/>
          </a:prstGeom>
          <a:noFill/>
          <a:ln w="28575">
            <a:solidFill>
              <a:srgbClr val="E91E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722522"/>
            <a:ext cx="0" cy="763524"/>
          </a:xfrm>
          <a:prstGeom prst="line">
            <a:avLst/>
          </a:prstGeom>
          <a:noFill/>
          <a:ln w="28575">
            <a:solidFill>
              <a:srgbClr val="E91E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713732"/>
            <a:ext cx="0" cy="763524"/>
          </a:xfrm>
          <a:prstGeom prst="line">
            <a:avLst/>
          </a:prstGeom>
          <a:noFill/>
          <a:ln w="28575">
            <a:solidFill>
              <a:srgbClr val="E91E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6099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11277295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coverage from technology media — unsolicited, third-party validation of the concept.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1346" y="1738274"/>
            <a:ext cx="1102034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2100" b="1" dirty="0">
                <a:solidFill>
                  <a:srgbClr val="E91E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71346" y="2012594"/>
            <a:ext cx="11020349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AirBed &amp; Breakfast is a fun approach to couch surfing.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1346" y="2359152"/>
            <a:ext cx="1102034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WEBWARE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71346" y="2730398"/>
            <a:ext cx="1102034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2100" b="1" dirty="0">
                <a:solidFill>
                  <a:srgbClr val="E91E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71346" y="3004718"/>
            <a:ext cx="11020349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of it as Craigslist meets Hotels.com, but a lot less creepy.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1346" y="3350362"/>
            <a:ext cx="1102034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JOSH SPEAR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71346" y="3722522"/>
            <a:ext cx="1102034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2100" b="1" dirty="0">
                <a:solidFill>
                  <a:srgbClr val="E91E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71346" y="3996842"/>
            <a:ext cx="11020349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cool alternative to a boring evening in a hotel room.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1346" y="4342486"/>
            <a:ext cx="1102034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MASHABLE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71346" y="4713732"/>
            <a:ext cx="1102034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2100" b="1" dirty="0">
                <a:solidFill>
                  <a:srgbClr val="E91E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71346" y="4988052"/>
            <a:ext cx="11020349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AirBed's fee-based service could help alleviate concerns about quality of accommodations.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1346" y="5334610"/>
            <a:ext cx="1102034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SPRINGWISE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38274"/>
            <a:ext cx="4914900" cy="2121408"/>
          </a:xfrm>
          <a:prstGeom prst="rect">
            <a:avLst/>
          </a:prstGeom>
          <a:solidFill>
            <a:srgbClr val="FFF0F7"/>
          </a:solidFill>
          <a:ln w="28575">
            <a:solidFill>
              <a:srgbClr val="E91E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62395" y="1738274"/>
            <a:ext cx="4914900" cy="2121408"/>
          </a:xfrm>
          <a:prstGeom prst="rect">
            <a:avLst/>
          </a:prstGeom>
          <a:solidFill>
            <a:srgbClr val="FFF0F7"/>
          </a:solidFill>
          <a:ln w="28575">
            <a:solidFill>
              <a:srgbClr val="E91E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126687"/>
            <a:ext cx="4914900" cy="2121408"/>
          </a:xfrm>
          <a:prstGeom prst="rect">
            <a:avLst/>
          </a:prstGeom>
          <a:solidFill>
            <a:srgbClr val="FFF0F7"/>
          </a:solidFill>
          <a:ln w="28575">
            <a:solidFill>
              <a:srgbClr val="E91E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62395" y="4126687"/>
            <a:ext cx="4914900" cy="2121408"/>
          </a:xfrm>
          <a:prstGeom prst="rect">
            <a:avLst/>
          </a:prstGeom>
          <a:solidFill>
            <a:srgbClr val="FFF0F7"/>
          </a:solidFill>
          <a:ln w="28575">
            <a:solidFill>
              <a:srgbClr val="E91E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38274"/>
            <a:ext cx="4914900" cy="0"/>
          </a:xfrm>
          <a:prstGeom prst="line">
            <a:avLst/>
          </a:prstGeom>
          <a:noFill/>
          <a:ln w="28575">
            <a:solidFill>
              <a:srgbClr val="E91E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62395" y="1738274"/>
            <a:ext cx="4914900" cy="0"/>
          </a:xfrm>
          <a:prstGeom prst="line">
            <a:avLst/>
          </a:prstGeom>
          <a:noFill/>
          <a:ln w="28575">
            <a:solidFill>
              <a:srgbClr val="E91E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126687"/>
            <a:ext cx="4914900" cy="0"/>
          </a:xfrm>
          <a:prstGeom prst="line">
            <a:avLst/>
          </a:prstGeom>
          <a:noFill/>
          <a:ln w="28575">
            <a:solidFill>
              <a:srgbClr val="E91E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2395" y="4126687"/>
            <a:ext cx="4914900" cy="0"/>
          </a:xfrm>
          <a:prstGeom prst="line">
            <a:avLst/>
          </a:prstGeom>
          <a:noFill/>
          <a:ln w="28575">
            <a:solidFill>
              <a:srgbClr val="E91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609905"/>
            <a:ext cx="1127729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9B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Users Say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14400" y="1143000"/>
            <a:ext cx="11277295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guests and hosts — unprompted, on their own experience with the platform.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995221"/>
            <a:ext cx="4457700" cy="118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AirBed&amp;Breakfast freaking rocks!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90995" y="1995221"/>
            <a:ext cx="4457700" cy="118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found something in my price-range, and that's what really enabled me to come to the conference.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374136"/>
            <a:ext cx="579455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JASON F.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90995" y="3374136"/>
            <a:ext cx="5600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JASON R.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3526841"/>
            <a:ext cx="579455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Washington, DC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90995" y="3526841"/>
            <a:ext cx="56007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Atlanta, GA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4383634"/>
            <a:ext cx="4457700" cy="118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success. It is easy to use and it made me money.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0995" y="4383634"/>
            <a:ext cx="4457700" cy="1187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about the ideas, the interactions, the people. You don't get that in a hotel room.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5762549"/>
            <a:ext cx="579455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EMILY M.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90995" y="5762549"/>
            <a:ext cx="5600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91E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 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5915254"/>
            <a:ext cx="5794553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Austin, TX — Host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90995" y="5915254"/>
            <a:ext cx="56007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Ontario, Canada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4353" y="2565806"/>
            <a:ext cx="0" cy="1746504"/>
          </a:xfrm>
          <a:prstGeom prst="line">
            <a:avLst/>
          </a:prstGeom>
          <a:noFill/>
          <a:ln w="9525">
            <a:solidFill>
              <a:srgbClr val="DCED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07401" y="2565806"/>
            <a:ext cx="0" cy="1746504"/>
          </a:xfrm>
          <a:prstGeom prst="line">
            <a:avLst/>
          </a:prstGeom>
          <a:noFill/>
          <a:ln w="9525">
            <a:solidFill>
              <a:srgbClr val="DCE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61695"/>
            <a:ext cx="11277295" cy="485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8BC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362456"/>
            <a:ext cx="6476695" cy="517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raising a $500K angel round to fund 12 months of operations and reach 80,000 transactions on AirBed&amp;Breakfast.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65806"/>
            <a:ext cx="3557930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8BC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$500K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727448" y="2565806"/>
            <a:ext cx="3557930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8BC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80K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540496" y="2565806"/>
            <a:ext cx="3557930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8BC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$2M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14400" y="3480206"/>
            <a:ext cx="3557930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ANGEL 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27448" y="3480206"/>
            <a:ext cx="3557930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TRIPS — 12-MONTH TARGET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40496" y="3480206"/>
            <a:ext cx="3557930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OVER 12 MONTHS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717950"/>
            <a:ext cx="27367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 of runway to reach the first major transaction milestone and validate the unit economics at scale.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27448" y="3717950"/>
            <a:ext cx="27367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milestone that proves market adoption and unlocks the next round. 80,000 completed bookings at $25 average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40496" y="3717950"/>
            <a:ext cx="273679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80K trips × $25 average commission. Demonstrates a repeatable, scalable revenue model before Series 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6314846"/>
            <a:ext cx="1507846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BC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AirBed&amp;Breakfast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58200" y="6329477"/>
            <a:ext cx="366400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joe@airbedandbreakfast.com  ·  airbedandbreakfast.com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2026-04-12T23:52:31Z</dcterms:created>
  <dcterms:modified xsi:type="dcterms:W3CDTF">2026-04-12T23:52:31Z</dcterms:modified>
</cp:coreProperties>
</file>