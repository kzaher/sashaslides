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295" y="495605"/>
            <a:ext cx="3827678" cy="133502"/>
          </a:xfrm>
          <a:prstGeom prst="rect">
            <a:avLst/>
          </a:prstGeom>
          <a:noFill/>
          <a:ln/>
        </p:spPr>
        <p:txBody>
          <a:bodyPr wrap="square" lIns="0" tIns="0" rIns="0" bIns="0" rtlCol="0" anchor="t">
            <a:normAutofit/>
          </a:bodyPr>
          <a:lstStyle/>
          <a:p>
            <a:pPr algn="l" indent="0" marL="0">
              <a:lnSpc>
                <a:spcPct val="120000"/>
              </a:lnSpc>
              <a:buNone/>
            </a:pPr>
            <a:r>
              <a:rPr lang="en-US" sz="800" b="1" dirty="0">
                <a:solidFill>
                  <a:srgbClr val="4A6FA5"/>
                </a:solidFill>
                <a:latin typeface="Inter" pitchFamily="34" charset="0"/>
                <a:ea typeface="Inter" pitchFamily="34" charset="-122"/>
                <a:cs typeface="Inter" pitchFamily="34" charset="-120"/>
              </a:rPr>
              <a:t>THEFACEBOOK.COM — ADVERTISING MEDIA KIT</a:t>
            </a:r>
            <a:endParaRPr lang="en-US" sz="800" dirty="0"/>
          </a:p>
        </p:txBody>
      </p:sp>
      <p:sp>
        <p:nvSpPr>
          <p:cNvPr id="3" name="Text 1"/>
          <p:cNvSpPr/>
          <p:nvPr/>
        </p:nvSpPr>
        <p:spPr>
          <a:xfrm>
            <a:off x="2190902" y="3064154"/>
            <a:ext cx="7809890" cy="730606"/>
          </a:xfrm>
          <a:prstGeom prst="rect">
            <a:avLst/>
          </a:prstGeom>
          <a:noFill/>
          <a:ln/>
        </p:spPr>
        <p:txBody>
          <a:bodyPr wrap="square" lIns="0" tIns="0" rIns="0" bIns="0" rtlCol="0" anchor="t">
            <a:normAutofit/>
          </a:bodyPr>
          <a:lstStyle/>
          <a:p>
            <a:pPr algn="ctr" indent="0" marL="0">
              <a:lnSpc>
                <a:spcPct val="172000"/>
              </a:lnSpc>
              <a:buNone/>
            </a:pPr>
            <a:r>
              <a:rPr lang="en-US" sz="1700" i="1" dirty="0">
                <a:solidFill>
                  <a:srgbClr val="2C3040"/>
                </a:solidFill>
                <a:latin typeface="Playfair Display" pitchFamily="34" charset="0"/>
                <a:ea typeface="Playfair Display" pitchFamily="34" charset="-122"/>
                <a:cs typeface="Playfair Display" pitchFamily="34" charset="-120"/>
              </a:rPr>
              <a:t>"Classes are being skipped. Work is ignored. Students are spending hours in front of the computer in utter fascination. Thefacebook.com craze has swept through campus."</a:t>
            </a:r>
            <a:endParaRPr lang="en-US" sz="1700" dirty="0"/>
          </a:p>
        </p:txBody>
      </p:sp>
      <p:sp>
        <p:nvSpPr>
          <p:cNvPr id="4" name="Text 2"/>
          <p:cNvSpPr/>
          <p:nvPr/>
        </p:nvSpPr>
        <p:spPr>
          <a:xfrm>
            <a:off x="9775850" y="5857646"/>
            <a:ext cx="1424635" cy="152705"/>
          </a:xfrm>
          <a:prstGeom prst="rect">
            <a:avLst/>
          </a:prstGeom>
          <a:noFill/>
          <a:ln/>
        </p:spPr>
        <p:txBody>
          <a:bodyPr wrap="square" lIns="0" tIns="0" rIns="0" bIns="0" rtlCol="0" anchor="t">
            <a:normAutofit/>
          </a:bodyPr>
          <a:lstStyle/>
          <a:p>
            <a:pPr algn="r" indent="0" marL="0">
              <a:lnSpc>
                <a:spcPct val="120000"/>
              </a:lnSpc>
              <a:buNone/>
            </a:pPr>
            <a:r>
              <a:rPr lang="en-US" sz="1000" dirty="0">
                <a:solidFill>
                  <a:srgbClr val="4A6FA5"/>
                </a:solidFill>
                <a:latin typeface="Inter" pitchFamily="34" charset="0"/>
                <a:ea typeface="Inter" pitchFamily="34" charset="-122"/>
                <a:cs typeface="Inter" pitchFamily="34" charset="-120"/>
              </a:rPr>
              <a:t>The Stanford Daily</a:t>
            </a:r>
            <a:endParaRPr lang="en-US" sz="1000" dirty="0"/>
          </a:p>
        </p:txBody>
      </p:sp>
      <p:sp>
        <p:nvSpPr>
          <p:cNvPr id="5" name="Text 3"/>
          <p:cNvSpPr/>
          <p:nvPr/>
        </p:nvSpPr>
        <p:spPr>
          <a:xfrm>
            <a:off x="9775850" y="6038698"/>
            <a:ext cx="1424635" cy="133502"/>
          </a:xfrm>
          <a:prstGeom prst="rect">
            <a:avLst/>
          </a:prstGeom>
          <a:noFill/>
          <a:ln/>
        </p:spPr>
        <p:txBody>
          <a:bodyPr wrap="square" lIns="0" tIns="0" rIns="0" bIns="0" rtlCol="0" anchor="t">
            <a:normAutofit/>
          </a:bodyPr>
          <a:lstStyle/>
          <a:p>
            <a:pPr algn="r" indent="0" marL="0">
              <a:lnSpc>
                <a:spcPct val="120000"/>
              </a:lnSpc>
              <a:buNone/>
            </a:pPr>
            <a:r>
              <a:rPr lang="en-US" sz="800" dirty="0">
                <a:solidFill>
                  <a:srgbClr val="9AAAC8"/>
                </a:solidFill>
                <a:latin typeface="Inter" pitchFamily="34" charset="0"/>
                <a:ea typeface="Inter" pitchFamily="34" charset="-122"/>
                <a:cs typeface="Inter" pitchFamily="34" charset="-120"/>
              </a:rPr>
              <a:t>March 5, 2004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FA5"/>
        </a:solidFill>
      </p:bgPr>
    </p:bg>
    <p:spTree>
      <p:nvGrpSpPr>
        <p:cNvPr id="1" name=""/>
        <p:cNvGrpSpPr/>
        <p:nvPr/>
      </p:nvGrpSpPr>
      <p:grpSpPr>
        <a:xfrm>
          <a:off x="0" y="0"/>
          <a:ext cx="0" cy="0"/>
          <a:chOff x="0" y="0"/>
          <a:chExt cx="0" cy="0"/>
        </a:xfrm>
      </p:grpSpPr>
      <p:sp>
        <p:nvSpPr>
          <p:cNvPr id="2" name="Text 0"/>
          <p:cNvSpPr/>
          <p:nvPr/>
        </p:nvSpPr>
        <p:spPr>
          <a:xfrm>
            <a:off x="990295" y="495605"/>
            <a:ext cx="2427732" cy="133502"/>
          </a:xfrm>
          <a:prstGeom prst="rect">
            <a:avLst/>
          </a:prstGeom>
          <a:noFill/>
          <a:ln/>
        </p:spPr>
        <p:txBody>
          <a:bodyPr wrap="square" lIns="0" tIns="0" rIns="0" bIns="0" rtlCol="0" anchor="t">
            <a:normAutofit/>
          </a:bodyPr>
          <a:lstStyle/>
          <a:p>
            <a:pPr algn="l" indent="0" marL="0">
              <a:lnSpc>
                <a:spcPct val="120000"/>
              </a:lnSpc>
              <a:buNone/>
            </a:pPr>
            <a:r>
              <a:rPr lang="en-US" sz="800" b="1" dirty="0">
                <a:solidFill>
                  <a:srgbClr val="FFFFFF"/>
                </a:solidFill>
                <a:latin typeface="Inter" pitchFamily="34" charset="0"/>
                <a:ea typeface="Inter" pitchFamily="34" charset="-122"/>
                <a:cs typeface="Inter" pitchFamily="34" charset="-120"/>
              </a:rPr>
              <a:t>WHAT IS THEFACEBOOK.COM?</a:t>
            </a:r>
            <a:endParaRPr lang="en-US" sz="800" dirty="0"/>
          </a:p>
        </p:txBody>
      </p:sp>
      <p:sp>
        <p:nvSpPr>
          <p:cNvPr id="3" name="Text 1"/>
          <p:cNvSpPr/>
          <p:nvPr/>
        </p:nvSpPr>
        <p:spPr>
          <a:xfrm>
            <a:off x="2476195" y="2484425"/>
            <a:ext cx="7238390" cy="1889150"/>
          </a:xfrm>
          <a:prstGeom prst="rect">
            <a:avLst/>
          </a:prstGeom>
          <a:noFill/>
          <a:ln/>
        </p:spPr>
        <p:txBody>
          <a:bodyPr wrap="square" lIns="0" tIns="0" rIns="0" bIns="0" rtlCol="0" anchor="t">
            <a:normAutofit/>
          </a:bodyPr>
          <a:lstStyle/>
          <a:p>
            <a:pPr algn="ctr" indent="0" marL="0">
              <a:lnSpc>
                <a:spcPct val="155000"/>
              </a:lnSpc>
              <a:buNone/>
            </a:pPr>
            <a:r>
              <a:rPr lang="en-US" sz="2400" dirty="0">
                <a:solidFill>
                  <a:srgbClr val="FFFFFF"/>
                </a:solidFill>
                <a:latin typeface="Inter" pitchFamily="34" charset="0"/>
                <a:ea typeface="Inter" pitchFamily="34" charset="-122"/>
                <a:cs typeface="Inter" pitchFamily="34" charset="-120"/>
              </a:rPr>
              <a:t>An online directory that connects students, alumni, faculty, and staff through social networks at colleges and universities — built on courses, friendships, and campus life.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295" y="3052267"/>
            <a:ext cx="2633472" cy="418795"/>
          </a:xfrm>
          <a:prstGeom prst="rect">
            <a:avLst/>
          </a:prstGeom>
          <a:noFill/>
          <a:ln/>
        </p:spPr>
        <p:txBody>
          <a:bodyPr wrap="square" lIns="0" tIns="0" rIns="0" bIns="0" rtlCol="0" anchor="t">
            <a:normAutofit/>
          </a:bodyPr>
          <a:lstStyle/>
          <a:p>
            <a:pPr algn="l" indent="0" marL="0">
              <a:lnSpc>
                <a:spcPct val="120000"/>
              </a:lnSpc>
              <a:buNone/>
            </a:pPr>
            <a:r>
              <a:rPr lang="en-US" sz="2700" i="1" dirty="0">
                <a:solidFill>
                  <a:srgbClr val="4A6FA5"/>
                </a:solidFill>
                <a:latin typeface="Inter" pitchFamily="34" charset="0"/>
                <a:ea typeface="Inter" pitchFamily="34" charset="-122"/>
                <a:cs typeface="Inter" pitchFamily="34" charset="-120"/>
              </a:rPr>
              <a:t>The platform</a:t>
            </a:r>
            <a:endParaRPr lang="en-US" sz="2700" dirty="0"/>
          </a:p>
        </p:txBody>
      </p:sp>
      <p:sp>
        <p:nvSpPr>
          <p:cNvPr id="3" name="Text 1"/>
          <p:cNvSpPr/>
          <p:nvPr/>
        </p:nvSpPr>
        <p:spPr>
          <a:xfrm>
            <a:off x="990295" y="3623767"/>
            <a:ext cx="4228186" cy="181051"/>
          </a:xfrm>
          <a:prstGeom prst="rect">
            <a:avLst/>
          </a:prstGeom>
          <a:noFill/>
          <a:ln/>
        </p:spPr>
        <p:txBody>
          <a:bodyPr wrap="square" lIns="0" tIns="0" rIns="0" bIns="0" rtlCol="0" anchor="t">
            <a:normAutofit/>
          </a:bodyPr>
          <a:lstStyle/>
          <a:p>
            <a:pPr algn="l" indent="0" marL="0">
              <a:lnSpc>
                <a:spcPct val="120000"/>
              </a:lnSpc>
              <a:buNone/>
            </a:pPr>
            <a:r>
              <a:rPr lang="en-US" sz="1100" dirty="0">
                <a:solidFill>
                  <a:srgbClr val="9AAAC8"/>
                </a:solidFill>
                <a:latin typeface="Inter" pitchFamily="34" charset="0"/>
                <a:ea typeface="Inter" pitchFamily="34" charset="-122"/>
                <a:cs typeface="Inter" pitchFamily="34" charset="-120"/>
              </a:rPr>
              <a:t>Profiles, social graph, and campus networking</a:t>
            </a:r>
            <a:endParaRPr lang="en-US" sz="1100" dirty="0"/>
          </a:p>
        </p:txBody>
      </p:sp>
      <p:sp>
        <p:nvSpPr>
          <p:cNvPr id="4" name="Text 2"/>
          <p:cNvSpPr/>
          <p:nvPr/>
        </p:nvSpPr>
        <p:spPr>
          <a:xfrm>
            <a:off x="11089843" y="6228893"/>
            <a:ext cx="144475" cy="133502"/>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C8DCF0"/>
                </a:solidFill>
                <a:latin typeface="Inter" pitchFamily="34" charset="0"/>
                <a:ea typeface="Inter" pitchFamily="34" charset="-122"/>
                <a:cs typeface="Inter" pitchFamily="34" charset="-120"/>
              </a:rPr>
              <a:t>01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295" y="1752905"/>
            <a:ext cx="4647895" cy="2433218"/>
          </a:xfrm>
          <a:prstGeom prst="rect">
            <a:avLst/>
          </a:prstGeom>
          <a:noFill/>
          <a:ln/>
        </p:spPr>
        <p:txBody>
          <a:bodyPr wrap="square" lIns="0" tIns="0" rIns="0" bIns="0" rtlCol="0" anchor="t"/>
          <a:lstStyle/>
          <a:p>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Contact information</a:t>
            </a:r>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Relationship status</a:t>
            </a:r>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Political views</a:t>
            </a:r>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Clubs and jobs</a:t>
            </a:r>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Favorite music, books, movies, and quotes</a:t>
            </a:r>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Course schedule and concentration</a:t>
            </a:r>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Profile photo</a:t>
            </a:r>
            <a:endParaRPr lang="en-US" sz="1100" dirty="0"/>
          </a:p>
        </p:txBody>
      </p:sp>
      <p:sp>
        <p:nvSpPr>
          <p:cNvPr id="3" name="Text 1"/>
          <p:cNvSpPr/>
          <p:nvPr/>
        </p:nvSpPr>
        <p:spPr>
          <a:xfrm>
            <a:off x="6552590" y="1752905"/>
            <a:ext cx="4647895" cy="1738274"/>
          </a:xfrm>
          <a:prstGeom prst="rect">
            <a:avLst/>
          </a:prstGeom>
          <a:noFill/>
          <a:ln/>
        </p:spPr>
        <p:txBody>
          <a:bodyPr wrap="square" lIns="0" tIns="0" rIns="0" bIns="0" rtlCol="0" anchor="t"/>
          <a:lstStyle/>
          <a:p>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Linked school news articles mentioning the user</a:t>
            </a:r>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Last AIM away message</a:t>
            </a:r>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Last campus access location</a:t>
            </a:r>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Visualized friendship network</a:t>
            </a:r>
            <a:pPr indent="0" marL="0">
              <a:lnSpc>
                <a:spcPct val="150000"/>
              </a:lnSpc>
              <a:spcAft>
                <a:spcPts val="1100"/>
              </a:spcAft>
              <a:buNone/>
            </a:pPr>
            <a:r>
              <a:rPr lang="en-US" sz="1100" dirty="0">
                <a:solidFill>
                  <a:srgbClr val="2C3040"/>
                </a:solidFill>
                <a:latin typeface="Inter" pitchFamily="34" charset="0"/>
                <a:ea typeface="Inter" pitchFamily="34" charset="-122"/>
                <a:cs typeface="Inter" pitchFamily="34" charset="-120"/>
              </a:rPr>
              <a:t>Shortest connection path to any other user</a:t>
            </a:r>
            <a:endParaRPr lang="en-US" sz="1100" dirty="0"/>
          </a:p>
        </p:txBody>
      </p:sp>
      <p:sp>
        <p:nvSpPr>
          <p:cNvPr id="4" name="Text 2"/>
          <p:cNvSpPr/>
          <p:nvPr/>
        </p:nvSpPr>
        <p:spPr>
          <a:xfrm>
            <a:off x="990295" y="685800"/>
            <a:ext cx="11201400" cy="323698"/>
          </a:xfrm>
          <a:prstGeom prst="rect">
            <a:avLst/>
          </a:prstGeom>
          <a:noFill/>
          <a:ln/>
        </p:spPr>
        <p:txBody>
          <a:bodyPr wrap="square" lIns="0" tIns="0" rIns="0" bIns="0" rtlCol="0" anchor="t">
            <a:normAutofit/>
          </a:bodyPr>
          <a:lstStyle/>
          <a:p>
            <a:pPr algn="l" indent="0" marL="0">
              <a:lnSpc>
                <a:spcPct val="120000"/>
              </a:lnSpc>
              <a:buNone/>
            </a:pPr>
            <a:r>
              <a:rPr lang="en-US" sz="2100" b="1" dirty="0">
                <a:solidFill>
                  <a:srgbClr val="2C3040"/>
                </a:solidFill>
                <a:latin typeface="Inter" pitchFamily="34" charset="0"/>
                <a:ea typeface="Inter" pitchFamily="34" charset="-122"/>
                <a:cs typeface="Inter" pitchFamily="34" charset="-120"/>
              </a:rPr>
              <a:t>User profiles</a:t>
            </a:r>
            <a:endParaRPr lang="en-US" sz="2100" dirty="0"/>
          </a:p>
        </p:txBody>
      </p:sp>
      <p:sp>
        <p:nvSpPr>
          <p:cNvPr id="5" name="Text 3"/>
          <p:cNvSpPr/>
          <p:nvPr/>
        </p:nvSpPr>
        <p:spPr>
          <a:xfrm>
            <a:off x="990295" y="1428293"/>
            <a:ext cx="6042355" cy="133502"/>
          </a:xfrm>
          <a:prstGeom prst="rect">
            <a:avLst/>
          </a:prstGeom>
          <a:noFill/>
          <a:ln/>
        </p:spPr>
        <p:txBody>
          <a:bodyPr wrap="square" lIns="0" tIns="0" rIns="0" bIns="0" rtlCol="0" anchor="t">
            <a:normAutofit/>
          </a:bodyPr>
          <a:lstStyle/>
          <a:p>
            <a:pPr algn="l" indent="0" marL="0">
              <a:lnSpc>
                <a:spcPct val="120000"/>
              </a:lnSpc>
              <a:buNone/>
            </a:pPr>
            <a:r>
              <a:rPr lang="en-US" sz="800" b="1" dirty="0">
                <a:solidFill>
                  <a:srgbClr val="4A6FA5"/>
                </a:solidFill>
                <a:latin typeface="Inter" pitchFamily="34" charset="0"/>
                <a:ea typeface="Inter" pitchFamily="34" charset="-122"/>
                <a:cs typeface="Inter" pitchFamily="34" charset="-120"/>
              </a:rPr>
              <a:t>USER-DECLARED</a:t>
            </a:r>
            <a:endParaRPr lang="en-US" sz="800" dirty="0"/>
          </a:p>
        </p:txBody>
      </p:sp>
      <p:sp>
        <p:nvSpPr>
          <p:cNvPr id="6" name="Text 4"/>
          <p:cNvSpPr/>
          <p:nvPr/>
        </p:nvSpPr>
        <p:spPr>
          <a:xfrm>
            <a:off x="6552590" y="1428293"/>
            <a:ext cx="5639105" cy="133502"/>
          </a:xfrm>
          <a:prstGeom prst="rect">
            <a:avLst/>
          </a:prstGeom>
          <a:noFill/>
          <a:ln/>
        </p:spPr>
        <p:txBody>
          <a:bodyPr wrap="square" lIns="0" tIns="0" rIns="0" bIns="0" rtlCol="0" anchor="t">
            <a:normAutofit/>
          </a:bodyPr>
          <a:lstStyle/>
          <a:p>
            <a:pPr algn="l" indent="0" marL="0">
              <a:lnSpc>
                <a:spcPct val="120000"/>
              </a:lnSpc>
              <a:buNone/>
            </a:pPr>
            <a:r>
              <a:rPr lang="en-US" sz="800" b="1" dirty="0">
                <a:solidFill>
                  <a:srgbClr val="4A6FA5"/>
                </a:solidFill>
                <a:latin typeface="Inter" pitchFamily="34" charset="0"/>
                <a:ea typeface="Inter" pitchFamily="34" charset="-122"/>
                <a:cs typeface="Inter" pitchFamily="34" charset="-120"/>
              </a:rPr>
              <a:t>AUTO-POPULATED BY THE SYSTEM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295" y="2328062"/>
            <a:ext cx="8171993" cy="323698"/>
          </a:xfrm>
          <a:prstGeom prst="rect">
            <a:avLst/>
          </a:prstGeom>
          <a:noFill/>
          <a:ln/>
        </p:spPr>
        <p:txBody>
          <a:bodyPr wrap="square" lIns="0" tIns="0" rIns="0" bIns="0" rtlCol="0" anchor="t">
            <a:normAutofit/>
          </a:bodyPr>
          <a:lstStyle/>
          <a:p>
            <a:pPr algn="l" indent="0" marL="0">
              <a:lnSpc>
                <a:spcPct val="120000"/>
              </a:lnSpc>
              <a:buNone/>
            </a:pPr>
            <a:r>
              <a:rPr lang="en-US" sz="2100" b="1" dirty="0">
                <a:solidFill>
                  <a:srgbClr val="2C3040"/>
                </a:solidFill>
                <a:latin typeface="Inter" pitchFamily="34" charset="0"/>
                <a:ea typeface="Inter" pitchFamily="34" charset="-122"/>
                <a:cs typeface="Inter" pitchFamily="34" charset="-120"/>
              </a:rPr>
              <a:t>Every connection has a path.</a:t>
            </a:r>
            <a:endParaRPr lang="en-US" sz="2100" dirty="0"/>
          </a:p>
        </p:txBody>
      </p:sp>
      <p:sp>
        <p:nvSpPr>
          <p:cNvPr id="3" name="Text 1"/>
          <p:cNvSpPr/>
          <p:nvPr/>
        </p:nvSpPr>
        <p:spPr>
          <a:xfrm>
            <a:off x="990295" y="2957170"/>
            <a:ext cx="6476695" cy="1572768"/>
          </a:xfrm>
          <a:prstGeom prst="rect">
            <a:avLst/>
          </a:prstGeom>
          <a:noFill/>
          <a:ln/>
        </p:spPr>
        <p:txBody>
          <a:bodyPr wrap="square" lIns="0" tIns="0" rIns="0" bIns="0" rtlCol="0" anchor="t">
            <a:normAutofit/>
          </a:bodyPr>
          <a:lstStyle/>
          <a:p>
            <a:pPr algn="l" indent="0" marL="0">
              <a:lnSpc>
                <a:spcPct val="172000"/>
              </a:lnSpc>
              <a:buNone/>
            </a:pPr>
            <a:r>
              <a:rPr lang="en-US" sz="1200" dirty="0">
                <a:solidFill>
                  <a:srgbClr val="3A4A65"/>
                </a:solidFill>
                <a:latin typeface="Inter" pitchFamily="34" charset="0"/>
                <a:ea typeface="Inter" pitchFamily="34" charset="-122"/>
                <a:cs typeface="Inter" pitchFamily="34" charset="-120"/>
              </a:rPr>
              <a:t>Within each school, users navigate the network through three discovery tools: a random people browser, complete course rosters for any class, and a full-parameter search engine. Every friendship requires mutual confirmation. The platform automatically visualizes each user's social graph and traces the shortest connection path between any two people on the network. Separate friendship lists extend the same graph across every school in the directory.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A6FA5"/>
        </a:solidFill>
      </p:bgPr>
    </p:bg>
    <p:spTree>
      <p:nvGrpSpPr>
        <p:cNvPr id="1" name=""/>
        <p:cNvGrpSpPr/>
        <p:nvPr/>
      </p:nvGrpSpPr>
      <p:grpSpPr>
        <a:xfrm>
          <a:off x="0" y="0"/>
          <a:ext cx="0" cy="0"/>
          <a:chOff x="0" y="0"/>
          <a:chExt cx="0" cy="0"/>
        </a:xfrm>
      </p:grpSpPr>
      <p:sp>
        <p:nvSpPr>
          <p:cNvPr id="2" name="Text 0"/>
          <p:cNvSpPr/>
          <p:nvPr/>
        </p:nvSpPr>
        <p:spPr>
          <a:xfrm>
            <a:off x="990295" y="3052267"/>
            <a:ext cx="2815438" cy="418795"/>
          </a:xfrm>
          <a:prstGeom prst="rect">
            <a:avLst/>
          </a:prstGeom>
          <a:noFill/>
          <a:ln/>
        </p:spPr>
        <p:txBody>
          <a:bodyPr wrap="square" lIns="0" tIns="0" rIns="0" bIns="0" rtlCol="0" anchor="t">
            <a:normAutofit/>
          </a:bodyPr>
          <a:lstStyle/>
          <a:p>
            <a:pPr algn="l" indent="0" marL="0">
              <a:lnSpc>
                <a:spcPct val="120000"/>
              </a:lnSpc>
              <a:buNone/>
            </a:pPr>
            <a:r>
              <a:rPr lang="en-US" sz="2700" i="1" dirty="0">
                <a:solidFill>
                  <a:srgbClr val="FFFFFF"/>
                </a:solidFill>
                <a:latin typeface="Inter" pitchFamily="34" charset="0"/>
                <a:ea typeface="Inter" pitchFamily="34" charset="-122"/>
                <a:cs typeface="Inter" pitchFamily="34" charset="-120"/>
              </a:rPr>
              <a:t>The audience</a:t>
            </a:r>
            <a:endParaRPr lang="en-US" sz="2700" dirty="0"/>
          </a:p>
        </p:txBody>
      </p:sp>
      <p:sp>
        <p:nvSpPr>
          <p:cNvPr id="3" name="Text 1"/>
          <p:cNvSpPr/>
          <p:nvPr/>
        </p:nvSpPr>
        <p:spPr>
          <a:xfrm>
            <a:off x="990295" y="3623767"/>
            <a:ext cx="4507078" cy="181051"/>
          </a:xfrm>
          <a:prstGeom prst="rect">
            <a:avLst/>
          </a:prstGeom>
          <a:noFill/>
          <a:ln/>
        </p:spPr>
        <p:txBody>
          <a:bodyPr wrap="square" lIns="0" tIns="0" rIns="0" bIns="0" rtlCol="0" anchor="t">
            <a:normAutofit/>
          </a:bodyPr>
          <a:lstStyle/>
          <a:p>
            <a:pPr algn="l" indent="0" marL="0">
              <a:lnSpc>
                <a:spcPct val="120000"/>
              </a:lnSpc>
              <a:buNone/>
            </a:pPr>
            <a:r>
              <a:rPr lang="en-US" sz="1100" dirty="0">
                <a:solidFill>
                  <a:srgbClr val="FFFFFF"/>
                </a:solidFill>
                <a:latin typeface="Inter" pitchFamily="34" charset="0"/>
                <a:ea typeface="Inter" pitchFamily="34" charset="-122"/>
                <a:cs typeface="Inter" pitchFamily="34" charset="-120"/>
              </a:rPr>
              <a:t>15 million students. $85 billion in purchasing power.</a:t>
            </a:r>
            <a:endParaRPr lang="en-US" sz="1100" dirty="0"/>
          </a:p>
        </p:txBody>
      </p:sp>
      <p:sp>
        <p:nvSpPr>
          <p:cNvPr id="4" name="Text 2"/>
          <p:cNvSpPr/>
          <p:nvPr/>
        </p:nvSpPr>
        <p:spPr>
          <a:xfrm>
            <a:off x="11068812" y="6228893"/>
            <a:ext cx="171907" cy="133502"/>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FFFFFF"/>
                </a:solidFill>
                <a:latin typeface="Inter" pitchFamily="34" charset="0"/>
                <a:ea typeface="Inter" pitchFamily="34" charset="-122"/>
                <a:cs typeface="Inter" pitchFamily="34" charset="-120"/>
              </a:rPr>
              <a:t>02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295" y="2296973"/>
            <a:ext cx="6666890" cy="647395"/>
          </a:xfrm>
          <a:prstGeom prst="rect">
            <a:avLst/>
          </a:prstGeom>
          <a:noFill/>
          <a:ln/>
        </p:spPr>
        <p:txBody>
          <a:bodyPr wrap="square" lIns="0" tIns="0" rIns="0" bIns="0" rtlCol="0" anchor="t">
            <a:normAutofit/>
          </a:bodyPr>
          <a:lstStyle/>
          <a:p>
            <a:pPr algn="l" indent="0" marL="0">
              <a:lnSpc>
                <a:spcPct val="120000"/>
              </a:lnSpc>
              <a:buNone/>
            </a:pPr>
            <a:r>
              <a:rPr lang="en-US" sz="2100" b="1" dirty="0">
                <a:solidFill>
                  <a:srgbClr val="2C3040"/>
                </a:solidFill>
                <a:latin typeface="Inter" pitchFamily="34" charset="0"/>
                <a:ea typeface="Inter" pitchFamily="34" charset="-122"/>
                <a:cs typeface="Inter" pitchFamily="34" charset="-120"/>
              </a:rPr>
              <a:t>The most valuable demographic with the least targeted advertising.</a:t>
            </a:r>
            <a:endParaRPr lang="en-US" sz="2100" dirty="0"/>
          </a:p>
        </p:txBody>
      </p:sp>
      <p:sp>
        <p:nvSpPr>
          <p:cNvPr id="3" name="Text 1"/>
          <p:cNvSpPr/>
          <p:nvPr/>
        </p:nvSpPr>
        <p:spPr>
          <a:xfrm>
            <a:off x="990295" y="3249778"/>
            <a:ext cx="6476695" cy="1310335"/>
          </a:xfrm>
          <a:prstGeom prst="rect">
            <a:avLst/>
          </a:prstGeom>
          <a:noFill/>
          <a:ln/>
        </p:spPr>
        <p:txBody>
          <a:bodyPr wrap="square" lIns="0" tIns="0" rIns="0" bIns="0" rtlCol="0" anchor="t">
            <a:normAutofit/>
          </a:bodyPr>
          <a:lstStyle/>
          <a:p>
            <a:pPr algn="l" indent="0" marL="0">
              <a:lnSpc>
                <a:spcPct val="172000"/>
              </a:lnSpc>
              <a:buNone/>
            </a:pPr>
            <a:r>
              <a:rPr lang="en-US" sz="1200" dirty="0">
                <a:solidFill>
                  <a:srgbClr val="3A4A65"/>
                </a:solidFill>
                <a:latin typeface="Inter" pitchFamily="34" charset="0"/>
                <a:ea typeface="Inter" pitchFamily="34" charset="-122"/>
                <a:cs typeface="Inter" pitchFamily="34" charset="-120"/>
              </a:rPr>
              <a:t>There are 15 million college students in the United States with a combined purchasing power exceeding $85 billion annually. They are early adopters, brand-formers, and active job seekers — making financial decisions for the first time. Until now, no advertising platform has been able to reach them on the basis of what they study, where they live on campus, or who they know.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295" y="2564892"/>
            <a:ext cx="11201400" cy="181051"/>
          </a:xfrm>
          <a:prstGeom prst="rect">
            <a:avLst/>
          </a:prstGeom>
          <a:noFill/>
          <a:ln/>
        </p:spPr>
        <p:txBody>
          <a:bodyPr wrap="square" lIns="0" tIns="0" rIns="0" bIns="0" rtlCol="0" anchor="t">
            <a:normAutofit/>
          </a:bodyPr>
          <a:lstStyle/>
          <a:p>
            <a:pPr algn="l" indent="0" marL="0">
              <a:lnSpc>
                <a:spcPct val="120000"/>
              </a:lnSpc>
              <a:buNone/>
            </a:pPr>
            <a:r>
              <a:rPr lang="en-US" sz="1100" b="1" dirty="0">
                <a:solidFill>
                  <a:srgbClr val="4A6FA5"/>
                </a:solidFill>
                <a:latin typeface="Inter" pitchFamily="34" charset="0"/>
                <a:ea typeface="Inter" pitchFamily="34" charset="-122"/>
                <a:cs typeface="Inter" pitchFamily="34" charset="-120"/>
              </a:rPr>
              <a:t>U.S. COLLEGE MARKET — PURCHASING POWER</a:t>
            </a:r>
            <a:endParaRPr lang="en-US" sz="1100" dirty="0"/>
          </a:p>
        </p:txBody>
      </p:sp>
      <p:sp>
        <p:nvSpPr>
          <p:cNvPr id="3" name="Text 1"/>
          <p:cNvSpPr/>
          <p:nvPr/>
        </p:nvSpPr>
        <p:spPr>
          <a:xfrm>
            <a:off x="854964" y="3279038"/>
            <a:ext cx="2822753" cy="533095"/>
          </a:xfrm>
          <a:prstGeom prst="rect">
            <a:avLst/>
          </a:prstGeom>
          <a:noFill/>
          <a:ln/>
        </p:spPr>
        <p:txBody>
          <a:bodyPr wrap="square" lIns="0" tIns="0" rIns="0" bIns="0" rtlCol="0" anchor="t">
            <a:normAutofit/>
          </a:bodyPr>
          <a:lstStyle/>
          <a:p>
            <a:pPr algn="ctr" indent="0" marL="0">
              <a:lnSpc>
                <a:spcPct val="100000"/>
              </a:lnSpc>
              <a:buNone/>
            </a:pPr>
            <a:r>
              <a:rPr lang="en-US" sz="4200" b="1" dirty="0">
                <a:solidFill>
                  <a:srgbClr val="3B5998"/>
                </a:solidFill>
                <a:latin typeface="Inter" pitchFamily="34" charset="0"/>
                <a:ea typeface="Inter" pitchFamily="34" charset="-122"/>
                <a:cs typeface="Inter" pitchFamily="34" charset="-120"/>
              </a:rPr>
              <a:t>15M</a:t>
            </a:r>
            <a:endParaRPr lang="en-US" sz="4200" dirty="0"/>
          </a:p>
        </p:txBody>
      </p:sp>
      <p:sp>
        <p:nvSpPr>
          <p:cNvPr id="4" name="Text 2"/>
          <p:cNvSpPr/>
          <p:nvPr/>
        </p:nvSpPr>
        <p:spPr>
          <a:xfrm>
            <a:off x="3407969" y="3279038"/>
            <a:ext cx="2822753" cy="533095"/>
          </a:xfrm>
          <a:prstGeom prst="rect">
            <a:avLst/>
          </a:prstGeom>
          <a:noFill/>
          <a:ln/>
        </p:spPr>
        <p:txBody>
          <a:bodyPr wrap="square" lIns="0" tIns="0" rIns="0" bIns="0" rtlCol="0" anchor="t">
            <a:normAutofit/>
          </a:bodyPr>
          <a:lstStyle/>
          <a:p>
            <a:pPr algn="ctr" indent="0" marL="0">
              <a:lnSpc>
                <a:spcPct val="100000"/>
              </a:lnSpc>
              <a:buNone/>
            </a:pPr>
            <a:r>
              <a:rPr lang="en-US" sz="4200" b="1" dirty="0">
                <a:solidFill>
                  <a:srgbClr val="3B5998"/>
                </a:solidFill>
                <a:latin typeface="Inter" pitchFamily="34" charset="0"/>
                <a:ea typeface="Inter" pitchFamily="34" charset="-122"/>
                <a:cs typeface="Inter" pitchFamily="34" charset="-120"/>
              </a:rPr>
              <a:t>$85B</a:t>
            </a:r>
            <a:endParaRPr lang="en-US" sz="4200" dirty="0"/>
          </a:p>
        </p:txBody>
      </p:sp>
      <p:sp>
        <p:nvSpPr>
          <p:cNvPr id="5" name="Text 3"/>
          <p:cNvSpPr/>
          <p:nvPr/>
        </p:nvSpPr>
        <p:spPr>
          <a:xfrm>
            <a:off x="5960974" y="3279038"/>
            <a:ext cx="2822753" cy="533095"/>
          </a:xfrm>
          <a:prstGeom prst="rect">
            <a:avLst/>
          </a:prstGeom>
          <a:noFill/>
          <a:ln/>
        </p:spPr>
        <p:txBody>
          <a:bodyPr wrap="square" lIns="0" tIns="0" rIns="0" bIns="0" rtlCol="0" anchor="t">
            <a:normAutofit/>
          </a:bodyPr>
          <a:lstStyle/>
          <a:p>
            <a:pPr algn="ctr" indent="0" marL="0">
              <a:lnSpc>
                <a:spcPct val="100000"/>
              </a:lnSpc>
              <a:buNone/>
            </a:pPr>
            <a:r>
              <a:rPr lang="en-US" sz="4200" b="1" dirty="0">
                <a:solidFill>
                  <a:srgbClr val="3B5998"/>
                </a:solidFill>
                <a:latin typeface="Inter" pitchFamily="34" charset="0"/>
                <a:ea typeface="Inter" pitchFamily="34" charset="-122"/>
                <a:cs typeface="Inter" pitchFamily="34" charset="-120"/>
              </a:rPr>
              <a:t>$21B</a:t>
            </a:r>
            <a:endParaRPr lang="en-US" sz="4200" dirty="0"/>
          </a:p>
        </p:txBody>
      </p:sp>
      <p:sp>
        <p:nvSpPr>
          <p:cNvPr id="6" name="Text 4"/>
          <p:cNvSpPr/>
          <p:nvPr/>
        </p:nvSpPr>
        <p:spPr>
          <a:xfrm>
            <a:off x="8513064" y="3279038"/>
            <a:ext cx="2822753" cy="533095"/>
          </a:xfrm>
          <a:prstGeom prst="rect">
            <a:avLst/>
          </a:prstGeom>
          <a:noFill/>
          <a:ln/>
        </p:spPr>
        <p:txBody>
          <a:bodyPr wrap="square" lIns="0" tIns="0" rIns="0" bIns="0" rtlCol="0" anchor="t">
            <a:normAutofit/>
          </a:bodyPr>
          <a:lstStyle/>
          <a:p>
            <a:pPr algn="ctr" indent="0" marL="0">
              <a:lnSpc>
                <a:spcPct val="100000"/>
              </a:lnSpc>
              <a:buNone/>
            </a:pPr>
            <a:r>
              <a:rPr lang="en-US" sz="4200" b="1" dirty="0">
                <a:solidFill>
                  <a:srgbClr val="3B5998"/>
                </a:solidFill>
                <a:latin typeface="Inter" pitchFamily="34" charset="0"/>
                <a:ea typeface="Inter" pitchFamily="34" charset="-122"/>
                <a:cs typeface="Inter" pitchFamily="34" charset="-120"/>
              </a:rPr>
              <a:t>$9B</a:t>
            </a:r>
            <a:endParaRPr lang="en-US" sz="4200" dirty="0"/>
          </a:p>
        </p:txBody>
      </p:sp>
      <p:sp>
        <p:nvSpPr>
          <p:cNvPr id="7" name="Text 5"/>
          <p:cNvSpPr/>
          <p:nvPr/>
        </p:nvSpPr>
        <p:spPr>
          <a:xfrm>
            <a:off x="1181405" y="3946550"/>
            <a:ext cx="2171700" cy="346558"/>
          </a:xfrm>
          <a:prstGeom prst="rect">
            <a:avLst/>
          </a:prstGeom>
          <a:noFill/>
          <a:ln/>
        </p:spPr>
        <p:txBody>
          <a:bodyPr wrap="square" lIns="0" tIns="0" rIns="0" bIns="0" rtlCol="0" anchor="t">
            <a:normAutofit/>
          </a:bodyPr>
          <a:lstStyle/>
          <a:p>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college students</a:t>
            </a:r>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in the United States</a:t>
            </a:r>
            <a:endParaRPr lang="en-US" sz="1000" dirty="0"/>
          </a:p>
        </p:txBody>
      </p:sp>
      <p:sp>
        <p:nvSpPr>
          <p:cNvPr id="8" name="Text 6"/>
          <p:cNvSpPr/>
          <p:nvPr/>
        </p:nvSpPr>
        <p:spPr>
          <a:xfrm>
            <a:off x="3733495" y="3946550"/>
            <a:ext cx="2171700" cy="346558"/>
          </a:xfrm>
          <a:prstGeom prst="rect">
            <a:avLst/>
          </a:prstGeom>
          <a:noFill/>
          <a:ln/>
        </p:spPr>
        <p:txBody>
          <a:bodyPr wrap="square" lIns="0" tIns="0" rIns="0" bIns="0" rtlCol="0" anchor="t">
            <a:normAutofit/>
          </a:bodyPr>
          <a:lstStyle/>
          <a:p>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estimated annual</a:t>
            </a:r>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purchasing power</a:t>
            </a:r>
            <a:endParaRPr lang="en-US" sz="1000" dirty="0"/>
          </a:p>
        </p:txBody>
      </p:sp>
      <p:sp>
        <p:nvSpPr>
          <p:cNvPr id="9" name="Text 7"/>
          <p:cNvSpPr/>
          <p:nvPr/>
        </p:nvSpPr>
        <p:spPr>
          <a:xfrm>
            <a:off x="6286500" y="3946550"/>
            <a:ext cx="2171700" cy="346558"/>
          </a:xfrm>
          <a:prstGeom prst="rect">
            <a:avLst/>
          </a:prstGeom>
          <a:noFill/>
          <a:ln/>
        </p:spPr>
        <p:txBody>
          <a:bodyPr wrap="square" lIns="0" tIns="0" rIns="0" bIns="0" rtlCol="0" anchor="t">
            <a:normAutofit/>
          </a:bodyPr>
          <a:lstStyle/>
          <a:p>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spent annually</a:t>
            </a:r>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on restaurants &amp; food</a:t>
            </a:r>
            <a:endParaRPr lang="en-US" sz="1000" dirty="0"/>
          </a:p>
        </p:txBody>
      </p:sp>
      <p:sp>
        <p:nvSpPr>
          <p:cNvPr id="10" name="Text 8"/>
          <p:cNvSpPr/>
          <p:nvPr/>
        </p:nvSpPr>
        <p:spPr>
          <a:xfrm>
            <a:off x="8838590" y="3946550"/>
            <a:ext cx="2171700" cy="346558"/>
          </a:xfrm>
          <a:prstGeom prst="rect">
            <a:avLst/>
          </a:prstGeom>
          <a:noFill/>
          <a:ln/>
        </p:spPr>
        <p:txBody>
          <a:bodyPr wrap="square" lIns="0" tIns="0" rIns="0" bIns="0" rtlCol="0" anchor="t">
            <a:normAutofit/>
          </a:bodyPr>
          <a:lstStyle/>
          <a:p>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spent annually</a:t>
            </a:r>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on automobiles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90295" y="2296058"/>
          <a:ext cx="7238390" cy="914400"/>
        </p:xfrm>
        <a:graphic>
          <a:graphicData uri="http://schemas.openxmlformats.org/drawingml/2006/table">
            <a:tbl>
              <a:tblPr/>
              <a:tblGrid>
                <a:gridCol w="3619195"/>
                <a:gridCol w="3619195"/>
              </a:tblGrid>
              <a:tr h="0">
                <a:tc>
                  <a:txBody>
                    <a:bodyPr/>
                    <a:lstStyle/>
                    <a:p>
                      <a:pPr algn="l" indent="0" marL="0">
                        <a:buNone/>
                      </a:pPr>
                      <a:r>
                        <a:rPr lang="en-US" sz="900" b="1" dirty="0">
                          <a:solidFill>
                            <a:srgbClr val="FFFFFF"/>
                          </a:solidFill>
                          <a:latin typeface="Inter" pitchFamily="34" charset="0"/>
                          <a:ea typeface="Inter" pitchFamily="34" charset="-122"/>
                          <a:cs typeface="Inter" pitchFamily="34" charset="-120"/>
                        </a:rPr>
                        <a:t>CATEGORY</a:t>
                      </a:r>
                      <a:endParaRPr lang="en-US" sz="9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4A6FA5"/>
                    </a:solidFill>
                  </a:tcPr>
                </a:tc>
                <a:tc>
                  <a:txBody>
                    <a:bodyPr/>
                    <a:lstStyle/>
                    <a:p>
                      <a:pPr algn="l" indent="0" marL="0">
                        <a:buNone/>
                      </a:pPr>
                      <a:r>
                        <a:rPr lang="en-US" sz="900" b="1" dirty="0">
                          <a:solidFill>
                            <a:srgbClr val="FFFFFF"/>
                          </a:solidFill>
                          <a:latin typeface="Inter" pitchFamily="34" charset="0"/>
                          <a:ea typeface="Inter" pitchFamily="34" charset="-122"/>
                          <a:cs typeface="Inter" pitchFamily="34" charset="-120"/>
                        </a:rPr>
                        <a:t>ANNUAL SPEND</a:t>
                      </a:r>
                      <a:endParaRPr lang="en-US" sz="9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4A6FA5"/>
                    </a:solidFill>
                  </a:tcPr>
                </a:tc>
              </a:tr>
              <a:tr h="0">
                <a:tc>
                  <a:txBody>
                    <a:bodyPr/>
                    <a:lstStyle/>
                    <a:p>
                      <a:pPr algn="l" indent="0" marL="0">
                        <a:buNone/>
                      </a:pPr>
                      <a:r>
                        <a:rPr lang="en-US" sz="1100" dirty="0">
                          <a:solidFill>
                            <a:srgbClr val="2C3040"/>
                          </a:solidFill>
                          <a:latin typeface="Inter" pitchFamily="34" charset="0"/>
                          <a:ea typeface="Inter" pitchFamily="34" charset="-122"/>
                          <a:cs typeface="Inter" pitchFamily="34" charset="-120"/>
                        </a:rPr>
                        <a:t>Restaurants and food</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3B5998"/>
                          </a:solidFill>
                          <a:latin typeface="Inter" pitchFamily="34" charset="0"/>
                          <a:ea typeface="Inter" pitchFamily="34" charset="-122"/>
                          <a:cs typeface="Inter" pitchFamily="34" charset="-120"/>
                        </a:rPr>
                        <a:t>$21 billion</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C3040"/>
                          </a:solidFill>
                          <a:latin typeface="Inter" pitchFamily="34" charset="0"/>
                          <a:ea typeface="Inter" pitchFamily="34" charset="-122"/>
                          <a:cs typeface="Inter" pitchFamily="34" charset="-120"/>
                        </a:rPr>
                        <a:t>Automobiles</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3B5998"/>
                          </a:solidFill>
                          <a:latin typeface="Inter" pitchFamily="34" charset="0"/>
                          <a:ea typeface="Inter" pitchFamily="34" charset="-122"/>
                          <a:cs typeface="Inter" pitchFamily="34" charset="-120"/>
                        </a:rPr>
                        <a:t>$9 billion</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C3040"/>
                          </a:solidFill>
                          <a:latin typeface="Inter" pitchFamily="34" charset="0"/>
                          <a:ea typeface="Inter" pitchFamily="34" charset="-122"/>
                          <a:cs typeface="Inter" pitchFamily="34" charset="-120"/>
                        </a:rPr>
                        <a:t>Clothing</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3B5998"/>
                          </a:solidFill>
                          <a:latin typeface="Inter" pitchFamily="34" charset="0"/>
                          <a:ea typeface="Inter" pitchFamily="34" charset="-122"/>
                          <a:cs typeface="Inter" pitchFamily="34" charset="-120"/>
                        </a:rPr>
                        <a:t>$5 billion</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C3040"/>
                          </a:solidFill>
                          <a:latin typeface="Inter" pitchFamily="34" charset="0"/>
                          <a:ea typeface="Inter" pitchFamily="34" charset="-122"/>
                          <a:cs typeface="Inter" pitchFamily="34" charset="-120"/>
                        </a:rPr>
                        <a:t>Phones</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3B5998"/>
                          </a:solidFill>
                          <a:latin typeface="Inter" pitchFamily="34" charset="0"/>
                          <a:ea typeface="Inter" pitchFamily="34" charset="-122"/>
                          <a:cs typeface="Inter" pitchFamily="34" charset="-120"/>
                        </a:rPr>
                        <a:t>$4 billion</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C3040"/>
                          </a:solidFill>
                          <a:latin typeface="Inter" pitchFamily="34" charset="0"/>
                          <a:ea typeface="Inter" pitchFamily="34" charset="-122"/>
                          <a:cs typeface="Inter" pitchFamily="34" charset="-120"/>
                        </a:rPr>
                        <a:t>Other amenities</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3B5998"/>
                          </a:solidFill>
                          <a:latin typeface="Inter" pitchFamily="34" charset="0"/>
                          <a:ea typeface="Inter" pitchFamily="34" charset="-122"/>
                          <a:cs typeface="Inter" pitchFamily="34" charset="-120"/>
                        </a:rPr>
                        <a:t>$46 billion</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2C3040"/>
                          </a:solidFill>
                          <a:latin typeface="Inter" pitchFamily="34" charset="0"/>
                          <a:ea typeface="Inter" pitchFamily="34" charset="-122"/>
                          <a:cs typeface="Inter" pitchFamily="34" charset="-120"/>
                        </a:rPr>
                        <a:t>Total purchasing power</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F0F8"/>
                    </a:solidFill>
                  </a:tcPr>
                </a:tc>
                <a:tc>
                  <a:txBody>
                    <a:bodyPr/>
                    <a:lstStyle/>
                    <a:p>
                      <a:pPr algn="l" indent="0" marL="0">
                        <a:buNone/>
                      </a:pPr>
                      <a:r>
                        <a:rPr lang="en-US" sz="1100" b="1" dirty="0">
                          <a:solidFill>
                            <a:srgbClr val="3B5998"/>
                          </a:solidFill>
                          <a:latin typeface="Inter" pitchFamily="34" charset="0"/>
                          <a:ea typeface="Inter" pitchFamily="34" charset="-122"/>
                          <a:cs typeface="Inter" pitchFamily="34" charset="-120"/>
                        </a:rPr>
                        <a:t>$85 billion</a:t>
                      </a:r>
                      <a:endParaRPr lang="en-US" sz="11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F0F8"/>
                    </a:solidFill>
                  </a:tcPr>
                </a:tc>
              </a:tr>
            </a:tbl>
          </a:graphicData>
        </a:graphic>
      </p:graphicFrame>
      <p:sp>
        <p:nvSpPr>
          <p:cNvPr id="3" name="Text 0"/>
          <p:cNvSpPr/>
          <p:nvPr/>
        </p:nvSpPr>
        <p:spPr>
          <a:xfrm>
            <a:off x="990295" y="1705356"/>
            <a:ext cx="11201400" cy="247802"/>
          </a:xfrm>
          <a:prstGeom prst="rect">
            <a:avLst/>
          </a:prstGeom>
          <a:noFill/>
          <a:ln/>
        </p:spPr>
        <p:txBody>
          <a:bodyPr wrap="square" lIns="0" tIns="0" rIns="0" bIns="0" rtlCol="0" anchor="t">
            <a:normAutofit/>
          </a:bodyPr>
          <a:lstStyle/>
          <a:p>
            <a:pPr algn="l" indent="0" marL="0">
              <a:lnSpc>
                <a:spcPct val="120000"/>
              </a:lnSpc>
              <a:buNone/>
            </a:pPr>
            <a:r>
              <a:rPr lang="en-US" sz="1700" b="1" dirty="0">
                <a:solidFill>
                  <a:srgbClr val="2C3040"/>
                </a:solidFill>
                <a:latin typeface="Inter" pitchFamily="34" charset="0"/>
                <a:ea typeface="Inter" pitchFamily="34" charset="-122"/>
                <a:cs typeface="Inter" pitchFamily="34" charset="-120"/>
              </a:rPr>
              <a:t>How $85 billion in college spending breaks down annually</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295" y="3052267"/>
            <a:ext cx="2603297" cy="418795"/>
          </a:xfrm>
          <a:prstGeom prst="rect">
            <a:avLst/>
          </a:prstGeom>
          <a:noFill/>
          <a:ln/>
        </p:spPr>
        <p:txBody>
          <a:bodyPr wrap="square" lIns="0" tIns="0" rIns="0" bIns="0" rtlCol="0" anchor="t">
            <a:normAutofit/>
          </a:bodyPr>
          <a:lstStyle/>
          <a:p>
            <a:pPr algn="l" indent="0" marL="0">
              <a:lnSpc>
                <a:spcPct val="120000"/>
              </a:lnSpc>
              <a:buNone/>
            </a:pPr>
            <a:r>
              <a:rPr lang="en-US" sz="2700" i="1" dirty="0">
                <a:solidFill>
                  <a:srgbClr val="4A6FA5"/>
                </a:solidFill>
                <a:latin typeface="Inter" pitchFamily="34" charset="0"/>
                <a:ea typeface="Inter" pitchFamily="34" charset="-122"/>
                <a:cs typeface="Inter" pitchFamily="34" charset="-120"/>
              </a:rPr>
              <a:t>Engagement</a:t>
            </a:r>
            <a:endParaRPr lang="en-US" sz="2700" dirty="0"/>
          </a:p>
        </p:txBody>
      </p:sp>
      <p:sp>
        <p:nvSpPr>
          <p:cNvPr id="3" name="Text 1"/>
          <p:cNvSpPr/>
          <p:nvPr/>
        </p:nvSpPr>
        <p:spPr>
          <a:xfrm>
            <a:off x="990295" y="3623767"/>
            <a:ext cx="3700577" cy="181051"/>
          </a:xfrm>
          <a:prstGeom prst="rect">
            <a:avLst/>
          </a:prstGeom>
          <a:noFill/>
          <a:ln/>
        </p:spPr>
        <p:txBody>
          <a:bodyPr wrap="square" lIns="0" tIns="0" rIns="0" bIns="0" rtlCol="0" anchor="t">
            <a:normAutofit/>
          </a:bodyPr>
          <a:lstStyle/>
          <a:p>
            <a:pPr algn="l" indent="0" marL="0">
              <a:lnSpc>
                <a:spcPct val="120000"/>
              </a:lnSpc>
              <a:buNone/>
            </a:pPr>
            <a:r>
              <a:rPr lang="en-US" sz="1100" dirty="0">
                <a:solidFill>
                  <a:srgbClr val="9AAAC8"/>
                </a:solidFill>
                <a:latin typeface="Inter" pitchFamily="34" charset="0"/>
                <a:ea typeface="Inter" pitchFamily="34" charset="-122"/>
                <a:cs typeface="Inter" pitchFamily="34" charset="-120"/>
              </a:rPr>
              <a:t>Usage, retention, and growth since launch</a:t>
            </a:r>
            <a:endParaRPr lang="en-US" sz="1100" dirty="0"/>
          </a:p>
        </p:txBody>
      </p:sp>
      <p:sp>
        <p:nvSpPr>
          <p:cNvPr id="4" name="Text 2"/>
          <p:cNvSpPr/>
          <p:nvPr/>
        </p:nvSpPr>
        <p:spPr>
          <a:xfrm>
            <a:off x="11067898" y="6228893"/>
            <a:ext cx="173736" cy="133502"/>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C8DCF0"/>
                </a:solidFill>
                <a:latin typeface="Inter" pitchFamily="34" charset="0"/>
                <a:ea typeface="Inter" pitchFamily="34" charset="-122"/>
                <a:cs typeface="Inter" pitchFamily="34" charset="-120"/>
              </a:rPr>
              <a:t>03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B5998"/>
        </a:solidFill>
      </p:bgPr>
    </p:bg>
    <p:spTree>
      <p:nvGrpSpPr>
        <p:cNvPr id="1" name=""/>
        <p:cNvGrpSpPr/>
        <p:nvPr/>
      </p:nvGrpSpPr>
      <p:grpSpPr>
        <a:xfrm>
          <a:off x="0" y="0"/>
          <a:ext cx="0" cy="0"/>
          <a:chOff x="0" y="0"/>
          <a:chExt cx="0" cy="0"/>
        </a:xfrm>
      </p:grpSpPr>
      <p:sp>
        <p:nvSpPr>
          <p:cNvPr id="2" name="Text 0"/>
          <p:cNvSpPr/>
          <p:nvPr/>
        </p:nvSpPr>
        <p:spPr>
          <a:xfrm>
            <a:off x="4336085" y="2428646"/>
            <a:ext cx="4575658" cy="1067105"/>
          </a:xfrm>
          <a:prstGeom prst="rect">
            <a:avLst/>
          </a:prstGeom>
          <a:noFill/>
          <a:ln/>
        </p:spPr>
        <p:txBody>
          <a:bodyPr wrap="square" lIns="0" tIns="0" rIns="0" bIns="0" rtlCol="0" anchor="t">
            <a:normAutofit/>
          </a:bodyPr>
          <a:lstStyle/>
          <a:p>
            <a:pPr algn="l" indent="0" marL="0">
              <a:lnSpc>
                <a:spcPct val="100000"/>
              </a:lnSpc>
              <a:buNone/>
            </a:pPr>
            <a:r>
              <a:rPr lang="en-US" sz="8400" b="1" dirty="0">
                <a:solidFill>
                  <a:srgbClr val="FFFFFF"/>
                </a:solidFill>
                <a:latin typeface="Inter" pitchFamily="34" charset="0"/>
                <a:ea typeface="Inter" pitchFamily="34" charset="-122"/>
                <a:cs typeface="Inter" pitchFamily="34" charset="-120"/>
              </a:rPr>
              <a:t>70,000</a:t>
            </a:r>
            <a:endParaRPr lang="en-US" sz="8400" dirty="0"/>
          </a:p>
        </p:txBody>
      </p:sp>
      <p:sp>
        <p:nvSpPr>
          <p:cNvPr id="3" name="Text 1"/>
          <p:cNvSpPr/>
          <p:nvPr/>
        </p:nvSpPr>
        <p:spPr>
          <a:xfrm>
            <a:off x="4379062" y="3685946"/>
            <a:ext cx="3432658" cy="247802"/>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FFFFFF"/>
                </a:solidFill>
                <a:latin typeface="Inter" pitchFamily="34" charset="0"/>
                <a:ea typeface="Inter" pitchFamily="34" charset="-122"/>
                <a:cs typeface="Inter" pitchFamily="34" charset="-120"/>
              </a:rPr>
              <a:t>registered users in 60 days</a:t>
            </a:r>
            <a:endParaRPr lang="en-US" sz="1700" dirty="0"/>
          </a:p>
        </p:txBody>
      </p:sp>
      <p:sp>
        <p:nvSpPr>
          <p:cNvPr id="4" name="Text 2"/>
          <p:cNvSpPr/>
          <p:nvPr/>
        </p:nvSpPr>
        <p:spPr>
          <a:xfrm>
            <a:off x="4248302" y="4276649"/>
            <a:ext cx="4802429" cy="152705"/>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Inter" pitchFamily="34" charset="0"/>
                <a:ea typeface="Inter" pitchFamily="34" charset="-122"/>
                <a:cs typeface="Inter" pitchFamily="34" charset="-120"/>
              </a:rPr>
              <a:t>LAUNCHED FEBRUARY 4, 2004 — AS OF MARCH 2004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295" y="2579522"/>
            <a:ext cx="11201400" cy="152705"/>
          </a:xfrm>
          <a:prstGeom prst="rect">
            <a:avLst/>
          </a:prstGeom>
          <a:noFill/>
          <a:ln/>
        </p:spPr>
        <p:txBody>
          <a:bodyPr wrap="square" lIns="0" tIns="0" rIns="0" bIns="0" rtlCol="0" anchor="t">
            <a:normAutofit/>
          </a:bodyPr>
          <a:lstStyle/>
          <a:p>
            <a:pPr algn="l" indent="0" marL="0">
              <a:lnSpc>
                <a:spcPct val="120000"/>
              </a:lnSpc>
              <a:buNone/>
            </a:pPr>
            <a:r>
              <a:rPr lang="en-US" sz="1000" b="1" dirty="0">
                <a:solidFill>
                  <a:srgbClr val="4A6FA5"/>
                </a:solidFill>
                <a:latin typeface="Inter" pitchFamily="34" charset="0"/>
                <a:ea typeface="Inter" pitchFamily="34" charset="-122"/>
                <a:cs typeface="Inter" pitchFamily="34" charset="-120"/>
              </a:rPr>
              <a:t>ENGAGEMENT — AS OF MARCH 2004</a:t>
            </a:r>
            <a:endParaRPr lang="en-US" sz="1000" dirty="0"/>
          </a:p>
        </p:txBody>
      </p:sp>
      <p:sp>
        <p:nvSpPr>
          <p:cNvPr id="3" name="Text 1"/>
          <p:cNvSpPr/>
          <p:nvPr/>
        </p:nvSpPr>
        <p:spPr>
          <a:xfrm>
            <a:off x="756209" y="3303727"/>
            <a:ext cx="3021178" cy="495605"/>
          </a:xfrm>
          <a:prstGeom prst="rect">
            <a:avLst/>
          </a:prstGeom>
          <a:noFill/>
          <a:ln/>
        </p:spPr>
        <p:txBody>
          <a:bodyPr wrap="square" lIns="0" tIns="0" rIns="0" bIns="0" rtlCol="0" anchor="t">
            <a:normAutofit/>
          </a:bodyPr>
          <a:lstStyle/>
          <a:p>
            <a:pPr algn="ctr" indent="0" marL="0">
              <a:lnSpc>
                <a:spcPct val="100000"/>
              </a:lnSpc>
              <a:buNone/>
            </a:pPr>
            <a:r>
              <a:rPr lang="en-US" sz="3900" b="1" dirty="0">
                <a:solidFill>
                  <a:srgbClr val="3B5998"/>
                </a:solidFill>
                <a:latin typeface="Inter" pitchFamily="34" charset="0"/>
                <a:ea typeface="Inter" pitchFamily="34" charset="-122"/>
                <a:cs typeface="Inter" pitchFamily="34" charset="-120"/>
              </a:rPr>
              <a:t>65%</a:t>
            </a:r>
            <a:endParaRPr lang="en-US" sz="3900" dirty="0"/>
          </a:p>
        </p:txBody>
      </p:sp>
      <p:sp>
        <p:nvSpPr>
          <p:cNvPr id="4" name="Text 2"/>
          <p:cNvSpPr/>
          <p:nvPr/>
        </p:nvSpPr>
        <p:spPr>
          <a:xfrm>
            <a:off x="3309214" y="3303727"/>
            <a:ext cx="3021178" cy="495605"/>
          </a:xfrm>
          <a:prstGeom prst="rect">
            <a:avLst/>
          </a:prstGeom>
          <a:noFill/>
          <a:ln/>
        </p:spPr>
        <p:txBody>
          <a:bodyPr wrap="square" lIns="0" tIns="0" rIns="0" bIns="0" rtlCol="0" anchor="t">
            <a:normAutofit/>
          </a:bodyPr>
          <a:lstStyle/>
          <a:p>
            <a:pPr algn="ctr" indent="0" marL="0">
              <a:lnSpc>
                <a:spcPct val="100000"/>
              </a:lnSpc>
              <a:buNone/>
            </a:pPr>
            <a:r>
              <a:rPr lang="en-US" sz="3900" b="1" dirty="0">
                <a:solidFill>
                  <a:srgbClr val="3B5998"/>
                </a:solidFill>
                <a:latin typeface="Inter" pitchFamily="34" charset="0"/>
                <a:ea typeface="Inter" pitchFamily="34" charset="-122"/>
                <a:cs typeface="Inter" pitchFamily="34" charset="-120"/>
              </a:rPr>
              <a:t>95%</a:t>
            </a:r>
            <a:endParaRPr lang="en-US" sz="3900" dirty="0"/>
          </a:p>
        </p:txBody>
      </p:sp>
      <p:sp>
        <p:nvSpPr>
          <p:cNvPr id="5" name="Text 3"/>
          <p:cNvSpPr/>
          <p:nvPr/>
        </p:nvSpPr>
        <p:spPr>
          <a:xfrm>
            <a:off x="5861304" y="3303727"/>
            <a:ext cx="3021178" cy="495605"/>
          </a:xfrm>
          <a:prstGeom prst="rect">
            <a:avLst/>
          </a:prstGeom>
          <a:noFill/>
          <a:ln/>
        </p:spPr>
        <p:txBody>
          <a:bodyPr wrap="square" lIns="0" tIns="0" rIns="0" bIns="0" rtlCol="0" anchor="t">
            <a:normAutofit/>
          </a:bodyPr>
          <a:lstStyle/>
          <a:p>
            <a:pPr algn="ctr" indent="0" marL="0">
              <a:lnSpc>
                <a:spcPct val="100000"/>
              </a:lnSpc>
              <a:buNone/>
            </a:pPr>
            <a:r>
              <a:rPr lang="en-US" sz="3900" b="1" dirty="0">
                <a:solidFill>
                  <a:srgbClr val="3B5998"/>
                </a:solidFill>
                <a:latin typeface="Inter" pitchFamily="34" charset="0"/>
                <a:ea typeface="Inter" pitchFamily="34" charset="-122"/>
                <a:cs typeface="Inter" pitchFamily="34" charset="-120"/>
              </a:rPr>
              <a:t>3M</a:t>
            </a:r>
            <a:endParaRPr lang="en-US" sz="3900" dirty="0"/>
          </a:p>
        </p:txBody>
      </p:sp>
      <p:sp>
        <p:nvSpPr>
          <p:cNvPr id="6" name="Text 4"/>
          <p:cNvSpPr/>
          <p:nvPr/>
        </p:nvSpPr>
        <p:spPr>
          <a:xfrm>
            <a:off x="8414309" y="3303727"/>
            <a:ext cx="3021178" cy="495605"/>
          </a:xfrm>
          <a:prstGeom prst="rect">
            <a:avLst/>
          </a:prstGeom>
          <a:noFill/>
          <a:ln/>
        </p:spPr>
        <p:txBody>
          <a:bodyPr wrap="square" lIns="0" tIns="0" rIns="0" bIns="0" rtlCol="0" anchor="t">
            <a:normAutofit/>
          </a:bodyPr>
          <a:lstStyle/>
          <a:p>
            <a:pPr algn="ctr" indent="0" marL="0">
              <a:lnSpc>
                <a:spcPct val="100000"/>
              </a:lnSpc>
              <a:buNone/>
            </a:pPr>
            <a:r>
              <a:rPr lang="en-US" sz="3900" b="1" dirty="0">
                <a:solidFill>
                  <a:srgbClr val="3B5998"/>
                </a:solidFill>
                <a:latin typeface="Inter" pitchFamily="34" charset="0"/>
                <a:ea typeface="Inter" pitchFamily="34" charset="-122"/>
                <a:cs typeface="Inter" pitchFamily="34" charset="-120"/>
              </a:rPr>
              <a:t>87%</a:t>
            </a:r>
            <a:endParaRPr lang="en-US" sz="3900" dirty="0"/>
          </a:p>
        </p:txBody>
      </p:sp>
      <p:sp>
        <p:nvSpPr>
          <p:cNvPr id="7" name="Text 5"/>
          <p:cNvSpPr/>
          <p:nvPr/>
        </p:nvSpPr>
        <p:spPr>
          <a:xfrm>
            <a:off x="1104595" y="3931920"/>
            <a:ext cx="2324405" cy="346558"/>
          </a:xfrm>
          <a:prstGeom prst="rect">
            <a:avLst/>
          </a:prstGeom>
          <a:noFill/>
          <a:ln/>
        </p:spPr>
        <p:txBody>
          <a:bodyPr wrap="square" lIns="0" tIns="0" rIns="0" bIns="0" rtlCol="0" anchor="t">
            <a:normAutofit/>
          </a:bodyPr>
          <a:lstStyle/>
          <a:p>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daily unique</a:t>
            </a:r>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users</a:t>
            </a:r>
            <a:endParaRPr lang="en-US" sz="1000" dirty="0"/>
          </a:p>
        </p:txBody>
      </p:sp>
      <p:sp>
        <p:nvSpPr>
          <p:cNvPr id="8" name="Text 6"/>
          <p:cNvSpPr/>
          <p:nvPr/>
        </p:nvSpPr>
        <p:spPr>
          <a:xfrm>
            <a:off x="3657600" y="3931920"/>
            <a:ext cx="2324405" cy="346558"/>
          </a:xfrm>
          <a:prstGeom prst="rect">
            <a:avLst/>
          </a:prstGeom>
          <a:noFill/>
          <a:ln/>
        </p:spPr>
        <p:txBody>
          <a:bodyPr wrap="square" lIns="0" tIns="0" rIns="0" bIns="0" rtlCol="0" anchor="t">
            <a:normAutofit/>
          </a:bodyPr>
          <a:lstStyle/>
          <a:p>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monthly unique</a:t>
            </a:r>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users</a:t>
            </a:r>
            <a:endParaRPr lang="en-US" sz="1000" dirty="0"/>
          </a:p>
        </p:txBody>
      </p:sp>
      <p:sp>
        <p:nvSpPr>
          <p:cNvPr id="9" name="Text 7"/>
          <p:cNvSpPr/>
          <p:nvPr/>
        </p:nvSpPr>
        <p:spPr>
          <a:xfrm>
            <a:off x="6209690" y="3931920"/>
            <a:ext cx="2324405" cy="346558"/>
          </a:xfrm>
          <a:prstGeom prst="rect">
            <a:avLst/>
          </a:prstGeom>
          <a:noFill/>
          <a:ln/>
        </p:spPr>
        <p:txBody>
          <a:bodyPr wrap="square" lIns="0" tIns="0" rIns="0" bIns="0" rtlCol="0" anchor="t">
            <a:normAutofit/>
          </a:bodyPr>
          <a:lstStyle/>
          <a:p>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daily</a:t>
            </a:r>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pageviews</a:t>
            </a:r>
            <a:endParaRPr lang="en-US" sz="1000" dirty="0"/>
          </a:p>
        </p:txBody>
      </p:sp>
      <p:sp>
        <p:nvSpPr>
          <p:cNvPr id="10" name="Text 8"/>
          <p:cNvSpPr/>
          <p:nvPr/>
        </p:nvSpPr>
        <p:spPr>
          <a:xfrm>
            <a:off x="8762695" y="3931920"/>
            <a:ext cx="2324405" cy="346558"/>
          </a:xfrm>
          <a:prstGeom prst="rect">
            <a:avLst/>
          </a:prstGeom>
          <a:noFill/>
          <a:ln/>
        </p:spPr>
        <p:txBody>
          <a:bodyPr wrap="square" lIns="0" tIns="0" rIns="0" bIns="0" rtlCol="0" anchor="t">
            <a:normAutofit/>
          </a:bodyPr>
          <a:lstStyle/>
          <a:p>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of users are</a:t>
            </a:r>
            <a:pPr algn="ctr" indent="0" marL="0">
              <a:lnSpc>
                <a:spcPct val="140000"/>
              </a:lnSpc>
              <a:buNone/>
            </a:pPr>
            <a:r>
              <a:rPr lang="en-US" sz="1000" dirty="0">
                <a:solidFill>
                  <a:srgbClr val="6A7A96"/>
                </a:solidFill>
                <a:latin typeface="Inter" pitchFamily="34" charset="0"/>
                <a:ea typeface="Inter" pitchFamily="34" charset="-122"/>
                <a:cs typeface="Inter" pitchFamily="34" charset="-120"/>
              </a:rPr>
              <a:t>current students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62402" y="2984602"/>
            <a:ext cx="6666890" cy="889711"/>
          </a:xfrm>
          <a:prstGeom prst="rect">
            <a:avLst/>
          </a:prstGeom>
          <a:noFill/>
          <a:ln/>
        </p:spPr>
        <p:txBody>
          <a:bodyPr wrap="square" lIns="0" tIns="0" rIns="0" bIns="0" rtlCol="0" anchor="t">
            <a:normAutofit/>
          </a:bodyPr>
          <a:lstStyle/>
          <a:p>
            <a:pPr algn="ctr" indent="0" marL="0">
              <a:lnSpc>
                <a:spcPct val="165000"/>
              </a:lnSpc>
              <a:buNone/>
            </a:pPr>
            <a:r>
              <a:rPr lang="en-US" sz="2100" i="1" dirty="0">
                <a:solidFill>
                  <a:srgbClr val="2C3040"/>
                </a:solidFill>
                <a:latin typeface="Playfair Display" pitchFamily="34" charset="0"/>
                <a:ea typeface="Playfair Display" pitchFamily="34" charset="-122"/>
                <a:cs typeface="Playfair Display" pitchFamily="34" charset="-120"/>
              </a:rPr>
              <a:t>"I have a new addiction. It is powerful. It is disturbing. It is thefacebook.com."</a:t>
            </a:r>
            <a:endParaRPr lang="en-US" sz="2100" dirty="0"/>
          </a:p>
        </p:txBody>
      </p:sp>
      <p:sp>
        <p:nvSpPr>
          <p:cNvPr id="3" name="Text 1"/>
          <p:cNvSpPr/>
          <p:nvPr/>
        </p:nvSpPr>
        <p:spPr>
          <a:xfrm>
            <a:off x="9315907" y="5857646"/>
            <a:ext cx="1885493" cy="152705"/>
          </a:xfrm>
          <a:prstGeom prst="rect">
            <a:avLst/>
          </a:prstGeom>
          <a:noFill/>
          <a:ln/>
        </p:spPr>
        <p:txBody>
          <a:bodyPr wrap="square" lIns="0" tIns="0" rIns="0" bIns="0" rtlCol="0" anchor="t">
            <a:normAutofit/>
          </a:bodyPr>
          <a:lstStyle/>
          <a:p>
            <a:pPr algn="r" indent="0" marL="0">
              <a:lnSpc>
                <a:spcPct val="120000"/>
              </a:lnSpc>
              <a:buNone/>
            </a:pPr>
            <a:r>
              <a:rPr lang="en-US" sz="1000" dirty="0">
                <a:solidFill>
                  <a:srgbClr val="4A6FA5"/>
                </a:solidFill>
                <a:latin typeface="Inter" pitchFamily="34" charset="0"/>
                <a:ea typeface="Inter" pitchFamily="34" charset="-122"/>
                <a:cs typeface="Inter" pitchFamily="34" charset="-120"/>
              </a:rPr>
              <a:t>The Daily Pennsylvanian</a:t>
            </a:r>
            <a:endParaRPr lang="en-US" sz="1000" dirty="0"/>
          </a:p>
        </p:txBody>
      </p:sp>
      <p:sp>
        <p:nvSpPr>
          <p:cNvPr id="4" name="Text 2"/>
          <p:cNvSpPr/>
          <p:nvPr/>
        </p:nvSpPr>
        <p:spPr>
          <a:xfrm>
            <a:off x="9315907" y="6038698"/>
            <a:ext cx="1885493" cy="133502"/>
          </a:xfrm>
          <a:prstGeom prst="rect">
            <a:avLst/>
          </a:prstGeom>
          <a:noFill/>
          <a:ln/>
        </p:spPr>
        <p:txBody>
          <a:bodyPr wrap="square" lIns="0" tIns="0" rIns="0" bIns="0" rtlCol="0" anchor="t">
            <a:normAutofit/>
          </a:bodyPr>
          <a:lstStyle/>
          <a:p>
            <a:pPr algn="r" indent="0" marL="0">
              <a:lnSpc>
                <a:spcPct val="120000"/>
              </a:lnSpc>
              <a:buNone/>
            </a:pPr>
            <a:r>
              <a:rPr lang="en-US" sz="800" dirty="0">
                <a:solidFill>
                  <a:srgbClr val="9AAAC8"/>
                </a:solidFill>
                <a:latin typeface="Inter" pitchFamily="34" charset="0"/>
                <a:ea typeface="Inter" pitchFamily="34" charset="-122"/>
                <a:cs typeface="Inter" pitchFamily="34" charset="-120"/>
              </a:rPr>
              <a:t>March 25, 2004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A6FA5"/>
        </a:solidFill>
      </p:bgPr>
    </p:bg>
    <p:spTree>
      <p:nvGrpSpPr>
        <p:cNvPr id="1" name=""/>
        <p:cNvGrpSpPr/>
        <p:nvPr/>
      </p:nvGrpSpPr>
      <p:grpSpPr>
        <a:xfrm>
          <a:off x="0" y="0"/>
          <a:ext cx="0" cy="0"/>
          <a:chOff x="0" y="0"/>
          <a:chExt cx="0" cy="0"/>
        </a:xfrm>
      </p:grpSpPr>
      <p:sp>
        <p:nvSpPr>
          <p:cNvPr id="2" name="Text 0"/>
          <p:cNvSpPr/>
          <p:nvPr/>
        </p:nvSpPr>
        <p:spPr>
          <a:xfrm>
            <a:off x="990295" y="2314346"/>
            <a:ext cx="11201400" cy="133502"/>
          </a:xfrm>
          <a:prstGeom prst="rect">
            <a:avLst/>
          </a:prstGeom>
          <a:noFill/>
          <a:ln/>
        </p:spPr>
        <p:txBody>
          <a:bodyPr wrap="square" lIns="0" tIns="0" rIns="0" bIns="0" rtlCol="0" anchor="t">
            <a:normAutofit/>
          </a:bodyPr>
          <a:lstStyle/>
          <a:p>
            <a:pPr algn="l" indent="0" marL="0">
              <a:lnSpc>
                <a:spcPct val="120000"/>
              </a:lnSpc>
              <a:buNone/>
            </a:pPr>
            <a:r>
              <a:rPr lang="en-US" sz="800" b="1" dirty="0">
                <a:solidFill>
                  <a:srgbClr val="FFFFFF"/>
                </a:solidFill>
                <a:latin typeface="Inter" pitchFamily="34" charset="0"/>
                <a:ea typeface="Inter" pitchFamily="34" charset="-122"/>
                <a:cs typeface="Inter" pitchFamily="34" charset="-120"/>
              </a:rPr>
              <a:t>GROWTH TRAJECTORY — APRIL 2004</a:t>
            </a:r>
            <a:endParaRPr lang="en-US" sz="800" dirty="0"/>
          </a:p>
        </p:txBody>
      </p:sp>
      <p:sp>
        <p:nvSpPr>
          <p:cNvPr id="3" name="Text 1"/>
          <p:cNvSpPr/>
          <p:nvPr/>
        </p:nvSpPr>
        <p:spPr>
          <a:xfrm>
            <a:off x="990295" y="2753258"/>
            <a:ext cx="6858000" cy="960120"/>
          </a:xfrm>
          <a:prstGeom prst="rect">
            <a:avLst/>
          </a:prstGeom>
          <a:noFill/>
          <a:ln/>
        </p:spPr>
        <p:txBody>
          <a:bodyPr wrap="square" lIns="0" tIns="0" rIns="0" bIns="0" rtlCol="0" anchor="t">
            <a:normAutofit/>
          </a:bodyPr>
          <a:lstStyle/>
          <a:p>
            <a:pPr algn="l" indent="0" marL="0">
              <a:lnSpc>
                <a:spcPct val="140000"/>
              </a:lnSpc>
              <a:buNone/>
            </a:pPr>
            <a:r>
              <a:rPr lang="en-US" sz="2700" dirty="0">
                <a:solidFill>
                  <a:srgbClr val="FFFFFF"/>
                </a:solidFill>
                <a:latin typeface="Inter" pitchFamily="34" charset="0"/>
                <a:ea typeface="Inter" pitchFamily="34" charset="-122"/>
                <a:cs typeface="Inter" pitchFamily="34" charset="-120"/>
              </a:rPr>
              <a:t>10,000 new members joined in the first week of April 2004.</a:t>
            </a:r>
            <a:endParaRPr lang="en-US" sz="2700" dirty="0"/>
          </a:p>
        </p:txBody>
      </p:sp>
      <p:sp>
        <p:nvSpPr>
          <p:cNvPr id="4" name="Text 2"/>
          <p:cNvSpPr/>
          <p:nvPr/>
        </p:nvSpPr>
        <p:spPr>
          <a:xfrm>
            <a:off x="990295" y="4055364"/>
            <a:ext cx="5143500" cy="487375"/>
          </a:xfrm>
          <a:prstGeom prst="rect">
            <a:avLst/>
          </a:prstGeom>
          <a:noFill/>
          <a:ln/>
        </p:spPr>
        <p:txBody>
          <a:bodyPr wrap="square" lIns="0" tIns="0" rIns="0" bIns="0" rtlCol="0" anchor="t">
            <a:normAutofit/>
          </a:bodyPr>
          <a:lstStyle/>
          <a:p>
            <a:pPr algn="l" indent="0" marL="0">
              <a:lnSpc>
                <a:spcPct val="160000"/>
              </a:lnSpc>
              <a:buNone/>
            </a:pPr>
            <a:r>
              <a:rPr lang="en-US" sz="1200" dirty="0">
                <a:solidFill>
                  <a:srgbClr val="FFFFFF"/>
                </a:solidFill>
                <a:latin typeface="Inter" pitchFamily="34" charset="0"/>
                <a:ea typeface="Inter" pitchFamily="34" charset="-122"/>
                <a:cs typeface="Inter" pitchFamily="34" charset="-120"/>
              </a:rPr>
              <a:t>Daily unique users and pageviews are growing proportionally with the user base. Growth is not slowing.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4A6FA5"/>
        </a:solidFill>
      </p:bgPr>
    </p:bg>
    <p:spTree>
      <p:nvGrpSpPr>
        <p:cNvPr id="1" name=""/>
        <p:cNvGrpSpPr/>
        <p:nvPr/>
      </p:nvGrpSpPr>
      <p:grpSpPr>
        <a:xfrm>
          <a:off x="0" y="0"/>
          <a:ext cx="0" cy="0"/>
          <a:chOff x="0" y="0"/>
          <a:chExt cx="0" cy="0"/>
        </a:xfrm>
      </p:grpSpPr>
      <p:sp>
        <p:nvSpPr>
          <p:cNvPr id="2" name="Text 0"/>
          <p:cNvSpPr/>
          <p:nvPr/>
        </p:nvSpPr>
        <p:spPr>
          <a:xfrm>
            <a:off x="990295" y="2862072"/>
            <a:ext cx="2606954" cy="418795"/>
          </a:xfrm>
          <a:prstGeom prst="rect">
            <a:avLst/>
          </a:prstGeom>
          <a:noFill/>
          <a:ln/>
        </p:spPr>
        <p:txBody>
          <a:bodyPr wrap="square" lIns="0" tIns="0" rIns="0" bIns="0" rtlCol="0" anchor="t">
            <a:normAutofit/>
          </a:bodyPr>
          <a:lstStyle/>
          <a:p>
            <a:pPr algn="l" indent="0" marL="0">
              <a:lnSpc>
                <a:spcPct val="120000"/>
              </a:lnSpc>
              <a:buNone/>
            </a:pPr>
            <a:r>
              <a:rPr lang="en-US" sz="2700" i="1" dirty="0">
                <a:solidFill>
                  <a:srgbClr val="FFFFFF"/>
                </a:solidFill>
                <a:latin typeface="Inter" pitchFamily="34" charset="0"/>
                <a:ea typeface="Inter" pitchFamily="34" charset="-122"/>
                <a:cs typeface="Inter" pitchFamily="34" charset="-120"/>
              </a:rPr>
              <a:t>The network</a:t>
            </a:r>
            <a:endParaRPr lang="en-US" sz="2700" dirty="0"/>
          </a:p>
        </p:txBody>
      </p:sp>
      <p:sp>
        <p:nvSpPr>
          <p:cNvPr id="3" name="Text 1"/>
          <p:cNvSpPr/>
          <p:nvPr/>
        </p:nvSpPr>
        <p:spPr>
          <a:xfrm>
            <a:off x="990295" y="3471977"/>
            <a:ext cx="2747772" cy="247802"/>
          </a:xfrm>
          <a:prstGeom prst="rect">
            <a:avLst/>
          </a:prstGeom>
          <a:noFill/>
          <a:ln/>
        </p:spPr>
        <p:txBody>
          <a:bodyPr wrap="square" lIns="0" tIns="0" rIns="0" bIns="0" rtlCol="0" anchor="t">
            <a:normAutofit/>
          </a:bodyPr>
          <a:lstStyle/>
          <a:p>
            <a:pPr algn="l" indent="0" marL="0">
              <a:lnSpc>
                <a:spcPct val="120000"/>
              </a:lnSpc>
              <a:buNone/>
            </a:pPr>
            <a:r>
              <a:rPr lang="en-US" sz="1700" b="1" dirty="0">
                <a:solidFill>
                  <a:srgbClr val="FFFFFF"/>
                </a:solidFill>
                <a:latin typeface="Inter" pitchFamily="34" charset="0"/>
                <a:ea typeface="Inter" pitchFamily="34" charset="-122"/>
                <a:cs typeface="Inter" pitchFamily="34" charset="-120"/>
              </a:rPr>
              <a:t>12 schools in 73 days</a:t>
            </a:r>
            <a:endParaRPr lang="en-US" sz="1700" dirty="0"/>
          </a:p>
        </p:txBody>
      </p:sp>
      <p:sp>
        <p:nvSpPr>
          <p:cNvPr id="4" name="Text 2"/>
          <p:cNvSpPr/>
          <p:nvPr/>
        </p:nvSpPr>
        <p:spPr>
          <a:xfrm>
            <a:off x="990295" y="3814877"/>
            <a:ext cx="1910182" cy="181051"/>
          </a:xfrm>
          <a:prstGeom prst="rect">
            <a:avLst/>
          </a:prstGeom>
          <a:noFill/>
          <a:ln/>
        </p:spPr>
        <p:txBody>
          <a:bodyPr wrap="square" lIns="0" tIns="0" rIns="0" bIns="0" rtlCol="0" anchor="t">
            <a:normAutofit/>
          </a:bodyPr>
          <a:lstStyle/>
          <a:p>
            <a:pPr algn="l" indent="0" marL="0">
              <a:lnSpc>
                <a:spcPct val="120000"/>
              </a:lnSpc>
              <a:buNone/>
            </a:pPr>
            <a:r>
              <a:rPr lang="en-US" sz="1100" dirty="0">
                <a:solidFill>
                  <a:srgbClr val="FFFFFF"/>
                </a:solidFill>
                <a:latin typeface="Inter" pitchFamily="34" charset="0"/>
                <a:ea typeface="Inter" pitchFamily="34" charset="-122"/>
                <a:cs typeface="Inter" pitchFamily="34" charset="-120"/>
              </a:rPr>
              <a:t>Feb 4 — Apr 19, 2004</a:t>
            </a:r>
            <a:endParaRPr lang="en-US" sz="1100" dirty="0"/>
          </a:p>
        </p:txBody>
      </p:sp>
      <p:sp>
        <p:nvSpPr>
          <p:cNvPr id="5" name="Text 3"/>
          <p:cNvSpPr/>
          <p:nvPr/>
        </p:nvSpPr>
        <p:spPr>
          <a:xfrm>
            <a:off x="11064240" y="6228893"/>
            <a:ext cx="177394" cy="133502"/>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FFFFFF"/>
                </a:solidFill>
                <a:latin typeface="Inter" pitchFamily="34" charset="0"/>
                <a:ea typeface="Inter" pitchFamily="34" charset="-122"/>
                <a:cs typeface="Inter" pitchFamily="34" charset="-120"/>
              </a:rPr>
              <a:t>04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990295" y="2480767"/>
          <a:ext cx="4914900" cy="914400"/>
        </p:xfrm>
        <a:graphic>
          <a:graphicData uri="http://schemas.openxmlformats.org/drawingml/2006/table">
            <a:tbl>
              <a:tblPr/>
              <a:tblGrid>
                <a:gridCol w="2457450"/>
                <a:gridCol w="2457450"/>
              </a:tblGrid>
              <a:tr h="0">
                <a:tc>
                  <a:txBody>
                    <a:bodyPr/>
                    <a:lstStyle/>
                    <a:p>
                      <a:pPr algn="l" indent="0" marL="0">
                        <a:buNone/>
                      </a:pPr>
                      <a:r>
                        <a:rPr lang="en-US" sz="800" b="1" dirty="0">
                          <a:solidFill>
                            <a:srgbClr val="FFFFFF"/>
                          </a:solidFill>
                          <a:latin typeface="Inter" pitchFamily="34" charset="0"/>
                          <a:ea typeface="Inter" pitchFamily="34" charset="-122"/>
                          <a:cs typeface="Inter" pitchFamily="34" charset="-120"/>
                        </a:rPr>
                        <a:t>SCHOOL</a:t>
                      </a:r>
                      <a:endParaRPr lang="en-US" sz="8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4A6FA5"/>
                    </a:solidFill>
                  </a:tcPr>
                </a:tc>
                <a:tc>
                  <a:txBody>
                    <a:bodyPr/>
                    <a:lstStyle/>
                    <a:p>
                      <a:pPr algn="l" indent="0" marL="0">
                        <a:buNone/>
                      </a:pPr>
                      <a:r>
                        <a:rPr lang="en-US" sz="800" b="1" dirty="0">
                          <a:solidFill>
                            <a:srgbClr val="FFFFFF"/>
                          </a:solidFill>
                          <a:latin typeface="Inter" pitchFamily="34" charset="0"/>
                          <a:ea typeface="Inter" pitchFamily="34" charset="-122"/>
                          <a:cs typeface="Inter" pitchFamily="34" charset="-120"/>
                        </a:rPr>
                        <a:t>LAUNCH DATE</a:t>
                      </a:r>
                      <a:endParaRPr lang="en-US" sz="8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4A6FA5"/>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Harvard University</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Feb 4,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Stanford University</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Feb 26,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MIT</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Mar 14,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New York University</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Mar 21,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Boston University</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Mar 21,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UC Berkeley</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Apr 4,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286500" y="2480767"/>
          <a:ext cx="4914900" cy="914400"/>
        </p:xfrm>
        <a:graphic>
          <a:graphicData uri="http://schemas.openxmlformats.org/drawingml/2006/table">
            <a:tbl>
              <a:tblPr/>
              <a:tblGrid>
                <a:gridCol w="2457450"/>
                <a:gridCol w="2457450"/>
              </a:tblGrid>
              <a:tr h="0">
                <a:tc>
                  <a:txBody>
                    <a:bodyPr/>
                    <a:lstStyle/>
                    <a:p>
                      <a:pPr algn="l" indent="0" marL="0">
                        <a:buNone/>
                      </a:pPr>
                      <a:r>
                        <a:rPr lang="en-US" sz="800" b="1" dirty="0">
                          <a:solidFill>
                            <a:srgbClr val="FFFFFF"/>
                          </a:solidFill>
                          <a:latin typeface="Inter" pitchFamily="34" charset="0"/>
                          <a:ea typeface="Inter" pitchFamily="34" charset="-122"/>
                          <a:cs typeface="Inter" pitchFamily="34" charset="-120"/>
                        </a:rPr>
                        <a:t>SCHOOL</a:t>
                      </a:r>
                      <a:endParaRPr lang="en-US" sz="8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4A6FA5"/>
                    </a:solidFill>
                  </a:tcPr>
                </a:tc>
                <a:tc>
                  <a:txBody>
                    <a:bodyPr/>
                    <a:lstStyle/>
                    <a:p>
                      <a:pPr algn="l" indent="0" marL="0">
                        <a:buNone/>
                      </a:pPr>
                      <a:r>
                        <a:rPr lang="en-US" sz="800" b="1" dirty="0">
                          <a:solidFill>
                            <a:srgbClr val="FFFFFF"/>
                          </a:solidFill>
                          <a:latin typeface="Inter" pitchFamily="34" charset="0"/>
                          <a:ea typeface="Inter" pitchFamily="34" charset="-122"/>
                          <a:cs typeface="Inter" pitchFamily="34" charset="-120"/>
                        </a:rPr>
                        <a:t>LAUNCH DATE</a:t>
                      </a:r>
                      <a:endParaRPr lang="en-US" sz="8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4A6FA5"/>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Duke University</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Apr 11,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Georgetown University</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Apr 11,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University of Virginia</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Apr 11,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Tufts University</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Apr 19,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Boston College</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Apr 19,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C3040"/>
                          </a:solidFill>
                          <a:latin typeface="Inter" pitchFamily="34" charset="0"/>
                          <a:ea typeface="Inter" pitchFamily="34" charset="-122"/>
                          <a:cs typeface="Inter" pitchFamily="34" charset="-120"/>
                        </a:rPr>
                        <a:t>Northeastern University</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A6FA5"/>
                          </a:solidFill>
                          <a:latin typeface="Inter" pitchFamily="34" charset="0"/>
                          <a:ea typeface="Inter" pitchFamily="34" charset="-122"/>
                          <a:cs typeface="Inter" pitchFamily="34" charset="-120"/>
                        </a:rPr>
                        <a:t>Apr 19, 2004</a:t>
                      </a:r>
                      <a:endParaRPr lang="en-US" sz="1000" dirty="0">
                        <a:latin typeface="Inter" charset="0"/>
                        <a:ea typeface="Inter" charset="0"/>
                        <a:cs typeface="Inter" charset="0"/>
                      </a:endParaRPr>
                    </a:p>
                  </a:txBody>
                  <a:tcPr marL="50800" marR="50800" marT="25400" marB="2540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FFFF"/>
                    </a:solidFill>
                  </a:tcPr>
                </a:tc>
              </a:tr>
            </a:tbl>
          </a:graphicData>
        </a:graphic>
      </p:graphicFrame>
      <p:sp>
        <p:nvSpPr>
          <p:cNvPr id="4" name="Text 0"/>
          <p:cNvSpPr/>
          <p:nvPr/>
        </p:nvSpPr>
        <p:spPr>
          <a:xfrm>
            <a:off x="990295" y="1985162"/>
            <a:ext cx="11201400" cy="228600"/>
          </a:xfrm>
          <a:prstGeom prst="rect">
            <a:avLst/>
          </a:prstGeom>
          <a:noFill/>
          <a:ln/>
        </p:spPr>
        <p:txBody>
          <a:bodyPr wrap="square" lIns="0" tIns="0" rIns="0" bIns="0" rtlCol="0" anchor="t">
            <a:normAutofit/>
          </a:bodyPr>
          <a:lstStyle/>
          <a:p>
            <a:pPr algn="l" indent="0" marL="0">
              <a:lnSpc>
                <a:spcPct val="120000"/>
              </a:lnSpc>
              <a:buNone/>
            </a:pPr>
            <a:r>
              <a:rPr lang="en-US" sz="1500" b="1" dirty="0">
                <a:solidFill>
                  <a:srgbClr val="2C3040"/>
                </a:solidFill>
                <a:latin typeface="Inter" pitchFamily="34" charset="0"/>
                <a:ea typeface="Inter" pitchFamily="34" charset="-122"/>
                <a:cs typeface="Inter" pitchFamily="34" charset="-120"/>
              </a:rPr>
              <a:t>Schools launched February 4 – April 19, 2004</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295" y="3052267"/>
            <a:ext cx="2343607" cy="418795"/>
          </a:xfrm>
          <a:prstGeom prst="rect">
            <a:avLst/>
          </a:prstGeom>
          <a:noFill/>
          <a:ln/>
        </p:spPr>
        <p:txBody>
          <a:bodyPr wrap="square" lIns="0" tIns="0" rIns="0" bIns="0" rtlCol="0" anchor="t">
            <a:normAutofit/>
          </a:bodyPr>
          <a:lstStyle/>
          <a:p>
            <a:pPr algn="l" indent="0" marL="0">
              <a:lnSpc>
                <a:spcPct val="120000"/>
              </a:lnSpc>
              <a:buNone/>
            </a:pPr>
            <a:r>
              <a:rPr lang="en-US" sz="2700" i="1" dirty="0">
                <a:solidFill>
                  <a:srgbClr val="4A6FA5"/>
                </a:solidFill>
                <a:latin typeface="Inter" pitchFamily="34" charset="0"/>
                <a:ea typeface="Inter" pitchFamily="34" charset="-122"/>
                <a:cs typeface="Inter" pitchFamily="34" charset="-120"/>
              </a:rPr>
              <a:t>Advertising</a:t>
            </a:r>
            <a:endParaRPr lang="en-US" sz="2700" dirty="0"/>
          </a:p>
        </p:txBody>
      </p:sp>
      <p:sp>
        <p:nvSpPr>
          <p:cNvPr id="3" name="Text 1"/>
          <p:cNvSpPr/>
          <p:nvPr/>
        </p:nvSpPr>
        <p:spPr>
          <a:xfrm>
            <a:off x="990295" y="3623767"/>
            <a:ext cx="5071262" cy="181051"/>
          </a:xfrm>
          <a:prstGeom prst="rect">
            <a:avLst/>
          </a:prstGeom>
          <a:noFill/>
          <a:ln/>
        </p:spPr>
        <p:txBody>
          <a:bodyPr wrap="square" lIns="0" tIns="0" rIns="0" bIns="0" rtlCol="0" anchor="t">
            <a:normAutofit/>
          </a:bodyPr>
          <a:lstStyle/>
          <a:p>
            <a:pPr algn="l" indent="0" marL="0">
              <a:lnSpc>
                <a:spcPct val="120000"/>
              </a:lnSpc>
              <a:buNone/>
            </a:pPr>
            <a:r>
              <a:rPr lang="en-US" sz="1100" dirty="0">
                <a:solidFill>
                  <a:srgbClr val="9AAAC8"/>
                </a:solidFill>
                <a:latin typeface="Inter" pitchFamily="34" charset="0"/>
                <a:ea typeface="Inter" pitchFamily="34" charset="-122"/>
                <a:cs typeface="Inter" pitchFamily="34" charset="-120"/>
              </a:rPr>
              <a:t>Targeting parameters, ad formats, and campaign services</a:t>
            </a:r>
            <a:endParaRPr lang="en-US" sz="1100" dirty="0"/>
          </a:p>
        </p:txBody>
      </p:sp>
      <p:sp>
        <p:nvSpPr>
          <p:cNvPr id="4" name="Text 2"/>
          <p:cNvSpPr/>
          <p:nvPr/>
        </p:nvSpPr>
        <p:spPr>
          <a:xfrm>
            <a:off x="11070641" y="6228893"/>
            <a:ext cx="170078" cy="133502"/>
          </a:xfrm>
          <a:prstGeom prst="rect">
            <a:avLst/>
          </a:prstGeom>
          <a:noFill/>
          <a:ln/>
        </p:spPr>
        <p:txBody>
          <a:bodyPr wrap="square" lIns="0" tIns="0" rIns="0" bIns="0" rtlCol="0" anchor="t">
            <a:normAutofit/>
          </a:bodyPr>
          <a:lstStyle/>
          <a:p>
            <a:pPr algn="l" indent="0" marL="0">
              <a:lnSpc>
                <a:spcPct val="120000"/>
              </a:lnSpc>
              <a:buNone/>
            </a:pPr>
            <a:r>
              <a:rPr lang="en-US" sz="800" dirty="0">
                <a:solidFill>
                  <a:srgbClr val="C8DCF0"/>
                </a:solidFill>
                <a:latin typeface="Inter" pitchFamily="34" charset="0"/>
                <a:ea typeface="Inter" pitchFamily="34" charset="-122"/>
                <a:cs typeface="Inter" pitchFamily="34" charset="-120"/>
              </a:rPr>
              <a:t>05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295" y="2166214"/>
            <a:ext cx="6858000" cy="647395"/>
          </a:xfrm>
          <a:prstGeom prst="rect">
            <a:avLst/>
          </a:prstGeom>
          <a:noFill/>
          <a:ln/>
        </p:spPr>
        <p:txBody>
          <a:bodyPr wrap="square" lIns="0" tIns="0" rIns="0" bIns="0" rtlCol="0" anchor="t">
            <a:normAutofit/>
          </a:bodyPr>
          <a:lstStyle/>
          <a:p>
            <a:pPr algn="l" indent="0" marL="0">
              <a:lnSpc>
                <a:spcPct val="120000"/>
              </a:lnSpc>
              <a:buNone/>
            </a:pPr>
            <a:r>
              <a:rPr lang="en-US" sz="2100" b="1" dirty="0">
                <a:solidFill>
                  <a:srgbClr val="2C3040"/>
                </a:solidFill>
                <a:latin typeface="Inter" pitchFamily="34" charset="0"/>
                <a:ea typeface="Inter" pitchFamily="34" charset="-122"/>
                <a:cs typeface="Inter" pitchFamily="34" charset="-120"/>
              </a:rPr>
              <a:t>Targeting built on declared identity, not inferred behavior.</a:t>
            </a:r>
            <a:endParaRPr lang="en-US" sz="2100" dirty="0"/>
          </a:p>
        </p:txBody>
      </p:sp>
      <p:sp>
        <p:nvSpPr>
          <p:cNvPr id="3" name="Text 1"/>
          <p:cNvSpPr/>
          <p:nvPr/>
        </p:nvSpPr>
        <p:spPr>
          <a:xfrm>
            <a:off x="990295" y="3119018"/>
            <a:ext cx="6476695" cy="1572768"/>
          </a:xfrm>
          <a:prstGeom prst="rect">
            <a:avLst/>
          </a:prstGeom>
          <a:noFill/>
          <a:ln/>
        </p:spPr>
        <p:txBody>
          <a:bodyPr wrap="square" lIns="0" tIns="0" rIns="0" bIns="0" rtlCol="0" anchor="t">
            <a:normAutofit/>
          </a:bodyPr>
          <a:lstStyle/>
          <a:p>
            <a:pPr algn="l" indent="0" marL="0">
              <a:lnSpc>
                <a:spcPct val="172000"/>
              </a:lnSpc>
              <a:buNone/>
            </a:pPr>
            <a:r>
              <a:rPr lang="en-US" sz="1200" dirty="0">
                <a:solidFill>
                  <a:srgbClr val="3A4A65"/>
                </a:solidFill>
                <a:latin typeface="Inter" pitchFamily="34" charset="0"/>
                <a:ea typeface="Inter" pitchFamily="34" charset="-122"/>
                <a:cs typeface="Inter" pitchFamily="34" charset="-120"/>
              </a:rPr>
              <a:t>thefacebook.com ad targeting draws on data no other platform has access to: students' declared academic identity — school, courses, concentration, class year — combined with explicit social graph connections and verified institutional affiliations. Campaigns can reach users at their dorm, work, home, or library, and can be targeted on any combination of 17 parameters. We work directly with advertisers to identify the most effective placements for each campaign goal.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295" y="1571854"/>
            <a:ext cx="4724705" cy="2596896"/>
          </a:xfrm>
          <a:prstGeom prst="rect">
            <a:avLst/>
          </a:prstGeom>
          <a:noFill/>
          <a:ln/>
        </p:spPr>
        <p:txBody>
          <a:bodyPr wrap="square" lIns="0" tIns="0" rIns="0" bIns="0" rtlCol="0" anchor="t"/>
          <a:lstStyle/>
          <a:p>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College / University</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Degree type</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Concentration</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Courses taken</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Class year</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House / Dormitory</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Age</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Gender</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Sexual orientation</a:t>
            </a:r>
            <a:endParaRPr lang="en-US" sz="1100" dirty="0"/>
          </a:p>
        </p:txBody>
      </p:sp>
      <p:sp>
        <p:nvSpPr>
          <p:cNvPr id="3" name="Text 1"/>
          <p:cNvSpPr/>
          <p:nvPr/>
        </p:nvSpPr>
        <p:spPr>
          <a:xfrm>
            <a:off x="6476695" y="1571854"/>
            <a:ext cx="4724705" cy="2308860"/>
          </a:xfrm>
          <a:prstGeom prst="rect">
            <a:avLst/>
          </a:prstGeom>
          <a:noFill/>
          <a:ln/>
        </p:spPr>
        <p:txBody>
          <a:bodyPr wrap="square" lIns="0" tIns="0" rIns="0" bIns="0" rtlCol="0" anchor="t"/>
          <a:lstStyle/>
          <a:p>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Home city / state / zip code</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Relationship / dating interests</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Personal interests</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Clubs and jobs</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Political bent</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Intra-school friend count</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Inter-school friend count</a:t>
            </a:r>
            <a:pPr indent="0" marL="0">
              <a:lnSpc>
                <a:spcPct val="145000"/>
              </a:lnSpc>
              <a:spcAft>
                <a:spcPts val="800"/>
              </a:spcAft>
              <a:buNone/>
            </a:pPr>
            <a:r>
              <a:rPr lang="en-US" sz="1100" dirty="0">
                <a:solidFill>
                  <a:srgbClr val="2C3040"/>
                </a:solidFill>
                <a:latin typeface="Inter" pitchFamily="34" charset="0"/>
                <a:ea typeface="Inter" pitchFamily="34" charset="-122"/>
                <a:cs typeface="Inter" pitchFamily="34" charset="-120"/>
              </a:rPr>
              <a:t>Site usage</a:t>
            </a:r>
            <a:endParaRPr lang="en-US" sz="1100" dirty="0"/>
          </a:p>
        </p:txBody>
      </p:sp>
      <p:sp>
        <p:nvSpPr>
          <p:cNvPr id="4" name="Text 2"/>
          <p:cNvSpPr/>
          <p:nvPr/>
        </p:nvSpPr>
        <p:spPr>
          <a:xfrm>
            <a:off x="990295" y="609905"/>
            <a:ext cx="11201400" cy="276149"/>
          </a:xfrm>
          <a:prstGeom prst="rect">
            <a:avLst/>
          </a:prstGeom>
          <a:noFill/>
          <a:ln/>
        </p:spPr>
        <p:txBody>
          <a:bodyPr wrap="square" lIns="0" tIns="0" rIns="0" bIns="0" rtlCol="0" anchor="t">
            <a:normAutofit/>
          </a:bodyPr>
          <a:lstStyle/>
          <a:p>
            <a:pPr algn="l" indent="0" marL="0">
              <a:lnSpc>
                <a:spcPct val="120000"/>
              </a:lnSpc>
              <a:buNone/>
            </a:pPr>
            <a:r>
              <a:rPr lang="en-US" sz="1800" b="1" dirty="0">
                <a:solidFill>
                  <a:srgbClr val="2C3040"/>
                </a:solidFill>
                <a:latin typeface="Inter" pitchFamily="34" charset="0"/>
                <a:ea typeface="Inter" pitchFamily="34" charset="-122"/>
                <a:cs typeface="Inter" pitchFamily="34" charset="-120"/>
              </a:rPr>
              <a:t>17 targeting parameters — combinable on any campaign</a:t>
            </a:r>
            <a:endParaRPr lang="en-US" sz="1800" dirty="0"/>
          </a:p>
        </p:txBody>
      </p:sp>
      <p:sp>
        <p:nvSpPr>
          <p:cNvPr id="5" name="Text 3"/>
          <p:cNvSpPr/>
          <p:nvPr/>
        </p:nvSpPr>
        <p:spPr>
          <a:xfrm>
            <a:off x="990295" y="1266444"/>
            <a:ext cx="6141110" cy="133502"/>
          </a:xfrm>
          <a:prstGeom prst="rect">
            <a:avLst/>
          </a:prstGeom>
          <a:noFill/>
          <a:ln/>
        </p:spPr>
        <p:txBody>
          <a:bodyPr wrap="square" lIns="0" tIns="0" rIns="0" bIns="0" rtlCol="0" anchor="t">
            <a:normAutofit/>
          </a:bodyPr>
          <a:lstStyle/>
          <a:p>
            <a:pPr algn="l" indent="0" marL="0">
              <a:lnSpc>
                <a:spcPct val="120000"/>
              </a:lnSpc>
              <a:buNone/>
            </a:pPr>
            <a:r>
              <a:rPr lang="en-US" sz="800" b="1" dirty="0">
                <a:solidFill>
                  <a:srgbClr val="4A6FA5"/>
                </a:solidFill>
                <a:latin typeface="Inter" pitchFamily="34" charset="0"/>
                <a:ea typeface="Inter" pitchFamily="34" charset="-122"/>
                <a:cs typeface="Inter" pitchFamily="34" charset="-120"/>
              </a:rPr>
              <a:t>ACADEMIC &amp; DEMOGRAPHIC</a:t>
            </a:r>
            <a:endParaRPr lang="en-US" sz="800" dirty="0"/>
          </a:p>
        </p:txBody>
      </p:sp>
      <p:sp>
        <p:nvSpPr>
          <p:cNvPr id="6" name="Text 4"/>
          <p:cNvSpPr/>
          <p:nvPr/>
        </p:nvSpPr>
        <p:spPr>
          <a:xfrm>
            <a:off x="6476695" y="1266444"/>
            <a:ext cx="5715000" cy="133502"/>
          </a:xfrm>
          <a:prstGeom prst="rect">
            <a:avLst/>
          </a:prstGeom>
          <a:noFill/>
          <a:ln/>
        </p:spPr>
        <p:txBody>
          <a:bodyPr wrap="square" lIns="0" tIns="0" rIns="0" bIns="0" rtlCol="0" anchor="t">
            <a:normAutofit/>
          </a:bodyPr>
          <a:lstStyle/>
          <a:p>
            <a:pPr algn="l" indent="0" marL="0">
              <a:lnSpc>
                <a:spcPct val="120000"/>
              </a:lnSpc>
              <a:buNone/>
            </a:pPr>
            <a:r>
              <a:rPr lang="en-US" sz="800" b="1" dirty="0">
                <a:solidFill>
                  <a:srgbClr val="4A6FA5"/>
                </a:solidFill>
                <a:latin typeface="Inter" pitchFamily="34" charset="0"/>
                <a:ea typeface="Inter" pitchFamily="34" charset="-122"/>
                <a:cs typeface="Inter" pitchFamily="34" charset="-120"/>
              </a:rPr>
              <a:t>SOCIAL &amp; BEHAVIORAL</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286000" y="2894076"/>
            <a:ext cx="7619695" cy="1068934"/>
          </a:xfrm>
          <a:prstGeom prst="rect">
            <a:avLst/>
          </a:prstGeom>
          <a:noFill/>
          <a:ln/>
        </p:spPr>
        <p:txBody>
          <a:bodyPr wrap="square" lIns="0" tIns="0" rIns="0" bIns="0" rtlCol="0" anchor="t">
            <a:normAutofit/>
          </a:bodyPr>
          <a:lstStyle/>
          <a:p>
            <a:pPr algn="ctr" indent="0" marL="0">
              <a:lnSpc>
                <a:spcPct val="175000"/>
              </a:lnSpc>
              <a:buNone/>
            </a:pPr>
            <a:r>
              <a:rPr lang="en-US" sz="1600" i="1" dirty="0">
                <a:solidFill>
                  <a:srgbClr val="2C3040"/>
                </a:solidFill>
                <a:latin typeface="Playfair Display" pitchFamily="34" charset="0"/>
                <a:ea typeface="Playfair Display" pitchFamily="34" charset="-122"/>
                <a:cs typeface="Playfair Display" pitchFamily="34" charset="-120"/>
              </a:rPr>
              <a:t>"The wonderful thing about The Facebook is its ability to connect so many people through so many different avenues, including courses, interests, houses, politics, concentration, and favourite movies."</a:t>
            </a:r>
            <a:endParaRPr lang="en-US" sz="1600" dirty="0"/>
          </a:p>
        </p:txBody>
      </p:sp>
      <p:sp>
        <p:nvSpPr>
          <p:cNvPr id="3" name="Text 1"/>
          <p:cNvSpPr/>
          <p:nvPr/>
        </p:nvSpPr>
        <p:spPr>
          <a:xfrm>
            <a:off x="990295" y="5806440"/>
            <a:ext cx="3027578" cy="182880"/>
          </a:xfrm>
          <a:prstGeom prst="rect">
            <a:avLst/>
          </a:prstGeom>
          <a:noFill/>
          <a:ln/>
        </p:spPr>
        <p:txBody>
          <a:bodyPr wrap="square" lIns="0" tIns="0" rIns="0" bIns="0" rtlCol="0" anchor="t">
            <a:normAutofit/>
          </a:bodyPr>
          <a:lstStyle/>
          <a:p>
            <a:pPr algn="l" indent="0" marL="0">
              <a:lnSpc>
                <a:spcPct val="160000"/>
              </a:lnSpc>
              <a:buNone/>
            </a:pPr>
            <a:r>
              <a:rPr lang="en-US" sz="900" b="1" dirty="0">
                <a:solidFill>
                  <a:srgbClr val="6A7A96"/>
                </a:solidFill>
                <a:latin typeface="Inter" pitchFamily="34" charset="0"/>
                <a:ea typeface="Inter" pitchFamily="34" charset="-122"/>
                <a:cs typeface="Inter" pitchFamily="34" charset="-120"/>
              </a:rPr>
              <a:t>Eduardo Saverin, CFO</a:t>
            </a:r>
            <a:endParaRPr lang="en-US" sz="900" dirty="0"/>
          </a:p>
        </p:txBody>
      </p:sp>
      <p:sp>
        <p:nvSpPr>
          <p:cNvPr id="4" name="Text 2"/>
          <p:cNvSpPr/>
          <p:nvPr/>
        </p:nvSpPr>
        <p:spPr>
          <a:xfrm>
            <a:off x="9229954" y="5857646"/>
            <a:ext cx="1971446" cy="152705"/>
          </a:xfrm>
          <a:prstGeom prst="rect">
            <a:avLst/>
          </a:prstGeom>
          <a:noFill/>
          <a:ln/>
        </p:spPr>
        <p:txBody>
          <a:bodyPr wrap="square" lIns="0" tIns="0" rIns="0" bIns="0" rtlCol="0" anchor="t">
            <a:normAutofit/>
          </a:bodyPr>
          <a:lstStyle/>
          <a:p>
            <a:pPr algn="r" indent="0" marL="0">
              <a:lnSpc>
                <a:spcPct val="120000"/>
              </a:lnSpc>
              <a:buNone/>
            </a:pPr>
            <a:r>
              <a:rPr lang="en-US" sz="1000" dirty="0">
                <a:solidFill>
                  <a:srgbClr val="4A6FA5"/>
                </a:solidFill>
                <a:latin typeface="Inter" pitchFamily="34" charset="0"/>
                <a:ea typeface="Inter" pitchFamily="34" charset="-122"/>
                <a:cs typeface="Inter" pitchFamily="34" charset="-120"/>
              </a:rPr>
              <a:t>The Harvard Independent</a:t>
            </a:r>
            <a:endParaRPr lang="en-US" sz="1000" dirty="0"/>
          </a:p>
        </p:txBody>
      </p:sp>
      <p:sp>
        <p:nvSpPr>
          <p:cNvPr id="5" name="Text 3"/>
          <p:cNvSpPr/>
          <p:nvPr/>
        </p:nvSpPr>
        <p:spPr>
          <a:xfrm>
            <a:off x="990295" y="5989320"/>
            <a:ext cx="3027578" cy="182880"/>
          </a:xfrm>
          <a:prstGeom prst="rect">
            <a:avLst/>
          </a:prstGeom>
          <a:noFill/>
          <a:ln/>
        </p:spPr>
        <p:txBody>
          <a:bodyPr wrap="square" lIns="0" tIns="0" rIns="0" bIns="0" rtlCol="0" anchor="t">
            <a:normAutofit/>
          </a:bodyPr>
          <a:lstStyle/>
          <a:p>
            <a:pPr algn="l" indent="0" marL="0">
              <a:lnSpc>
                <a:spcPct val="160000"/>
              </a:lnSpc>
              <a:buNone/>
            </a:pPr>
            <a:r>
              <a:rPr lang="en-US" sz="900" dirty="0">
                <a:solidFill>
                  <a:srgbClr val="9AAAC8"/>
                </a:solidFill>
                <a:latin typeface="Inter" pitchFamily="34" charset="0"/>
                <a:ea typeface="Inter" pitchFamily="34" charset="-122"/>
                <a:cs typeface="Inter" pitchFamily="34" charset="-120"/>
              </a:rPr>
              <a:t>thefacebook.com — Cambridge, MA 02138</a:t>
            </a:r>
            <a:endParaRPr lang="en-US" sz="900" dirty="0"/>
          </a:p>
        </p:txBody>
      </p:sp>
      <p:sp>
        <p:nvSpPr>
          <p:cNvPr id="6" name="Text 4"/>
          <p:cNvSpPr/>
          <p:nvPr/>
        </p:nvSpPr>
        <p:spPr>
          <a:xfrm>
            <a:off x="9229954" y="6038698"/>
            <a:ext cx="1971446" cy="133502"/>
          </a:xfrm>
          <a:prstGeom prst="rect">
            <a:avLst/>
          </a:prstGeom>
          <a:noFill/>
          <a:ln/>
        </p:spPr>
        <p:txBody>
          <a:bodyPr wrap="square" lIns="0" tIns="0" rIns="0" bIns="0" rtlCol="0" anchor="t">
            <a:normAutofit/>
          </a:bodyPr>
          <a:lstStyle/>
          <a:p>
            <a:pPr algn="r" indent="0" marL="0">
              <a:lnSpc>
                <a:spcPct val="120000"/>
              </a:lnSpc>
              <a:buNone/>
            </a:pPr>
            <a:r>
              <a:rPr lang="en-US" sz="800" dirty="0">
                <a:solidFill>
                  <a:srgbClr val="9AAAC8"/>
                </a:solidFill>
                <a:latin typeface="Inter" pitchFamily="34" charset="0"/>
                <a:ea typeface="Inter" pitchFamily="34" charset="-122"/>
                <a:cs typeface="Inter" pitchFamily="34" charset="-120"/>
              </a:rPr>
              <a:t>March 4, 2004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2026-04-12T23:53:24Z</dcterms:created>
  <dcterms:modified xsi:type="dcterms:W3CDTF">2026-04-12T23:53:24Z</dcterms:modified>
</cp:coreProperties>
</file>