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098" y="3118104"/>
            <a:ext cx="7429500" cy="2048256"/>
          </a:xfrm>
          <a:prstGeom prst="rect">
            <a:avLst>
              <a:gd name="adj" fmla="val 279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838298" y="4475988"/>
            <a:ext cx="880567" cy="362102"/>
          </a:xfrm>
          <a:prstGeom prst="rect">
            <a:avLst>
              <a:gd name="adj" fmla="val 10522"/>
            </a:avLst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3852367" y="4475988"/>
            <a:ext cx="1075334" cy="362102"/>
          </a:xfrm>
          <a:prstGeom prst="rect">
            <a:avLst>
              <a:gd name="adj" fmla="val 10522"/>
            </a:avLst>
          </a:prstGeom>
          <a:solidFill>
            <a:srgbClr val="E8ECF0"/>
          </a:solidFill>
          <a:ln/>
        </p:spPr>
      </p:sp>
      <p:sp>
        <p:nvSpPr>
          <p:cNvPr id="5" name="Shape 3"/>
          <p:cNvSpPr/>
          <p:nvPr/>
        </p:nvSpPr>
        <p:spPr>
          <a:xfrm>
            <a:off x="6148426" y="3423514"/>
            <a:ext cx="0" cy="1438351"/>
          </a:xfrm>
          <a:prstGeom prst="line">
            <a:avLst/>
          </a:prstGeom>
          <a:noFill/>
          <a:ln w="9525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00470" y="3956609"/>
            <a:ext cx="2852928" cy="0"/>
          </a:xfrm>
          <a:prstGeom prst="line">
            <a:avLst/>
          </a:prstGeom>
          <a:noFill/>
          <a:ln w="9525">
            <a:solidFill>
              <a:srgbClr val="F2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00470" y="4261104"/>
            <a:ext cx="2852928" cy="0"/>
          </a:xfrm>
          <a:prstGeom prst="line">
            <a:avLst/>
          </a:prstGeom>
          <a:noFill/>
          <a:ln w="9525">
            <a:solidFill>
              <a:srgbClr val="F2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0470" y="4566514"/>
            <a:ext cx="2852928" cy="0"/>
          </a:xfrm>
          <a:prstGeom prst="line">
            <a:avLst/>
          </a:prstGeom>
          <a:noFill/>
          <a:ln w="9525">
            <a:solidFill>
              <a:srgbClr val="F2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3715" y="1691640"/>
            <a:ext cx="15663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2015338"/>
            <a:ext cx="12191695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</a:t>
            </a:r>
            <a:pPr algn="ctr"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Your Hosted Bitcoin Wallet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00470" y="3423514"/>
            <a:ext cx="37088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RECENT TRANSACTIONS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8298" y="3447288"/>
            <a:ext cx="37088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 BALANCE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8298" y="3637483"/>
            <a:ext cx="370880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$1,240.00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500470" y="3728009"/>
            <a:ext cx="138714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from Alex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50808" y="3728009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+0.50 BTC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00470" y="4032504"/>
            <a:ext cx="122621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 to Merchant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50808" y="4032504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−0.12 BTC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8298" y="4084625"/>
            <a:ext cx="3708806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3.42 BTC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0470" y="4337914"/>
            <a:ext cx="143195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from Jane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50808" y="4337914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+1.00 BTC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8298" y="4475988"/>
            <a:ext cx="88056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52367" y="4475988"/>
            <a:ext cx="107533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0470" y="4642409"/>
            <a:ext cx="127101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 to Exchange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50808" y="4642409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−0.80 BTC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0205" y="3271723"/>
            <a:ext cx="838505" cy="838505"/>
          </a:xfrm>
          <a:prstGeom prst="rect">
            <a:avLst>
              <a:gd name="adj" fmla="val 56796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676595" y="3271723"/>
            <a:ext cx="838505" cy="838505"/>
          </a:xfrm>
          <a:prstGeom prst="rect">
            <a:avLst>
              <a:gd name="adj" fmla="val 5679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43900" y="3271723"/>
            <a:ext cx="838505" cy="838505"/>
          </a:xfrm>
          <a:prstGeom prst="rect">
            <a:avLst>
              <a:gd name="adj" fmla="val 56796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805" y="3500323"/>
            <a:ext cx="381305" cy="3813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195" y="3500323"/>
            <a:ext cx="381305" cy="38130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500323"/>
            <a:ext cx="381305" cy="3813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41518" y="1747418"/>
            <a:ext cx="9217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BITCOIN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125419" y="2090318"/>
            <a:ext cx="594177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9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new kind of money</a:t>
            </a:r>
            <a:endParaRPr lang="en-US" sz="3900" dirty="0"/>
          </a:p>
        </p:txBody>
      </p:sp>
      <p:sp>
        <p:nvSpPr>
          <p:cNvPr id="10" name="Text 5"/>
          <p:cNvSpPr/>
          <p:nvPr/>
        </p:nvSpPr>
        <p:spPr>
          <a:xfrm>
            <a:off x="3092501" y="4300423"/>
            <a:ext cx="8759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Instant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5479085" y="4300423"/>
            <a:ext cx="160294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International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362188" y="4300423"/>
            <a:ext cx="10424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Fees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2476195" y="4738421"/>
            <a:ext cx="1904695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Transactions confirm in seconds, anywhere on earth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143500" y="4738421"/>
            <a:ext cx="1904695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borders, no exchange rates, no intermediaries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809890" y="4738421"/>
            <a:ext cx="1904695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transaction cost versus 3% for cards or wire fees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8098"/>
            <a:ext cx="12191695" cy="56199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95605"/>
            <a:ext cx="1219169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ADOPTION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733349"/>
            <a:ext cx="1219169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Bitcoin is everywhere — concentrated where it matters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962302"/>
            <a:ext cx="9905695" cy="3619195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905" y="2266798"/>
            <a:ext cx="883859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2761" y="495605"/>
            <a:ext cx="239938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 VOLUME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840126" y="771754"/>
            <a:ext cx="8465515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Bitcoin processes $2M per day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289450" y="1399946"/>
            <a:ext cx="46972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 → Aug 2012 — consistently upward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11489" y="2305202"/>
            <a:ext cx="1841602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711489" y="2743200"/>
            <a:ext cx="18416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volume, Aug 2012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International Payments</a:t>
            </a:r>
            <a:pPr algn="l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Virtual Goods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Games</a:t>
            </a:r>
            <a:pPr algn="l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Remittance</a:t>
            </a:r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Micro-transactions</a:t>
            </a:r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Developing World</a:t>
            </a:r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E-Commerce</a:t>
            </a:r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Peer-to-Peer</a:t>
            </a:r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Commerce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Borderless</a:t>
            </a:r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Transfers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Marketplace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40934" y="495605"/>
            <a:ext cx="118231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19072" y="771754"/>
            <a:ext cx="10472623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users. Real money. Real categories.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" y="1742846"/>
            <a:ext cx="5038344" cy="3672230"/>
          </a:xfrm>
          <a:prstGeom prst="rect">
            <a:avLst>
              <a:gd name="adj" fmla="val 1556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248095" y="1742846"/>
            <a:ext cx="5038344" cy="3672230"/>
          </a:xfrm>
          <a:prstGeom prst="rect">
            <a:avLst>
              <a:gd name="adj" fmla="val 155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285646" y="2781605"/>
            <a:ext cx="4276649" cy="1643177"/>
          </a:xfrm>
          <a:prstGeom prst="rect">
            <a:avLst>
              <a:gd name="adj" fmla="val 2319"/>
            </a:avLst>
          </a:prstGeom>
          <a:solidFill>
            <a:srgbClr val="1C1C1E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2781605"/>
            <a:ext cx="4276649" cy="1447495"/>
          </a:xfrm>
          <a:prstGeom prst="rect">
            <a:avLst>
              <a:gd name="adj" fmla="val 2632"/>
            </a:avLst>
          </a:prstGeom>
          <a:solidFill>
            <a:srgbClr val="E8ECF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971800"/>
            <a:ext cx="3819449" cy="342900"/>
          </a:xfrm>
          <a:prstGeom prst="rect">
            <a:avLst>
              <a:gd name="adj" fmla="val 8333"/>
            </a:avLst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3429000"/>
            <a:ext cx="3819449" cy="267005"/>
          </a:xfrm>
          <a:prstGeom prst="rect">
            <a:avLst>
              <a:gd name="adj" fmla="val 1070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771900"/>
            <a:ext cx="3819449" cy="267005"/>
          </a:xfrm>
          <a:prstGeom prst="rect">
            <a:avLst>
              <a:gd name="adj" fmla="val 1070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529377" y="495605"/>
            <a:ext cx="147309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6858" y="771754"/>
            <a:ext cx="8706917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Bitcoin is powerful but unusable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285646" y="2085746"/>
            <a:ext cx="555955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REALITY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2085746"/>
            <a:ext cx="555955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PEOPLE NEED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5646" y="2305202"/>
            <a:ext cx="55595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 Clients &amp; Terminals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305202"/>
            <a:ext cx="55595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Simple. Mobile. Web.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5646" y="2781605"/>
            <a:ext cx="4276649" cy="1643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bitcoin-cli sendtoaddress \</a:t>
            </a: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  1A1zP1eP5QGefi2DM</a:t>
            </a: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  PTfedCe5vkAgj 0.1</a:t>
            </a: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bitcoin-cli getbalance</a:t>
            </a: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3.42000000</a:t>
            </a: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7CF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971800"/>
            <a:ext cx="3819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0.10 BTC to Alex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429000"/>
            <a:ext cx="38194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Recipient address or email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771900"/>
            <a:ext cx="38194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Amount in USD or BTC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9400" y="4419295"/>
            <a:ext cx="4276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 from a browser. No installation. No keys to manage. Any device, any person.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5646" y="4614977"/>
            <a:ext cx="4276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Configuration files. Private keys. Command-line parameters. No normal person can use this.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398" y="1609344"/>
            <a:ext cx="3619195" cy="3353105"/>
          </a:xfrm>
          <a:prstGeom prst="rect">
            <a:avLst>
              <a:gd name="adj" fmla="val 2272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238598" y="1609344"/>
            <a:ext cx="2667305" cy="3181198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71993" y="1609344"/>
            <a:ext cx="2667305" cy="2704795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52398" y="1876349"/>
            <a:ext cx="3619195" cy="437998"/>
          </a:xfrm>
          <a:prstGeom prst="rect">
            <a:avLst/>
          </a:prstGeom>
          <a:solidFill>
            <a:srgbClr val="2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238598" y="1876349"/>
            <a:ext cx="2667305" cy="428854"/>
          </a:xfrm>
          <a:prstGeom prst="rect">
            <a:avLst/>
          </a:prstGeom>
          <a:solidFill>
            <a:srgbClr val="2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8171993" y="1876349"/>
            <a:ext cx="2667305" cy="428854"/>
          </a:xfrm>
          <a:prstGeom prst="rect">
            <a:avLst/>
          </a:prstGeom>
          <a:solidFill>
            <a:srgbClr val="2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5428793" y="2628900"/>
            <a:ext cx="2286000" cy="314554"/>
          </a:xfrm>
          <a:prstGeom prst="rect">
            <a:avLst>
              <a:gd name="adj" fmla="val 9084"/>
            </a:avLst>
          </a:prstGeom>
          <a:solidFill>
            <a:srgbClr val="F5F6F8"/>
          </a:solidFill>
          <a:ln/>
        </p:spPr>
      </p:sp>
      <p:sp>
        <p:nvSpPr>
          <p:cNvPr id="9" name="Shape 7"/>
          <p:cNvSpPr/>
          <p:nvPr/>
        </p:nvSpPr>
        <p:spPr>
          <a:xfrm>
            <a:off x="5428793" y="3209544"/>
            <a:ext cx="2286000" cy="314554"/>
          </a:xfrm>
          <a:prstGeom prst="rect">
            <a:avLst>
              <a:gd name="adj" fmla="val 9084"/>
            </a:avLst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1580998" y="3429000"/>
            <a:ext cx="1533449" cy="314554"/>
          </a:xfrm>
          <a:prstGeom prst="rect">
            <a:avLst>
              <a:gd name="adj" fmla="val 9084"/>
            </a:avLst>
          </a:prstGeom>
          <a:solidFill>
            <a:srgbClr val="4A90D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9544" y="3429000"/>
            <a:ext cx="1533449" cy="314554"/>
          </a:xfrm>
          <a:prstGeom prst="rect">
            <a:avLst>
              <a:gd name="adj" fmla="val 9084"/>
            </a:avLst>
          </a:prstGeom>
          <a:solidFill>
            <a:srgbClr val="E8EC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28793" y="3791102"/>
            <a:ext cx="2286000" cy="314554"/>
          </a:xfrm>
          <a:prstGeom prst="rect">
            <a:avLst>
              <a:gd name="adj" fmla="val 9084"/>
            </a:avLst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28793" y="4257446"/>
            <a:ext cx="2286000" cy="362102"/>
          </a:xfrm>
          <a:prstGeom prst="rect">
            <a:avLst>
              <a:gd name="adj" fmla="val 7891"/>
            </a:avLst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1993" y="2838298"/>
            <a:ext cx="2667305" cy="0"/>
          </a:xfrm>
          <a:prstGeom prst="line">
            <a:avLst/>
          </a:prstGeom>
          <a:noFill/>
          <a:ln w="9525">
            <a:solidFill>
              <a:srgbClr val="F0F2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2398" y="3295498"/>
            <a:ext cx="3619195" cy="0"/>
          </a:xfrm>
          <a:prstGeom prst="line">
            <a:avLst/>
          </a:prstGeom>
          <a:noFill/>
          <a:ln w="9525">
            <a:solidFill>
              <a:srgbClr val="F0F2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1993" y="3314700"/>
            <a:ext cx="2667305" cy="0"/>
          </a:xfrm>
          <a:prstGeom prst="line">
            <a:avLst/>
          </a:prstGeom>
          <a:noFill/>
          <a:ln w="9525">
            <a:solidFill>
              <a:srgbClr val="F0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1993" y="3791102"/>
            <a:ext cx="2667305" cy="0"/>
          </a:xfrm>
          <a:prstGeom prst="line">
            <a:avLst/>
          </a:prstGeom>
          <a:noFill/>
          <a:ln w="9525">
            <a:solidFill>
              <a:srgbClr val="F0F2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2398" y="3886200"/>
            <a:ext cx="3619195" cy="0"/>
          </a:xfrm>
          <a:prstGeom prst="line">
            <a:avLst/>
          </a:prstGeom>
          <a:noFill/>
          <a:ln w="9525">
            <a:solidFill>
              <a:srgbClr val="F0F2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0998" y="4267505"/>
            <a:ext cx="3161995" cy="0"/>
          </a:xfrm>
          <a:prstGeom prst="line">
            <a:avLst/>
          </a:prstGeom>
          <a:noFill/>
          <a:ln w="9525">
            <a:solidFill>
              <a:srgbClr val="F5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0998" y="4552798"/>
            <a:ext cx="3161995" cy="0"/>
          </a:xfrm>
          <a:prstGeom prst="line">
            <a:avLst/>
          </a:prstGeom>
          <a:noFill/>
          <a:ln w="9525">
            <a:solidFill>
              <a:srgbClr val="F5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457200"/>
            <a:ext cx="153710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49347" y="714146"/>
            <a:ext cx="9221724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</a:t>
            </a:r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Bitcoin for everyone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1352398" y="1609344"/>
            <a:ext cx="36191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38598" y="1609344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71993" y="1609344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HISTORY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42593" y="2009851"/>
            <a:ext cx="971093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8793" y="2009851"/>
            <a:ext cx="297180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Bitcoin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3102" y="2009851"/>
            <a:ext cx="297180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Transaction History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8883" y="2029054"/>
            <a:ext cx="17839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· Send · History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3102" y="2456993"/>
            <a:ext cx="138714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from Alex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28793" y="2476195"/>
            <a:ext cx="2971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80998" y="2505456"/>
            <a:ext cx="4111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BALANCE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335463" y="2523744"/>
            <a:ext cx="40782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+0.50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3102" y="2619756"/>
            <a:ext cx="13871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28793" y="2628900"/>
            <a:ext cx="2286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friend@example.com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80998" y="2657246"/>
            <a:ext cx="411114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$1,240.00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363102" y="2933395"/>
            <a:ext cx="122621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 to Merchant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5463" y="3000146"/>
            <a:ext cx="40782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−0.12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80998" y="3010205"/>
            <a:ext cx="411114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3.42 BTC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28793" y="3057754"/>
            <a:ext cx="2971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AMOUNT (BTC)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363102" y="3095244"/>
            <a:ext cx="1226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 11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28793" y="3209544"/>
            <a:ext cx="2286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63102" y="3409798"/>
            <a:ext cx="115397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· Jane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80998" y="3429000"/>
            <a:ext cx="153344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Bitcoin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9544" y="3429000"/>
            <a:ext cx="153344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335463" y="3476549"/>
            <a:ext cx="40782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+1.00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3102" y="3571646"/>
            <a:ext cx="1153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 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8793" y="3638398"/>
            <a:ext cx="2971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 (OPTIONAL)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28793" y="3791102"/>
            <a:ext cx="2286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dinner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63102" y="3886200"/>
            <a:ext cx="118140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 · Exchange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335463" y="3952951"/>
            <a:ext cx="40782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−0.80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80998" y="4048049"/>
            <a:ext cx="1109167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· Alex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41318" y="4048049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+0.50 BTC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363102" y="4048049"/>
            <a:ext cx="11814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 7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28793" y="4257446"/>
            <a:ext cx="2286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 0.10 BTC →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580998" y="4333342"/>
            <a:ext cx="113659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 · Merchant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41318" y="4333342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−0.12 BTC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580998" y="4619549"/>
            <a:ext cx="115397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Received · Jane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41318" y="4619549"/>
            <a:ext cx="78272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+1.00 BTC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6867" y="2044598"/>
            <a:ext cx="137434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361334" y="2645359"/>
            <a:ext cx="546811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2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</a:t>
            </a:r>
            <a:pPr algn="ctr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to </a:t>
            </a:r>
            <a:pPr algn="ctr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2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Bitcoin</a:t>
            </a:r>
            <a:pPr algn="ctr" indent="0" marL="0">
              <a:lnSpc>
                <a:spcPct val="125000"/>
              </a:lnSpc>
              <a:buNone/>
            </a:pPr>
            <a:pPr algn="ctr" indent="0" marL="0">
              <a:lnSpc>
                <a:spcPct val="125000"/>
              </a:lnSpc>
              <a:buNone/>
            </a:pPr>
            <a:pPr algn="ctr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</a:t>
            </a:r>
            <a:pPr algn="ctr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2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iTunes</a:t>
            </a:r>
            <a:pPr algn="ctr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was to </a:t>
            </a:r>
            <a:pPr algn="ctr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2E3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MP3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857500" y="4263847"/>
            <a:ext cx="6476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consumer-friendly layer that makes a powerful but raw technology accessible to everyone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867205"/>
            <a:ext cx="9905695" cy="3619195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171700"/>
            <a:ext cx="8762695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7021" y="457200"/>
            <a:ext cx="293613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 — USER GROWTH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514954" y="714146"/>
            <a:ext cx="6710782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 daily signup growth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650638" y="1343254"/>
            <a:ext cx="37563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to thousands in two weeks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08922" y="2210105"/>
            <a:ext cx="134416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208922" y="2648102"/>
            <a:ext cx="134416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daily, sustained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902" y="1867205"/>
            <a:ext cx="4914900" cy="342900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228893" y="1867205"/>
            <a:ext cx="4914900" cy="342900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819095"/>
            <a:ext cx="4076395" cy="20958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2" y="2819095"/>
            <a:ext cx="4076395" cy="20958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38751" y="457200"/>
            <a:ext cx="378835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 — TRANSACTION VOLUME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043477" y="714146"/>
            <a:ext cx="5334610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$65,000 in 5 weeks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312310" y="1343254"/>
            <a:ext cx="4636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money moving — not just signups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80998" y="2133295"/>
            <a:ext cx="529986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USD VOLUME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762902" y="2133295"/>
            <a:ext cx="529986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BTC VOLUME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580998" y="2314346"/>
            <a:ext cx="529986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$65,000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762902" y="2314346"/>
            <a:ext cx="529986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~1,000 BTC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3" name="Text 1"/>
          <p:cNvSpPr/>
          <p:nvPr/>
        </p:nvSpPr>
        <p:spPr>
          <a:xfrm>
            <a:off x="4762195" y="2876702"/>
            <a:ext cx="34674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4A90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707892" y="3733495"/>
            <a:ext cx="62078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hosted Bitcoin wallet — Bitcoin for everyone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398264" y="6405372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 early access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35470" y="6414516"/>
            <a:ext cx="1375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coinbase.com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2026-04-13T00:42:10Z</dcterms:created>
  <dcterms:modified xsi:type="dcterms:W3CDTF">2026-04-13T00:42:10Z</dcterms:modified>
</cp:coreProperties>
</file>