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405" y="257175"/>
            <a:ext cx="3807047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Funnel Performance</a:t>
            </a:r>
            <a:endParaRPr lang="en-US" sz="1913" dirty="0"/>
          </a:p>
        </p:txBody>
      </p:sp>
      <p:sp>
        <p:nvSpPr>
          <p:cNvPr id="3" name="Text 1"/>
          <p:cNvSpPr/>
          <p:nvPr/>
        </p:nvSpPr>
        <p:spPr>
          <a:xfrm>
            <a:off x="3085529" y="592931"/>
            <a:ext cx="297294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Full-funnel conversion analysis for Q1 2026 campaign cohort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2312789" y="4529138"/>
            <a:ext cx="112449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2312789" y="4786313"/>
            <a:ext cx="11244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CONVERSION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637312" y="4529138"/>
            <a:ext cx="1158716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637312" y="4786313"/>
            <a:ext cx="115871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ACQUISITION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96053" y="4529138"/>
            <a:ext cx="91861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$12,400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996053" y="4786313"/>
            <a:ext cx="91861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DEAL SIZE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6114693" y="4529138"/>
            <a:ext cx="71637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14.7x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114693" y="4786313"/>
            <a:ext cx="7163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spc="56" kern="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MULTIPLE</a:t>
            </a:r>
            <a:endParaRPr lang="en-US" sz="6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13" y="950119"/>
            <a:ext cx="6429375" cy="3143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50276" y="950119"/>
            <a:ext cx="102277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60D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24,500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4401693" y="960834"/>
            <a:ext cx="147761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401693" y="1146572"/>
            <a:ext cx="14776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C1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 visitors &amp; ad impressions</a:t>
            </a:r>
            <a:endParaRPr lang="en-US" sz="731" dirty="0"/>
          </a:p>
        </p:txBody>
      </p:sp>
      <p:sp>
        <p:nvSpPr>
          <p:cNvPr id="16" name="Shape 13"/>
          <p:cNvSpPr/>
          <p:nvPr/>
        </p:nvSpPr>
        <p:spPr>
          <a:xfrm>
            <a:off x="4564856" y="1321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2375726" y="12501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75738" y="12501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2575751" y="12501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 conversion</a:t>
            </a:r>
            <a:endParaRPr lang="en-US" sz="67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521619"/>
            <a:ext cx="5286375" cy="3143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5070" y="1521619"/>
            <a:ext cx="81324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4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7,840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4256889" y="1532334"/>
            <a:ext cx="1557766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256889" y="1718072"/>
            <a:ext cx="155776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714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signups &amp; content downloads</a:t>
            </a:r>
            <a:endParaRPr lang="en-US" sz="731" dirty="0"/>
          </a:p>
        </p:txBody>
      </p:sp>
      <p:sp>
        <p:nvSpPr>
          <p:cNvPr id="24" name="Shape 20"/>
          <p:cNvSpPr/>
          <p:nvPr/>
        </p:nvSpPr>
        <p:spPr>
          <a:xfrm>
            <a:off x="4564856" y="18930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25" name="Shape 21"/>
          <p:cNvSpPr/>
          <p:nvPr/>
        </p:nvSpPr>
        <p:spPr>
          <a:xfrm>
            <a:off x="2375726" y="18216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475738" y="18216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27" name="Text 23"/>
          <p:cNvSpPr/>
          <p:nvPr/>
        </p:nvSpPr>
        <p:spPr>
          <a:xfrm>
            <a:off x="2575751" y="18216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 conversion</a:t>
            </a:r>
            <a:endParaRPr lang="en-US" sz="675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2093119"/>
            <a:ext cx="4000500" cy="3143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494222" y="2093119"/>
            <a:ext cx="7635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8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2,195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4286250" y="2103834"/>
            <a:ext cx="144918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25" dirty="0"/>
          </a:p>
        </p:txBody>
      </p:sp>
      <p:sp>
        <p:nvSpPr>
          <p:cNvPr id="31" name="Text 26"/>
          <p:cNvSpPr/>
          <p:nvPr/>
        </p:nvSpPr>
        <p:spPr>
          <a:xfrm>
            <a:off x="4286250" y="2289572"/>
            <a:ext cx="144918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10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requests &amp; trial activations</a:t>
            </a:r>
            <a:endParaRPr lang="en-US" sz="731" dirty="0"/>
          </a:p>
        </p:txBody>
      </p:sp>
      <p:sp>
        <p:nvSpPr>
          <p:cNvPr id="32" name="Shape 27"/>
          <p:cNvSpPr/>
          <p:nvPr/>
        </p:nvSpPr>
        <p:spPr>
          <a:xfrm>
            <a:off x="4564856" y="2464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33" name="Shape 28"/>
          <p:cNvSpPr/>
          <p:nvPr/>
        </p:nvSpPr>
        <p:spPr>
          <a:xfrm>
            <a:off x="2375868" y="2393156"/>
            <a:ext cx="7745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475881" y="2393156"/>
            <a:ext cx="1143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35" name="Text 30"/>
          <p:cNvSpPr/>
          <p:nvPr/>
        </p:nvSpPr>
        <p:spPr>
          <a:xfrm>
            <a:off x="2575893" y="2393156"/>
            <a:ext cx="5745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conversion</a:t>
            </a:r>
            <a:endParaRPr lang="en-US" sz="675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88" y="2664619"/>
            <a:ext cx="2714625" cy="3143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98521" y="2664619"/>
            <a:ext cx="587788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6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395</a:t>
            </a:r>
            <a:endParaRPr lang="en-US" sz="2025" dirty="0"/>
          </a:p>
        </p:txBody>
      </p:sp>
      <p:sp>
        <p:nvSpPr>
          <p:cNvPr id="38" name="Text 32"/>
          <p:cNvSpPr/>
          <p:nvPr/>
        </p:nvSpPr>
        <p:spPr>
          <a:xfrm>
            <a:off x="4214955" y="2675334"/>
            <a:ext cx="1416248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14955" y="2861072"/>
            <a:ext cx="141624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0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conversions &amp; closed deals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335756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71450" y="125016"/>
            <a:ext cx="85725" cy="8572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71475" y="125016"/>
            <a:ext cx="85725" cy="8572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71500" y="125016"/>
            <a:ext cx="85725" cy="8572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857250" y="103584"/>
            <a:ext cx="97747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api-reference.sh</a:t>
            </a:r>
            <a:endParaRPr lang="en-US" sz="731" dirty="0"/>
          </a:p>
        </p:txBody>
      </p:sp>
      <p:sp>
        <p:nvSpPr>
          <p:cNvPr id="8" name="Shape 6"/>
          <p:cNvSpPr/>
          <p:nvPr/>
        </p:nvSpPr>
        <p:spPr>
          <a:xfrm>
            <a:off x="8507778" y="96441"/>
            <a:ext cx="464772" cy="142875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414909" y="96441"/>
            <a:ext cx="65051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v2.4 API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0" y="342900"/>
            <a:ext cx="6286500" cy="4572000"/>
          </a:xfrm>
          <a:prstGeom prst="rect">
            <a:avLst/>
          </a:prstGeom>
          <a:solidFill>
            <a:srgbClr val="0D1117">
              <a:alpha val="0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279356" y="342900"/>
            <a:ext cx="7144" cy="45720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0" y="342900"/>
            <a:ext cx="6279356" cy="292894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0" y="628650"/>
            <a:ext cx="6279356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0" y="614363"/>
            <a:ext cx="508778" cy="14288"/>
          </a:xfrm>
          <a:prstGeom prst="rect">
            <a:avLst/>
          </a:prstGeom>
          <a:solidFill>
            <a:srgbClr val="F7816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F0F6F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85725" y="77866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42925" y="778669"/>
            <a:ext cx="231500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Create a new user with team assignment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85725" y="93647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542925" y="936474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765953" y="936474"/>
            <a:ext cx="11151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-X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877467" y="936474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1100495" y="936474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85725" y="109435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542925" y="1094351"/>
            <a:ext cx="200639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"https://api.example.com/v2/users"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2549319" y="109435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85725" y="125215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42925" y="1252157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765953" y="1252157"/>
            <a:ext cx="195060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"Authorization: Bearer sk_live_..."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2716554" y="1252157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85725" y="1410033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542925" y="1410033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765953" y="1410033"/>
            <a:ext cx="178336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"Content-Type: application/json"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2549319" y="1410033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85725" y="156783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542925" y="1567839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-d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765953" y="1567839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'{'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85725" y="172564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731" dirty="0"/>
          </a:p>
        </p:txBody>
      </p:sp>
      <p:sp>
        <p:nvSpPr>
          <p:cNvPr id="43" name="Text 41"/>
          <p:cNvSpPr/>
          <p:nvPr/>
        </p:nvSpPr>
        <p:spPr>
          <a:xfrm>
            <a:off x="542925" y="1725644"/>
            <a:ext cx="557355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"name"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1100280" y="172564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45" name="Text 43"/>
          <p:cNvSpPr/>
          <p:nvPr/>
        </p:nvSpPr>
        <p:spPr>
          <a:xfrm>
            <a:off x="1156073" y="1725644"/>
            <a:ext cx="72451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1880592" y="1725644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47" name="Text 45"/>
          <p:cNvSpPr/>
          <p:nvPr/>
        </p:nvSpPr>
        <p:spPr>
          <a:xfrm>
            <a:off x="85725" y="188352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731" dirty="0"/>
          </a:p>
        </p:txBody>
      </p:sp>
      <p:sp>
        <p:nvSpPr>
          <p:cNvPr id="48" name="Text 46"/>
          <p:cNvSpPr/>
          <p:nvPr/>
        </p:nvSpPr>
        <p:spPr>
          <a:xfrm>
            <a:off x="542925" y="1883521"/>
            <a:ext cx="61314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"email"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1156073" y="188352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50" name="Text 48"/>
          <p:cNvSpPr/>
          <p:nvPr/>
        </p:nvSpPr>
        <p:spPr>
          <a:xfrm>
            <a:off x="1211866" y="1883521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endParaRPr lang="en-US" sz="731" dirty="0"/>
          </a:p>
        </p:txBody>
      </p:sp>
      <p:sp>
        <p:nvSpPr>
          <p:cNvPr id="51" name="Text 49"/>
          <p:cNvSpPr/>
          <p:nvPr/>
        </p:nvSpPr>
        <p:spPr>
          <a:xfrm>
            <a:off x="1992106" y="188352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52" name="Text 50"/>
          <p:cNvSpPr/>
          <p:nvPr/>
        </p:nvSpPr>
        <p:spPr>
          <a:xfrm>
            <a:off x="85725" y="204132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731" dirty="0"/>
          </a:p>
        </p:txBody>
      </p:sp>
      <p:sp>
        <p:nvSpPr>
          <p:cNvPr id="53" name="Text 51"/>
          <p:cNvSpPr/>
          <p:nvPr/>
        </p:nvSpPr>
        <p:spPr>
          <a:xfrm>
            <a:off x="542925" y="2041327"/>
            <a:ext cx="557355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"role"</a:t>
            </a:r>
            <a:endParaRPr lang="en-US" sz="731" dirty="0"/>
          </a:p>
        </p:txBody>
      </p:sp>
      <p:sp>
        <p:nvSpPr>
          <p:cNvPr id="54" name="Text 52"/>
          <p:cNvSpPr/>
          <p:nvPr/>
        </p:nvSpPr>
        <p:spPr>
          <a:xfrm>
            <a:off x="1100280" y="2041327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55" name="Text 53"/>
          <p:cNvSpPr/>
          <p:nvPr/>
        </p:nvSpPr>
        <p:spPr>
          <a:xfrm>
            <a:off x="1156073" y="2041327"/>
            <a:ext cx="39012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endParaRPr lang="en-US" sz="731" dirty="0"/>
          </a:p>
        </p:txBody>
      </p:sp>
      <p:sp>
        <p:nvSpPr>
          <p:cNvPr id="56" name="Text 54"/>
          <p:cNvSpPr/>
          <p:nvPr/>
        </p:nvSpPr>
        <p:spPr>
          <a:xfrm>
            <a:off x="1546193" y="2041327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57" name="Text 55"/>
          <p:cNvSpPr/>
          <p:nvPr/>
        </p:nvSpPr>
        <p:spPr>
          <a:xfrm>
            <a:off x="85725" y="219913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endParaRPr lang="en-US" sz="731" dirty="0"/>
          </a:p>
        </p:txBody>
      </p:sp>
      <p:sp>
        <p:nvSpPr>
          <p:cNvPr id="58" name="Text 56"/>
          <p:cNvSpPr/>
          <p:nvPr/>
        </p:nvSpPr>
        <p:spPr>
          <a:xfrm>
            <a:off x="542925" y="2199132"/>
            <a:ext cx="76602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"team_id"</a:t>
            </a:r>
            <a:endParaRPr lang="en-US" sz="731" dirty="0"/>
          </a:p>
        </p:txBody>
      </p:sp>
      <p:sp>
        <p:nvSpPr>
          <p:cNvPr id="59" name="Text 57"/>
          <p:cNvSpPr/>
          <p:nvPr/>
        </p:nvSpPr>
        <p:spPr>
          <a:xfrm>
            <a:off x="1267444" y="2199132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1323237" y="2199132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endParaRPr lang="en-US" sz="731" dirty="0"/>
          </a:p>
        </p:txBody>
      </p:sp>
      <p:sp>
        <p:nvSpPr>
          <p:cNvPr id="61" name="Text 59"/>
          <p:cNvSpPr/>
          <p:nvPr/>
        </p:nvSpPr>
        <p:spPr>
          <a:xfrm>
            <a:off x="1992106" y="2199132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62" name="Text 60"/>
          <p:cNvSpPr/>
          <p:nvPr/>
        </p:nvSpPr>
        <p:spPr>
          <a:xfrm>
            <a:off x="85725" y="235700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731" dirty="0"/>
          </a:p>
        </p:txBody>
      </p:sp>
      <p:sp>
        <p:nvSpPr>
          <p:cNvPr id="63" name="Text 61"/>
          <p:cNvSpPr/>
          <p:nvPr/>
        </p:nvSpPr>
        <p:spPr>
          <a:xfrm>
            <a:off x="542925" y="2357009"/>
            <a:ext cx="94747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"permissions"</a:t>
            </a:r>
            <a:endParaRPr lang="en-US" sz="731" dirty="0"/>
          </a:p>
        </p:txBody>
      </p:sp>
      <p:sp>
        <p:nvSpPr>
          <p:cNvPr id="64" name="Text 62"/>
          <p:cNvSpPr/>
          <p:nvPr/>
        </p:nvSpPr>
        <p:spPr>
          <a:xfrm>
            <a:off x="1490401" y="2357009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85725" y="251481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731" dirty="0"/>
          </a:p>
        </p:txBody>
      </p:sp>
      <p:sp>
        <p:nvSpPr>
          <p:cNvPr id="66" name="Text 64"/>
          <p:cNvSpPr/>
          <p:nvPr/>
        </p:nvSpPr>
        <p:spPr>
          <a:xfrm>
            <a:off x="542925" y="2514814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"read"</a:t>
            </a:r>
            <a:endParaRPr lang="en-US" sz="731" dirty="0"/>
          </a:p>
        </p:txBody>
      </p:sp>
      <p:sp>
        <p:nvSpPr>
          <p:cNvPr id="67" name="Text 65"/>
          <p:cNvSpPr/>
          <p:nvPr/>
        </p:nvSpPr>
        <p:spPr>
          <a:xfrm>
            <a:off x="1211794" y="251481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68" name="Text 66"/>
          <p:cNvSpPr/>
          <p:nvPr/>
        </p:nvSpPr>
        <p:spPr>
          <a:xfrm>
            <a:off x="1267587" y="2514814"/>
            <a:ext cx="39012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endParaRPr lang="en-US" sz="731" dirty="0"/>
          </a:p>
        </p:txBody>
      </p:sp>
      <p:sp>
        <p:nvSpPr>
          <p:cNvPr id="69" name="Text 67"/>
          <p:cNvSpPr/>
          <p:nvPr/>
        </p:nvSpPr>
        <p:spPr>
          <a:xfrm>
            <a:off x="1657707" y="251481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70" name="Text 68"/>
          <p:cNvSpPr/>
          <p:nvPr/>
        </p:nvSpPr>
        <p:spPr>
          <a:xfrm>
            <a:off x="1713500" y="2514814"/>
            <a:ext cx="53163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731" dirty="0"/>
          </a:p>
        </p:txBody>
      </p:sp>
      <p:sp>
        <p:nvSpPr>
          <p:cNvPr id="71" name="Text 69"/>
          <p:cNvSpPr/>
          <p:nvPr/>
        </p:nvSpPr>
        <p:spPr>
          <a:xfrm>
            <a:off x="85725" y="267269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endParaRPr lang="en-US" sz="731" dirty="0"/>
          </a:p>
        </p:txBody>
      </p:sp>
      <p:sp>
        <p:nvSpPr>
          <p:cNvPr id="72" name="Text 70"/>
          <p:cNvSpPr/>
          <p:nvPr/>
        </p:nvSpPr>
        <p:spPr>
          <a:xfrm>
            <a:off x="542925" y="2672691"/>
            <a:ext cx="42012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],</a:t>
            </a:r>
            <a:endParaRPr lang="en-US" sz="731" dirty="0"/>
          </a:p>
        </p:txBody>
      </p:sp>
      <p:sp>
        <p:nvSpPr>
          <p:cNvPr id="73" name="Text 71"/>
          <p:cNvSpPr/>
          <p:nvPr/>
        </p:nvSpPr>
        <p:spPr>
          <a:xfrm>
            <a:off x="85725" y="283049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endParaRPr lang="en-US" sz="731" dirty="0"/>
          </a:p>
        </p:txBody>
      </p:sp>
      <p:sp>
        <p:nvSpPr>
          <p:cNvPr id="74" name="Text 72"/>
          <p:cNvSpPr/>
          <p:nvPr/>
        </p:nvSpPr>
        <p:spPr>
          <a:xfrm>
            <a:off x="542925" y="2830497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"metadata"</a:t>
            </a:r>
            <a:endParaRPr lang="en-US" sz="731" dirty="0"/>
          </a:p>
        </p:txBody>
      </p:sp>
      <p:sp>
        <p:nvSpPr>
          <p:cNvPr id="75" name="Text 73"/>
          <p:cNvSpPr/>
          <p:nvPr/>
        </p:nvSpPr>
        <p:spPr>
          <a:xfrm>
            <a:off x="1323165" y="2830497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731" dirty="0"/>
          </a:p>
        </p:txBody>
      </p:sp>
      <p:sp>
        <p:nvSpPr>
          <p:cNvPr id="76" name="Text 74"/>
          <p:cNvSpPr/>
          <p:nvPr/>
        </p:nvSpPr>
        <p:spPr>
          <a:xfrm>
            <a:off x="85725" y="298830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endParaRPr lang="en-US" sz="731" dirty="0"/>
          </a:p>
        </p:txBody>
      </p:sp>
      <p:sp>
        <p:nvSpPr>
          <p:cNvPr id="77" name="Text 75"/>
          <p:cNvSpPr/>
          <p:nvPr/>
        </p:nvSpPr>
        <p:spPr>
          <a:xfrm>
            <a:off x="542925" y="2988302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"source"</a:t>
            </a:r>
            <a:endParaRPr lang="en-US" sz="731" dirty="0"/>
          </a:p>
        </p:txBody>
      </p:sp>
      <p:sp>
        <p:nvSpPr>
          <p:cNvPr id="78" name="Text 76"/>
          <p:cNvSpPr/>
          <p:nvPr/>
        </p:nvSpPr>
        <p:spPr>
          <a:xfrm>
            <a:off x="1323165" y="2988302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79" name="Text 77"/>
          <p:cNvSpPr/>
          <p:nvPr/>
        </p:nvSpPr>
        <p:spPr>
          <a:xfrm>
            <a:off x="1378958" y="2988302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"onboarding"</a:t>
            </a:r>
            <a:endParaRPr lang="en-US" sz="731" dirty="0"/>
          </a:p>
        </p:txBody>
      </p:sp>
      <p:sp>
        <p:nvSpPr>
          <p:cNvPr id="80" name="Text 78"/>
          <p:cNvSpPr/>
          <p:nvPr/>
        </p:nvSpPr>
        <p:spPr>
          <a:xfrm>
            <a:off x="2047827" y="2988302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81" name="Text 79"/>
          <p:cNvSpPr/>
          <p:nvPr/>
        </p:nvSpPr>
        <p:spPr>
          <a:xfrm>
            <a:off x="85725" y="314617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16</a:t>
            </a:r>
            <a:endParaRPr lang="en-US" sz="731" dirty="0"/>
          </a:p>
        </p:txBody>
      </p:sp>
      <p:sp>
        <p:nvSpPr>
          <p:cNvPr id="82" name="Text 80"/>
          <p:cNvSpPr/>
          <p:nvPr/>
        </p:nvSpPr>
        <p:spPr>
          <a:xfrm>
            <a:off x="542925" y="3146179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"plan"</a:t>
            </a:r>
            <a:endParaRPr lang="en-US" sz="731" dirty="0"/>
          </a:p>
        </p:txBody>
      </p:sp>
      <p:sp>
        <p:nvSpPr>
          <p:cNvPr id="83" name="Text 81"/>
          <p:cNvSpPr/>
          <p:nvPr/>
        </p:nvSpPr>
        <p:spPr>
          <a:xfrm>
            <a:off x="1211794" y="3146179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84" name="Text 82"/>
          <p:cNvSpPr/>
          <p:nvPr/>
        </p:nvSpPr>
        <p:spPr>
          <a:xfrm>
            <a:off x="1267587" y="3146179"/>
            <a:ext cx="75459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"enterprise"</a:t>
            </a:r>
            <a:endParaRPr lang="en-US" sz="731" dirty="0"/>
          </a:p>
        </p:txBody>
      </p:sp>
      <p:sp>
        <p:nvSpPr>
          <p:cNvPr id="85" name="Text 83"/>
          <p:cNvSpPr/>
          <p:nvPr/>
        </p:nvSpPr>
        <p:spPr>
          <a:xfrm>
            <a:off x="85725" y="330398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</a:t>
            </a:r>
            <a:endParaRPr lang="en-US" sz="731" dirty="0"/>
          </a:p>
        </p:txBody>
      </p:sp>
      <p:sp>
        <p:nvSpPr>
          <p:cNvPr id="86" name="Text 84"/>
          <p:cNvSpPr/>
          <p:nvPr/>
        </p:nvSpPr>
        <p:spPr>
          <a:xfrm>
            <a:off x="542925" y="3303984"/>
            <a:ext cx="36447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}</a:t>
            </a:r>
            <a:endParaRPr lang="en-US" sz="731" dirty="0"/>
          </a:p>
        </p:txBody>
      </p:sp>
      <p:sp>
        <p:nvSpPr>
          <p:cNvPr id="87" name="Text 85"/>
          <p:cNvSpPr/>
          <p:nvPr/>
        </p:nvSpPr>
        <p:spPr>
          <a:xfrm>
            <a:off x="85725" y="3461790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endParaRPr lang="en-US" sz="731" dirty="0"/>
          </a:p>
        </p:txBody>
      </p:sp>
      <p:sp>
        <p:nvSpPr>
          <p:cNvPr id="88" name="Text 86"/>
          <p:cNvSpPr/>
          <p:nvPr/>
        </p:nvSpPr>
        <p:spPr>
          <a:xfrm>
            <a:off x="542925" y="3461790"/>
            <a:ext cx="30875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}'</a:t>
            </a:r>
            <a:endParaRPr lang="en-US" sz="731" dirty="0"/>
          </a:p>
        </p:txBody>
      </p:sp>
      <p:sp>
        <p:nvSpPr>
          <p:cNvPr id="89" name="Text 87"/>
          <p:cNvSpPr/>
          <p:nvPr/>
        </p:nvSpPr>
        <p:spPr>
          <a:xfrm>
            <a:off x="85725" y="361966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</a:t>
            </a:r>
            <a:endParaRPr lang="en-US" sz="731" dirty="0"/>
          </a:p>
        </p:txBody>
      </p:sp>
      <p:sp>
        <p:nvSpPr>
          <p:cNvPr id="90" name="Text 88"/>
          <p:cNvSpPr/>
          <p:nvPr/>
        </p:nvSpPr>
        <p:spPr>
          <a:xfrm>
            <a:off x="85725" y="377747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endParaRPr lang="en-US" sz="731" dirty="0"/>
          </a:p>
        </p:txBody>
      </p:sp>
      <p:sp>
        <p:nvSpPr>
          <p:cNvPr id="91" name="Text 89"/>
          <p:cNvSpPr/>
          <p:nvPr/>
        </p:nvSpPr>
        <p:spPr>
          <a:xfrm>
            <a:off x="542925" y="3777472"/>
            <a:ext cx="21478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Rate limit: 100 req/min per API key</a:t>
            </a:r>
            <a:endParaRPr lang="en-US" sz="731" dirty="0"/>
          </a:p>
        </p:txBody>
      </p:sp>
      <p:sp>
        <p:nvSpPr>
          <p:cNvPr id="92" name="Text 90"/>
          <p:cNvSpPr/>
          <p:nvPr/>
        </p:nvSpPr>
        <p:spPr>
          <a:xfrm>
            <a:off x="85725" y="393534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21</a:t>
            </a:r>
            <a:endParaRPr lang="en-US" sz="731" dirty="0"/>
          </a:p>
        </p:txBody>
      </p:sp>
      <p:sp>
        <p:nvSpPr>
          <p:cNvPr id="93" name="Text 91"/>
          <p:cNvSpPr/>
          <p:nvPr/>
        </p:nvSpPr>
        <p:spPr>
          <a:xfrm>
            <a:off x="542925" y="3935349"/>
            <a:ext cx="281656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Supports idempotency via Idempotency-Key header</a:t>
            </a:r>
            <a:endParaRPr lang="en-US" sz="731" dirty="0"/>
          </a:p>
        </p:txBody>
      </p:sp>
      <p:sp>
        <p:nvSpPr>
          <p:cNvPr id="94" name="Shape 92"/>
          <p:cNvSpPr/>
          <p:nvPr/>
        </p:nvSpPr>
        <p:spPr>
          <a:xfrm>
            <a:off x="6286500" y="342900"/>
            <a:ext cx="2857500" cy="321469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6286500" y="657225"/>
            <a:ext cx="28575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6429375" y="442913"/>
            <a:ext cx="52828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731" dirty="0"/>
          </a:p>
        </p:txBody>
      </p:sp>
      <p:sp>
        <p:nvSpPr>
          <p:cNvPr id="97" name="Shape 95"/>
          <p:cNvSpPr/>
          <p:nvPr/>
        </p:nvSpPr>
        <p:spPr>
          <a:xfrm>
            <a:off x="8570143" y="428625"/>
            <a:ext cx="430982" cy="142875"/>
          </a:xfrm>
          <a:prstGeom prst="roundRect">
            <a:avLst>
              <a:gd name="adj" fmla="val 20000"/>
            </a:avLst>
          </a:prstGeom>
          <a:solidFill>
            <a:srgbClr val="1A4731"/>
          </a:solidFill>
          <a:ln>
            <a:noFill/>
          </a:ln>
        </p:spPr>
      </p:sp>
      <p:sp>
        <p:nvSpPr>
          <p:cNvPr id="98" name="Text 96"/>
          <p:cNvSpPr/>
          <p:nvPr/>
        </p:nvSpPr>
        <p:spPr>
          <a:xfrm>
            <a:off x="8484418" y="428625"/>
            <a:ext cx="6024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</a:t>
            </a:r>
            <a:endParaRPr lang="en-US" sz="619" dirty="0"/>
          </a:p>
        </p:txBody>
      </p:sp>
      <p:sp>
        <p:nvSpPr>
          <p:cNvPr id="99" name="Text 97"/>
          <p:cNvSpPr/>
          <p:nvPr/>
        </p:nvSpPr>
        <p:spPr>
          <a:xfrm>
            <a:off x="6429375" y="80724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675" dirty="0"/>
          </a:p>
        </p:txBody>
      </p:sp>
      <p:sp>
        <p:nvSpPr>
          <p:cNvPr id="100" name="Text 98"/>
          <p:cNvSpPr/>
          <p:nvPr/>
        </p:nvSpPr>
        <p:spPr>
          <a:xfrm>
            <a:off x="6429375" y="96147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"usr_a1b2c3d4"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1" name="Text 99"/>
          <p:cNvSpPr/>
          <p:nvPr/>
        </p:nvSpPr>
        <p:spPr>
          <a:xfrm>
            <a:off x="6429375" y="1115782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"object"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2" name="Text 100"/>
          <p:cNvSpPr/>
          <p:nvPr/>
        </p:nvSpPr>
        <p:spPr>
          <a:xfrm>
            <a:off x="6429375" y="127001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3" name="Text 101"/>
          <p:cNvSpPr/>
          <p:nvPr/>
        </p:nvSpPr>
        <p:spPr>
          <a:xfrm>
            <a:off x="6429375" y="142432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"email"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4" name="Text 102"/>
          <p:cNvSpPr/>
          <p:nvPr/>
        </p:nvSpPr>
        <p:spPr>
          <a:xfrm>
            <a:off x="6429375" y="157855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"role"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5" name="Text 103"/>
          <p:cNvSpPr/>
          <p:nvPr/>
        </p:nvSpPr>
        <p:spPr>
          <a:xfrm>
            <a:off x="6429375" y="1732788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675" dirty="0"/>
          </a:p>
        </p:txBody>
      </p:sp>
      <p:sp>
        <p:nvSpPr>
          <p:cNvPr id="106" name="Text 104"/>
          <p:cNvSpPr/>
          <p:nvPr/>
        </p:nvSpPr>
        <p:spPr>
          <a:xfrm>
            <a:off x="6429375" y="1887093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7" name="Text 105"/>
          <p:cNvSpPr/>
          <p:nvPr/>
        </p:nvSpPr>
        <p:spPr>
          <a:xfrm>
            <a:off x="6429375" y="204132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"Engineering"</a:t>
            </a:r>
            <a:endParaRPr lang="en-US" sz="675" dirty="0"/>
          </a:p>
        </p:txBody>
      </p:sp>
      <p:sp>
        <p:nvSpPr>
          <p:cNvPr id="108" name="Text 106"/>
          <p:cNvSpPr/>
          <p:nvPr/>
        </p:nvSpPr>
        <p:spPr>
          <a:xfrm>
            <a:off x="6429375" y="2195560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},</a:t>
            </a:r>
            <a:endParaRPr lang="en-US" sz="675" dirty="0"/>
          </a:p>
        </p:txBody>
      </p:sp>
      <p:sp>
        <p:nvSpPr>
          <p:cNvPr id="109" name="Text 107"/>
          <p:cNvSpPr/>
          <p:nvPr/>
        </p:nvSpPr>
        <p:spPr>
          <a:xfrm>
            <a:off x="6429375" y="2349865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"permissions"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675" dirty="0"/>
          </a:p>
        </p:txBody>
      </p:sp>
      <p:sp>
        <p:nvSpPr>
          <p:cNvPr id="110" name="Text 108"/>
          <p:cNvSpPr/>
          <p:nvPr/>
        </p:nvSpPr>
        <p:spPr>
          <a:xfrm>
            <a:off x="6429375" y="250409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"read"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675" dirty="0"/>
          </a:p>
        </p:txBody>
      </p:sp>
      <p:sp>
        <p:nvSpPr>
          <p:cNvPr id="111" name="Text 109"/>
          <p:cNvSpPr/>
          <p:nvPr/>
        </p:nvSpPr>
        <p:spPr>
          <a:xfrm>
            <a:off x="6429375" y="265840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],</a:t>
            </a:r>
            <a:endParaRPr lang="en-US" sz="675" dirty="0"/>
          </a:p>
        </p:txBody>
      </p:sp>
      <p:sp>
        <p:nvSpPr>
          <p:cNvPr id="112" name="Text 110"/>
          <p:cNvSpPr/>
          <p:nvPr/>
        </p:nvSpPr>
        <p:spPr>
          <a:xfrm>
            <a:off x="6429375" y="281263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"created_at"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A65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1712956800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13" name="Text 111"/>
          <p:cNvSpPr/>
          <p:nvPr/>
        </p:nvSpPr>
        <p:spPr>
          <a:xfrm>
            <a:off x="6429375" y="296687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"active"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14" name="Text 112"/>
          <p:cNvSpPr/>
          <p:nvPr/>
        </p:nvSpPr>
        <p:spPr>
          <a:xfrm>
            <a:off x="6429375" y="312117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"mfa_enabled"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</a:t>
            </a:r>
            <a:endParaRPr lang="en-US" sz="675" dirty="0"/>
          </a:p>
        </p:txBody>
      </p:sp>
      <p:sp>
        <p:nvSpPr>
          <p:cNvPr id="115" name="Text 113"/>
          <p:cNvSpPr/>
          <p:nvPr/>
        </p:nvSpPr>
        <p:spPr>
          <a:xfrm>
            <a:off x="6429375" y="327540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675" dirty="0"/>
          </a:p>
        </p:txBody>
      </p:sp>
      <p:sp>
        <p:nvSpPr>
          <p:cNvPr id="116" name="Shape 1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17" name="Shape 115"/>
          <p:cNvSpPr/>
          <p:nvPr/>
        </p:nvSpPr>
        <p:spPr>
          <a:xfrm>
            <a:off x="0" y="4914900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18" name="Text 116"/>
          <p:cNvSpPr/>
          <p:nvPr/>
        </p:nvSpPr>
        <p:spPr>
          <a:xfrm>
            <a:off x="214313" y="4979194"/>
            <a:ext cx="51020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Connected</a:t>
            </a:r>
            <a:endParaRPr lang="en-US" sz="619" dirty="0"/>
          </a:p>
        </p:txBody>
      </p:sp>
      <p:sp>
        <p:nvSpPr>
          <p:cNvPr id="119" name="Shape 117"/>
          <p:cNvSpPr/>
          <p:nvPr/>
        </p:nvSpPr>
        <p:spPr>
          <a:xfrm>
            <a:off x="114300" y="5004197"/>
            <a:ext cx="57150" cy="5715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120" name="Text 118"/>
          <p:cNvSpPr/>
          <p:nvPr/>
        </p:nvSpPr>
        <p:spPr>
          <a:xfrm>
            <a:off x="781669" y="4979194"/>
            <a:ext cx="69887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Latency: 42ms</a:t>
            </a:r>
            <a:endParaRPr lang="en-US" sz="619" dirty="0"/>
          </a:p>
        </p:txBody>
      </p:sp>
      <p:sp>
        <p:nvSpPr>
          <p:cNvPr id="121" name="Text 119"/>
          <p:cNvSpPr/>
          <p:nvPr/>
        </p:nvSpPr>
        <p:spPr>
          <a:xfrm>
            <a:off x="1537692" y="4979194"/>
            <a:ext cx="88739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Region: us-east-1</a:t>
            </a:r>
            <a:endParaRPr lang="en-US" sz="619" dirty="0"/>
          </a:p>
        </p:txBody>
      </p:sp>
      <p:sp>
        <p:nvSpPr>
          <p:cNvPr id="122" name="Text 120"/>
          <p:cNvSpPr/>
          <p:nvPr/>
        </p:nvSpPr>
        <p:spPr>
          <a:xfrm>
            <a:off x="7520726" y="4979194"/>
            <a:ext cx="159469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UTF-8   |   JSON   |   REST v2.4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62011" y="0"/>
            <a:ext cx="3909989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Dashboard v1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200025" y="150019"/>
            <a:ext cx="4476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2" name="Text 10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6" name="Text 14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2" name="Shape 20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" fmla="val 21428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" fmla="val 14286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" fmla="val 28572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6" name="Shape 44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8" name="Shape 56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5169075" y="0"/>
            <a:ext cx="3974925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Dashboard v2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4772025" y="150019"/>
            <a:ext cx="38276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D0ED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5" name="Text 73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8" name="Text 76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9" name="Text 77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80" name="Shape 78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3" name="Text 81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4" name="Shape 82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2" name="Shape 90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3" name="Shape 91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5" name="Shape 93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2" name="Shape 100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4" name="Text 102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6" name="Text 104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7" name="Text 105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8" name="Shape 106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0" name="Text 108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2" name="Text 110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3" name="Text 111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4" name="Shape 112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8" name="Text 116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9" name="Text 117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20" name="Shape 118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1" name="Shape 119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2" name="Text 120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4" name="Text 122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5" name="Text 123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6" name="Shape 124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7" name="Shape 125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merge-anomaly-r7</dc:title>
  <dc:subject>PptxGenJS Presentation</dc:subject>
  <dc:creator>PptxGenJS</dc:creator>
  <cp:lastModifiedBy>PptxGenJS</cp:lastModifiedBy>
  <cp:revision>1</cp:revision>
  <dcterms:created xsi:type="dcterms:W3CDTF">2026-06-20T09:44:47Z</dcterms:created>
  <dcterms:modified xsi:type="dcterms:W3CDTF">2026-06-20T09:44:47Z</dcterms:modified>
</cp:coreProperties>
</file>